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305" r:id="rId15"/>
    <p:sldId id="302" r:id="rId16"/>
    <p:sldId id="299" r:id="rId17"/>
    <p:sldId id="300" r:id="rId18"/>
    <p:sldId id="303" r:id="rId19"/>
    <p:sldId id="270" r:id="rId20"/>
    <p:sldId id="272" r:id="rId21"/>
    <p:sldId id="304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301" r:id="rId32"/>
    <p:sldId id="283" r:id="rId33"/>
    <p:sldId id="284" r:id="rId34"/>
    <p:sldId id="290" r:id="rId35"/>
    <p:sldId id="291" r:id="rId36"/>
    <p:sldId id="289" r:id="rId37"/>
    <p:sldId id="292" r:id="rId38"/>
    <p:sldId id="293" r:id="rId39"/>
    <p:sldId id="294" r:id="rId40"/>
    <p:sldId id="286" r:id="rId41"/>
    <p:sldId id="295" r:id="rId42"/>
    <p:sldId id="296" r:id="rId43"/>
    <p:sldId id="297" r:id="rId44"/>
    <p:sldId id="298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4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0933F317-4291-439F-8261-0FBFCBA4618B}"/>
    <pc:docChg chg="custSel addSld modSld">
      <pc:chgData name="Sam O'Neill" userId="cb323814-a42a-4cfe-bc74-03f595e56f6e" providerId="ADAL" clId="{0933F317-4291-439F-8261-0FBFCBA4618B}" dt="2024-11-29T12:10:28.026" v="32" actId="20577"/>
      <pc:docMkLst>
        <pc:docMk/>
      </pc:docMkLst>
      <pc:sldChg chg="addSp delSp modSp new mod modClrScheme chgLayout">
        <pc:chgData name="Sam O'Neill" userId="cb323814-a42a-4cfe-bc74-03f595e56f6e" providerId="ADAL" clId="{0933F317-4291-439F-8261-0FBFCBA4618B}" dt="2024-11-29T12:10:28.026" v="32" actId="20577"/>
        <pc:sldMkLst>
          <pc:docMk/>
          <pc:sldMk cId="7497766" sldId="305"/>
        </pc:sldMkLst>
        <pc:spChg chg="del mod ord">
          <ac:chgData name="Sam O'Neill" userId="cb323814-a42a-4cfe-bc74-03f595e56f6e" providerId="ADAL" clId="{0933F317-4291-439F-8261-0FBFCBA4618B}" dt="2024-11-29T12:10:03.851" v="1" actId="700"/>
          <ac:spMkLst>
            <pc:docMk/>
            <pc:sldMk cId="7497766" sldId="305"/>
            <ac:spMk id="2" creationId="{D9FB6A40-27BF-6F80-57E0-816210EDA104}"/>
          </ac:spMkLst>
        </pc:spChg>
        <pc:spChg chg="del mod ord">
          <ac:chgData name="Sam O'Neill" userId="cb323814-a42a-4cfe-bc74-03f595e56f6e" providerId="ADAL" clId="{0933F317-4291-439F-8261-0FBFCBA4618B}" dt="2024-11-29T12:10:03.851" v="1" actId="700"/>
          <ac:spMkLst>
            <pc:docMk/>
            <pc:sldMk cId="7497766" sldId="305"/>
            <ac:spMk id="3" creationId="{224ABA7E-D13B-3D1D-C445-DDCFD49D97BB}"/>
          </ac:spMkLst>
        </pc:spChg>
        <pc:spChg chg="add mod ord">
          <ac:chgData name="Sam O'Neill" userId="cb323814-a42a-4cfe-bc74-03f595e56f6e" providerId="ADAL" clId="{0933F317-4291-439F-8261-0FBFCBA4618B}" dt="2024-11-29T12:10:28.026" v="32" actId="20577"/>
          <ac:spMkLst>
            <pc:docMk/>
            <pc:sldMk cId="7497766" sldId="305"/>
            <ac:spMk id="4" creationId="{9C824FD6-BF6C-C73B-6C3C-A215FD8E9A37}"/>
          </ac:spMkLst>
        </pc:spChg>
        <pc:spChg chg="add mod ord">
          <ac:chgData name="Sam O'Neill" userId="cb323814-a42a-4cfe-bc74-03f595e56f6e" providerId="ADAL" clId="{0933F317-4291-439F-8261-0FBFCBA4618B}" dt="2024-11-29T12:10:03.851" v="1" actId="700"/>
          <ac:spMkLst>
            <pc:docMk/>
            <pc:sldMk cId="7497766" sldId="305"/>
            <ac:spMk id="5" creationId="{E0D67508-55DA-A6F5-58B7-F25A48B17F0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nimailderbyac.sharepoint.com/sites/PhD-SO/Shared%20Documents/Teaching/201920/OR/Lectures%20and%20Tutorials/Week%209/Week%209%20-%20Tutorial%20Excel%20Shee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nimailderbyac.sharepoint.com/sites/PhD-SO/Shared%20Documents/Teaching/201920/OR/Lectures%20and%20Tutorials/Week%209/Week%209%20-%20Tutorial%20Excel%20Shee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Waiting Times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'[Week 9 - Tutorial Excel Sheets.xlsx]Frozen Example'!$F$16</c:f>
              <c:strCache>
                <c:ptCount val="1"/>
                <c:pt idx="0">
                  <c:v>Customer Waiting Time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'[Week 9 - Tutorial Excel Sheets.xlsx]Frozen Example'!$F$17:$F$36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12</c:v>
                </c:pt>
                <c:pt idx="3">
                  <c:v>3</c:v>
                </c:pt>
                <c:pt idx="4">
                  <c:v>9</c:v>
                </c:pt>
                <c:pt idx="5">
                  <c:v>12</c:v>
                </c:pt>
                <c:pt idx="6">
                  <c:v>14</c:v>
                </c:pt>
                <c:pt idx="7">
                  <c:v>20</c:v>
                </c:pt>
                <c:pt idx="8">
                  <c:v>19</c:v>
                </c:pt>
                <c:pt idx="9">
                  <c:v>31</c:v>
                </c:pt>
                <c:pt idx="10">
                  <c:v>34</c:v>
                </c:pt>
                <c:pt idx="11">
                  <c:v>25</c:v>
                </c:pt>
                <c:pt idx="12">
                  <c:v>20</c:v>
                </c:pt>
                <c:pt idx="13">
                  <c:v>15</c:v>
                </c:pt>
                <c:pt idx="14">
                  <c:v>17</c:v>
                </c:pt>
                <c:pt idx="15">
                  <c:v>27</c:v>
                </c:pt>
                <c:pt idx="16">
                  <c:v>35</c:v>
                </c:pt>
                <c:pt idx="17">
                  <c:v>22</c:v>
                </c:pt>
                <c:pt idx="18">
                  <c:v>13</c:v>
                </c:pt>
                <c:pt idx="19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70-4D13-AEE9-BAD17E3F6C4C}"/>
            </c:ext>
          </c:extLst>
        </c:ser>
        <c:ser>
          <c:idx val="1"/>
          <c:order val="1"/>
          <c:tx>
            <c:strRef>
              <c:f>'[Week 9 - Tutorial Excel Sheets.xlsx]Frozen Example'!$G$16</c:f>
              <c:strCache>
                <c:ptCount val="1"/>
                <c:pt idx="0">
                  <c:v>Service Waiting Time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'[Week 9 - Tutorial Excel Sheets.xlsx]Frozen Example'!$G$17:$G$36</c:f>
              <c:numCache>
                <c:formatCode>General</c:formatCode>
                <c:ptCount val="20"/>
                <c:pt idx="0">
                  <c:v>20</c:v>
                </c:pt>
                <c:pt idx="1">
                  <c:v>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70-4D13-AEE9-BAD17E3F6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83547999"/>
        <c:axId val="489460127"/>
      </c:lineChart>
      <c:catAx>
        <c:axId val="38354799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460127"/>
        <c:crosses val="autoZero"/>
        <c:auto val="1"/>
        <c:lblAlgn val="ctr"/>
        <c:lblOffset val="100"/>
        <c:noMultiLvlLbl val="0"/>
      </c:catAx>
      <c:valAx>
        <c:axId val="4894601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547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Waiting Times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'Frozen Example'!$F$16</c:f>
              <c:strCache>
                <c:ptCount val="1"/>
                <c:pt idx="0">
                  <c:v>Customer Waiting Time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'Frozen Example'!$F$17:$F$162</c:f>
              <c:numCache>
                <c:formatCode>General</c:formatCode>
                <c:ptCount val="146"/>
                <c:pt idx="0">
                  <c:v>0</c:v>
                </c:pt>
                <c:pt idx="1">
                  <c:v>0</c:v>
                </c:pt>
                <c:pt idx="2">
                  <c:v>12</c:v>
                </c:pt>
                <c:pt idx="3">
                  <c:v>3</c:v>
                </c:pt>
                <c:pt idx="4">
                  <c:v>9</c:v>
                </c:pt>
                <c:pt idx="5">
                  <c:v>12</c:v>
                </c:pt>
                <c:pt idx="6">
                  <c:v>14</c:v>
                </c:pt>
                <c:pt idx="7">
                  <c:v>20</c:v>
                </c:pt>
                <c:pt idx="8">
                  <c:v>19</c:v>
                </c:pt>
                <c:pt idx="9">
                  <c:v>31</c:v>
                </c:pt>
                <c:pt idx="10">
                  <c:v>34</c:v>
                </c:pt>
                <c:pt idx="11">
                  <c:v>25</c:v>
                </c:pt>
                <c:pt idx="12">
                  <c:v>20</c:v>
                </c:pt>
                <c:pt idx="13">
                  <c:v>15</c:v>
                </c:pt>
                <c:pt idx="14">
                  <c:v>17</c:v>
                </c:pt>
                <c:pt idx="15">
                  <c:v>27</c:v>
                </c:pt>
                <c:pt idx="16">
                  <c:v>35</c:v>
                </c:pt>
                <c:pt idx="17">
                  <c:v>22</c:v>
                </c:pt>
                <c:pt idx="18">
                  <c:v>13</c:v>
                </c:pt>
                <c:pt idx="19">
                  <c:v>16</c:v>
                </c:pt>
                <c:pt idx="20">
                  <c:v>11</c:v>
                </c:pt>
                <c:pt idx="21">
                  <c:v>0</c:v>
                </c:pt>
                <c:pt idx="22">
                  <c:v>0</c:v>
                </c:pt>
                <c:pt idx="23">
                  <c:v>4</c:v>
                </c:pt>
                <c:pt idx="24">
                  <c:v>0</c:v>
                </c:pt>
                <c:pt idx="25">
                  <c:v>0</c:v>
                </c:pt>
                <c:pt idx="26">
                  <c:v>2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12</c:v>
                </c:pt>
                <c:pt idx="33">
                  <c:v>11</c:v>
                </c:pt>
                <c:pt idx="34">
                  <c:v>19</c:v>
                </c:pt>
                <c:pt idx="35">
                  <c:v>14</c:v>
                </c:pt>
                <c:pt idx="36">
                  <c:v>17</c:v>
                </c:pt>
                <c:pt idx="37">
                  <c:v>12</c:v>
                </c:pt>
                <c:pt idx="38">
                  <c:v>26</c:v>
                </c:pt>
                <c:pt idx="39">
                  <c:v>25</c:v>
                </c:pt>
                <c:pt idx="40">
                  <c:v>24</c:v>
                </c:pt>
                <c:pt idx="41">
                  <c:v>31</c:v>
                </c:pt>
                <c:pt idx="42">
                  <c:v>30</c:v>
                </c:pt>
                <c:pt idx="43">
                  <c:v>25</c:v>
                </c:pt>
                <c:pt idx="44">
                  <c:v>41</c:v>
                </c:pt>
                <c:pt idx="45">
                  <c:v>44</c:v>
                </c:pt>
                <c:pt idx="46">
                  <c:v>31</c:v>
                </c:pt>
                <c:pt idx="47">
                  <c:v>26</c:v>
                </c:pt>
                <c:pt idx="48">
                  <c:v>29</c:v>
                </c:pt>
                <c:pt idx="49">
                  <c:v>28</c:v>
                </c:pt>
                <c:pt idx="50">
                  <c:v>31</c:v>
                </c:pt>
                <c:pt idx="51">
                  <c:v>31</c:v>
                </c:pt>
                <c:pt idx="52">
                  <c:v>37</c:v>
                </c:pt>
                <c:pt idx="53">
                  <c:v>40</c:v>
                </c:pt>
                <c:pt idx="54">
                  <c:v>48</c:v>
                </c:pt>
                <c:pt idx="55">
                  <c:v>48</c:v>
                </c:pt>
                <c:pt idx="56">
                  <c:v>39</c:v>
                </c:pt>
                <c:pt idx="57">
                  <c:v>30</c:v>
                </c:pt>
                <c:pt idx="58">
                  <c:v>37</c:v>
                </c:pt>
                <c:pt idx="59">
                  <c:v>45</c:v>
                </c:pt>
                <c:pt idx="60">
                  <c:v>40</c:v>
                </c:pt>
                <c:pt idx="61">
                  <c:v>54</c:v>
                </c:pt>
                <c:pt idx="62">
                  <c:v>49</c:v>
                </c:pt>
                <c:pt idx="63">
                  <c:v>36</c:v>
                </c:pt>
                <c:pt idx="64">
                  <c:v>31</c:v>
                </c:pt>
                <c:pt idx="65">
                  <c:v>33</c:v>
                </c:pt>
                <c:pt idx="66">
                  <c:v>20</c:v>
                </c:pt>
                <c:pt idx="67">
                  <c:v>23</c:v>
                </c:pt>
                <c:pt idx="68">
                  <c:v>14</c:v>
                </c:pt>
                <c:pt idx="69">
                  <c:v>9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4</c:v>
                </c:pt>
                <c:pt idx="74">
                  <c:v>4</c:v>
                </c:pt>
                <c:pt idx="75">
                  <c:v>4</c:v>
                </c:pt>
                <c:pt idx="76">
                  <c:v>14</c:v>
                </c:pt>
                <c:pt idx="77">
                  <c:v>13</c:v>
                </c:pt>
                <c:pt idx="78">
                  <c:v>12</c:v>
                </c:pt>
                <c:pt idx="79">
                  <c:v>10</c:v>
                </c:pt>
                <c:pt idx="80">
                  <c:v>14</c:v>
                </c:pt>
                <c:pt idx="81">
                  <c:v>13</c:v>
                </c:pt>
                <c:pt idx="82">
                  <c:v>8</c:v>
                </c:pt>
                <c:pt idx="83">
                  <c:v>7</c:v>
                </c:pt>
                <c:pt idx="84">
                  <c:v>9</c:v>
                </c:pt>
                <c:pt idx="85">
                  <c:v>9</c:v>
                </c:pt>
                <c:pt idx="86">
                  <c:v>25</c:v>
                </c:pt>
                <c:pt idx="87">
                  <c:v>37</c:v>
                </c:pt>
                <c:pt idx="88">
                  <c:v>40</c:v>
                </c:pt>
                <c:pt idx="89">
                  <c:v>27</c:v>
                </c:pt>
                <c:pt idx="90">
                  <c:v>39</c:v>
                </c:pt>
                <c:pt idx="91">
                  <c:v>26</c:v>
                </c:pt>
                <c:pt idx="92">
                  <c:v>28</c:v>
                </c:pt>
                <c:pt idx="93">
                  <c:v>30</c:v>
                </c:pt>
                <c:pt idx="94">
                  <c:v>29</c:v>
                </c:pt>
                <c:pt idx="95">
                  <c:v>20</c:v>
                </c:pt>
                <c:pt idx="96">
                  <c:v>28</c:v>
                </c:pt>
                <c:pt idx="97">
                  <c:v>35</c:v>
                </c:pt>
                <c:pt idx="98">
                  <c:v>30</c:v>
                </c:pt>
                <c:pt idx="99">
                  <c:v>30</c:v>
                </c:pt>
                <c:pt idx="100">
                  <c:v>25</c:v>
                </c:pt>
                <c:pt idx="101">
                  <c:v>20</c:v>
                </c:pt>
                <c:pt idx="102">
                  <c:v>28</c:v>
                </c:pt>
                <c:pt idx="103">
                  <c:v>23</c:v>
                </c:pt>
                <c:pt idx="104">
                  <c:v>26</c:v>
                </c:pt>
                <c:pt idx="105">
                  <c:v>26</c:v>
                </c:pt>
                <c:pt idx="106">
                  <c:v>29</c:v>
                </c:pt>
                <c:pt idx="107">
                  <c:v>39</c:v>
                </c:pt>
                <c:pt idx="108">
                  <c:v>42</c:v>
                </c:pt>
                <c:pt idx="109">
                  <c:v>33</c:v>
                </c:pt>
                <c:pt idx="110">
                  <c:v>40</c:v>
                </c:pt>
                <c:pt idx="111">
                  <c:v>43</c:v>
                </c:pt>
                <c:pt idx="112">
                  <c:v>38</c:v>
                </c:pt>
                <c:pt idx="113">
                  <c:v>41</c:v>
                </c:pt>
                <c:pt idx="114">
                  <c:v>36</c:v>
                </c:pt>
                <c:pt idx="115">
                  <c:v>36</c:v>
                </c:pt>
                <c:pt idx="116">
                  <c:v>27</c:v>
                </c:pt>
                <c:pt idx="117">
                  <c:v>31</c:v>
                </c:pt>
                <c:pt idx="118">
                  <c:v>18</c:v>
                </c:pt>
                <c:pt idx="119">
                  <c:v>18</c:v>
                </c:pt>
                <c:pt idx="120">
                  <c:v>13</c:v>
                </c:pt>
                <c:pt idx="121">
                  <c:v>21</c:v>
                </c:pt>
                <c:pt idx="122">
                  <c:v>31</c:v>
                </c:pt>
                <c:pt idx="123">
                  <c:v>26</c:v>
                </c:pt>
                <c:pt idx="124">
                  <c:v>21</c:v>
                </c:pt>
                <c:pt idx="125">
                  <c:v>12</c:v>
                </c:pt>
                <c:pt idx="126">
                  <c:v>11</c:v>
                </c:pt>
                <c:pt idx="127">
                  <c:v>11</c:v>
                </c:pt>
                <c:pt idx="128">
                  <c:v>6</c:v>
                </c:pt>
                <c:pt idx="129">
                  <c:v>1</c:v>
                </c:pt>
                <c:pt idx="130">
                  <c:v>9</c:v>
                </c:pt>
                <c:pt idx="131">
                  <c:v>8</c:v>
                </c:pt>
                <c:pt idx="132">
                  <c:v>16</c:v>
                </c:pt>
                <c:pt idx="133">
                  <c:v>15</c:v>
                </c:pt>
                <c:pt idx="134">
                  <c:v>10</c:v>
                </c:pt>
                <c:pt idx="135">
                  <c:v>20</c:v>
                </c:pt>
                <c:pt idx="136">
                  <c:v>11</c:v>
                </c:pt>
                <c:pt idx="137">
                  <c:v>6</c:v>
                </c:pt>
                <c:pt idx="138">
                  <c:v>16</c:v>
                </c:pt>
                <c:pt idx="139">
                  <c:v>15</c:v>
                </c:pt>
                <c:pt idx="140">
                  <c:v>14</c:v>
                </c:pt>
                <c:pt idx="141">
                  <c:v>18</c:v>
                </c:pt>
                <c:pt idx="142">
                  <c:v>5</c:v>
                </c:pt>
                <c:pt idx="143">
                  <c:v>8</c:v>
                </c:pt>
                <c:pt idx="144">
                  <c:v>3</c:v>
                </c:pt>
                <c:pt idx="14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07-4380-BFF5-899E09E957DF}"/>
            </c:ext>
          </c:extLst>
        </c:ser>
        <c:ser>
          <c:idx val="1"/>
          <c:order val="1"/>
          <c:tx>
            <c:strRef>
              <c:f>'Frozen Example'!$G$16</c:f>
              <c:strCache>
                <c:ptCount val="1"/>
                <c:pt idx="0">
                  <c:v>Service Waiting Time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'Frozen Example'!$G$17:$G$162</c:f>
              <c:numCache>
                <c:formatCode>General</c:formatCode>
                <c:ptCount val="146"/>
                <c:pt idx="0">
                  <c:v>20</c:v>
                </c:pt>
                <c:pt idx="1">
                  <c:v>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2</c:v>
                </c:pt>
                <c:pt idx="22">
                  <c:v>5</c:v>
                </c:pt>
                <c:pt idx="23">
                  <c:v>0</c:v>
                </c:pt>
                <c:pt idx="24">
                  <c:v>1</c:v>
                </c:pt>
                <c:pt idx="25">
                  <c:v>13</c:v>
                </c:pt>
                <c:pt idx="26">
                  <c:v>0</c:v>
                </c:pt>
                <c:pt idx="27">
                  <c:v>3</c:v>
                </c:pt>
                <c:pt idx="28">
                  <c:v>13</c:v>
                </c:pt>
                <c:pt idx="29">
                  <c:v>5</c:v>
                </c:pt>
                <c:pt idx="30">
                  <c:v>5</c:v>
                </c:pt>
                <c:pt idx="31">
                  <c:v>9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4</c:v>
                </c:pt>
                <c:pt idx="71">
                  <c:v>9</c:v>
                </c:pt>
                <c:pt idx="72">
                  <c:v>1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07-4380-BFF5-899E09E957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83547999"/>
        <c:axId val="489460127"/>
      </c:lineChart>
      <c:catAx>
        <c:axId val="38354799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460127"/>
        <c:crosses val="autoZero"/>
        <c:auto val="1"/>
        <c:lblAlgn val="ctr"/>
        <c:lblOffset val="100"/>
        <c:noMultiLvlLbl val="0"/>
      </c:catAx>
      <c:valAx>
        <c:axId val="4894601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547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29/11/2024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29/11/2024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29/11/2024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29/11/2024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29/11/2024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29/11/2024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29/11/2024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29/11/2024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29/11/2024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29/11/2024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29/11/2024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29/11/2024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 to Simulation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F6F82CF-2240-411D-946A-83EE0D3B0C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Introduction</a:t>
            </a:r>
          </a:p>
          <a:p>
            <a:r>
              <a:rPr lang="en-GB" dirty="0"/>
              <a:t>Coins and Dice</a:t>
            </a:r>
          </a:p>
          <a:p>
            <a:r>
              <a:rPr lang="en-GB" dirty="0"/>
              <a:t>Queuing and Definitions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447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AB030B6-4D3F-4F5B-9793-F2365F81BC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0342A97-C026-4A9A-ABCA-A43FC9ABEC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638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There are three “approaches” covered:</a:t>
            </a:r>
          </a:p>
          <a:p>
            <a:endParaRPr lang="en-GB" dirty="0"/>
          </a:p>
          <a:p>
            <a:r>
              <a:rPr lang="en-GB" dirty="0"/>
              <a:t>By </a:t>
            </a:r>
            <a:r>
              <a:rPr lang="en-GB" b="1" dirty="0"/>
              <a:t>hand</a:t>
            </a:r>
            <a:r>
              <a:rPr lang="en-GB" dirty="0"/>
              <a:t> to gain understanding of the process</a:t>
            </a:r>
          </a:p>
          <a:p>
            <a:endParaRPr lang="en-GB" dirty="0"/>
          </a:p>
          <a:p>
            <a:r>
              <a:rPr lang="en-GB" dirty="0"/>
              <a:t>Using </a:t>
            </a:r>
            <a:r>
              <a:rPr lang="en-GB" b="1" dirty="0"/>
              <a:t>Excel</a:t>
            </a:r>
            <a:r>
              <a:rPr lang="en-GB" dirty="0"/>
              <a:t> useful for small problems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Using </a:t>
            </a:r>
            <a:r>
              <a:rPr lang="en-GB" b="1" dirty="0"/>
              <a:t>Python </a:t>
            </a:r>
            <a:r>
              <a:rPr lang="en-GB" dirty="0"/>
              <a:t>to code simulations, note you can use any other programming language</a:t>
            </a:r>
          </a:p>
        </p:txBody>
      </p:sp>
    </p:spTree>
    <p:extLst>
      <p:ext uri="{BB962C8B-B14F-4D97-AF65-F5344CB8AC3E}">
        <p14:creationId xmlns:p14="http://schemas.microsoft.com/office/powerpoint/2010/main" val="7058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Stages in an Investigation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/>
          </a:bodyPr>
          <a:lstStyle/>
          <a:p>
            <a:pPr marL="457200" indent="-457200"/>
            <a:r>
              <a:rPr lang="en-GB" dirty="0"/>
              <a:t>How to construct a </a:t>
            </a:r>
            <a:r>
              <a:rPr lang="en-GB" b="1" dirty="0"/>
              <a:t>simulation</a:t>
            </a:r>
          </a:p>
          <a:p>
            <a:pPr marL="457200" indent="-457200"/>
            <a:endParaRPr lang="en-GB" dirty="0"/>
          </a:p>
          <a:p>
            <a:pPr marL="457200" indent="-457200"/>
            <a:r>
              <a:rPr lang="en-GB" dirty="0"/>
              <a:t>Design of </a:t>
            </a:r>
            <a:r>
              <a:rPr lang="en-GB" b="1" dirty="0"/>
              <a:t>experiments</a:t>
            </a:r>
          </a:p>
          <a:p>
            <a:pPr marL="457200" indent="-457200"/>
            <a:endParaRPr lang="en-GB" dirty="0"/>
          </a:p>
          <a:p>
            <a:pPr marL="457200" indent="-457200"/>
            <a:r>
              <a:rPr lang="en-GB" b="1" dirty="0"/>
              <a:t>Analysis</a:t>
            </a:r>
            <a:r>
              <a:rPr lang="en-GB" dirty="0"/>
              <a:t> of </a:t>
            </a:r>
            <a:r>
              <a:rPr lang="en-GB" b="1" dirty="0"/>
              <a:t>results</a:t>
            </a:r>
            <a:r>
              <a:rPr lang="en-GB" dirty="0"/>
              <a:t> from the </a:t>
            </a:r>
            <a:r>
              <a:rPr lang="en-GB" b="1" dirty="0"/>
              <a:t>simulation</a:t>
            </a:r>
          </a:p>
        </p:txBody>
      </p:sp>
    </p:spTree>
    <p:extLst>
      <p:ext uri="{BB962C8B-B14F-4D97-AF65-F5344CB8AC3E}">
        <p14:creationId xmlns:p14="http://schemas.microsoft.com/office/powerpoint/2010/main" val="352156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Simulating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</a:rPr>
              <a:t>Simulation techniques are used to enable the analysis of complex problems. Football fans, name a famous simulation?</a:t>
            </a:r>
          </a:p>
          <a:p>
            <a:pPr>
              <a:spcAft>
                <a:spcPts val="0"/>
              </a:spcAft>
            </a:pPr>
            <a:endParaRPr lang="en-GB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</a:rPr>
              <a:t>Within Operational Research these problems often involve queuing applications</a:t>
            </a:r>
          </a:p>
          <a:p>
            <a:pPr marL="0" indent="0">
              <a:spcAft>
                <a:spcPts val="0"/>
              </a:spcAft>
              <a:buNone/>
            </a:pPr>
            <a:endParaRPr lang="en-GB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</a:rPr>
              <a:t>Questions to be answered:</a:t>
            </a:r>
          </a:p>
          <a:p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</a:rPr>
              <a:t>“can the current service system process the expected demand in a reasonable time?” </a:t>
            </a:r>
          </a:p>
          <a:p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</a:rPr>
              <a:t>“will the proposed new machinery improve (reduce) flow time or costs?”</a:t>
            </a:r>
          </a:p>
          <a:p>
            <a:pPr>
              <a:spcAft>
                <a:spcPts val="0"/>
              </a:spcAft>
            </a:pPr>
            <a:endParaRPr lang="en-GB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10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Simulate?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In most organisations it is not a feasible option that the firm carries out a full reorganisation (of its factory or sites of their factories)</a:t>
            </a:r>
          </a:p>
          <a:p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dirty="0">
                <a:ea typeface="Times New Roman" panose="02020603050405020304" pitchFamily="18" charset="0"/>
              </a:rPr>
              <a:t>Simulation is cheap and can model complex interactions</a:t>
            </a:r>
          </a:p>
          <a:p>
            <a:endParaRPr lang="en-GB" dirty="0">
              <a:ea typeface="Times New Roman" panose="02020603050405020304" pitchFamily="18" charset="0"/>
            </a:endParaRPr>
          </a:p>
          <a:p>
            <a:r>
              <a:rPr lang="en-GB" dirty="0">
                <a:ea typeface="Times New Roman" panose="02020603050405020304" pitchFamily="18" charset="0"/>
              </a:rPr>
              <a:t>Allows prediction of future situations that have yet to occur</a:t>
            </a:r>
          </a:p>
          <a:p>
            <a:endParaRPr lang="en-GB" dirty="0">
              <a:ea typeface="Times New Roman" panose="02020603050405020304" pitchFamily="18" charset="0"/>
            </a:endParaRPr>
          </a:p>
          <a:p>
            <a:r>
              <a:rPr lang="en-GB">
                <a:ea typeface="Times New Roman" panose="02020603050405020304" pitchFamily="18" charset="0"/>
              </a:rPr>
              <a:t>Therefore, </a:t>
            </a:r>
            <a:r>
              <a:rPr lang="en-GB" dirty="0">
                <a:ea typeface="Times New Roman" panose="02020603050405020304" pitchFamily="18" charset="0"/>
              </a:rPr>
              <a:t>a firm can predict whether reorganisations are beneficial</a:t>
            </a:r>
          </a:p>
        </p:txBody>
      </p:sp>
    </p:spTree>
    <p:extLst>
      <p:ext uri="{BB962C8B-B14F-4D97-AF65-F5344CB8AC3E}">
        <p14:creationId xmlns:p14="http://schemas.microsoft.com/office/powerpoint/2010/main" val="218277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Considering a factory workshop the management might want to investigate</a:t>
            </a:r>
          </a:p>
          <a:p>
            <a:endParaRPr lang="en-GB" dirty="0"/>
          </a:p>
          <a:p>
            <a:r>
              <a:rPr lang="en-GB" dirty="0"/>
              <a:t>Staffing levels, what is an ideal number and type of staff</a:t>
            </a:r>
          </a:p>
          <a:p>
            <a:endParaRPr lang="en-GB" dirty="0"/>
          </a:p>
          <a:p>
            <a:r>
              <a:rPr lang="en-GB" dirty="0"/>
              <a:t>How many machines to use at each stage in the production process</a:t>
            </a:r>
          </a:p>
          <a:p>
            <a:endParaRPr lang="en-GB" dirty="0"/>
          </a:p>
          <a:p>
            <a:r>
              <a:rPr lang="en-GB" dirty="0"/>
              <a:t>Should they use production lines</a:t>
            </a:r>
          </a:p>
          <a:p>
            <a:endParaRPr lang="en-GB" dirty="0"/>
          </a:p>
          <a:p>
            <a:r>
              <a:rPr lang="en-GB" dirty="0"/>
              <a:t>What is an appropriate delivery/production time quotation (to a customer) </a:t>
            </a:r>
          </a:p>
        </p:txBody>
      </p:sp>
    </p:spTree>
    <p:extLst>
      <p:ext uri="{BB962C8B-B14F-4D97-AF65-F5344CB8AC3E}">
        <p14:creationId xmlns:p14="http://schemas.microsoft.com/office/powerpoint/2010/main" val="150820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 Alternatives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dirty="0"/>
              <a:t>When carrying out a Simulation there need to be some established criteria (to be able to evaluate alternatives)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Objective – e.g. would a new machine reduce costs and or improve performance</a:t>
            </a:r>
          </a:p>
          <a:p>
            <a:endParaRPr lang="en-GB" dirty="0"/>
          </a:p>
          <a:p>
            <a:r>
              <a:rPr lang="en-GB" dirty="0"/>
              <a:t>Cost – e.g. Reduced cost through correct staffing or better machines – offset against investment needed for change</a:t>
            </a:r>
          </a:p>
          <a:p>
            <a:endParaRPr lang="en-GB" dirty="0"/>
          </a:p>
          <a:p>
            <a:r>
              <a:rPr lang="en-GB" dirty="0"/>
              <a:t>Time – e.g. Reduced production time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Time – e.g. Improved throughput, i.e. work in progress (including rework)</a:t>
            </a:r>
          </a:p>
        </p:txBody>
      </p:sp>
    </p:spTree>
    <p:extLst>
      <p:ext uri="{BB962C8B-B14F-4D97-AF65-F5344CB8AC3E}">
        <p14:creationId xmlns:p14="http://schemas.microsoft.com/office/powerpoint/2010/main" val="37947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824FD6-BF6C-C73B-6C3C-A215FD8E9A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The Heated Clothes Rack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0D67508-55DA-A6F5-58B7-F25A48B17F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97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AB030B6-4D3F-4F5B-9793-F2365F81BC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Coins and Dice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0342A97-C026-4A9A-ABCA-A43FC9ABEC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784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Simulating a Fair Coin Toss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A1457-41FF-4A18-92E3-0DA1127DE1E2}"/>
              </a:ext>
            </a:extLst>
          </p:cNvPr>
          <p:cNvSpPr txBox="1"/>
          <p:nvPr/>
        </p:nvSpPr>
        <p:spPr>
          <a:xfrm>
            <a:off x="1147142" y="1432400"/>
            <a:ext cx="95179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Excel has been used to randomly simulate 500 trial tosses of a fair coin. 4 simulation runs are shown.</a:t>
            </a:r>
          </a:p>
          <a:p>
            <a:r>
              <a:rPr lang="en-GB" dirty="0"/>
              <a:t>In the long run we get roughly 50% heads. This is the law of large numbers at work.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E86B31-98BF-46FC-80A1-80B11DC43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451" y="2130355"/>
            <a:ext cx="3633788" cy="20475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D2FBEB-D774-4B82-A187-8DFC0C3D5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460" y="2130355"/>
            <a:ext cx="3605135" cy="20475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911C38-96E9-4052-8851-78302B4D4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209" y="4375467"/>
            <a:ext cx="3614029" cy="205203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6240799-8ADB-4C36-B642-D526B640C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459" y="4381121"/>
            <a:ext cx="3605135" cy="204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054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Simulating a Fair 6-Sided Dice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003A7C-FC32-459E-878B-DDF28580AAC6}"/>
              </a:ext>
            </a:extLst>
          </p:cNvPr>
          <p:cNvSpPr txBox="1"/>
          <p:nvPr/>
        </p:nvSpPr>
        <p:spPr>
          <a:xfrm>
            <a:off x="1147142" y="1432400"/>
            <a:ext cx="105391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Excel has been used to randomly simulate the rolling of 6-sided dice for 500 trials. The 4 simulations are shown.</a:t>
            </a:r>
          </a:p>
          <a:p>
            <a:r>
              <a:rPr lang="en-GB" dirty="0"/>
              <a:t>In the long run we get roughly 16.67% of each number. This is the law of large numbers at work.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E3ED8D-8AA0-45A9-AC42-3304081B5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313" y="2144771"/>
            <a:ext cx="3717607" cy="22427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3D4D15-B7D9-44AE-BBAF-49F4ED8D3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429" y="2144771"/>
            <a:ext cx="3735205" cy="224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782506-6D6B-461A-9D98-2C7D57277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313" y="4453565"/>
            <a:ext cx="3735205" cy="22427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16B269-5299-4D04-BAE0-496AEB95C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2429" y="4452755"/>
            <a:ext cx="3735205" cy="224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49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Simulating Two Fair Coin Tosses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A1457-41FF-4A18-92E3-0DA1127DE1E2}"/>
              </a:ext>
            </a:extLst>
          </p:cNvPr>
          <p:cNvSpPr txBox="1"/>
          <p:nvPr/>
        </p:nvSpPr>
        <p:spPr>
          <a:xfrm>
            <a:off x="1147142" y="1432400"/>
            <a:ext cx="7851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Excel has been used to randomly simulate 500 trials of 2 coin tosses of a fair coin.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A6B34E-92A2-4528-AA83-4C93F6EA5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388" y="1903730"/>
            <a:ext cx="7749223" cy="450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951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AB030B6-4D3F-4F5B-9793-F2365F81BC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Queuing and Definitions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0342A97-C026-4A9A-ABCA-A43FC9ABEC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770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Queueing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A833AF-5C0E-4F09-8F6E-B4070840D305}"/>
              </a:ext>
            </a:extLst>
          </p:cNvPr>
          <p:cNvSpPr txBox="1"/>
          <p:nvPr/>
        </p:nvSpPr>
        <p:spPr>
          <a:xfrm>
            <a:off x="1046375" y="1622345"/>
            <a:ext cx="10174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Customers queueing for a service, note this could be jobs waiting for a machine!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E1B8E6-BC47-40D9-B6EF-971BDB1A3210}"/>
              </a:ext>
            </a:extLst>
          </p:cNvPr>
          <p:cNvSpPr txBox="1"/>
          <p:nvPr/>
        </p:nvSpPr>
        <p:spPr>
          <a:xfrm>
            <a:off x="1140643" y="5771686"/>
            <a:ext cx="3328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What are the unknowns?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F019F9-21BD-4455-AF97-A3664120D023}"/>
              </a:ext>
            </a:extLst>
          </p:cNvPr>
          <p:cNvSpPr/>
          <p:nvPr/>
        </p:nvSpPr>
        <p:spPr>
          <a:xfrm>
            <a:off x="3591611" y="3044860"/>
            <a:ext cx="2205872" cy="22058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Queue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F034C8-8CA8-4134-8C7E-34DDBE6BED64}"/>
              </a:ext>
            </a:extLst>
          </p:cNvPr>
          <p:cNvSpPr/>
          <p:nvPr/>
        </p:nvSpPr>
        <p:spPr>
          <a:xfrm>
            <a:off x="7211503" y="3403078"/>
            <a:ext cx="2846895" cy="148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Service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AD168A-B3D7-49A1-A80F-386C68078700}"/>
              </a:ext>
            </a:extLst>
          </p:cNvPr>
          <p:cNvCxnSpPr>
            <a:cxnSpLocks/>
            <a:stCxn id="14" idx="6"/>
            <a:endCxn id="15" idx="1"/>
          </p:cNvCxnSpPr>
          <p:nvPr/>
        </p:nvCxnSpPr>
        <p:spPr>
          <a:xfrm>
            <a:off x="5797483" y="4147796"/>
            <a:ext cx="141402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4A91A0-487E-4C6E-BC36-4EA7B497B1D4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10058398" y="4147796"/>
            <a:ext cx="1414020" cy="7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97ACC5-5021-4A0A-BF7C-6E5466FDAA6C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2104534" y="4147796"/>
            <a:ext cx="1487077" cy="63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Related image">
            <a:extLst>
              <a:ext uri="{FF2B5EF4-FFF2-40B4-BE49-F238E27FC236}">
                <a16:creationId xmlns:a16="http://schemas.microsoft.com/office/drawing/2014/main" id="{F8AA617A-5F65-41BD-AB43-D20AE4F7F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79144" y="3318558"/>
            <a:ext cx="1739425" cy="173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616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Queueing System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F019F9-21BD-4455-AF97-A3664120D023}"/>
              </a:ext>
            </a:extLst>
          </p:cNvPr>
          <p:cNvSpPr/>
          <p:nvPr/>
        </p:nvSpPr>
        <p:spPr>
          <a:xfrm>
            <a:off x="3591611" y="3044860"/>
            <a:ext cx="2205872" cy="22058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Queue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F034C8-8CA8-4134-8C7E-34DDBE6BED64}"/>
              </a:ext>
            </a:extLst>
          </p:cNvPr>
          <p:cNvSpPr/>
          <p:nvPr/>
        </p:nvSpPr>
        <p:spPr>
          <a:xfrm>
            <a:off x="7211503" y="3403078"/>
            <a:ext cx="2846895" cy="148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Service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AD168A-B3D7-49A1-A80F-386C68078700}"/>
              </a:ext>
            </a:extLst>
          </p:cNvPr>
          <p:cNvCxnSpPr>
            <a:cxnSpLocks/>
            <a:stCxn id="14" idx="6"/>
            <a:endCxn id="15" idx="1"/>
          </p:cNvCxnSpPr>
          <p:nvPr/>
        </p:nvCxnSpPr>
        <p:spPr>
          <a:xfrm>
            <a:off x="5797483" y="4147796"/>
            <a:ext cx="141402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4A91A0-487E-4C6E-BC36-4EA7B497B1D4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10058398" y="4147796"/>
            <a:ext cx="1414020" cy="7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97ACC5-5021-4A0A-BF7C-6E5466FDAA6C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2104534" y="4147796"/>
            <a:ext cx="1487077" cy="63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Related image">
            <a:extLst>
              <a:ext uri="{FF2B5EF4-FFF2-40B4-BE49-F238E27FC236}">
                <a16:creationId xmlns:a16="http://schemas.microsoft.com/office/drawing/2014/main" id="{F8AA617A-5F65-41BD-AB43-D20AE4F7F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79144" y="3318558"/>
            <a:ext cx="1739425" cy="173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F2FB5B-3B06-406F-A605-49299000314B}"/>
              </a:ext>
            </a:extLst>
          </p:cNvPr>
          <p:cNvSpPr txBox="1"/>
          <p:nvPr/>
        </p:nvSpPr>
        <p:spPr>
          <a:xfrm>
            <a:off x="342208" y="5602832"/>
            <a:ext cx="1557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Arrival Process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F13486-1261-4CEF-99D4-624C7EC3A9D6}"/>
              </a:ext>
            </a:extLst>
          </p:cNvPr>
          <p:cNvSpPr txBox="1"/>
          <p:nvPr/>
        </p:nvSpPr>
        <p:spPr>
          <a:xfrm>
            <a:off x="7707350" y="5602832"/>
            <a:ext cx="200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Service Mechanism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9C47-94AB-4CB7-9AFB-7B2DF3E7D749}"/>
              </a:ext>
            </a:extLst>
          </p:cNvPr>
          <p:cNvSpPr txBox="1"/>
          <p:nvPr/>
        </p:nvSpPr>
        <p:spPr>
          <a:xfrm>
            <a:off x="3591611" y="5606179"/>
            <a:ext cx="2234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Queue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1826393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Arrival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how customers arrive e.g. singly or in groups (batch or bulk arrivals)</a:t>
            </a:r>
          </a:p>
          <a:p>
            <a:r>
              <a:rPr lang="en-GB" dirty="0"/>
              <a:t>how the arrivals are distributed in time (e.g. what is the probability distribution of time between successive arrivals (the </a:t>
            </a:r>
            <a:r>
              <a:rPr lang="en-GB" b="1" i="1" dirty="0"/>
              <a:t>inter-arrival time distribution</a:t>
            </a:r>
            <a:r>
              <a:rPr lang="en-GB" dirty="0"/>
              <a:t>)</a:t>
            </a:r>
          </a:p>
          <a:p>
            <a:r>
              <a:rPr lang="en-GB" dirty="0"/>
              <a:t>whether there is a finite population of customers or (effectively) an infinite number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9263FA-0589-4B10-A856-645B29A36FCC}"/>
              </a:ext>
            </a:extLst>
          </p:cNvPr>
          <p:cNvGrpSpPr/>
          <p:nvPr/>
        </p:nvGrpSpPr>
        <p:grpSpPr>
          <a:xfrm>
            <a:off x="7019309" y="499622"/>
            <a:ext cx="4509672" cy="888726"/>
            <a:chOff x="279144" y="2318995"/>
            <a:chExt cx="11193274" cy="220587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87339E4-B91A-4EDA-9F85-EB780DC7392B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F9C85E-92C7-4C6B-B199-C1062034E74A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2A0F1C8-5C51-4EEC-8E1F-9798FA4ACDE0}"/>
                </a:ext>
              </a:extLst>
            </p:cNvPr>
            <p:cNvCxnSpPr>
              <a:cxnSpLocks/>
              <a:stCxn id="9" idx="6"/>
              <a:endCxn id="10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C65286A-4B33-4EB5-829B-909AC1C28A2C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8796E4D-4D3A-458A-8BD8-DED6AD61CD91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 descr="Related image">
              <a:extLst>
                <a:ext uri="{FF2B5EF4-FFF2-40B4-BE49-F238E27FC236}">
                  <a16:creationId xmlns:a16="http://schemas.microsoft.com/office/drawing/2014/main" id="{22DB0B21-F4E5-4CB9-99F7-E4C56508B7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5090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Queue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how, from the set of customers waiting for service, do we choose the one to be served next (e.g. FIFO (first-in first-out) also known as FCFS (first-come first served); LIFO (last-in first-out); randomly) (this is often called the </a:t>
            </a:r>
            <a:r>
              <a:rPr lang="en-GB" i="1" dirty="0"/>
              <a:t>queue discipline</a:t>
            </a:r>
            <a:r>
              <a:rPr lang="en-GB" dirty="0"/>
              <a:t>)</a:t>
            </a:r>
          </a:p>
          <a:p>
            <a:r>
              <a:rPr lang="en-GB" dirty="0"/>
              <a:t>do we have:</a:t>
            </a:r>
          </a:p>
          <a:p>
            <a:pPr lvl="1"/>
            <a:r>
              <a:rPr lang="en-GB" dirty="0"/>
              <a:t>balking (customers deciding not to join the queue if it is too long)</a:t>
            </a:r>
          </a:p>
          <a:p>
            <a:pPr lvl="1"/>
            <a:r>
              <a:rPr lang="en-GB" dirty="0"/>
              <a:t>reneging (customers leave the queue if they have waited too long for service)</a:t>
            </a:r>
          </a:p>
          <a:p>
            <a:pPr lvl="1"/>
            <a:r>
              <a:rPr lang="en-GB" dirty="0"/>
              <a:t>jockeying (customers switch between queues if they think they will get served faster by so doing)</a:t>
            </a:r>
          </a:p>
          <a:p>
            <a:pPr lvl="1"/>
            <a:r>
              <a:rPr lang="en-GB" dirty="0"/>
              <a:t>a queue of finite capacity or (effectively) of infinite capacity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9263FA-0589-4B10-A856-645B29A36FCC}"/>
              </a:ext>
            </a:extLst>
          </p:cNvPr>
          <p:cNvGrpSpPr/>
          <p:nvPr/>
        </p:nvGrpSpPr>
        <p:grpSpPr>
          <a:xfrm>
            <a:off x="7019309" y="499622"/>
            <a:ext cx="4509672" cy="888726"/>
            <a:chOff x="279144" y="2318995"/>
            <a:chExt cx="11193274" cy="220587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87339E4-B91A-4EDA-9F85-EB780DC7392B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F9C85E-92C7-4C6B-B199-C1062034E74A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2A0F1C8-5C51-4EEC-8E1F-9798FA4ACDE0}"/>
                </a:ext>
              </a:extLst>
            </p:cNvPr>
            <p:cNvCxnSpPr>
              <a:cxnSpLocks/>
              <a:stCxn id="9" idx="6"/>
              <a:endCxn id="10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C65286A-4B33-4EB5-829B-909AC1C28A2C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8796E4D-4D3A-458A-8BD8-DED6AD61CD91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 descr="Related image">
              <a:extLst>
                <a:ext uri="{FF2B5EF4-FFF2-40B4-BE49-F238E27FC236}">
                  <a16:creationId xmlns:a16="http://schemas.microsoft.com/office/drawing/2014/main" id="{22DB0B21-F4E5-4CB9-99F7-E4C56508B7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8150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Service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a description of the resources needed for service to begin</a:t>
            </a:r>
          </a:p>
          <a:p>
            <a:r>
              <a:rPr lang="en-GB" dirty="0"/>
              <a:t>how long the service will take (the </a:t>
            </a:r>
            <a:r>
              <a:rPr lang="en-GB" b="1" i="1" dirty="0"/>
              <a:t>service time distribution</a:t>
            </a:r>
            <a:r>
              <a:rPr lang="en-GB" dirty="0"/>
              <a:t>)</a:t>
            </a:r>
          </a:p>
          <a:p>
            <a:r>
              <a:rPr lang="en-GB" dirty="0"/>
              <a:t>the number of servers available</a:t>
            </a:r>
          </a:p>
          <a:p>
            <a:r>
              <a:rPr lang="en-GB" dirty="0"/>
              <a:t>whether the servers are in series (each server has a separate queue) or in parallel (one queue for all servers)</a:t>
            </a:r>
          </a:p>
          <a:p>
            <a:r>
              <a:rPr lang="en-GB" dirty="0"/>
              <a:t>whether pre-emption is allowed (a server can stop processing a customer to deal with another "emergency" customer)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9263FA-0589-4B10-A856-645B29A36FCC}"/>
              </a:ext>
            </a:extLst>
          </p:cNvPr>
          <p:cNvGrpSpPr/>
          <p:nvPr/>
        </p:nvGrpSpPr>
        <p:grpSpPr>
          <a:xfrm>
            <a:off x="7019309" y="499622"/>
            <a:ext cx="4509672" cy="888726"/>
            <a:chOff x="279144" y="2318995"/>
            <a:chExt cx="11193274" cy="220587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87339E4-B91A-4EDA-9F85-EB780DC7392B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F9C85E-92C7-4C6B-B199-C1062034E74A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2A0F1C8-5C51-4EEC-8E1F-9798FA4ACDE0}"/>
                </a:ext>
              </a:extLst>
            </p:cNvPr>
            <p:cNvCxnSpPr>
              <a:cxnSpLocks/>
              <a:stCxn id="9" idx="6"/>
              <a:endCxn id="10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C65286A-4B33-4EB5-829B-909AC1C28A2C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8796E4D-4D3A-458A-8BD8-DED6AD61CD91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 descr="Related image">
              <a:extLst>
                <a:ext uri="{FF2B5EF4-FFF2-40B4-BE49-F238E27FC236}">
                  <a16:creationId xmlns:a16="http://schemas.microsoft.com/office/drawing/2014/main" id="{22DB0B21-F4E5-4CB9-99F7-E4C56508B7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0907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b="1" dirty="0">
                <a:latin typeface="Calibri (Body)"/>
                <a:ea typeface="Times New Roman" panose="02020603050405020304" pitchFamily="18" charset="0"/>
              </a:rPr>
              <a:t>Queuing process</a:t>
            </a:r>
            <a:r>
              <a:rPr lang="en-GB" dirty="0">
                <a:latin typeface="Calibri (Body)"/>
                <a:ea typeface="Times New Roman" panose="02020603050405020304" pitchFamily="18" charset="0"/>
              </a:rPr>
              <a:t> consists of customers arriving at a facility, waiting in a line (queue) if all servers are busy, receiving service, and departing.</a:t>
            </a:r>
          </a:p>
          <a:p>
            <a:pPr marL="0" indent="0">
              <a:spcAft>
                <a:spcPts val="0"/>
              </a:spcAft>
              <a:buNone/>
            </a:pPr>
            <a:endParaRPr lang="en-GB" dirty="0">
              <a:latin typeface="Calibri (Body)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b="1" dirty="0">
                <a:latin typeface="Calibri (Body)"/>
                <a:ea typeface="Times New Roman" panose="02020603050405020304" pitchFamily="18" charset="0"/>
              </a:rPr>
              <a:t>Queueing system</a:t>
            </a:r>
            <a:r>
              <a:rPr lang="en-GB" dirty="0">
                <a:latin typeface="Calibri (Body)"/>
                <a:ea typeface="Times New Roman" panose="02020603050405020304" pitchFamily="18" charset="0"/>
              </a:rPr>
              <a:t> is a set of customers, a set of servers, and an order whereby customers arrive and are processed.</a:t>
            </a:r>
          </a:p>
          <a:p>
            <a:pPr marL="0" indent="0">
              <a:spcAft>
                <a:spcPts val="0"/>
              </a:spcAft>
              <a:buNone/>
            </a:pPr>
            <a:endParaRPr lang="en-GB" dirty="0">
              <a:latin typeface="Calibri (Body)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b="1" kern="0" dirty="0">
                <a:latin typeface="Calibri (Body)"/>
              </a:rPr>
              <a:t>Inter-arrival time (IAT) </a:t>
            </a:r>
            <a:r>
              <a:rPr lang="en-GB" kern="0" dirty="0">
                <a:latin typeface="Calibri (Body)"/>
              </a:rPr>
              <a:t>is the time between successive customer arrivals to the service facility.</a:t>
            </a:r>
          </a:p>
          <a:p>
            <a:pPr marL="0" indent="0">
              <a:spcAft>
                <a:spcPts val="0"/>
              </a:spcAft>
              <a:buNone/>
            </a:pPr>
            <a:endParaRPr lang="en-GB" kern="0" dirty="0">
              <a:latin typeface="Calibri (Body)"/>
            </a:endParaRPr>
          </a:p>
          <a:p>
            <a:pPr marL="0" indent="0">
              <a:buNone/>
            </a:pPr>
            <a:r>
              <a:rPr lang="en-GB" b="1" kern="0" dirty="0">
                <a:latin typeface="Calibri (Body)"/>
              </a:rPr>
              <a:t>Batch Sizes: </a:t>
            </a:r>
            <a:r>
              <a:rPr lang="en-GB" kern="0" dirty="0">
                <a:latin typeface="Calibri (Body)"/>
              </a:rPr>
              <a:t>Number of items that “travel together” through a stage within the production system</a:t>
            </a:r>
          </a:p>
          <a:p>
            <a:pPr marL="0" indent="0">
              <a:buNone/>
            </a:pPr>
            <a:endParaRPr lang="en-GB" kern="0" dirty="0">
              <a:latin typeface="Calibri (Body)"/>
            </a:endParaRPr>
          </a:p>
          <a:p>
            <a:pPr marL="0" indent="0">
              <a:spcAft>
                <a:spcPts val="0"/>
              </a:spcAft>
              <a:buNone/>
              <a:tabLst>
                <a:tab pos="3820795" algn="l"/>
              </a:tabLst>
            </a:pPr>
            <a:r>
              <a:rPr lang="en-GB" b="1" dirty="0">
                <a:latin typeface="Calibri (Body)"/>
                <a:ea typeface="Times New Roman" panose="02020603050405020304" pitchFamily="18" charset="0"/>
              </a:rPr>
              <a:t>Service time</a:t>
            </a:r>
            <a:r>
              <a:rPr lang="en-GB" dirty="0">
                <a:latin typeface="Calibri (Body)"/>
                <a:ea typeface="Times New Roman" panose="02020603050405020304" pitchFamily="18" charset="0"/>
              </a:rPr>
              <a:t> the time required by one server to serve one customer.</a:t>
            </a:r>
          </a:p>
          <a:p>
            <a:pPr marL="0" indent="0">
              <a:buNone/>
            </a:pPr>
            <a:endParaRPr lang="en-GB" dirty="0">
              <a:latin typeface="Calibri (Body)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9263FA-0589-4B10-A856-645B29A36FCC}"/>
              </a:ext>
            </a:extLst>
          </p:cNvPr>
          <p:cNvGrpSpPr/>
          <p:nvPr/>
        </p:nvGrpSpPr>
        <p:grpSpPr>
          <a:xfrm>
            <a:off x="7019309" y="499622"/>
            <a:ext cx="4509672" cy="888726"/>
            <a:chOff x="279144" y="2318995"/>
            <a:chExt cx="11193274" cy="220587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87339E4-B91A-4EDA-9F85-EB780DC7392B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F9C85E-92C7-4C6B-B199-C1062034E74A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2A0F1C8-5C51-4EEC-8E1F-9798FA4ACDE0}"/>
                </a:ext>
              </a:extLst>
            </p:cNvPr>
            <p:cNvCxnSpPr>
              <a:cxnSpLocks/>
              <a:stCxn id="9" idx="6"/>
              <a:endCxn id="10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C65286A-4B33-4EB5-829B-909AC1C28A2C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8796E4D-4D3A-458A-8BD8-DED6AD61CD91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 descr="Related image">
              <a:extLst>
                <a:ext uri="{FF2B5EF4-FFF2-40B4-BE49-F238E27FC236}">
                  <a16:creationId xmlns:a16="http://schemas.microsoft.com/office/drawing/2014/main" id="{22DB0B21-F4E5-4CB9-99F7-E4C56508B7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5111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Assumptions (initial)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ea typeface="Times New Roman" panose="02020603050405020304" pitchFamily="18" charset="0"/>
              </a:rPr>
              <a:t>Standard assumptions are:</a:t>
            </a:r>
          </a:p>
          <a:p>
            <a:pPr marL="0" indent="0">
              <a:spcAft>
                <a:spcPts val="0"/>
              </a:spcAft>
              <a:buNone/>
            </a:pPr>
            <a:endParaRPr lang="en-GB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dirty="0">
                <a:ea typeface="Times New Roman" panose="02020603050405020304" pitchFamily="18" charset="0"/>
              </a:rPr>
              <a:t>All customers arrive singly</a:t>
            </a:r>
          </a:p>
          <a:p>
            <a:pPr>
              <a:spcAft>
                <a:spcPts val="0"/>
              </a:spcAft>
            </a:pPr>
            <a:endParaRPr lang="en-GB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dirty="0">
                <a:ea typeface="Times New Roman" panose="02020603050405020304" pitchFamily="18" charset="0"/>
              </a:rPr>
              <a:t>Customers do not leave a queue once they have joined it (no reneging)</a:t>
            </a:r>
          </a:p>
          <a:p>
            <a:pPr>
              <a:spcAft>
                <a:spcPts val="0"/>
              </a:spcAft>
            </a:pPr>
            <a:endParaRPr lang="en-GB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dirty="0">
                <a:ea typeface="Times New Roman" panose="02020603050405020304" pitchFamily="18" charset="0"/>
              </a:rPr>
              <a:t>Arriving customers do not refuse to enter a queue for any reason. (balking)</a:t>
            </a:r>
          </a:p>
          <a:p>
            <a:pPr>
              <a:spcAft>
                <a:spcPts val="0"/>
              </a:spcAft>
            </a:pPr>
            <a:endParaRPr lang="en-GB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dirty="0">
                <a:ea typeface="Times New Roman" panose="02020603050405020304" pitchFamily="18" charset="0"/>
              </a:rPr>
              <a:t>One server can completely serve one customer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056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can be simulated?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From the simple queueing process, we can chain these together in different configurations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E6EC881-B688-431C-B935-1CEB5B05C95A}"/>
              </a:ext>
            </a:extLst>
          </p:cNvPr>
          <p:cNvGrpSpPr/>
          <p:nvPr/>
        </p:nvGrpSpPr>
        <p:grpSpPr>
          <a:xfrm>
            <a:off x="7019309" y="499622"/>
            <a:ext cx="4509672" cy="888726"/>
            <a:chOff x="279144" y="2318995"/>
            <a:chExt cx="11193274" cy="220587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40989E2-0F79-438D-89E9-0B667216C9FC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7B865CB-6FF3-445A-85FE-BBDC58FB5341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18B951F-5A15-4C59-8D50-7125D723217F}"/>
                </a:ext>
              </a:extLst>
            </p:cNvPr>
            <p:cNvCxnSpPr>
              <a:cxnSpLocks/>
              <a:stCxn id="5" idx="6"/>
              <a:endCxn id="6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5BABF65-E117-4FA2-9CD8-B038F5006866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6922939-48A8-4BC2-AB60-46C457274BCC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Picture 2" descr="Related image">
              <a:extLst>
                <a:ext uri="{FF2B5EF4-FFF2-40B4-BE49-F238E27FC236}">
                  <a16:creationId xmlns:a16="http://schemas.microsoft.com/office/drawing/2014/main" id="{E59D531C-B5B2-4B8F-A6B0-BCBDD43C2F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90592CD0-393E-4945-A466-E1B5D6A40311}"/>
              </a:ext>
            </a:extLst>
          </p:cNvPr>
          <p:cNvSpPr/>
          <p:nvPr/>
        </p:nvSpPr>
        <p:spPr>
          <a:xfrm>
            <a:off x="1608479" y="2983139"/>
            <a:ext cx="888726" cy="8887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BD3743-28FC-4A79-B53D-B34622F0A376}"/>
              </a:ext>
            </a:extLst>
          </p:cNvPr>
          <p:cNvSpPr/>
          <p:nvPr/>
        </p:nvSpPr>
        <p:spPr>
          <a:xfrm>
            <a:off x="3066902" y="3127462"/>
            <a:ext cx="1146989" cy="60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Service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6F462C5-5477-42A3-A4AA-1BE47B094F37}"/>
              </a:ext>
            </a:extLst>
          </p:cNvPr>
          <p:cNvCxnSpPr>
            <a:cxnSpLocks/>
            <a:stCxn id="12" idx="6"/>
            <a:endCxn id="13" idx="1"/>
          </p:cNvCxnSpPr>
          <p:nvPr/>
        </p:nvCxnSpPr>
        <p:spPr>
          <a:xfrm>
            <a:off x="2497205" y="3427502"/>
            <a:ext cx="56969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5089E2-7512-4FA2-9237-056E8C8FC119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>
            <a:off x="4213891" y="3427502"/>
            <a:ext cx="56969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329183-F15A-4776-A476-998DBBAF4836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1009349" y="3427502"/>
            <a:ext cx="599130" cy="25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Related image">
            <a:extLst>
              <a:ext uri="{FF2B5EF4-FFF2-40B4-BE49-F238E27FC236}">
                <a16:creationId xmlns:a16="http://schemas.microsoft.com/office/drawing/2014/main" id="{58BF7CB6-A64B-443D-AF40-5EEF706A6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73915" y="3093409"/>
            <a:ext cx="700799" cy="700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B198C5C-DA5F-4EC8-8E75-9E75EC3697BF}"/>
              </a:ext>
            </a:extLst>
          </p:cNvPr>
          <p:cNvSpPr/>
          <p:nvPr/>
        </p:nvSpPr>
        <p:spPr>
          <a:xfrm>
            <a:off x="4783587" y="3127462"/>
            <a:ext cx="1146989" cy="60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Service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F761FE-F998-465F-9136-EE9590078202}"/>
              </a:ext>
            </a:extLst>
          </p:cNvPr>
          <p:cNvCxnSpPr>
            <a:cxnSpLocks/>
            <a:stCxn id="25" idx="3"/>
            <a:endCxn id="29" idx="1"/>
          </p:cNvCxnSpPr>
          <p:nvPr/>
        </p:nvCxnSpPr>
        <p:spPr>
          <a:xfrm>
            <a:off x="5930576" y="3427502"/>
            <a:ext cx="56969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76A60F5-68F8-40C5-813A-5DA39A1A9BCA}"/>
              </a:ext>
            </a:extLst>
          </p:cNvPr>
          <p:cNvSpPr/>
          <p:nvPr/>
        </p:nvSpPr>
        <p:spPr>
          <a:xfrm>
            <a:off x="6500272" y="3127462"/>
            <a:ext cx="1146989" cy="60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Service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59CE140-8096-4B34-B6EB-5E30E8BDEA69}"/>
              </a:ext>
            </a:extLst>
          </p:cNvPr>
          <p:cNvCxnSpPr>
            <a:cxnSpLocks/>
          </p:cNvCxnSpPr>
          <p:nvPr/>
        </p:nvCxnSpPr>
        <p:spPr>
          <a:xfrm>
            <a:off x="7647261" y="3427502"/>
            <a:ext cx="56969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8987745A-6834-4B0B-BA17-A78CD6594631}"/>
              </a:ext>
            </a:extLst>
          </p:cNvPr>
          <p:cNvSpPr/>
          <p:nvPr/>
        </p:nvSpPr>
        <p:spPr>
          <a:xfrm>
            <a:off x="1631925" y="4970956"/>
            <a:ext cx="888726" cy="8887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Queue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F1FAC3C-9612-4DF0-9C57-7E76502DDAE4}"/>
              </a:ext>
            </a:extLst>
          </p:cNvPr>
          <p:cNvSpPr/>
          <p:nvPr/>
        </p:nvSpPr>
        <p:spPr>
          <a:xfrm>
            <a:off x="3090347" y="5586822"/>
            <a:ext cx="1146989" cy="60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Service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4954D49-51D0-422D-B9DC-6BD402360109}"/>
              </a:ext>
            </a:extLst>
          </p:cNvPr>
          <p:cNvCxnSpPr>
            <a:cxnSpLocks/>
            <a:stCxn id="34" idx="6"/>
            <a:endCxn id="35" idx="1"/>
          </p:cNvCxnSpPr>
          <p:nvPr/>
        </p:nvCxnSpPr>
        <p:spPr>
          <a:xfrm>
            <a:off x="2520651" y="5415319"/>
            <a:ext cx="569696" cy="4715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658DEA4-190B-4F3D-B470-E578C0B4AFB5}"/>
              </a:ext>
            </a:extLst>
          </p:cNvPr>
          <p:cNvCxnSpPr>
            <a:cxnSpLocks/>
            <a:stCxn id="34" idx="6"/>
            <a:endCxn id="40" idx="1"/>
          </p:cNvCxnSpPr>
          <p:nvPr/>
        </p:nvCxnSpPr>
        <p:spPr>
          <a:xfrm flipV="1">
            <a:off x="2520651" y="4986743"/>
            <a:ext cx="569696" cy="4285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3A32544-31E9-4F5D-AC9F-9DB1BE5D28D7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1032795" y="5415319"/>
            <a:ext cx="599130" cy="25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2" descr="Related image">
            <a:extLst>
              <a:ext uri="{FF2B5EF4-FFF2-40B4-BE49-F238E27FC236}">
                <a16:creationId xmlns:a16="http://schemas.microsoft.com/office/drawing/2014/main" id="{359A5086-3C95-44AE-9801-3A9C3CF74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97361" y="5081226"/>
            <a:ext cx="700799" cy="700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B84586F6-5C68-4B28-8FFD-9C46CE22F9EC}"/>
              </a:ext>
            </a:extLst>
          </p:cNvPr>
          <p:cNvSpPr/>
          <p:nvPr/>
        </p:nvSpPr>
        <p:spPr>
          <a:xfrm>
            <a:off x="3090347" y="4686703"/>
            <a:ext cx="1146989" cy="60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Service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5F3DD50-AD31-4C6A-B105-F36407FAE4D5}"/>
              </a:ext>
            </a:extLst>
          </p:cNvPr>
          <p:cNvCxnSpPr>
            <a:cxnSpLocks/>
            <a:stCxn id="40" idx="3"/>
            <a:endCxn id="51" idx="2"/>
          </p:cNvCxnSpPr>
          <p:nvPr/>
        </p:nvCxnSpPr>
        <p:spPr>
          <a:xfrm>
            <a:off x="4237336" y="4986743"/>
            <a:ext cx="628768" cy="4285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2F4722FD-7B9C-4E18-B488-BC2F1FBB0A67}"/>
              </a:ext>
            </a:extLst>
          </p:cNvPr>
          <p:cNvSpPr/>
          <p:nvPr/>
        </p:nvSpPr>
        <p:spPr>
          <a:xfrm>
            <a:off x="6364337" y="5115279"/>
            <a:ext cx="1146989" cy="60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Service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8A18AF5-A4A9-4F84-B0D2-2DC9513B8996}"/>
              </a:ext>
            </a:extLst>
          </p:cNvPr>
          <p:cNvCxnSpPr>
            <a:cxnSpLocks/>
          </p:cNvCxnSpPr>
          <p:nvPr/>
        </p:nvCxnSpPr>
        <p:spPr>
          <a:xfrm>
            <a:off x="7511326" y="5428638"/>
            <a:ext cx="56969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3BFE5B07-FBC2-4311-BEC2-C9A84DE75223}"/>
              </a:ext>
            </a:extLst>
          </p:cNvPr>
          <p:cNvSpPr/>
          <p:nvPr/>
        </p:nvSpPr>
        <p:spPr>
          <a:xfrm>
            <a:off x="4866104" y="4970956"/>
            <a:ext cx="888726" cy="8887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Queue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C5C1CA7-FAF5-43C3-9FBB-3CAC59FE1C9A}"/>
              </a:ext>
            </a:extLst>
          </p:cNvPr>
          <p:cNvCxnSpPr>
            <a:cxnSpLocks/>
            <a:stCxn id="35" idx="3"/>
            <a:endCxn id="51" idx="2"/>
          </p:cNvCxnSpPr>
          <p:nvPr/>
        </p:nvCxnSpPr>
        <p:spPr>
          <a:xfrm flipV="1">
            <a:off x="4237336" y="5415319"/>
            <a:ext cx="628768" cy="4715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910AA5B-4E57-4516-BC41-DC698C32F364}"/>
              </a:ext>
            </a:extLst>
          </p:cNvPr>
          <p:cNvCxnSpPr>
            <a:cxnSpLocks/>
            <a:stCxn id="51" idx="6"/>
          </p:cNvCxnSpPr>
          <p:nvPr/>
        </p:nvCxnSpPr>
        <p:spPr>
          <a:xfrm>
            <a:off x="5754830" y="5415319"/>
            <a:ext cx="61330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80759E95-6721-48C3-9265-08B28BC3B75F}"/>
              </a:ext>
            </a:extLst>
          </p:cNvPr>
          <p:cNvSpPr/>
          <p:nvPr/>
        </p:nvSpPr>
        <p:spPr>
          <a:xfrm>
            <a:off x="9087018" y="4005863"/>
            <a:ext cx="888726" cy="8887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Queue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81B2FD5-C56D-4ABC-AFAF-DD38F8FDD9A6}"/>
              </a:ext>
            </a:extLst>
          </p:cNvPr>
          <p:cNvSpPr/>
          <p:nvPr/>
        </p:nvSpPr>
        <p:spPr>
          <a:xfrm>
            <a:off x="10765670" y="3753445"/>
            <a:ext cx="1146989" cy="60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Service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478E407-DBDB-4B89-9731-8A5F63F97C84}"/>
              </a:ext>
            </a:extLst>
          </p:cNvPr>
          <p:cNvCxnSpPr>
            <a:cxnSpLocks/>
            <a:stCxn id="62" idx="6"/>
            <a:endCxn id="63" idx="1"/>
          </p:cNvCxnSpPr>
          <p:nvPr/>
        </p:nvCxnSpPr>
        <p:spPr>
          <a:xfrm flipV="1">
            <a:off x="9975744" y="4053485"/>
            <a:ext cx="789926" cy="3967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EE911EF-E4D1-4E97-A863-CEE7DB6685AE}"/>
              </a:ext>
            </a:extLst>
          </p:cNvPr>
          <p:cNvCxnSpPr>
            <a:cxnSpLocks/>
            <a:stCxn id="62" idx="6"/>
            <a:endCxn id="68" idx="1"/>
          </p:cNvCxnSpPr>
          <p:nvPr/>
        </p:nvCxnSpPr>
        <p:spPr>
          <a:xfrm flipV="1">
            <a:off x="9975744" y="3216275"/>
            <a:ext cx="789926" cy="12339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6B76F6B-8EC6-4DE4-9794-03401A6DA474}"/>
              </a:ext>
            </a:extLst>
          </p:cNvPr>
          <p:cNvCxnSpPr>
            <a:cxnSpLocks/>
            <a:endCxn id="62" idx="2"/>
          </p:cNvCxnSpPr>
          <p:nvPr/>
        </p:nvCxnSpPr>
        <p:spPr>
          <a:xfrm flipV="1">
            <a:off x="8487888" y="4450226"/>
            <a:ext cx="599130" cy="25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2" descr="Related image">
            <a:extLst>
              <a:ext uri="{FF2B5EF4-FFF2-40B4-BE49-F238E27FC236}">
                <a16:creationId xmlns:a16="http://schemas.microsoft.com/office/drawing/2014/main" id="{252DE87F-B6DB-49F5-AA1E-4A45F60CB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752454" y="4116133"/>
            <a:ext cx="700799" cy="700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0CEFC6E2-3945-48D3-B625-27CD59D5B893}"/>
              </a:ext>
            </a:extLst>
          </p:cNvPr>
          <p:cNvSpPr/>
          <p:nvPr/>
        </p:nvSpPr>
        <p:spPr>
          <a:xfrm>
            <a:off x="10765670" y="2916235"/>
            <a:ext cx="1146989" cy="60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Service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79052E6-9BF0-4E07-BC4D-AFCDC2243166}"/>
              </a:ext>
            </a:extLst>
          </p:cNvPr>
          <p:cNvSpPr/>
          <p:nvPr/>
        </p:nvSpPr>
        <p:spPr>
          <a:xfrm>
            <a:off x="10765670" y="5430958"/>
            <a:ext cx="1146989" cy="60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Service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5306E1A-C121-4B8C-8636-1FAC5BD8F420}"/>
              </a:ext>
            </a:extLst>
          </p:cNvPr>
          <p:cNvCxnSpPr>
            <a:cxnSpLocks/>
            <a:stCxn id="62" idx="6"/>
            <a:endCxn id="69" idx="1"/>
          </p:cNvCxnSpPr>
          <p:nvPr/>
        </p:nvCxnSpPr>
        <p:spPr>
          <a:xfrm>
            <a:off x="9975744" y="4450226"/>
            <a:ext cx="789926" cy="12807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128E8D6-E52D-447C-9BB0-EB78933AAF84}"/>
              </a:ext>
            </a:extLst>
          </p:cNvPr>
          <p:cNvCxnSpPr>
            <a:cxnSpLocks/>
            <a:stCxn id="62" idx="6"/>
            <a:endCxn id="72" idx="1"/>
          </p:cNvCxnSpPr>
          <p:nvPr/>
        </p:nvCxnSpPr>
        <p:spPr>
          <a:xfrm>
            <a:off x="9975744" y="4450226"/>
            <a:ext cx="789926" cy="44436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D00F4D5-79F1-4B3E-85DA-BE36637D9CF2}"/>
              </a:ext>
            </a:extLst>
          </p:cNvPr>
          <p:cNvSpPr/>
          <p:nvPr/>
        </p:nvSpPr>
        <p:spPr>
          <a:xfrm>
            <a:off x="10765670" y="4594549"/>
            <a:ext cx="1146989" cy="60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241052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Doctor’s Waiting Room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We’ve already seen the simple example. This is commonly referred to as the Doctor’s waiting room 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4EA5A07-2523-413F-92CC-25D7D846765E}"/>
              </a:ext>
            </a:extLst>
          </p:cNvPr>
          <p:cNvGrpSpPr/>
          <p:nvPr/>
        </p:nvGrpSpPr>
        <p:grpSpPr>
          <a:xfrm>
            <a:off x="2305907" y="3774259"/>
            <a:ext cx="7922577" cy="1561311"/>
            <a:chOff x="279144" y="2318995"/>
            <a:chExt cx="11193274" cy="2205872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9C975CF-A2F1-4CA7-AD61-9F1592C1DE22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259B1F2-E99F-4E59-8FCD-3FB02F2234A8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6CC94F8A-009E-46F8-813F-0D5D3C5FC205}"/>
                </a:ext>
              </a:extLst>
            </p:cNvPr>
            <p:cNvCxnSpPr>
              <a:cxnSpLocks/>
              <a:stCxn id="46" idx="6"/>
              <a:endCxn id="47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3FCD4DA-6AD0-41AB-B1CE-AC371480930A}"/>
                </a:ext>
              </a:extLst>
            </p:cNvPr>
            <p:cNvCxnSpPr>
              <a:cxnSpLocks/>
              <a:stCxn id="47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02066C40-8C78-4578-8224-48FCE49A7FE5}"/>
                </a:ext>
              </a:extLst>
            </p:cNvPr>
            <p:cNvCxnSpPr>
              <a:cxnSpLocks/>
              <a:endCxn id="46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" name="Picture 2" descr="Related image">
              <a:extLst>
                <a:ext uri="{FF2B5EF4-FFF2-40B4-BE49-F238E27FC236}">
                  <a16:creationId xmlns:a16="http://schemas.microsoft.com/office/drawing/2014/main" id="{3FCEAEF6-8DD1-481A-8B42-3715077BDE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618751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Traffic 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What are the best light settings?</a:t>
            </a:r>
          </a:p>
          <a:p>
            <a:pPr marL="0" indent="0">
              <a:buNone/>
            </a:pPr>
            <a:r>
              <a:rPr lang="en-GB" dirty="0"/>
              <a:t>The aim of the simulation could be the determination of these settings.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4F2B85-F486-4FEF-B213-35355257617F}"/>
              </a:ext>
            </a:extLst>
          </p:cNvPr>
          <p:cNvSpPr/>
          <p:nvPr/>
        </p:nvSpPr>
        <p:spPr>
          <a:xfrm>
            <a:off x="4187071" y="4657888"/>
            <a:ext cx="3931691" cy="17474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D9D25B-195D-43CA-8E54-573626301169}"/>
              </a:ext>
            </a:extLst>
          </p:cNvPr>
          <p:cNvSpPr/>
          <p:nvPr/>
        </p:nvSpPr>
        <p:spPr>
          <a:xfrm>
            <a:off x="8128189" y="4648461"/>
            <a:ext cx="2402013" cy="1787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42DA1F-FFB5-4E17-BADF-94A5AEE756D6}"/>
              </a:ext>
            </a:extLst>
          </p:cNvPr>
          <p:cNvSpPr/>
          <p:nvPr/>
        </p:nvSpPr>
        <p:spPr>
          <a:xfrm>
            <a:off x="1765676" y="4657889"/>
            <a:ext cx="2279589" cy="1696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11EF17-84E3-4111-9BC5-024C1E407515}"/>
              </a:ext>
            </a:extLst>
          </p:cNvPr>
          <p:cNvSpPr/>
          <p:nvPr/>
        </p:nvSpPr>
        <p:spPr>
          <a:xfrm rot="5400000">
            <a:off x="2953008" y="4648462"/>
            <a:ext cx="2279589" cy="1696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1C09C6-34C6-4388-A6C8-CE016BAAF45A}"/>
              </a:ext>
            </a:extLst>
          </p:cNvPr>
          <p:cNvSpPr/>
          <p:nvPr/>
        </p:nvSpPr>
        <p:spPr>
          <a:xfrm rot="5400000">
            <a:off x="6990228" y="4648462"/>
            <a:ext cx="2279589" cy="1696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5A09AF-EE4A-4E23-A343-B5E43407AAF4}"/>
              </a:ext>
            </a:extLst>
          </p:cNvPr>
          <p:cNvCxnSpPr/>
          <p:nvPr/>
        </p:nvCxnSpPr>
        <p:spPr>
          <a:xfrm>
            <a:off x="4296049" y="2988128"/>
            <a:ext cx="0" cy="721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D56D8B-4281-47C9-93F3-F96E67E1E4E6}"/>
              </a:ext>
            </a:extLst>
          </p:cNvPr>
          <p:cNvCxnSpPr>
            <a:cxnSpLocks/>
          </p:cNvCxnSpPr>
          <p:nvPr/>
        </p:nvCxnSpPr>
        <p:spPr>
          <a:xfrm flipV="1">
            <a:off x="3897722" y="2988128"/>
            <a:ext cx="0" cy="721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9C83EA8-AFB0-4119-B8D3-576CD01955F1}"/>
              </a:ext>
            </a:extLst>
          </p:cNvPr>
          <p:cNvCxnSpPr/>
          <p:nvPr/>
        </p:nvCxnSpPr>
        <p:spPr>
          <a:xfrm>
            <a:off x="8321766" y="2986690"/>
            <a:ext cx="0" cy="721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7A4222D-5AD6-4516-9B47-CBC55469FB1E}"/>
              </a:ext>
            </a:extLst>
          </p:cNvPr>
          <p:cNvCxnSpPr>
            <a:cxnSpLocks/>
          </p:cNvCxnSpPr>
          <p:nvPr/>
        </p:nvCxnSpPr>
        <p:spPr>
          <a:xfrm flipV="1">
            <a:off x="7923439" y="2986690"/>
            <a:ext cx="0" cy="721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AB767CD-3C09-4E44-B8C2-DF0F140644F5}"/>
              </a:ext>
            </a:extLst>
          </p:cNvPr>
          <p:cNvCxnSpPr/>
          <p:nvPr/>
        </p:nvCxnSpPr>
        <p:spPr>
          <a:xfrm>
            <a:off x="8325486" y="5758196"/>
            <a:ext cx="0" cy="721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05FB30-D2F1-46B7-A347-28E11C56362A}"/>
              </a:ext>
            </a:extLst>
          </p:cNvPr>
          <p:cNvCxnSpPr>
            <a:cxnSpLocks/>
          </p:cNvCxnSpPr>
          <p:nvPr/>
        </p:nvCxnSpPr>
        <p:spPr>
          <a:xfrm flipV="1">
            <a:off x="7927159" y="5758196"/>
            <a:ext cx="0" cy="721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E93BD4F-A45D-4F58-AA88-EBBF43ADF5D5}"/>
              </a:ext>
            </a:extLst>
          </p:cNvPr>
          <p:cNvCxnSpPr/>
          <p:nvPr/>
        </p:nvCxnSpPr>
        <p:spPr>
          <a:xfrm>
            <a:off x="4296049" y="5758237"/>
            <a:ext cx="0" cy="721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92DFC9-5C1F-4557-9D6A-8AE319A7C113}"/>
              </a:ext>
            </a:extLst>
          </p:cNvPr>
          <p:cNvCxnSpPr>
            <a:cxnSpLocks/>
          </p:cNvCxnSpPr>
          <p:nvPr/>
        </p:nvCxnSpPr>
        <p:spPr>
          <a:xfrm flipV="1">
            <a:off x="3897722" y="5758237"/>
            <a:ext cx="0" cy="721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447754A-3F57-452C-9620-7DF6ABE9E6BA}"/>
              </a:ext>
            </a:extLst>
          </p:cNvPr>
          <p:cNvCxnSpPr>
            <a:cxnSpLocks/>
          </p:cNvCxnSpPr>
          <p:nvPr/>
        </p:nvCxnSpPr>
        <p:spPr>
          <a:xfrm rot="5400000">
            <a:off x="1512583" y="4554753"/>
            <a:ext cx="0" cy="721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632F482-1B5A-49EB-8723-AFEC32798216}"/>
              </a:ext>
            </a:extLst>
          </p:cNvPr>
          <p:cNvCxnSpPr>
            <a:cxnSpLocks/>
          </p:cNvCxnSpPr>
          <p:nvPr/>
        </p:nvCxnSpPr>
        <p:spPr>
          <a:xfrm rot="5400000" flipV="1">
            <a:off x="1512583" y="4179196"/>
            <a:ext cx="0" cy="721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0460830-F563-47E7-88FD-77777EDE1DBE}"/>
              </a:ext>
            </a:extLst>
          </p:cNvPr>
          <p:cNvCxnSpPr>
            <a:cxnSpLocks/>
          </p:cNvCxnSpPr>
          <p:nvPr/>
        </p:nvCxnSpPr>
        <p:spPr>
          <a:xfrm rot="5400000">
            <a:off x="10779653" y="4562917"/>
            <a:ext cx="0" cy="721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F3133B6-530F-49F8-93A0-61FABB2AF2C9}"/>
              </a:ext>
            </a:extLst>
          </p:cNvPr>
          <p:cNvCxnSpPr>
            <a:cxnSpLocks/>
          </p:cNvCxnSpPr>
          <p:nvPr/>
        </p:nvCxnSpPr>
        <p:spPr>
          <a:xfrm rot="5400000" flipV="1">
            <a:off x="10779653" y="4187360"/>
            <a:ext cx="0" cy="721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B14FAAA-709E-465C-988A-D72B51C367D3}"/>
              </a:ext>
            </a:extLst>
          </p:cNvPr>
          <p:cNvCxnSpPr>
            <a:cxnSpLocks/>
          </p:cNvCxnSpPr>
          <p:nvPr/>
        </p:nvCxnSpPr>
        <p:spPr>
          <a:xfrm rot="5400000" flipV="1">
            <a:off x="9976831" y="5826389"/>
            <a:ext cx="0" cy="721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14B43BA-8B2A-4235-AD06-DC64C04A0109}"/>
              </a:ext>
            </a:extLst>
          </p:cNvPr>
          <p:cNvSpPr txBox="1"/>
          <p:nvPr/>
        </p:nvSpPr>
        <p:spPr>
          <a:xfrm>
            <a:off x="10431877" y="5573530"/>
            <a:ext cx="1355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Traffic Lights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F8E02F-70A9-4E5D-BD14-87927EC37B0A}"/>
              </a:ext>
            </a:extLst>
          </p:cNvPr>
          <p:cNvSpPr txBox="1"/>
          <p:nvPr/>
        </p:nvSpPr>
        <p:spPr>
          <a:xfrm>
            <a:off x="10438290" y="5966794"/>
            <a:ext cx="125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Traffic Flow</a:t>
            </a:r>
          </a:p>
        </p:txBody>
      </p:sp>
      <p:pic>
        <p:nvPicPr>
          <p:cNvPr id="9" name="Graphic 8" descr="Traffic light">
            <a:extLst>
              <a:ext uri="{FF2B5EF4-FFF2-40B4-BE49-F238E27FC236}">
                <a16:creationId xmlns:a16="http://schemas.microsoft.com/office/drawing/2014/main" id="{BF911EDE-39F8-4857-B125-39D33C1FD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3738" y="4418516"/>
            <a:ext cx="599157" cy="599157"/>
          </a:xfrm>
          <a:prstGeom prst="rect">
            <a:avLst/>
          </a:prstGeom>
        </p:spPr>
      </p:pic>
      <p:pic>
        <p:nvPicPr>
          <p:cNvPr id="34" name="Graphic 33" descr="Traffic light">
            <a:extLst>
              <a:ext uri="{FF2B5EF4-FFF2-40B4-BE49-F238E27FC236}">
                <a16:creationId xmlns:a16="http://schemas.microsoft.com/office/drawing/2014/main" id="{2BA2C153-1B19-4A2C-84EA-19345D90F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8610" y="4433724"/>
            <a:ext cx="599157" cy="599157"/>
          </a:xfrm>
          <a:prstGeom prst="rect">
            <a:avLst/>
          </a:prstGeom>
        </p:spPr>
      </p:pic>
      <p:pic>
        <p:nvPicPr>
          <p:cNvPr id="36" name="Graphic 35" descr="Traffic light">
            <a:extLst>
              <a:ext uri="{FF2B5EF4-FFF2-40B4-BE49-F238E27FC236}">
                <a16:creationId xmlns:a16="http://schemas.microsoft.com/office/drawing/2014/main" id="{FF037C7E-20C6-4CCE-929E-464ED8789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8465" y="5458617"/>
            <a:ext cx="599157" cy="59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32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Doctor’s Waiting Room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cs typeface="Arial" panose="020B0604020202020204" pitchFamily="34" charset="0"/>
              </a:rPr>
              <a:t>Here uncertainty in the system is caused by the variability in:</a:t>
            </a:r>
          </a:p>
          <a:p>
            <a:endParaRPr lang="en-GB" dirty="0">
              <a:cs typeface="Arial" panose="020B0604020202020204" pitchFamily="34" charset="0"/>
            </a:endParaRPr>
          </a:p>
          <a:p>
            <a:r>
              <a:rPr lang="en-GB" dirty="0">
                <a:cs typeface="Arial" panose="020B0604020202020204" pitchFamily="34" charset="0"/>
              </a:rPr>
              <a:t>Time between successive arrivals (</a:t>
            </a:r>
            <a:r>
              <a:rPr lang="en-GB" b="1" i="1" dirty="0"/>
              <a:t>inter-arrival time</a:t>
            </a:r>
            <a:r>
              <a:rPr lang="en-GB" dirty="0">
                <a:cs typeface="Arial" panose="020B0604020202020204" pitchFamily="34" charset="0"/>
              </a:rPr>
              <a:t>), and </a:t>
            </a:r>
          </a:p>
          <a:p>
            <a:endParaRPr lang="en-GB" dirty="0">
              <a:cs typeface="Arial" panose="020B0604020202020204" pitchFamily="34" charset="0"/>
            </a:endParaRPr>
          </a:p>
          <a:p>
            <a:r>
              <a:rPr lang="en-GB" dirty="0">
                <a:cs typeface="Arial" panose="020B0604020202020204" pitchFamily="34" charset="0"/>
              </a:rPr>
              <a:t>Time to serve a customer (</a:t>
            </a:r>
            <a:r>
              <a:rPr lang="en-GB" b="1" i="1" dirty="0"/>
              <a:t>service time</a:t>
            </a:r>
            <a:r>
              <a:rPr lang="en-GB" dirty="0">
                <a:cs typeface="Arial" panose="020B0604020202020204" pitchFamily="34" charset="0"/>
              </a:rPr>
              <a:t>).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E00B1F-3D94-418C-8456-DF09C8CE9E03}"/>
              </a:ext>
            </a:extLst>
          </p:cNvPr>
          <p:cNvGrpSpPr/>
          <p:nvPr/>
        </p:nvGrpSpPr>
        <p:grpSpPr>
          <a:xfrm>
            <a:off x="7019309" y="499622"/>
            <a:ext cx="4509672" cy="888726"/>
            <a:chOff x="279144" y="2318995"/>
            <a:chExt cx="11193274" cy="220587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C37124-40B0-4C30-AC3D-74D74786A12C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3D9401-6311-4484-9585-98109F1EBDD3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E376E7C-5A83-4930-9914-8FF4FB96EED7}"/>
                </a:ext>
              </a:extLst>
            </p:cNvPr>
            <p:cNvCxnSpPr>
              <a:cxnSpLocks/>
              <a:stCxn id="12" idx="6"/>
              <a:endCxn id="13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A4066EE-BA27-4DDB-8577-F3E58F55447E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06F46F-DE9D-41BA-B9A8-83D4A6CC016F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 descr="Related image">
              <a:extLst>
                <a:ext uri="{FF2B5EF4-FFF2-40B4-BE49-F238E27FC236}">
                  <a16:creationId xmlns:a16="http://schemas.microsoft.com/office/drawing/2014/main" id="{E7AEC288-8745-4EB0-A104-B391D67A49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472165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30076E-F5D6-4B00-9A73-684B26D074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Operating a Simulation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53874B9-DB83-48BE-BE7B-306FC4B70F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795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Operating a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</a:rPr>
              <a:t>To be able to represent an application, for example the doctor’s waiting room (small shop), the following data needs to be defined:</a:t>
            </a:r>
          </a:p>
          <a:p>
            <a:pPr marL="0" indent="0">
              <a:spcAft>
                <a:spcPts val="0"/>
              </a:spcAft>
              <a:buNone/>
            </a:pPr>
            <a:endParaRPr lang="en-GB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</a:rPr>
              <a:t>Arrival pattern/Arrival times</a:t>
            </a:r>
          </a:p>
          <a:p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</a:rPr>
              <a:t>Service rate/Service time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</a:rPr>
              <a:t>To illustrate the process assume that the first five jobs arrive at times </a:t>
            </a:r>
          </a:p>
          <a:p>
            <a:pPr>
              <a:spcAft>
                <a:spcPts val="0"/>
              </a:spcAft>
            </a:pPr>
            <a:endParaRPr lang="en-GB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</a:rPr>
              <a:t>3, 8, 13, 19, 22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</a:rPr>
              <a:t>and that their respective service times are   </a:t>
            </a:r>
          </a:p>
          <a:p>
            <a:pPr>
              <a:spcAft>
                <a:spcPts val="0"/>
              </a:spcAft>
            </a:pPr>
            <a:endParaRPr lang="en-GB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</a:rPr>
              <a:t>4, 7, 3, 9, 11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E00B1F-3D94-418C-8456-DF09C8CE9E03}"/>
              </a:ext>
            </a:extLst>
          </p:cNvPr>
          <p:cNvGrpSpPr/>
          <p:nvPr/>
        </p:nvGrpSpPr>
        <p:grpSpPr>
          <a:xfrm>
            <a:off x="7019309" y="499622"/>
            <a:ext cx="4509672" cy="888726"/>
            <a:chOff x="279144" y="2318995"/>
            <a:chExt cx="11193274" cy="220587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C37124-40B0-4C30-AC3D-74D74786A12C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3D9401-6311-4484-9585-98109F1EBDD3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E376E7C-5A83-4930-9914-8FF4FB96EED7}"/>
                </a:ext>
              </a:extLst>
            </p:cNvPr>
            <p:cNvCxnSpPr>
              <a:cxnSpLocks/>
              <a:stCxn id="12" idx="6"/>
              <a:endCxn id="13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A4066EE-BA27-4DDB-8577-F3E58F55447E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06F46F-DE9D-41BA-B9A8-83D4A6CC016F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 descr="Related image">
              <a:extLst>
                <a:ext uri="{FF2B5EF4-FFF2-40B4-BE49-F238E27FC236}">
                  <a16:creationId xmlns:a16="http://schemas.microsoft.com/office/drawing/2014/main" id="{E7AEC288-8745-4EB0-A104-B391D67A49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75650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Operating a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ea typeface="Times New Roman" panose="02020603050405020304" pitchFamily="18" charset="0"/>
              </a:rPr>
              <a:t>These values can be combined to carry out the simulation of this process to determine the simulation Metrics</a:t>
            </a:r>
          </a:p>
          <a:p>
            <a:pPr>
              <a:spcAft>
                <a:spcPts val="0"/>
              </a:spcAft>
            </a:pPr>
            <a:endParaRPr lang="en-GB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dirty="0">
                <a:ea typeface="Times New Roman" panose="02020603050405020304" pitchFamily="18" charset="0"/>
              </a:rPr>
              <a:t>waiting time (customer)</a:t>
            </a:r>
          </a:p>
          <a:p>
            <a:pPr>
              <a:spcAft>
                <a:spcPts val="0"/>
              </a:spcAft>
            </a:pPr>
            <a:r>
              <a:rPr lang="en-GB" dirty="0">
                <a:ea typeface="Times New Roman" panose="02020603050405020304" pitchFamily="18" charset="0"/>
              </a:rPr>
              <a:t>unused time (staff)</a:t>
            </a:r>
          </a:p>
          <a:p>
            <a:pPr>
              <a:spcAft>
                <a:spcPts val="0"/>
              </a:spcAft>
            </a:pPr>
            <a:endParaRPr lang="en-GB" dirty="0"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ea typeface="Times New Roman" panose="02020603050405020304" pitchFamily="18" charset="0"/>
              </a:rPr>
              <a:t>The “simulation” using these values is shown in the table on the next slide 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ea typeface="Times New Roman" panose="02020603050405020304" pitchFamily="18" charset="0"/>
              </a:rPr>
              <a:t> 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ea typeface="Times New Roman" panose="02020603050405020304" pitchFamily="18" charset="0"/>
              </a:rPr>
              <a:t>Values in black were given and those in red have been calculated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E00B1F-3D94-418C-8456-DF09C8CE9E03}"/>
              </a:ext>
            </a:extLst>
          </p:cNvPr>
          <p:cNvGrpSpPr/>
          <p:nvPr/>
        </p:nvGrpSpPr>
        <p:grpSpPr>
          <a:xfrm>
            <a:off x="7019309" y="499622"/>
            <a:ext cx="4509672" cy="888726"/>
            <a:chOff x="279144" y="2318995"/>
            <a:chExt cx="11193274" cy="220587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C37124-40B0-4C30-AC3D-74D74786A12C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3D9401-6311-4484-9585-98109F1EBDD3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E376E7C-5A83-4930-9914-8FF4FB96EED7}"/>
                </a:ext>
              </a:extLst>
            </p:cNvPr>
            <p:cNvCxnSpPr>
              <a:cxnSpLocks/>
              <a:stCxn id="12" idx="6"/>
              <a:endCxn id="13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A4066EE-BA27-4DDB-8577-F3E58F55447E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06F46F-DE9D-41BA-B9A8-83D4A6CC016F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 descr="Related image">
              <a:extLst>
                <a:ext uri="{FF2B5EF4-FFF2-40B4-BE49-F238E27FC236}">
                  <a16:creationId xmlns:a16="http://schemas.microsoft.com/office/drawing/2014/main" id="{E7AEC288-8745-4EB0-A104-B391D67A49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85927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Operating a Simulation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E00B1F-3D94-418C-8456-DF09C8CE9E03}"/>
              </a:ext>
            </a:extLst>
          </p:cNvPr>
          <p:cNvGrpSpPr/>
          <p:nvPr/>
        </p:nvGrpSpPr>
        <p:grpSpPr>
          <a:xfrm>
            <a:off x="7019309" y="499622"/>
            <a:ext cx="4509672" cy="888726"/>
            <a:chOff x="279144" y="2318995"/>
            <a:chExt cx="11193274" cy="220587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C37124-40B0-4C30-AC3D-74D74786A12C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3D9401-6311-4484-9585-98109F1EBDD3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E376E7C-5A83-4930-9914-8FF4FB96EED7}"/>
                </a:ext>
              </a:extLst>
            </p:cNvPr>
            <p:cNvCxnSpPr>
              <a:cxnSpLocks/>
              <a:stCxn id="12" idx="6"/>
              <a:endCxn id="13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A4066EE-BA27-4DDB-8577-F3E58F55447E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06F46F-DE9D-41BA-B9A8-83D4A6CC016F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 descr="Related image">
              <a:extLst>
                <a:ext uri="{FF2B5EF4-FFF2-40B4-BE49-F238E27FC236}">
                  <a16:creationId xmlns:a16="http://schemas.microsoft.com/office/drawing/2014/main" id="{E7AEC288-8745-4EB0-A104-B391D67A49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7CC47A1-1165-49C7-B660-579077795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614552"/>
              </p:ext>
            </p:extLst>
          </p:nvPr>
        </p:nvGraphicFramePr>
        <p:xfrm>
          <a:off x="693965" y="2760738"/>
          <a:ext cx="10835016" cy="2823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836">
                  <a:extLst>
                    <a:ext uri="{9D8B030D-6E8A-4147-A177-3AD203B41FA5}">
                      <a16:colId xmlns:a16="http://schemas.microsoft.com/office/drawing/2014/main" val="1016498965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504825992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97793522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1521493779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289342794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400288837"/>
                    </a:ext>
                  </a:extLst>
                </a:gridCol>
              </a:tblGrid>
              <a:tr h="932465">
                <a:tc>
                  <a:txBody>
                    <a:bodyPr/>
                    <a:lstStyle/>
                    <a:p>
                      <a:r>
                        <a:rPr lang="en-GB" dirty="0"/>
                        <a:t>Customer/Job Arrives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Starts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Customer/Job Waiting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Waiting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139007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02666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759738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915085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207352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011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1431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Operating a Simulation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E00B1F-3D94-418C-8456-DF09C8CE9E03}"/>
              </a:ext>
            </a:extLst>
          </p:cNvPr>
          <p:cNvGrpSpPr/>
          <p:nvPr/>
        </p:nvGrpSpPr>
        <p:grpSpPr>
          <a:xfrm>
            <a:off x="7019309" y="499622"/>
            <a:ext cx="4509672" cy="888726"/>
            <a:chOff x="279144" y="2318995"/>
            <a:chExt cx="11193274" cy="220587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C37124-40B0-4C30-AC3D-74D74786A12C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3D9401-6311-4484-9585-98109F1EBDD3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E376E7C-5A83-4930-9914-8FF4FB96EED7}"/>
                </a:ext>
              </a:extLst>
            </p:cNvPr>
            <p:cNvCxnSpPr>
              <a:cxnSpLocks/>
              <a:stCxn id="12" idx="6"/>
              <a:endCxn id="13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A4066EE-BA27-4DDB-8577-F3E58F55447E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06F46F-DE9D-41BA-B9A8-83D4A6CC016F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 descr="Related image">
              <a:extLst>
                <a:ext uri="{FF2B5EF4-FFF2-40B4-BE49-F238E27FC236}">
                  <a16:creationId xmlns:a16="http://schemas.microsoft.com/office/drawing/2014/main" id="{E7AEC288-8745-4EB0-A104-B391D67A49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7CC47A1-1165-49C7-B660-579077795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040569"/>
              </p:ext>
            </p:extLst>
          </p:nvPr>
        </p:nvGraphicFramePr>
        <p:xfrm>
          <a:off x="693965" y="2760738"/>
          <a:ext cx="10835016" cy="2823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836">
                  <a:extLst>
                    <a:ext uri="{9D8B030D-6E8A-4147-A177-3AD203B41FA5}">
                      <a16:colId xmlns:a16="http://schemas.microsoft.com/office/drawing/2014/main" val="1016498965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504825992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97793522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1521493779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289342794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400288837"/>
                    </a:ext>
                  </a:extLst>
                </a:gridCol>
              </a:tblGrid>
              <a:tr h="932465">
                <a:tc>
                  <a:txBody>
                    <a:bodyPr/>
                    <a:lstStyle/>
                    <a:p>
                      <a:r>
                        <a:rPr lang="en-GB" dirty="0"/>
                        <a:t>Customer/Job Arrives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Starts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Customer/Job Waiting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Waiting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139007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3+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=7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3-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02666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759738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915085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207352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011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8759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Operating a Simulation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E00B1F-3D94-418C-8456-DF09C8CE9E03}"/>
              </a:ext>
            </a:extLst>
          </p:cNvPr>
          <p:cNvGrpSpPr/>
          <p:nvPr/>
        </p:nvGrpSpPr>
        <p:grpSpPr>
          <a:xfrm>
            <a:off x="7019309" y="499622"/>
            <a:ext cx="4509672" cy="888726"/>
            <a:chOff x="279144" y="2318995"/>
            <a:chExt cx="11193274" cy="220587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C37124-40B0-4C30-AC3D-74D74786A12C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3D9401-6311-4484-9585-98109F1EBDD3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E376E7C-5A83-4930-9914-8FF4FB96EED7}"/>
                </a:ext>
              </a:extLst>
            </p:cNvPr>
            <p:cNvCxnSpPr>
              <a:cxnSpLocks/>
              <a:stCxn id="12" idx="6"/>
              <a:endCxn id="13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A4066EE-BA27-4DDB-8577-F3E58F55447E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06F46F-DE9D-41BA-B9A8-83D4A6CC016F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 descr="Related image">
              <a:extLst>
                <a:ext uri="{FF2B5EF4-FFF2-40B4-BE49-F238E27FC236}">
                  <a16:creationId xmlns:a16="http://schemas.microsoft.com/office/drawing/2014/main" id="{E7AEC288-8745-4EB0-A104-B391D67A49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7CC47A1-1165-49C7-B660-579077795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170214"/>
              </p:ext>
            </p:extLst>
          </p:nvPr>
        </p:nvGraphicFramePr>
        <p:xfrm>
          <a:off x="693965" y="2760738"/>
          <a:ext cx="10835016" cy="2823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836">
                  <a:extLst>
                    <a:ext uri="{9D8B030D-6E8A-4147-A177-3AD203B41FA5}">
                      <a16:colId xmlns:a16="http://schemas.microsoft.com/office/drawing/2014/main" val="1016498965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504825992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97793522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1521493779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289342794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400288837"/>
                    </a:ext>
                  </a:extLst>
                </a:gridCol>
              </a:tblGrid>
              <a:tr h="932465">
                <a:tc>
                  <a:txBody>
                    <a:bodyPr/>
                    <a:lstStyle/>
                    <a:p>
                      <a:r>
                        <a:rPr lang="en-GB" dirty="0"/>
                        <a:t>Customer/Job Arrives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Starts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Ends</a:t>
                      </a:r>
                    </a:p>
                  </a:txBody>
                  <a:tcPr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Customer/Job Waiting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Waiting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139007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02666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</a:p>
                  </a:txBody>
                  <a:tcPr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max(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,7) = 8</a:t>
                      </a:r>
                    </a:p>
                  </a:txBody>
                  <a:tcPr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759738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915085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207352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011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5819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Operating a Simulation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E00B1F-3D94-418C-8456-DF09C8CE9E03}"/>
              </a:ext>
            </a:extLst>
          </p:cNvPr>
          <p:cNvGrpSpPr/>
          <p:nvPr/>
        </p:nvGrpSpPr>
        <p:grpSpPr>
          <a:xfrm>
            <a:off x="7019309" y="499622"/>
            <a:ext cx="4509672" cy="888726"/>
            <a:chOff x="279144" y="2318995"/>
            <a:chExt cx="11193274" cy="220587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C37124-40B0-4C30-AC3D-74D74786A12C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3D9401-6311-4484-9585-98109F1EBDD3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E376E7C-5A83-4930-9914-8FF4FB96EED7}"/>
                </a:ext>
              </a:extLst>
            </p:cNvPr>
            <p:cNvCxnSpPr>
              <a:cxnSpLocks/>
              <a:stCxn id="12" idx="6"/>
              <a:endCxn id="13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A4066EE-BA27-4DDB-8577-F3E58F55447E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06F46F-DE9D-41BA-B9A8-83D4A6CC016F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 descr="Related image">
              <a:extLst>
                <a:ext uri="{FF2B5EF4-FFF2-40B4-BE49-F238E27FC236}">
                  <a16:creationId xmlns:a16="http://schemas.microsoft.com/office/drawing/2014/main" id="{E7AEC288-8745-4EB0-A104-B391D67A49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7CC47A1-1165-49C7-B660-579077795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90450"/>
              </p:ext>
            </p:extLst>
          </p:nvPr>
        </p:nvGraphicFramePr>
        <p:xfrm>
          <a:off x="693965" y="2760738"/>
          <a:ext cx="10835016" cy="2823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836">
                  <a:extLst>
                    <a:ext uri="{9D8B030D-6E8A-4147-A177-3AD203B41FA5}">
                      <a16:colId xmlns:a16="http://schemas.microsoft.com/office/drawing/2014/main" val="1016498965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504825992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97793522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1521493779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289342794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400288837"/>
                    </a:ext>
                  </a:extLst>
                </a:gridCol>
              </a:tblGrid>
              <a:tr h="932465">
                <a:tc>
                  <a:txBody>
                    <a:bodyPr/>
                    <a:lstStyle/>
                    <a:p>
                      <a:r>
                        <a:rPr lang="en-GB" dirty="0"/>
                        <a:t>Customer/Job Arrives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Starts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Customer/Job Waiting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Waiting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139007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02666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</a:p>
                  </a:txBody>
                  <a:tcPr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8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+7=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15</a:t>
                      </a:r>
                    </a:p>
                  </a:txBody>
                  <a:tcPr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759738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915085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207352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011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5288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Operating a Simulation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E00B1F-3D94-418C-8456-DF09C8CE9E03}"/>
              </a:ext>
            </a:extLst>
          </p:cNvPr>
          <p:cNvGrpSpPr/>
          <p:nvPr/>
        </p:nvGrpSpPr>
        <p:grpSpPr>
          <a:xfrm>
            <a:off x="7019309" y="499622"/>
            <a:ext cx="4509672" cy="888726"/>
            <a:chOff x="279144" y="2318995"/>
            <a:chExt cx="11193274" cy="220587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C37124-40B0-4C30-AC3D-74D74786A12C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3D9401-6311-4484-9585-98109F1EBDD3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E376E7C-5A83-4930-9914-8FF4FB96EED7}"/>
                </a:ext>
              </a:extLst>
            </p:cNvPr>
            <p:cNvCxnSpPr>
              <a:cxnSpLocks/>
              <a:stCxn id="12" idx="6"/>
              <a:endCxn id="13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A4066EE-BA27-4DDB-8577-F3E58F55447E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06F46F-DE9D-41BA-B9A8-83D4A6CC016F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 descr="Related image">
              <a:extLst>
                <a:ext uri="{FF2B5EF4-FFF2-40B4-BE49-F238E27FC236}">
                  <a16:creationId xmlns:a16="http://schemas.microsoft.com/office/drawing/2014/main" id="{E7AEC288-8745-4EB0-A104-B391D67A49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7CC47A1-1165-49C7-B660-579077795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2845"/>
              </p:ext>
            </p:extLst>
          </p:nvPr>
        </p:nvGraphicFramePr>
        <p:xfrm>
          <a:off x="693965" y="2760738"/>
          <a:ext cx="10835016" cy="2823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836">
                  <a:extLst>
                    <a:ext uri="{9D8B030D-6E8A-4147-A177-3AD203B41FA5}">
                      <a16:colId xmlns:a16="http://schemas.microsoft.com/office/drawing/2014/main" val="1016498965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504825992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97793522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1521493779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289342794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400288837"/>
                    </a:ext>
                  </a:extLst>
                </a:gridCol>
              </a:tblGrid>
              <a:tr h="932465">
                <a:tc>
                  <a:txBody>
                    <a:bodyPr/>
                    <a:lstStyle/>
                    <a:p>
                      <a:r>
                        <a:rPr lang="en-GB" dirty="0"/>
                        <a:t>Customer/Job Arrives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Starts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Customer/Job Waiting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Waiting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139007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02666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</a:p>
                  </a:txBody>
                  <a:tcPr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8-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8=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759738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915085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207352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011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7101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Operating a Simulation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E00B1F-3D94-418C-8456-DF09C8CE9E03}"/>
              </a:ext>
            </a:extLst>
          </p:cNvPr>
          <p:cNvGrpSpPr/>
          <p:nvPr/>
        </p:nvGrpSpPr>
        <p:grpSpPr>
          <a:xfrm>
            <a:off x="7019309" y="499622"/>
            <a:ext cx="4509672" cy="888726"/>
            <a:chOff x="279144" y="2318995"/>
            <a:chExt cx="11193274" cy="220587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C37124-40B0-4C30-AC3D-74D74786A12C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3D9401-6311-4484-9585-98109F1EBDD3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E376E7C-5A83-4930-9914-8FF4FB96EED7}"/>
                </a:ext>
              </a:extLst>
            </p:cNvPr>
            <p:cNvCxnSpPr>
              <a:cxnSpLocks/>
              <a:stCxn id="12" idx="6"/>
              <a:endCxn id="13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A4066EE-BA27-4DDB-8577-F3E58F55447E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06F46F-DE9D-41BA-B9A8-83D4A6CC016F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 descr="Related image">
              <a:extLst>
                <a:ext uri="{FF2B5EF4-FFF2-40B4-BE49-F238E27FC236}">
                  <a16:creationId xmlns:a16="http://schemas.microsoft.com/office/drawing/2014/main" id="{E7AEC288-8745-4EB0-A104-B391D67A49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7CC47A1-1165-49C7-B660-579077795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847570"/>
              </p:ext>
            </p:extLst>
          </p:nvPr>
        </p:nvGraphicFramePr>
        <p:xfrm>
          <a:off x="693965" y="2760738"/>
          <a:ext cx="10835016" cy="2823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836">
                  <a:extLst>
                    <a:ext uri="{9D8B030D-6E8A-4147-A177-3AD203B41FA5}">
                      <a16:colId xmlns:a16="http://schemas.microsoft.com/office/drawing/2014/main" val="1016498965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504825992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97793522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1521493779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289342794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400288837"/>
                    </a:ext>
                  </a:extLst>
                </a:gridCol>
              </a:tblGrid>
              <a:tr h="932465">
                <a:tc>
                  <a:txBody>
                    <a:bodyPr/>
                    <a:lstStyle/>
                    <a:p>
                      <a:r>
                        <a:rPr lang="en-GB" dirty="0"/>
                        <a:t>Customer/Job Arrives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Starts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Ends</a:t>
                      </a:r>
                    </a:p>
                  </a:txBody>
                  <a:tcPr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Customer/Job Waiting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Waiting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139007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02666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</a:p>
                  </a:txBody>
                  <a:tcPr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15</a:t>
                      </a:r>
                    </a:p>
                  </a:txBody>
                  <a:tcP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8-7=1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759738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915085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207352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01189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CCF43D8-CC39-4068-9B60-9F155E08823A}"/>
              </a:ext>
            </a:extLst>
          </p:cNvPr>
          <p:cNvSpPr txBox="1"/>
          <p:nvPr/>
        </p:nvSpPr>
        <p:spPr>
          <a:xfrm>
            <a:off x="693965" y="5894614"/>
            <a:ext cx="6302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Have a go at completing this table by hand. Solution on next slide</a:t>
            </a:r>
          </a:p>
        </p:txBody>
      </p:sp>
    </p:spTree>
    <p:extLst>
      <p:ext uri="{BB962C8B-B14F-4D97-AF65-F5344CB8AC3E}">
        <p14:creationId xmlns:p14="http://schemas.microsoft.com/office/powerpoint/2010/main" val="8441328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Operating a Simulation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E00B1F-3D94-418C-8456-DF09C8CE9E03}"/>
              </a:ext>
            </a:extLst>
          </p:cNvPr>
          <p:cNvGrpSpPr/>
          <p:nvPr/>
        </p:nvGrpSpPr>
        <p:grpSpPr>
          <a:xfrm>
            <a:off x="7019309" y="499622"/>
            <a:ext cx="4509672" cy="888726"/>
            <a:chOff x="279144" y="2318995"/>
            <a:chExt cx="11193274" cy="220587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C37124-40B0-4C30-AC3D-74D74786A12C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3D9401-6311-4484-9585-98109F1EBDD3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E376E7C-5A83-4930-9914-8FF4FB96EED7}"/>
                </a:ext>
              </a:extLst>
            </p:cNvPr>
            <p:cNvCxnSpPr>
              <a:cxnSpLocks/>
              <a:stCxn id="12" idx="6"/>
              <a:endCxn id="13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A4066EE-BA27-4DDB-8577-F3E58F55447E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06F46F-DE9D-41BA-B9A8-83D4A6CC016F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 descr="Related image">
              <a:extLst>
                <a:ext uri="{FF2B5EF4-FFF2-40B4-BE49-F238E27FC236}">
                  <a16:creationId xmlns:a16="http://schemas.microsoft.com/office/drawing/2014/main" id="{E7AEC288-8745-4EB0-A104-B391D67A49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7CC47A1-1165-49C7-B660-579077795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272776"/>
              </p:ext>
            </p:extLst>
          </p:nvPr>
        </p:nvGraphicFramePr>
        <p:xfrm>
          <a:off x="693965" y="2760738"/>
          <a:ext cx="10835016" cy="2823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836">
                  <a:extLst>
                    <a:ext uri="{9D8B030D-6E8A-4147-A177-3AD203B41FA5}">
                      <a16:colId xmlns:a16="http://schemas.microsoft.com/office/drawing/2014/main" val="1016498965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504825992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97793522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1521493779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2289342794"/>
                    </a:ext>
                  </a:extLst>
                </a:gridCol>
                <a:gridCol w="1805836">
                  <a:extLst>
                    <a:ext uri="{9D8B030D-6E8A-4147-A177-3AD203B41FA5}">
                      <a16:colId xmlns:a16="http://schemas.microsoft.com/office/drawing/2014/main" val="400288837"/>
                    </a:ext>
                  </a:extLst>
                </a:gridCol>
              </a:tblGrid>
              <a:tr h="932465">
                <a:tc>
                  <a:txBody>
                    <a:bodyPr/>
                    <a:lstStyle/>
                    <a:p>
                      <a:r>
                        <a:rPr lang="en-GB" dirty="0"/>
                        <a:t>Customer/Job Arrives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Starts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Customer/Job Waiting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Service Waiting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139007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02666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759738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318413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607355"/>
                  </a:ext>
                </a:extLst>
              </a:tr>
              <a:tr h="378166"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182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83784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957058-9279-4532-9BFE-974852464B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Simple Example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5BB3E57-047A-49AC-97AC-28E0066032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3164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Operating a Simulation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E00B1F-3D94-418C-8456-DF09C8CE9E03}"/>
              </a:ext>
            </a:extLst>
          </p:cNvPr>
          <p:cNvGrpSpPr/>
          <p:nvPr/>
        </p:nvGrpSpPr>
        <p:grpSpPr>
          <a:xfrm>
            <a:off x="1655372" y="3147783"/>
            <a:ext cx="8558149" cy="1686564"/>
            <a:chOff x="279144" y="2318995"/>
            <a:chExt cx="11193274" cy="220587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C37124-40B0-4C30-AC3D-74D74786A12C}"/>
                </a:ext>
              </a:extLst>
            </p:cNvPr>
            <p:cNvSpPr/>
            <p:nvPr/>
          </p:nvSpPr>
          <p:spPr>
            <a:xfrm>
              <a:off x="3591611" y="2318995"/>
              <a:ext cx="2205872" cy="2205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Queue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3D9401-6311-4484-9585-98109F1EBDD3}"/>
                </a:ext>
              </a:extLst>
            </p:cNvPr>
            <p:cNvSpPr/>
            <p:nvPr/>
          </p:nvSpPr>
          <p:spPr>
            <a:xfrm>
              <a:off x="7211503" y="2677213"/>
              <a:ext cx="2846895" cy="14894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Service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E376E7C-5A83-4930-9914-8FF4FB96EED7}"/>
                </a:ext>
              </a:extLst>
            </p:cNvPr>
            <p:cNvCxnSpPr>
              <a:cxnSpLocks/>
              <a:stCxn id="12" idx="6"/>
              <a:endCxn id="13" idx="1"/>
            </p:cNvCxnSpPr>
            <p:nvPr/>
          </p:nvCxnSpPr>
          <p:spPr>
            <a:xfrm>
              <a:off x="5797483" y="3421931"/>
              <a:ext cx="141402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A4066EE-BA27-4DDB-8577-F3E58F55447E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0058398" y="3421931"/>
              <a:ext cx="1414020" cy="7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06F46F-DE9D-41BA-B9A8-83D4A6CC016F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V="1">
              <a:off x="2104534" y="3421931"/>
              <a:ext cx="1487077" cy="63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 descr="Related image">
              <a:extLst>
                <a:ext uri="{FF2B5EF4-FFF2-40B4-BE49-F238E27FC236}">
                  <a16:creationId xmlns:a16="http://schemas.microsoft.com/office/drawing/2014/main" id="{E7AEC288-8745-4EB0-A104-B391D67A49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9144" y="2592693"/>
              <a:ext cx="1739425" cy="1739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6779CB-0AE7-4E1D-AB00-E5482701B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059309"/>
              </p:ext>
            </p:extLst>
          </p:nvPr>
        </p:nvGraphicFramePr>
        <p:xfrm>
          <a:off x="1142093" y="1690688"/>
          <a:ext cx="3556000" cy="37338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val="395373841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794805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105984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231207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9581170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 dirty="0">
                          <a:effectLst/>
                        </a:rPr>
                        <a:t>Inter-arrival Time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537379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 dirty="0">
                          <a:effectLst/>
                        </a:rPr>
                        <a:t>Probability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0.2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0.4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0.2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83692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72ED9B-4A53-4491-A7F9-83E7A61D1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517043"/>
              </p:ext>
            </p:extLst>
          </p:nvPr>
        </p:nvGraphicFramePr>
        <p:xfrm>
          <a:off x="1142093" y="2270624"/>
          <a:ext cx="5384800" cy="37338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val="20010168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1686205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7766703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439363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8082517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460962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3473191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773572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 dirty="0">
                          <a:effectLst/>
                        </a:rPr>
                        <a:t>Service Duration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0799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 dirty="0">
                          <a:effectLst/>
                        </a:rPr>
                        <a:t>Probability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0.3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0.2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0.1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0.15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0.15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0.05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0.05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3267736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DADE735-3270-4BDA-A5CD-BD5FF3D3E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849383"/>
              </p:ext>
            </p:extLst>
          </p:nvPr>
        </p:nvGraphicFramePr>
        <p:xfrm>
          <a:off x="529686" y="4983208"/>
          <a:ext cx="3556000" cy="52578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val="395373841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794805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105984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231207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9581170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Inter-arrival Time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537379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 dirty="0">
                          <a:effectLst/>
                        </a:rPr>
                        <a:t>Cumulative Probability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0-0.2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0.2-0.6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0.6-0.8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0.8-1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836924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50E2B8B-56A3-49A0-8FAE-CEB72499C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762881"/>
              </p:ext>
            </p:extLst>
          </p:nvPr>
        </p:nvGraphicFramePr>
        <p:xfrm>
          <a:off x="6277514" y="4983208"/>
          <a:ext cx="5384800" cy="53340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val="20010168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1686205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7766703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439363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8082517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460962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3473191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773572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 dirty="0">
                          <a:effectLst/>
                        </a:rPr>
                        <a:t>Service Duration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18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24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0799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 dirty="0">
                          <a:effectLst/>
                        </a:rPr>
                        <a:t>Cumulative Probability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0-0.3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0.3-0.5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0.5-0.6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0.6-0.75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0.75-0.9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0.9-0.95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0.95-1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326773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E56A418-8DB0-4F1A-8ADB-30048D7E9CE4}"/>
              </a:ext>
            </a:extLst>
          </p:cNvPr>
          <p:cNvSpPr txBox="1"/>
          <p:nvPr/>
        </p:nvSpPr>
        <p:spPr>
          <a:xfrm>
            <a:off x="7130283" y="952024"/>
            <a:ext cx="40042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example 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4 arrival times and their probability of occurrence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7 service duration times and their probability of occurrence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F3E092-9F01-473A-962A-78FE39FBA225}"/>
              </a:ext>
            </a:extLst>
          </p:cNvPr>
          <p:cNvSpPr txBox="1"/>
          <p:nvPr/>
        </p:nvSpPr>
        <p:spPr>
          <a:xfrm>
            <a:off x="2263606" y="5968275"/>
            <a:ext cx="8303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can use the cumulative probability and randomly generate a number between 0 and 1 to pick a time for a customer and similarly generate their service time.</a:t>
            </a:r>
          </a:p>
        </p:txBody>
      </p:sp>
    </p:spTree>
    <p:extLst>
      <p:ext uri="{BB962C8B-B14F-4D97-AF65-F5344CB8AC3E}">
        <p14:creationId xmlns:p14="http://schemas.microsoft.com/office/powerpoint/2010/main" val="11576082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Operating a Simulation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A58938E-A8EE-4A0F-BBAA-11F4D5D5B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972248"/>
              </p:ext>
            </p:extLst>
          </p:nvPr>
        </p:nvGraphicFramePr>
        <p:xfrm>
          <a:off x="1899557" y="1925864"/>
          <a:ext cx="3657600" cy="4168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07294512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9213656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7187163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6549548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6175982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8371259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Customer Arrival Time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Service Starts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Service Duration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Service Ends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Customer Waiting Time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</a:rPr>
                        <a:t>Service Waiting Time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073764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150935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32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32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56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801093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44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56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67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259415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64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67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89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094654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80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89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593226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88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118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915927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104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118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136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13504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116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136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147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865938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128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147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167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575238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136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167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178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31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882681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144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178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185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34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49595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160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185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192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47409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172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192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199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500264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184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199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217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419606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200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217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235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11659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208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235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255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121086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255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262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35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206692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240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262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269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948042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256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269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15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284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577385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268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284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291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8078545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D52B6E1-0DBA-4CCA-8014-82EF73E8E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978646"/>
              </p:ext>
            </p:extLst>
          </p:nvPr>
        </p:nvGraphicFramePr>
        <p:xfrm>
          <a:off x="310243" y="1925864"/>
          <a:ext cx="1219200" cy="3253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9764357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1672436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Inter-arrival Time</a:t>
                      </a:r>
                      <a:endParaRPr lang="en-GB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Service Duration</a:t>
                      </a:r>
                      <a:endParaRPr lang="en-GB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865543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20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119138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572794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24095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660772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230806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379505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112683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031994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822222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898411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84186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242130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863014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9109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16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18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97727359"/>
                  </a:ext>
                </a:extLst>
              </a:tr>
            </a:tbl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EEF41B49-745B-4414-BA15-9C0A02C35F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5383430"/>
              </p:ext>
            </p:extLst>
          </p:nvPr>
        </p:nvGraphicFramePr>
        <p:xfrm>
          <a:off x="7065817" y="1347734"/>
          <a:ext cx="36576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D4F14D3-3D6B-4E96-8D21-1D6DD38D8A8A}"/>
              </a:ext>
            </a:extLst>
          </p:cNvPr>
          <p:cNvSpPr txBox="1"/>
          <p:nvPr/>
        </p:nvSpPr>
        <p:spPr>
          <a:xfrm>
            <a:off x="5927272" y="6094004"/>
            <a:ext cx="5556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Note with different inter-arrival times and service durations the waiting patterns would differ.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993E3E9-D986-44EC-936A-F220C3A325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370944"/>
              </p:ext>
            </p:extLst>
          </p:nvPr>
        </p:nvGraphicFramePr>
        <p:xfrm>
          <a:off x="7065817" y="3675149"/>
          <a:ext cx="3657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330413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Tips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A582C1-281A-48E8-94A6-82320119B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ea typeface="Times New Roman" panose="02020603050405020304" pitchFamily="18" charset="0"/>
              </a:rPr>
              <a:t>Because a simulation is using randomness (stochasticity), it’s behaviour need time to settle down. Think law of large numbers, flipping a coin.</a:t>
            </a:r>
          </a:p>
          <a:p>
            <a:endParaRPr lang="en-GB" dirty="0">
              <a:ea typeface="Times New Roman" panose="02020603050405020304" pitchFamily="18" charset="0"/>
            </a:endParaRPr>
          </a:p>
          <a:p>
            <a:r>
              <a:rPr lang="en-GB" dirty="0">
                <a:ea typeface="Times New Roman" panose="02020603050405020304" pitchFamily="18" charset="0"/>
              </a:rPr>
              <a:t>Run a simulation for a long enough time to be sure that the pattern you see isn’t a fluke!</a:t>
            </a:r>
          </a:p>
          <a:p>
            <a:endParaRPr lang="en-GB" dirty="0">
              <a:ea typeface="Times New Roman" panose="02020603050405020304" pitchFamily="18" charset="0"/>
            </a:endParaRPr>
          </a:p>
          <a:p>
            <a:r>
              <a:rPr lang="en-GB" dirty="0">
                <a:ea typeface="Times New Roman" panose="02020603050405020304" pitchFamily="18" charset="0"/>
              </a:rPr>
              <a:t>Change some of your numbers to extremes and check that the simulation behaves reasonably.</a:t>
            </a:r>
          </a:p>
          <a:p>
            <a:pPr lvl="1"/>
            <a:r>
              <a:rPr lang="en-GB" dirty="0">
                <a:ea typeface="Times New Roman" panose="02020603050405020304" pitchFamily="18" charset="0"/>
              </a:rPr>
              <a:t>E.g. Make the service time very large, we expect a queue to form for the customers</a:t>
            </a:r>
          </a:p>
        </p:txBody>
      </p:sp>
    </p:spTree>
    <p:extLst>
      <p:ext uri="{BB962C8B-B14F-4D97-AF65-F5344CB8AC3E}">
        <p14:creationId xmlns:p14="http://schemas.microsoft.com/office/powerpoint/2010/main" val="538916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461CB3-FB41-4394-9B06-452B1FC837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587AB4-D8C9-43A3-B80F-6729B49465F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8405</TotalTime>
  <Words>1870</Words>
  <Application>Microsoft Office PowerPoint</Application>
  <PresentationFormat>Widescreen</PresentationFormat>
  <Paragraphs>599</Paragraphs>
  <Slides>41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Calibri (Body)</vt:lpstr>
      <vt:lpstr>Calibri</vt:lpstr>
      <vt:lpstr>Calibri Light</vt:lpstr>
      <vt:lpstr>Times New Roman</vt:lpstr>
      <vt:lpstr>Arial</vt:lpstr>
      <vt:lpstr>Office Theme</vt:lpstr>
      <vt:lpstr>Introduction to Simulation</vt:lpstr>
      <vt:lpstr>Contents</vt:lpstr>
      <vt:lpstr>Blank Slide</vt:lpstr>
      <vt:lpstr>Introduction</vt:lpstr>
      <vt:lpstr>Approaches</vt:lpstr>
      <vt:lpstr>Stages in an Investigation</vt:lpstr>
      <vt:lpstr>Simulating Systems</vt:lpstr>
      <vt:lpstr>Why Simulate?</vt:lpstr>
      <vt:lpstr>Example</vt:lpstr>
      <vt:lpstr>Evaluating Alternatives</vt:lpstr>
      <vt:lpstr>The Heated Clothes Rack</vt:lpstr>
      <vt:lpstr>Coins and Dice</vt:lpstr>
      <vt:lpstr>Simulating a Fair Coin Toss</vt:lpstr>
      <vt:lpstr>Simulating a Fair 6-Sided Dice</vt:lpstr>
      <vt:lpstr>Simulating Two Fair Coin Tosses</vt:lpstr>
      <vt:lpstr>Queuing and Definitions</vt:lpstr>
      <vt:lpstr>Queueing System</vt:lpstr>
      <vt:lpstr>Queueing System</vt:lpstr>
      <vt:lpstr>Arrival Process</vt:lpstr>
      <vt:lpstr>Queue Characteristics</vt:lpstr>
      <vt:lpstr>Service Mechanism</vt:lpstr>
      <vt:lpstr>Definitions</vt:lpstr>
      <vt:lpstr>Assumptions (initial)</vt:lpstr>
      <vt:lpstr>What can be simulated?</vt:lpstr>
      <vt:lpstr>Example – Doctor’s Waiting Room </vt:lpstr>
      <vt:lpstr>Example – Traffic Lights</vt:lpstr>
      <vt:lpstr>Doctor’s Waiting Room </vt:lpstr>
      <vt:lpstr>Operating a Simulation</vt:lpstr>
      <vt:lpstr>Operating a Simulation</vt:lpstr>
      <vt:lpstr>Operating a Simulation</vt:lpstr>
      <vt:lpstr>Operating a Simulation</vt:lpstr>
      <vt:lpstr>Operating a Simulation</vt:lpstr>
      <vt:lpstr>Operating a Simulation</vt:lpstr>
      <vt:lpstr>Operating a Simulation</vt:lpstr>
      <vt:lpstr>Operating a Simulation</vt:lpstr>
      <vt:lpstr>Operating a Simulation</vt:lpstr>
      <vt:lpstr>Operating a Simulation</vt:lpstr>
      <vt:lpstr>Simple Example</vt:lpstr>
      <vt:lpstr>Operating a Simulation</vt:lpstr>
      <vt:lpstr>Operating a Simulation</vt:lpstr>
      <vt:lpstr>Basic Tips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22</cp:revision>
  <dcterms:created xsi:type="dcterms:W3CDTF">2019-10-08T20:55:29Z</dcterms:created>
  <dcterms:modified xsi:type="dcterms:W3CDTF">2024-11-29T12:10:31Z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
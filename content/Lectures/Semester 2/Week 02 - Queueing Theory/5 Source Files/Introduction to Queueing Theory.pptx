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61" r:id="rId7"/>
    <p:sldId id="276" r:id="rId8"/>
    <p:sldId id="278" r:id="rId9"/>
    <p:sldId id="274" r:id="rId10"/>
    <p:sldId id="275" r:id="rId11"/>
    <p:sldId id="279" r:id="rId12"/>
    <p:sldId id="291" r:id="rId13"/>
    <p:sldId id="292" r:id="rId14"/>
    <p:sldId id="280" r:id="rId15"/>
    <p:sldId id="295" r:id="rId16"/>
    <p:sldId id="270" r:id="rId17"/>
    <p:sldId id="271" r:id="rId18"/>
    <p:sldId id="296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93" r:id="rId28"/>
    <p:sldId id="289" r:id="rId29"/>
    <p:sldId id="294" r:id="rId30"/>
  </p:sldIdLst>
  <p:sldSz cx="12192000" cy="6858000"/>
  <p:notesSz cx="6858000" cy="9144000"/>
  <p:embeddedFontLs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503066-BCFA-411B-B354-DC0CA1C46F86}" v="2" dt="2026-02-11T21:32:34.5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17ADD47D-E5AE-440A-99C5-4F3DA05BBA04}"/>
    <pc:docChg chg="custSel modSld">
      <pc:chgData name="Sam O'Neill" userId="cb323814-a42a-4cfe-bc74-03f595e56f6e" providerId="ADAL" clId="{17ADD47D-E5AE-440A-99C5-4F3DA05BBA04}" dt="2026-02-11T21:33:14.184" v="6" actId="5793"/>
      <pc:docMkLst>
        <pc:docMk/>
      </pc:docMkLst>
      <pc:sldChg chg="modSp mod modAnim">
        <pc:chgData name="Sam O'Neill" userId="cb323814-a42a-4cfe-bc74-03f595e56f6e" providerId="ADAL" clId="{17ADD47D-E5AE-440A-99C5-4F3DA05BBA04}" dt="2026-02-11T21:32:34.586" v="2" actId="20577"/>
        <pc:sldMkLst>
          <pc:docMk/>
          <pc:sldMk cId="3696361483" sldId="283"/>
        </pc:sldMkLst>
        <pc:spChg chg="mod">
          <ac:chgData name="Sam O'Neill" userId="cb323814-a42a-4cfe-bc74-03f595e56f6e" providerId="ADAL" clId="{17ADD47D-E5AE-440A-99C5-4F3DA05BBA04}" dt="2026-02-11T21:32:34.586" v="2" actId="20577"/>
          <ac:spMkLst>
            <pc:docMk/>
            <pc:sldMk cId="3696361483" sldId="283"/>
            <ac:spMk id="3" creationId="{5198A88B-52B3-469E-A512-B72752EB7862}"/>
          </ac:spMkLst>
        </pc:spChg>
      </pc:sldChg>
      <pc:sldChg chg="modSp mod">
        <pc:chgData name="Sam O'Neill" userId="cb323814-a42a-4cfe-bc74-03f595e56f6e" providerId="ADAL" clId="{17ADD47D-E5AE-440A-99C5-4F3DA05BBA04}" dt="2026-02-11T21:33:14.184" v="6" actId="5793"/>
        <pc:sldMkLst>
          <pc:docMk/>
          <pc:sldMk cId="4242516750" sldId="287"/>
        </pc:sldMkLst>
        <pc:spChg chg="mod">
          <ac:chgData name="Sam O'Neill" userId="cb323814-a42a-4cfe-bc74-03f595e56f6e" providerId="ADAL" clId="{17ADD47D-E5AE-440A-99C5-4F3DA05BBA04}" dt="2026-02-11T21:33:14.184" v="6" actId="5793"/>
          <ac:spMkLst>
            <pc:docMk/>
            <pc:sldMk cId="4242516750" sldId="287"/>
            <ac:spMk id="3" creationId="{5198A88B-52B3-469E-A512-B72752EB78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FABB6-C83D-41EF-AABC-D70D8203A8A4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23973C-7711-463D-B1BC-3F41EFD47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60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23973C-7711-463D-B1BC-3F41EFD47B9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33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11/02/2026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11/02/2026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11/02/2026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11/02/2026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11/02/2026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Queueing Simulations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F6F82CF-2240-411D-946A-83EE0D3B0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03E0BC-A662-4FC2-89E2-1EF2E6D8C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760" y="3993934"/>
            <a:ext cx="3472479" cy="15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Introduction (Why?)</a:t>
            </a:r>
          </a:p>
          <a:p>
            <a:r>
              <a:rPr lang="en-GB" dirty="0"/>
              <a:t>Distributions</a:t>
            </a:r>
          </a:p>
          <a:p>
            <a:r>
              <a:rPr lang="en-GB" dirty="0"/>
              <a:t>Kendall’s Notation</a:t>
            </a:r>
          </a:p>
          <a:p>
            <a:r>
              <a:rPr lang="en-GB" dirty="0"/>
              <a:t>M/M/1</a:t>
            </a:r>
          </a:p>
          <a:p>
            <a:pPr lvl="1"/>
            <a:r>
              <a:rPr lang="en-GB" dirty="0"/>
              <a:t>Costs for customer/server</a:t>
            </a:r>
          </a:p>
          <a:p>
            <a:r>
              <a:rPr lang="en-GB" dirty="0"/>
              <a:t>Common Queue Types</a:t>
            </a:r>
          </a:p>
          <a:p>
            <a:r>
              <a:rPr lang="en-GB" dirty="0"/>
              <a:t>Servers in Series Example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Study of queues.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Used widely in the design of factories, hospitals, shops etc…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Applications in traffic engineering, computing, communication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/>
              <a:t>Two</a:t>
            </a:r>
            <a:r>
              <a:rPr lang="en-GB" dirty="0"/>
              <a:t> basic approaches:</a:t>
            </a:r>
          </a:p>
          <a:p>
            <a:pPr marL="0" indent="0">
              <a:buNone/>
            </a:pPr>
            <a:r>
              <a:rPr lang="en-GB" dirty="0"/>
              <a:t>	analytic methods or queuing theory (formula based); and</a:t>
            </a:r>
          </a:p>
          <a:p>
            <a:pPr marL="0" indent="0">
              <a:buNone/>
            </a:pPr>
            <a:r>
              <a:rPr lang="en-GB" dirty="0"/>
              <a:t>	simulation (computer based).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Analytic methods are only available for relatively simple queuing systems. Complex queuing systems are almost always analysed using simulation (Discrete Event Simulation)</a:t>
            </a:r>
          </a:p>
        </p:txBody>
      </p:sp>
    </p:spTree>
    <p:extLst>
      <p:ext uri="{BB962C8B-B14F-4D97-AF65-F5344CB8AC3E}">
        <p14:creationId xmlns:p14="http://schemas.microsoft.com/office/powerpoint/2010/main" val="42052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Queueing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Analytical study of queues.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Origins in modelling the Copenhagen telephone exchange (</a:t>
            </a:r>
            <a:r>
              <a:rPr lang="en-GB" dirty="0" err="1"/>
              <a:t>Agner</a:t>
            </a:r>
            <a:r>
              <a:rPr lang="en-GB" dirty="0"/>
              <a:t> </a:t>
            </a:r>
            <a:r>
              <a:rPr lang="en-GB" dirty="0" err="1"/>
              <a:t>Krarup</a:t>
            </a:r>
            <a:r>
              <a:rPr lang="en-GB" dirty="0"/>
              <a:t> Erlang)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simple queueing systems that can be tackled via queueing theory essentially:</a:t>
            </a:r>
          </a:p>
          <a:p>
            <a:r>
              <a:rPr lang="en-GB" dirty="0"/>
              <a:t>consist of just a single queue; linked systems where customers pass from one queue to another cannot be tackled via queueing theory</a:t>
            </a:r>
          </a:p>
          <a:p>
            <a:r>
              <a:rPr lang="en-GB" dirty="0"/>
              <a:t>have distributions for the arrival and service processes that are well defined (e.g. standard statistical distributions such as Poisson or Normal); systems where these distributions are derived from observed data, or are time dependent, are difficult to analyse via queueing theory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353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Queueing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3069"/>
            <a:ext cx="10515600" cy="303389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A basic queuing node has an arrival of customers/jobs which queue for a service.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Many unanswered questions, e.g.</a:t>
            </a:r>
          </a:p>
          <a:p>
            <a:r>
              <a:rPr lang="en-GB" dirty="0"/>
              <a:t>How do customers arrive?</a:t>
            </a:r>
          </a:p>
          <a:p>
            <a:r>
              <a:rPr lang="en-GB" dirty="0"/>
              <a:t>What is the queue capacity and type (e.g. FIFO)?</a:t>
            </a:r>
          </a:p>
          <a:p>
            <a:r>
              <a:rPr lang="en-GB" dirty="0"/>
              <a:t>What is the number of servers and their respective service times?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FD7FBE-DC09-4283-8C6C-D72F8ABF5843}"/>
              </a:ext>
            </a:extLst>
          </p:cNvPr>
          <p:cNvGrpSpPr/>
          <p:nvPr/>
        </p:nvGrpSpPr>
        <p:grpSpPr>
          <a:xfrm>
            <a:off x="2777596" y="1151405"/>
            <a:ext cx="6541895" cy="1814441"/>
            <a:chOff x="-241809" y="3044860"/>
            <a:chExt cx="11714227" cy="324902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083DC84-DDB6-4D1A-B01D-68CD7A2C1A9F}"/>
                </a:ext>
              </a:extLst>
            </p:cNvPr>
            <p:cNvSpPr/>
            <p:nvPr/>
          </p:nvSpPr>
          <p:spPr>
            <a:xfrm>
              <a:off x="3591611" y="3044860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Queue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90E8852-9CE7-4329-9F17-7A65095FBCDD}"/>
                </a:ext>
              </a:extLst>
            </p:cNvPr>
            <p:cNvSpPr/>
            <p:nvPr/>
          </p:nvSpPr>
          <p:spPr>
            <a:xfrm>
              <a:off x="7211503" y="3403078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Service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09B3F5-E91C-4C60-A87F-A66A06892616}"/>
                </a:ext>
              </a:extLst>
            </p:cNvPr>
            <p:cNvCxnSpPr>
              <a:cxnSpLocks/>
              <a:stCxn id="13" idx="6"/>
              <a:endCxn id="14" idx="1"/>
            </p:cNvCxnSpPr>
            <p:nvPr/>
          </p:nvCxnSpPr>
          <p:spPr>
            <a:xfrm>
              <a:off x="5797483" y="4147796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1BA60C4-E1B9-4607-96BD-0D4B60A14A1A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10058398" y="4147796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C07AAF4-7CB9-4715-A92A-C49AD3949F56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flipV="1">
              <a:off x="2104534" y="4147796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2" descr="Related image">
              <a:extLst>
                <a:ext uri="{FF2B5EF4-FFF2-40B4-BE49-F238E27FC236}">
                  <a16:creationId xmlns:a16="http://schemas.microsoft.com/office/drawing/2014/main" id="{68454923-1437-4228-8EA8-D6648C31DE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3318558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0C7FCD0-0629-47BF-B126-267B25FE5CA8}"/>
                </a:ext>
              </a:extLst>
            </p:cNvPr>
            <p:cNvSpPr txBox="1"/>
            <p:nvPr/>
          </p:nvSpPr>
          <p:spPr>
            <a:xfrm>
              <a:off x="-241809" y="5599082"/>
              <a:ext cx="3009525" cy="661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Arrival Process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0E99FA4-9CF7-426F-A1F9-C37B5816FEF0}"/>
                </a:ext>
              </a:extLst>
            </p:cNvPr>
            <p:cNvSpPr txBox="1"/>
            <p:nvPr/>
          </p:nvSpPr>
          <p:spPr>
            <a:xfrm>
              <a:off x="7044165" y="5632540"/>
              <a:ext cx="3599678" cy="661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Service Mechanism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30FB835-009A-427E-8A32-DBEC5EB12767}"/>
                </a:ext>
              </a:extLst>
            </p:cNvPr>
            <p:cNvSpPr txBox="1"/>
            <p:nvPr/>
          </p:nvSpPr>
          <p:spPr>
            <a:xfrm>
              <a:off x="2848071" y="5609566"/>
              <a:ext cx="4115738" cy="661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Queue Characteristics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800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4BC2693-6D16-4C31-9D31-9F86664EE157}"/>
              </a:ext>
            </a:extLst>
          </p:cNvPr>
          <p:cNvSpPr txBox="1">
            <a:spLocks/>
          </p:cNvSpPr>
          <p:nvPr/>
        </p:nvSpPr>
        <p:spPr>
          <a:xfrm>
            <a:off x="838200" y="1450109"/>
            <a:ext cx="10515600" cy="47268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We need to some how model customers arriving or being served. There are 3 ways to do this.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u="sng" dirty="0"/>
              <a:t>Deterministic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Inter-Arrival/Service time is known. i.e. a fixed value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u="sng" dirty="0"/>
              <a:t>Memoryless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Usually the Poisson (average no arrivals per time period) or Exponential (average time between arrivals)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u="sng" dirty="0"/>
              <a:t>General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Mean and variance known, e.g. Uniform, normal distribution. Think machine time, skilled worked. Times are always within bounds.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Random Arrival Time/Service Time</a:t>
            </a:r>
          </a:p>
        </p:txBody>
      </p:sp>
    </p:spTree>
    <p:extLst>
      <p:ext uri="{BB962C8B-B14F-4D97-AF65-F5344CB8AC3E}">
        <p14:creationId xmlns:p14="http://schemas.microsoft.com/office/powerpoint/2010/main" val="391196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4BC2693-6D16-4C31-9D31-9F86664EE157}"/>
              </a:ext>
            </a:extLst>
          </p:cNvPr>
          <p:cNvSpPr txBox="1">
            <a:spLocks/>
          </p:cNvSpPr>
          <p:nvPr/>
        </p:nvSpPr>
        <p:spPr>
          <a:xfrm>
            <a:off x="838200" y="1450109"/>
            <a:ext cx="10515600" cy="4726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Memoryless – Poisson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2576B1-51F6-4BB9-9A93-318B95F27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953" y="565515"/>
            <a:ext cx="3095625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3CF1B9-9A38-417C-89C6-39F1ADF98EBC}"/>
                  </a:ext>
                </a:extLst>
              </p:cNvPr>
              <p:cNvSpPr txBox="1"/>
              <p:nvPr/>
            </p:nvSpPr>
            <p:spPr>
              <a:xfrm>
                <a:off x="988040" y="1242450"/>
                <a:ext cx="7886913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Models number of arrivals per time period</a:t>
                </a:r>
              </a:p>
              <a:p>
                <a:endParaRPr lang="en-GB" dirty="0"/>
              </a:p>
              <a:p>
                <a:r>
                  <a:rPr lang="en-GB" dirty="0"/>
                  <a:t>Mean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Events are independent. i.e. the probability of the next event is always the same regardless of previous events. Think coin tosses. </a:t>
                </a:r>
              </a:p>
              <a:p>
                <a:endParaRPr lang="en-GB" dirty="0"/>
              </a:p>
              <a:p>
                <a:r>
                  <a:rPr lang="en-GB" dirty="0"/>
                  <a:t>Many things are naturally modelled by the Poisson Distribution</a:t>
                </a:r>
              </a:p>
              <a:p>
                <a:endParaRPr lang="en-GB" dirty="0"/>
              </a:p>
              <a:p>
                <a:r>
                  <a:rPr lang="en-GB" dirty="0"/>
                  <a:t>The Poisson distribution may be useful to model events such as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The number of meteorites greater than 1 meter diameter that strike Earth in a year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The number of patients arriving in an emergency room between 10 and 11 pm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The number of laser photons hitting a detector in a particular time interval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r>
                  <a:rPr lang="en-GB" dirty="0"/>
                  <a:t>e.g. for an average (mean) rate of 10 patients arriving in an emergency room between 10 and 11 pm -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3CF1B9-9A38-417C-89C6-39F1ADF98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040" y="1242450"/>
                <a:ext cx="7886913" cy="5078313"/>
              </a:xfrm>
              <a:prstGeom prst="rect">
                <a:avLst/>
              </a:prstGeom>
              <a:blipFill>
                <a:blip r:embed="rId3"/>
                <a:stretch>
                  <a:fillRect l="-618" t="-7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23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lot of the probability density function of the exponential distribution">
            <a:extLst>
              <a:ext uri="{FF2B5EF4-FFF2-40B4-BE49-F238E27FC236}">
                <a16:creationId xmlns:a16="http://schemas.microsoft.com/office/drawing/2014/main" id="{D69E7BE7-532E-4F70-962B-9068303A0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612" y="-152400"/>
            <a:ext cx="3244388" cy="282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4BC2693-6D16-4C31-9D31-9F86664EE157}"/>
              </a:ext>
            </a:extLst>
          </p:cNvPr>
          <p:cNvSpPr txBox="1">
            <a:spLocks/>
          </p:cNvSpPr>
          <p:nvPr/>
        </p:nvSpPr>
        <p:spPr>
          <a:xfrm>
            <a:off x="838200" y="1450109"/>
            <a:ext cx="10515600" cy="4726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Memoryless – Exponential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3CF1B9-9A38-417C-89C6-39F1ADF98EBC}"/>
                  </a:ext>
                </a:extLst>
              </p:cNvPr>
              <p:cNvSpPr txBox="1"/>
              <p:nvPr/>
            </p:nvSpPr>
            <p:spPr>
              <a:xfrm>
                <a:off x="988041" y="1242450"/>
                <a:ext cx="8460760" cy="4999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Models inter-arrival time between events</a:t>
                </a:r>
              </a:p>
              <a:p>
                <a:endParaRPr lang="en-GB" dirty="0"/>
              </a:p>
              <a:p>
                <a:r>
                  <a:rPr lang="en-GB" dirty="0"/>
                  <a:t>Events are independent. i.e. the probability is always the same regardless of job arrival history. Think coin tosses. </a:t>
                </a:r>
              </a:p>
              <a:p>
                <a:endParaRPr lang="en-GB" dirty="0"/>
              </a:p>
              <a:p>
                <a:r>
                  <a:rPr lang="en-GB" dirty="0"/>
                  <a:t>Mean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e.g. for an average (mean) rate of 10 patients arriving in an emergency room between 10 and 11 pm -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Therefore this distribution will generate random numbers with a mean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dirty="0"/>
                  <a:t>. Which for 1 hour is every 6 minutes. So on average it generates 10 arrivals per hour!</a:t>
                </a:r>
              </a:p>
              <a:p>
                <a:endParaRPr lang="en-GB" dirty="0"/>
              </a:p>
              <a:p>
                <a:r>
                  <a:rPr lang="en-GB" dirty="0"/>
                  <a:t>In excel for an arrive rate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/>
                  <a:t> we can generate interarrival times by: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𝑅𝐴𝑁𝐷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())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3CF1B9-9A38-417C-89C6-39F1ADF98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041" y="1242450"/>
                <a:ext cx="8460760" cy="4999254"/>
              </a:xfrm>
              <a:prstGeom prst="rect">
                <a:avLst/>
              </a:prstGeom>
              <a:blipFill>
                <a:blip r:embed="rId3"/>
                <a:stretch>
                  <a:fillRect l="-576" t="-732" r="-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00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4BC2693-6D16-4C31-9D31-9F86664EE157}"/>
              </a:ext>
            </a:extLst>
          </p:cNvPr>
          <p:cNvSpPr txBox="1">
            <a:spLocks/>
          </p:cNvSpPr>
          <p:nvPr/>
        </p:nvSpPr>
        <p:spPr>
          <a:xfrm>
            <a:off x="838200" y="1450109"/>
            <a:ext cx="10515600" cy="4726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General – Uniform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3CF1B9-9A38-417C-89C6-39F1ADF98EBC}"/>
                  </a:ext>
                </a:extLst>
              </p:cNvPr>
              <p:cNvSpPr txBox="1"/>
              <p:nvPr/>
            </p:nvSpPr>
            <p:spPr>
              <a:xfrm>
                <a:off x="988040" y="1242450"/>
                <a:ext cx="7989705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Models uniform probability between min and max</a:t>
                </a:r>
              </a:p>
              <a:p>
                <a:endParaRPr lang="en-GB" dirty="0"/>
              </a:p>
              <a:p>
                <a:r>
                  <a:rPr lang="en-GB" dirty="0"/>
                  <a:t>Machine time could be uniformly distributed between 10 and 11.</a:t>
                </a:r>
              </a:p>
              <a:p>
                <a:endParaRPr lang="en-GB" dirty="0"/>
              </a:p>
              <a:p>
                <a:r>
                  <a:rPr lang="en-GB" dirty="0"/>
                  <a:t>That is, each time the machine ‘serves’ there is an equal probability of any time between 10 and 11.</a:t>
                </a:r>
              </a:p>
              <a:p>
                <a:endParaRPr lang="en-GB" dirty="0"/>
              </a:p>
              <a:p>
                <a:r>
                  <a:rPr lang="en-GB" dirty="0"/>
                  <a:t>Last week we used this in our simulations</a:t>
                </a:r>
              </a:p>
              <a:p>
                <a:endParaRPr lang="en-GB" dirty="0"/>
              </a:p>
              <a:p>
                <a:r>
                  <a:rPr lang="en-GB" dirty="0"/>
                  <a:t>e.g. 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𝑅𝐴𝑁𝐷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()∗10 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Was a uniformly distributed number between 0 and 10.</a:t>
                </a:r>
              </a:p>
              <a:p>
                <a:endParaRPr lang="en-GB" dirty="0"/>
              </a:p>
              <a:p>
                <a:r>
                  <a:rPr lang="en-GB" dirty="0"/>
                  <a:t>Reasonable for an inter-arrival time?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3CF1B9-9A38-417C-89C6-39F1ADF98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040" y="1242450"/>
                <a:ext cx="7989705" cy="4524315"/>
              </a:xfrm>
              <a:prstGeom prst="rect">
                <a:avLst/>
              </a:prstGeom>
              <a:blipFill>
                <a:blip r:embed="rId2"/>
                <a:stretch>
                  <a:fillRect l="-610" t="-809" b="-1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PDF of the uniform probability distribution using the maximum convention at the transition points.">
            <a:extLst>
              <a:ext uri="{FF2B5EF4-FFF2-40B4-BE49-F238E27FC236}">
                <a16:creationId xmlns:a16="http://schemas.microsoft.com/office/drawing/2014/main" id="{2F87ACD3-0536-48C5-A07D-86313403A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363" y="365125"/>
            <a:ext cx="3367893" cy="2404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06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4BC2693-6D16-4C31-9D31-9F86664EE157}"/>
              </a:ext>
            </a:extLst>
          </p:cNvPr>
          <p:cNvSpPr txBox="1">
            <a:spLocks/>
          </p:cNvSpPr>
          <p:nvPr/>
        </p:nvSpPr>
        <p:spPr>
          <a:xfrm>
            <a:off x="838200" y="1450109"/>
            <a:ext cx="10515600" cy="4726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General - Normal</a:t>
            </a:r>
          </a:p>
        </p:txBody>
      </p:sp>
      <p:pic>
        <p:nvPicPr>
          <p:cNvPr id="5122" name="Picture 2" descr="Probability density function for the normal distribution">
            <a:extLst>
              <a:ext uri="{FF2B5EF4-FFF2-40B4-BE49-F238E27FC236}">
                <a16:creationId xmlns:a16="http://schemas.microsoft.com/office/drawing/2014/main" id="{9C00F459-EB1A-457D-9EB1-17408FBA1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884" y="420067"/>
            <a:ext cx="32385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1D2FA2-F29B-4451-9E17-6DB905146E7E}"/>
                  </a:ext>
                </a:extLst>
              </p:cNvPr>
              <p:cNvSpPr txBox="1"/>
              <p:nvPr/>
            </p:nvSpPr>
            <p:spPr>
              <a:xfrm>
                <a:off x="988040" y="1242450"/>
                <a:ext cx="7463233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Models with a mean and a variance (spread of data)</a:t>
                </a:r>
              </a:p>
              <a:p>
                <a:endParaRPr lang="en-GB" dirty="0"/>
              </a:p>
              <a:p>
                <a:r>
                  <a:rPr lang="en-GB" dirty="0"/>
                  <a:t>Machine time could be normally distributed with mean 10 and variance 1.</a:t>
                </a:r>
              </a:p>
              <a:p>
                <a:endParaRPr lang="en-GB" dirty="0"/>
              </a:p>
              <a:p>
                <a:r>
                  <a:rPr lang="en-GB" dirty="0"/>
                  <a:t>Here values are most likely to fall around 10, it is highly unlikely we get values of 13 or above</a:t>
                </a:r>
              </a:p>
              <a:p>
                <a:endParaRPr lang="en-GB" dirty="0"/>
              </a:p>
              <a:p>
                <a:r>
                  <a:rPr lang="en-GB" dirty="0"/>
                  <a:t>Why might this be useful to model workers or machines?</a:t>
                </a:r>
              </a:p>
              <a:p>
                <a:endParaRPr lang="en-GB" dirty="0"/>
              </a:p>
              <a:p>
                <a:r>
                  <a:rPr lang="en-GB" dirty="0"/>
                  <a:t>It is bounded. The exponential allowed for times that would be odd!</a:t>
                </a:r>
              </a:p>
              <a:p>
                <a:endParaRPr lang="en-GB" dirty="0"/>
              </a:p>
              <a:p>
                <a:r>
                  <a:rPr lang="en-GB" dirty="0"/>
                  <a:t>e.g.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dirty="0"/>
                  <a:t> there is nothing stopping an inter-arrival time of 0.1 or 20.</a:t>
                </a:r>
              </a:p>
              <a:p>
                <a:endParaRPr lang="en-GB" dirty="0"/>
              </a:p>
              <a:p>
                <a:r>
                  <a:rPr lang="en-GB" dirty="0"/>
                  <a:t>Would a skilled worker who has a mean time for their task do it instantaneously or take twice the time?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1D2FA2-F29B-4451-9E17-6DB905146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040" y="1242450"/>
                <a:ext cx="7463233" cy="4247317"/>
              </a:xfrm>
              <a:prstGeom prst="rect">
                <a:avLst/>
              </a:prstGeom>
              <a:blipFill>
                <a:blip r:embed="rId3"/>
                <a:stretch>
                  <a:fillRect l="-654" t="-861" r="-163" b="-12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059F26C-F6E7-480B-AC4F-C41146DDF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532" y="4314190"/>
            <a:ext cx="3788654" cy="207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5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Little’s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dirty="0"/>
                  <a:t> – Average number of customers in the system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pt-BR" dirty="0"/>
                  <a:t> – Arrival rate of customers in the system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dirty="0"/>
                  <a:t> – Average amount of time a packet spends in the system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Little’s Theorem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en-GB" dirty="0"/>
                  <a:t>e.g. If customers spend half an hour in a queue and arrive every 6 minutes. 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pt-BR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You can also infer things from this. 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Take the arrival rate of traffic as being fixed.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dirty="0"/>
                  <a:t> is larger than normal (lots of traffic), 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dirty="0"/>
                  <a:t> must be large. i.e. Cars are spending more time on their journey!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928" t="-2968" b="-1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399" y="282218"/>
            <a:ext cx="3472479" cy="15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58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Kendall’s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dirty="0"/>
              <a:t>Proposed by D. G. Kendall in 1953 and since extended.  Standard way to classify a queuing node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A/S/</a:t>
            </a:r>
            <a:r>
              <a:rPr lang="pt-BR" i="1" dirty="0"/>
              <a:t>c</a:t>
            </a:r>
            <a:r>
              <a:rPr lang="pt-BR" dirty="0"/>
              <a:t>/</a:t>
            </a:r>
            <a:r>
              <a:rPr lang="pt-BR" i="1" dirty="0"/>
              <a:t>K</a:t>
            </a:r>
            <a:r>
              <a:rPr lang="pt-BR" dirty="0"/>
              <a:t>/</a:t>
            </a:r>
            <a:r>
              <a:rPr lang="pt-BR" i="1" dirty="0"/>
              <a:t>N</a:t>
            </a:r>
            <a:r>
              <a:rPr lang="pt-BR" dirty="0"/>
              <a:t>/D</a:t>
            </a:r>
          </a:p>
          <a:p>
            <a:pPr marL="0" indent="0">
              <a:buNone/>
            </a:pPr>
            <a:endParaRPr lang="pt-BR" dirty="0"/>
          </a:p>
          <a:p>
            <a:r>
              <a:rPr lang="en-GB" dirty="0"/>
              <a:t>A - probability distribution for the arrival process</a:t>
            </a:r>
          </a:p>
          <a:p>
            <a:r>
              <a:rPr lang="en-GB" dirty="0"/>
              <a:t>S - probability distribution for the service process</a:t>
            </a:r>
          </a:p>
          <a:p>
            <a:r>
              <a:rPr lang="en-GB" dirty="0"/>
              <a:t>c - number of channels (servers)</a:t>
            </a:r>
          </a:p>
          <a:p>
            <a:r>
              <a:rPr lang="en-GB" dirty="0"/>
              <a:t>K – queue capacity, i.e. maximum number of customers allowed in the queueing system (either being served or waiting for service)</a:t>
            </a:r>
          </a:p>
          <a:p>
            <a:r>
              <a:rPr lang="en-GB" dirty="0"/>
              <a:t>N - maximum number of customers in total</a:t>
            </a:r>
          </a:p>
          <a:p>
            <a:r>
              <a:rPr lang="en-GB" dirty="0"/>
              <a:t>D - queueing discipline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Common options for A and S are:</a:t>
            </a:r>
          </a:p>
          <a:p>
            <a:r>
              <a:rPr lang="en-GB" dirty="0"/>
              <a:t>M for a Poisson distribution or exponential distribution </a:t>
            </a:r>
          </a:p>
          <a:p>
            <a:r>
              <a:rPr lang="en-GB" dirty="0"/>
              <a:t>D for a deterministic distribution</a:t>
            </a:r>
          </a:p>
          <a:p>
            <a:r>
              <a:rPr lang="en-GB" dirty="0"/>
              <a:t>G for a general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399" y="282218"/>
            <a:ext cx="3472479" cy="15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6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M/M/1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Single server, with random arrivals and random service time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pt-BR" dirty="0"/>
              <a:t>A/S/</a:t>
            </a:r>
            <a:r>
              <a:rPr lang="pt-BR" i="1" dirty="0"/>
              <a:t>c</a:t>
            </a:r>
            <a:r>
              <a:rPr lang="pt-BR" dirty="0"/>
              <a:t>/</a:t>
            </a:r>
            <a:r>
              <a:rPr lang="pt-BR" i="1" dirty="0"/>
              <a:t>K</a:t>
            </a:r>
            <a:r>
              <a:rPr lang="pt-BR" dirty="0"/>
              <a:t>/</a:t>
            </a:r>
            <a:r>
              <a:rPr lang="pt-BR" i="1" dirty="0"/>
              <a:t>N</a:t>
            </a:r>
            <a:r>
              <a:rPr lang="pt-BR" dirty="0"/>
              <a:t>/D</a:t>
            </a:r>
          </a:p>
          <a:p>
            <a:pPr marL="0" indent="0">
              <a:buNone/>
            </a:pPr>
            <a:endParaRPr lang="pt-BR" dirty="0"/>
          </a:p>
          <a:p>
            <a:r>
              <a:rPr lang="en-GB" dirty="0"/>
              <a:t>A = M (Poisson/Exponential Distribution)</a:t>
            </a:r>
          </a:p>
          <a:p>
            <a:r>
              <a:rPr lang="en-GB" dirty="0"/>
              <a:t>S = M (Poisson/Exponential Distribution)</a:t>
            </a:r>
          </a:p>
          <a:p>
            <a:r>
              <a:rPr lang="en-GB" dirty="0"/>
              <a:t>c = 1 (number of servers)</a:t>
            </a:r>
          </a:p>
          <a:p>
            <a:r>
              <a:rPr lang="en-GB" dirty="0"/>
              <a:t>K = infinite (queue capacity)</a:t>
            </a:r>
          </a:p>
          <a:p>
            <a:r>
              <a:rPr lang="en-GB" dirty="0"/>
              <a:t>N = infinite</a:t>
            </a:r>
          </a:p>
          <a:p>
            <a:r>
              <a:rPr lang="en-GB" dirty="0"/>
              <a:t>D = FIFO (queueing discipline)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K/N/D not defined implies the above by default.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would M/G/1/5 mean?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561" y="282218"/>
            <a:ext cx="3472479" cy="15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0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M/M/1 Formulas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dirty="0"/>
                        <m:t>Average</m:t>
                      </m:r>
                      <m:r>
                        <m:rPr>
                          <m:nor/>
                        </m:rPr>
                        <a:rPr lang="en-GB" dirty="0"/>
                        <m:t> </m:t>
                      </m:r>
                      <m:r>
                        <m:rPr>
                          <m:nor/>
                        </m:rPr>
                        <a:rPr lang="en-GB" dirty="0"/>
                        <m:t>Customer</m:t>
                      </m:r>
                      <m:r>
                        <m:rPr>
                          <m:nor/>
                        </m:rPr>
                        <a:rPr lang="en-GB" dirty="0"/>
                        <m:t> </m:t>
                      </m:r>
                      <m:r>
                        <m:rPr>
                          <m:nor/>
                        </m:rPr>
                        <a:rPr lang="en-GB" dirty="0"/>
                        <m:t>Time</m:t>
                      </m:r>
                      <m:r>
                        <m:rPr>
                          <m:nor/>
                        </m:rPr>
                        <a:rPr lang="en-GB" dirty="0"/>
                        <m:t> </m:t>
                      </m:r>
                      <m:r>
                        <m:rPr>
                          <m:nor/>
                        </m:rPr>
                        <a:rPr lang="en-GB" dirty="0"/>
                        <m:t>in</m:t>
                      </m:r>
                      <m:r>
                        <m:rPr>
                          <m:nor/>
                        </m:rPr>
                        <a:rPr lang="en-GB" dirty="0"/>
                        <m:t> </m:t>
                      </m:r>
                      <m:r>
                        <m:rPr>
                          <m:nor/>
                        </m:rPr>
                        <a:rPr lang="en-GB" dirty="0"/>
                        <m:t>Queue</m:t>
                      </m:r>
                      <m:r>
                        <m:rPr>
                          <m:nor/>
                        </m:rPr>
                        <a:rPr lang="en-GB" dirty="0"/>
                        <m:t> − </m:t>
                      </m:r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Average Customer Time in System (Service Ends - Arrival)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Average number of Customers in the System –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will show how to derive these next week!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1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561" y="282218"/>
            <a:ext cx="3472479" cy="15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61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M/M/1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Single server in a shop</a:t>
                </a:r>
              </a:p>
              <a:p>
                <a:r>
                  <a:rPr lang="en-GB" dirty="0"/>
                  <a:t>Customers arrive in the shop with a Poisson arrival distribution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GB" dirty="0"/>
                  <a:t> customers per minute, i.e. on average one customer appears every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GB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0.5</m:t>
                        </m:r>
                      </m:den>
                    </m:f>
                    <m:r>
                      <a:rPr lang="en-GB" i="1" dirty="0"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r>
                  <a:rPr lang="en-GB" dirty="0"/>
                  <a:t> minutes. </a:t>
                </a:r>
              </a:p>
              <a:p>
                <a:r>
                  <a:rPr lang="en-GB" dirty="0"/>
                  <a:t>This implies that the interarrival times have an exponential distribution with an average interarrival time of 2 minutes. </a:t>
                </a:r>
              </a:p>
              <a:p>
                <a:r>
                  <a:rPr lang="en-GB" dirty="0"/>
                  <a:t>The server has an exponential service time distribution with a mean service rate of 4 customers per minute, i.e. the service rate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dirty="0"/>
                  <a:t> customers per minute. i.e. on average the time to serve a customer is every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n-GB" dirty="0"/>
                  <a:t> minutes.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2194" r="-812" b="-1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620" y="205095"/>
            <a:ext cx="3472479" cy="15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70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M/M/1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GB" sz="2400" b="0" dirty="0"/>
              </a:p>
              <a:p>
                <a:pPr marL="0" indent="0">
                  <a:buNone/>
                </a:pPr>
                <a:r>
                  <a:rPr lang="en-GB" sz="2400" u="sng" dirty="0"/>
                  <a:t>Analytic results</a:t>
                </a:r>
              </a:p>
              <a:p>
                <a:pPr marL="0" indent="0">
                  <a:buNone/>
                </a:pPr>
                <a:r>
                  <a:rPr lang="en-GB" sz="2400" dirty="0"/>
                  <a:t>Average Customer Time in Queue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4(3.5)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≈0.035</m:t>
                    </m:r>
                  </m:oMath>
                </a14:m>
                <a:endParaRPr lang="en-GB" sz="2400" b="0" dirty="0"/>
              </a:p>
              <a:p>
                <a:pPr marL="0" indent="0">
                  <a:buNone/>
                </a:pPr>
                <a:r>
                  <a:rPr lang="en-GB" sz="2400" dirty="0"/>
                  <a:t>Average Customer Time in System (Service Ends - Arrival)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3.5</m:t>
                        </m:r>
                      </m:den>
                    </m:f>
                    <m:r>
                      <a:rPr lang="en-GB" sz="2400" i="1">
                        <a:latin typeface="Cambria Math" panose="02040503050406030204" pitchFamily="18" charset="0"/>
                      </a:rPr>
                      <m:t>≈0.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286</m:t>
                    </m:r>
                  </m:oMath>
                </a14:m>
                <a:endParaRPr lang="en-GB" sz="2400" b="0" dirty="0"/>
              </a:p>
              <a:p>
                <a:pPr marL="0" indent="0">
                  <a:buNone/>
                </a:pPr>
                <a:r>
                  <a:rPr lang="en-GB" sz="2400" dirty="0"/>
                  <a:t>Average number of Customers in the System –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≈0.143</m:t>
                    </m:r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b="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 </a:t>
                </a:r>
              </a:p>
              <a:p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928" t="-1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620" y="205095"/>
            <a:ext cx="3472479" cy="15783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999E3F-C0A8-4E31-85A4-222AF70EE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842" y="4315654"/>
            <a:ext cx="3472479" cy="2293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075593-EED8-4497-9186-1DAEB4AAC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468" y="4315654"/>
            <a:ext cx="3695669" cy="229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75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Associated 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Cost information can be added for customers and servers.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example:</a:t>
            </a:r>
          </a:p>
          <a:p>
            <a:r>
              <a:rPr lang="en-GB" dirty="0"/>
              <a:t>each minute a server is idle costs us £0.5</a:t>
            </a:r>
          </a:p>
          <a:p>
            <a:r>
              <a:rPr lang="en-GB" dirty="0"/>
              <a:t>each minute a customer waits for a server costs us £1</a:t>
            </a:r>
          </a:p>
          <a:p>
            <a:r>
              <a:rPr lang="en-GB" dirty="0"/>
              <a:t>each customer who is balked (goes away without being served) costs us £5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950" y="9939"/>
            <a:ext cx="3472479" cy="15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36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M/M/1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6327913" cy="472685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GB" sz="2400" b="0" dirty="0"/>
              </a:p>
              <a:p>
                <a:endParaRPr lang="en-GB" sz="2400" dirty="0"/>
              </a:p>
              <a:p>
                <a:r>
                  <a:rPr lang="en-GB" sz="2400" dirty="0"/>
                  <a:t>each minute a server is idle costs us £0.5</a:t>
                </a:r>
              </a:p>
              <a:p>
                <a:r>
                  <a:rPr lang="en-GB" sz="2400" dirty="0"/>
                  <a:t>each minute a customer waits for a server costs us £1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After 100 arrivals the server has been idle for approximately 180 minutes, giving us a cost of £90.</a:t>
                </a:r>
              </a:p>
              <a:p>
                <a:r>
                  <a:rPr lang="en-GB" sz="2400" dirty="0"/>
                  <a:t>Customers have waited for 3.5 minutes, a cost  of £3.5</a:t>
                </a:r>
              </a:p>
              <a:p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6327913" cy="4726854"/>
              </a:xfrm>
              <a:blipFill>
                <a:blip r:embed="rId2"/>
                <a:stretch>
                  <a:fillRect l="-1349" t="-1806" r="-1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620" y="205095"/>
            <a:ext cx="3472479" cy="15783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76832C-2AE5-4ECD-AC50-1DE7C81C2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301" y="3859802"/>
            <a:ext cx="4644798" cy="279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59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M/M/1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6327913" cy="4726854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sz="2400" b="0" dirty="0"/>
              </a:p>
              <a:p>
                <a:r>
                  <a:rPr lang="en-GB" sz="2400" dirty="0"/>
                  <a:t>Server now twice as slow, </a:t>
                </a:r>
                <a:r>
                  <a:rPr lang="en-GB" sz="2400" dirty="0" err="1"/>
                  <a:t>i.e</a:t>
                </a:r>
                <a:r>
                  <a:rPr lang="en-GB" sz="2400" dirty="0"/>
                  <a:t> can only serve 2 customers a minute</a:t>
                </a:r>
              </a:p>
              <a:p>
                <a:r>
                  <a:rPr lang="en-GB" sz="2400" dirty="0"/>
                  <a:t>each minute a server is idle costs us £0.5</a:t>
                </a:r>
              </a:p>
              <a:p>
                <a:r>
                  <a:rPr lang="en-GB" sz="2400" dirty="0"/>
                  <a:t>each minute a customer waits for a server costs us £1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After 100 arrivals the server has been idle for approximately 145 minutes, giving us a cost of £72.5.</a:t>
                </a:r>
              </a:p>
              <a:p>
                <a:r>
                  <a:rPr lang="en-GB" sz="2400" dirty="0"/>
                  <a:t>Customers have waited for 4.5 minutes, a cost  of £4.5</a:t>
                </a:r>
              </a:p>
              <a:p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6327913" cy="4726854"/>
              </a:xfrm>
              <a:blipFill>
                <a:blip r:embed="rId2"/>
                <a:stretch>
                  <a:fillRect l="-1349" t="-2452" r="-1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620" y="205095"/>
            <a:ext cx="3472479" cy="1578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1DD114-130C-4031-81D2-E2BD8D624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838" y="3808169"/>
            <a:ext cx="4638261" cy="277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60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M/M/1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6327913" cy="472685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2400" b="0" dirty="0"/>
              </a:p>
              <a:p>
                <a:r>
                  <a:rPr lang="en-GB" sz="2400" dirty="0"/>
                  <a:t>Server is now four times as slow</a:t>
                </a:r>
              </a:p>
              <a:p>
                <a:r>
                  <a:rPr lang="en-GB" sz="2400" dirty="0"/>
                  <a:t>each minute a server is idle costs us £0.5</a:t>
                </a:r>
              </a:p>
              <a:p>
                <a:r>
                  <a:rPr lang="en-GB" sz="2400" dirty="0"/>
                  <a:t>each minute a customer waits for a server costs us £1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After 100 arrivals the server has been idle for approximately 100 minutes, giving us a cost of £50.</a:t>
                </a:r>
              </a:p>
              <a:p>
                <a:r>
                  <a:rPr lang="en-GB" sz="2400" dirty="0"/>
                  <a:t>Customers have waited for 60 minutes, a cost  of £60</a:t>
                </a:r>
              </a:p>
              <a:p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6327913" cy="4726854"/>
              </a:xfrm>
              <a:blipFill>
                <a:blip r:embed="rId2"/>
                <a:stretch>
                  <a:fillRect l="-1349" t="-1806" r="-1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620" y="205095"/>
            <a:ext cx="3472479" cy="15783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ECE3B6-403C-4FAD-8CFB-64F91DF9D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113" y="3731759"/>
            <a:ext cx="4833316" cy="292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06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M/M/1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253870" cy="4726854"/>
          </a:xfrm>
        </p:spPr>
        <p:txBody>
          <a:bodyPr>
            <a:normAutofit/>
          </a:bodyPr>
          <a:lstStyle/>
          <a:p>
            <a:r>
              <a:rPr lang="en-GB" sz="2400" dirty="0"/>
              <a:t>Clearly of the 3 cases, case 2 gives the minimum cost</a:t>
            </a:r>
          </a:p>
          <a:p>
            <a:r>
              <a:rPr lang="en-GB" sz="2400" dirty="0"/>
              <a:t>However we have not considered</a:t>
            </a:r>
          </a:p>
          <a:p>
            <a:pPr lvl="1"/>
            <a:r>
              <a:rPr lang="en-GB" sz="2000" dirty="0"/>
              <a:t>Cost of buying new servers/better servers – Should be offset</a:t>
            </a:r>
          </a:p>
          <a:p>
            <a:pPr lvl="1"/>
            <a:r>
              <a:rPr lang="en-GB" sz="2000" dirty="0"/>
              <a:t>New cost of idle server. Maybe the power consumption is higher, or the skilled worker is paid more.</a:t>
            </a:r>
          </a:p>
          <a:p>
            <a:pPr lvl="1"/>
            <a:endParaRPr lang="en-GB" sz="2000" dirty="0"/>
          </a:p>
          <a:p>
            <a:r>
              <a:rPr lang="en-GB" sz="2400" dirty="0"/>
              <a:t>It does however demonstrate that computing waiting times and using associated costs allows you to model and make decisions. </a:t>
            </a:r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620" y="205095"/>
            <a:ext cx="3472479" cy="15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16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Queue Types (Disciplines)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253870" cy="4726854"/>
          </a:xfrm>
        </p:spPr>
        <p:txBody>
          <a:bodyPr>
            <a:normAutofit/>
          </a:bodyPr>
          <a:lstStyle/>
          <a:p>
            <a:r>
              <a:rPr lang="en-GB" sz="2400" dirty="0"/>
              <a:t>FIFO – Queueing in line</a:t>
            </a:r>
          </a:p>
          <a:p>
            <a:r>
              <a:rPr lang="en-GB" sz="2400" dirty="0"/>
              <a:t>LIFO – Stack of plates. Tins in a cupboard. Lesson?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620" y="205095"/>
            <a:ext cx="3472479" cy="1578399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23F5953B-6F50-4A7C-8D0A-46839C26C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003" y="3062057"/>
            <a:ext cx="3697481" cy="265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A0A8D9E2-038B-4B2E-B29D-8B3592B58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904" y="3191069"/>
            <a:ext cx="3665781" cy="239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03F25B-BCA5-40EB-B184-BD79E5B69F3B}"/>
              </a:ext>
            </a:extLst>
          </p:cNvPr>
          <p:cNvSpPr/>
          <p:nvPr/>
        </p:nvSpPr>
        <p:spPr>
          <a:xfrm>
            <a:off x="2771441" y="5915353"/>
            <a:ext cx="838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/>
              <a:t>FIFO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B422B-FB87-4867-8268-37A174F64E12}"/>
              </a:ext>
            </a:extLst>
          </p:cNvPr>
          <p:cNvSpPr/>
          <p:nvPr/>
        </p:nvSpPr>
        <p:spPr>
          <a:xfrm>
            <a:off x="8295365" y="5915353"/>
            <a:ext cx="8243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/>
              <a:t>LIFO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2328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Queue Types (Disciplines)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253870" cy="4726854"/>
          </a:xfrm>
        </p:spPr>
        <p:txBody>
          <a:bodyPr>
            <a:normAutofit/>
          </a:bodyPr>
          <a:lstStyle/>
          <a:p>
            <a:r>
              <a:rPr lang="en-GB" sz="2400" dirty="0"/>
              <a:t>Priority </a:t>
            </a:r>
          </a:p>
          <a:p>
            <a:r>
              <a:rPr lang="en-GB" sz="2400" dirty="0"/>
              <a:t>FIFO, however you can jump in by your priority.</a:t>
            </a:r>
          </a:p>
          <a:p>
            <a:endParaRPr lang="en-GB" sz="2400" dirty="0"/>
          </a:p>
          <a:p>
            <a:r>
              <a:rPr lang="en-GB" sz="2400" dirty="0"/>
              <a:t>Real-life example?</a:t>
            </a:r>
          </a:p>
          <a:p>
            <a:endParaRPr lang="en-GB" sz="2400" dirty="0"/>
          </a:p>
          <a:p>
            <a:r>
              <a:rPr lang="en-GB" sz="2400" dirty="0"/>
              <a:t>A&amp;E!!!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19250-0194-47D6-91DC-D5C2E3008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620" y="205095"/>
            <a:ext cx="3472479" cy="1578399"/>
          </a:xfrm>
          <a:prstGeom prst="rect">
            <a:avLst/>
          </a:prstGeom>
        </p:spPr>
      </p:pic>
      <p:pic>
        <p:nvPicPr>
          <p:cNvPr id="8194" name="Picture 2" descr="Image result for priority queue">
            <a:extLst>
              <a:ext uri="{FF2B5EF4-FFF2-40B4-BE49-F238E27FC236}">
                <a16:creationId xmlns:a16="http://schemas.microsoft.com/office/drawing/2014/main" id="{9D230A14-27C9-4F97-BAAF-15CAEE7E8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879" y="2347371"/>
            <a:ext cx="4093482" cy="326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936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Servers in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253870" cy="472685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sz="2400" dirty="0"/>
                  <a:t>Consider a small manufacturing firm, where products require 3 stages to manufacture. </a:t>
                </a:r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r>
                  <a:rPr lang="en-GB" sz="2400" dirty="0"/>
                  <a:t>Jobs arrive on average every 10 minutes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2400" dirty="0"/>
              </a:p>
              <a:p>
                <a:r>
                  <a:rPr lang="en-GB" sz="2400" dirty="0"/>
                  <a:t>Assume stage service times are uniformly distributed</a:t>
                </a:r>
              </a:p>
              <a:p>
                <a:r>
                  <a:rPr lang="en-GB" sz="2400" dirty="0"/>
                  <a:t>Each stage has a min/max time of 5 and 7 associated </a:t>
                </a:r>
              </a:p>
              <a:p>
                <a:r>
                  <a:rPr lang="en-GB" sz="2400" dirty="0"/>
                  <a:t>Jobs immediate move to the next stage after completion</a:t>
                </a:r>
              </a:p>
              <a:p>
                <a:endParaRPr lang="en-GB" sz="2400" dirty="0"/>
              </a:p>
              <a:p>
                <a:r>
                  <a:rPr lang="en-GB" sz="2400" b="0" dirty="0"/>
                  <a:t>Rough estimation. Jobs arrive slower than the first machine serves. Thus we don’t expect much of queue. </a:t>
                </a:r>
              </a:p>
              <a:p>
                <a:r>
                  <a:rPr lang="en-GB" sz="2400" dirty="0"/>
                  <a:t>3 stages each taking an average of 6 minutes. That’s a rough guess of 18 minutes spent in the system.</a:t>
                </a:r>
                <a:endParaRPr lang="en-GB" sz="2400" b="0" dirty="0"/>
              </a:p>
              <a:p>
                <a:endParaRPr lang="en-GB" sz="240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253870" cy="4726854"/>
              </a:xfrm>
              <a:blipFill>
                <a:blip r:embed="rId2"/>
                <a:stretch>
                  <a:fillRect l="-713" t="-2710" r="-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50F2FA4F-0893-4C17-8885-E17D0E8FE7DB}"/>
              </a:ext>
            </a:extLst>
          </p:cNvPr>
          <p:cNvSpPr/>
          <p:nvPr/>
        </p:nvSpPr>
        <p:spPr>
          <a:xfrm>
            <a:off x="2604159" y="1927214"/>
            <a:ext cx="888726" cy="8887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Queue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C0F389-543F-4CC9-88A3-4883C724515B}"/>
              </a:ext>
            </a:extLst>
          </p:cNvPr>
          <p:cNvSpPr/>
          <p:nvPr/>
        </p:nvSpPr>
        <p:spPr>
          <a:xfrm>
            <a:off x="4062582" y="2071537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B22E1E-DDFF-4701-AB65-551120816C65}"/>
              </a:ext>
            </a:extLst>
          </p:cNvPr>
          <p:cNvCxnSpPr>
            <a:cxnSpLocks/>
            <a:stCxn id="5" idx="6"/>
            <a:endCxn id="6" idx="1"/>
          </p:cNvCxnSpPr>
          <p:nvPr/>
        </p:nvCxnSpPr>
        <p:spPr>
          <a:xfrm>
            <a:off x="3492885" y="2371577"/>
            <a:ext cx="5696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BC1E043-E71D-46E0-85BA-274A34C640B4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5209571" y="2371577"/>
            <a:ext cx="5696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CD084E-20E9-4850-BA91-CC1909B644A4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2005029" y="2371577"/>
            <a:ext cx="599130" cy="25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29FCE47-3D37-4FB1-9A84-D068E33E912A}"/>
              </a:ext>
            </a:extLst>
          </p:cNvPr>
          <p:cNvSpPr/>
          <p:nvPr/>
        </p:nvSpPr>
        <p:spPr>
          <a:xfrm>
            <a:off x="5779267" y="2071537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D206E5-FF5F-483A-951D-49AAD0839B64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6926256" y="2371577"/>
            <a:ext cx="5696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7326E53-3B63-4A89-B401-220BE5FC8AC4}"/>
              </a:ext>
            </a:extLst>
          </p:cNvPr>
          <p:cNvSpPr/>
          <p:nvPr/>
        </p:nvSpPr>
        <p:spPr>
          <a:xfrm>
            <a:off x="7495952" y="2071537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630D10-D7E4-4359-9DD8-B97FEC2993F0}"/>
              </a:ext>
            </a:extLst>
          </p:cNvPr>
          <p:cNvCxnSpPr>
            <a:cxnSpLocks/>
          </p:cNvCxnSpPr>
          <p:nvPr/>
        </p:nvCxnSpPr>
        <p:spPr>
          <a:xfrm>
            <a:off x="8642941" y="2371577"/>
            <a:ext cx="5696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748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Servers in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253870" cy="4726854"/>
          </a:xfrm>
        </p:spPr>
        <p:txBody>
          <a:bodyPr>
            <a:normAutofit/>
          </a:bodyPr>
          <a:lstStyle/>
          <a:p>
            <a:r>
              <a:rPr lang="en-GB" sz="2400" dirty="0"/>
              <a:t>Simulating in Excel gives the following results for 100,250,500 and 1000 Job arrivals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17004E-492F-499E-934D-68735D9C1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294" y="2326434"/>
            <a:ext cx="6091412" cy="365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202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bf6b85bd-8a7e-4854-be4d-0780382295a8"/>
    <ds:schemaRef ds:uri="606370cc-c8d9-4222-8a4e-3c320f1e3034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3531CA-8C96-452D-9C52-1F5F32F4E9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19650</TotalTime>
  <Words>1881</Words>
  <Application>Microsoft Office PowerPoint</Application>
  <PresentationFormat>Widescreen</PresentationFormat>
  <Paragraphs>247</Paragraphs>
  <Slides>26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 Light</vt:lpstr>
      <vt:lpstr>Cambria Math</vt:lpstr>
      <vt:lpstr>Calibri</vt:lpstr>
      <vt:lpstr>Office Theme</vt:lpstr>
      <vt:lpstr>Queueing Simulations</vt:lpstr>
      <vt:lpstr>Contents</vt:lpstr>
      <vt:lpstr>Blank Slide</vt:lpstr>
      <vt:lpstr>Introduction</vt:lpstr>
      <vt:lpstr>Queueing Theory</vt:lpstr>
      <vt:lpstr>Queueing Node</vt:lpstr>
      <vt:lpstr>Random Arrival Time/Service Time</vt:lpstr>
      <vt:lpstr>Memoryless – Poisson</vt:lpstr>
      <vt:lpstr>Memoryless – Exponential</vt:lpstr>
      <vt:lpstr>General – Uniform</vt:lpstr>
      <vt:lpstr>General - Normal</vt:lpstr>
      <vt:lpstr>Little’s Theorem</vt:lpstr>
      <vt:lpstr>Kendall’s Notation</vt:lpstr>
      <vt:lpstr>M/M/1</vt:lpstr>
      <vt:lpstr>M/M/1 Formulas</vt:lpstr>
      <vt:lpstr>M/M/1 Example</vt:lpstr>
      <vt:lpstr>M/M/1 Example</vt:lpstr>
      <vt:lpstr>Associated Costs</vt:lpstr>
      <vt:lpstr>M/M/1 Example</vt:lpstr>
      <vt:lpstr>M/M/1 Example</vt:lpstr>
      <vt:lpstr>M/M/1 Example</vt:lpstr>
      <vt:lpstr>M/M/1 Example</vt:lpstr>
      <vt:lpstr>Queue Types (Disciplines)</vt:lpstr>
      <vt:lpstr>Queue Types (Disciplines)</vt:lpstr>
      <vt:lpstr>Servers in Series</vt:lpstr>
      <vt:lpstr>Servers in Series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22</cp:revision>
  <dcterms:created xsi:type="dcterms:W3CDTF">2019-10-08T20:55:29Z</dcterms:created>
  <dcterms:modified xsi:type="dcterms:W3CDTF">2026-02-11T21:33:17Z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
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33"/>
  </p:notesMasterIdLst>
  <p:sldIdLst>
    <p:sldId id="256" r:id="rId5"/>
    <p:sldId id="261" r:id="rId6"/>
    <p:sldId id="319" r:id="rId7"/>
    <p:sldId id="313" r:id="rId8"/>
    <p:sldId id="314" r:id="rId9"/>
    <p:sldId id="340" r:id="rId10"/>
    <p:sldId id="326" r:id="rId11"/>
    <p:sldId id="327" r:id="rId12"/>
    <p:sldId id="328" r:id="rId13"/>
    <p:sldId id="316" r:id="rId14"/>
    <p:sldId id="317" r:id="rId15"/>
    <p:sldId id="321" r:id="rId16"/>
    <p:sldId id="315" r:id="rId17"/>
    <p:sldId id="320" r:id="rId18"/>
    <p:sldId id="325" r:id="rId19"/>
    <p:sldId id="329" r:id="rId20"/>
    <p:sldId id="330" r:id="rId21"/>
    <p:sldId id="331" r:id="rId22"/>
    <p:sldId id="323" r:id="rId23"/>
    <p:sldId id="336" r:id="rId24"/>
    <p:sldId id="337" r:id="rId25"/>
    <p:sldId id="322" r:id="rId26"/>
    <p:sldId id="334" r:id="rId27"/>
    <p:sldId id="339" r:id="rId28"/>
    <p:sldId id="324" r:id="rId29"/>
    <p:sldId id="338" r:id="rId30"/>
    <p:sldId id="270" r:id="rId31"/>
    <p:sldId id="341" r:id="rId32"/>
  </p:sldIdLst>
  <p:sldSz cx="12192000" cy="6858000"/>
  <p:notesSz cx="7104063" cy="10234613"/>
  <p:embeddedFontLst>
    <p:embeddedFont>
      <p:font typeface="Cambria Math" panose="02040503050406030204" pitchFamily="18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F63A61-086A-49C9-811F-8E094A9E2A80}" v="90" dt="2025-10-30T15:18:24.8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F8775F2F-7D58-4E3A-809B-6E5A7C445775}"/>
    <pc:docChg chg="modSld">
      <pc:chgData name="Sam O'Neill" userId="cb323814-a42a-4cfe-bc74-03f595e56f6e" providerId="ADAL" clId="{F8775F2F-7D58-4E3A-809B-6E5A7C445775}" dt="2024-11-01T14:01:27.915" v="0"/>
      <pc:docMkLst>
        <pc:docMk/>
      </pc:docMkLst>
      <pc:sldChg chg="addSp">
        <pc:chgData name="Sam O'Neill" userId="cb323814-a42a-4cfe-bc74-03f595e56f6e" providerId="ADAL" clId="{F8775F2F-7D58-4E3A-809B-6E5A7C445775}" dt="2024-11-01T14:01:27.915" v="0"/>
        <pc:sldMkLst>
          <pc:docMk/>
          <pc:sldMk cId="110775907" sldId="256"/>
        </pc:sldMkLst>
      </pc:sldChg>
      <pc:sldChg chg="addSp">
        <pc:chgData name="Sam O'Neill" userId="cb323814-a42a-4cfe-bc74-03f595e56f6e" providerId="ADAL" clId="{F8775F2F-7D58-4E3A-809B-6E5A7C445775}" dt="2024-11-01T14:01:27.915" v="0"/>
        <pc:sldMkLst>
          <pc:docMk/>
          <pc:sldMk cId="181662958" sldId="313"/>
        </pc:sldMkLst>
      </pc:sldChg>
      <pc:sldChg chg="addSp">
        <pc:chgData name="Sam O'Neill" userId="cb323814-a42a-4cfe-bc74-03f595e56f6e" providerId="ADAL" clId="{F8775F2F-7D58-4E3A-809B-6E5A7C445775}" dt="2024-11-01T14:01:27.915" v="0"/>
        <pc:sldMkLst>
          <pc:docMk/>
          <pc:sldMk cId="3249660774" sldId="314"/>
        </pc:sldMkLst>
      </pc:sldChg>
      <pc:sldChg chg="addSp">
        <pc:chgData name="Sam O'Neill" userId="cb323814-a42a-4cfe-bc74-03f595e56f6e" providerId="ADAL" clId="{F8775F2F-7D58-4E3A-809B-6E5A7C445775}" dt="2024-11-01T14:01:27.915" v="0"/>
        <pc:sldMkLst>
          <pc:docMk/>
          <pc:sldMk cId="1055509658" sldId="315"/>
        </pc:sldMkLst>
      </pc:sldChg>
      <pc:sldChg chg="addSp">
        <pc:chgData name="Sam O'Neill" userId="cb323814-a42a-4cfe-bc74-03f595e56f6e" providerId="ADAL" clId="{F8775F2F-7D58-4E3A-809B-6E5A7C445775}" dt="2024-11-01T14:01:27.915" v="0"/>
        <pc:sldMkLst>
          <pc:docMk/>
          <pc:sldMk cId="2836535967" sldId="320"/>
        </pc:sldMkLst>
      </pc:sldChg>
      <pc:sldChg chg="addSp">
        <pc:chgData name="Sam O'Neill" userId="cb323814-a42a-4cfe-bc74-03f595e56f6e" providerId="ADAL" clId="{F8775F2F-7D58-4E3A-809B-6E5A7C445775}" dt="2024-11-01T14:01:27.915" v="0"/>
        <pc:sldMkLst>
          <pc:docMk/>
          <pc:sldMk cId="1230406103" sldId="321"/>
        </pc:sldMkLst>
      </pc:sldChg>
      <pc:sldChg chg="addSp">
        <pc:chgData name="Sam O'Neill" userId="cb323814-a42a-4cfe-bc74-03f595e56f6e" providerId="ADAL" clId="{F8775F2F-7D58-4E3A-809B-6E5A7C445775}" dt="2024-11-01T14:01:27.915" v="0"/>
        <pc:sldMkLst>
          <pc:docMk/>
          <pc:sldMk cId="1082327340" sldId="322"/>
        </pc:sldMkLst>
      </pc:sldChg>
      <pc:sldChg chg="addSp">
        <pc:chgData name="Sam O'Neill" userId="cb323814-a42a-4cfe-bc74-03f595e56f6e" providerId="ADAL" clId="{F8775F2F-7D58-4E3A-809B-6E5A7C445775}" dt="2024-11-01T14:01:27.915" v="0"/>
        <pc:sldMkLst>
          <pc:docMk/>
          <pc:sldMk cId="1625045880" sldId="326"/>
        </pc:sldMkLst>
      </pc:sldChg>
      <pc:sldChg chg="addSp">
        <pc:chgData name="Sam O'Neill" userId="cb323814-a42a-4cfe-bc74-03f595e56f6e" providerId="ADAL" clId="{F8775F2F-7D58-4E3A-809B-6E5A7C445775}" dt="2024-11-01T14:01:27.915" v="0"/>
        <pc:sldMkLst>
          <pc:docMk/>
          <pc:sldMk cId="3706880328" sldId="327"/>
        </pc:sldMkLst>
      </pc:sldChg>
      <pc:sldChg chg="addSp">
        <pc:chgData name="Sam O'Neill" userId="cb323814-a42a-4cfe-bc74-03f595e56f6e" providerId="ADAL" clId="{F8775F2F-7D58-4E3A-809B-6E5A7C445775}" dt="2024-11-01T14:01:27.915" v="0"/>
        <pc:sldMkLst>
          <pc:docMk/>
          <pc:sldMk cId="4174986005" sldId="329"/>
        </pc:sldMkLst>
      </pc:sldChg>
      <pc:sldChg chg="addSp">
        <pc:chgData name="Sam O'Neill" userId="cb323814-a42a-4cfe-bc74-03f595e56f6e" providerId="ADAL" clId="{F8775F2F-7D58-4E3A-809B-6E5A7C445775}" dt="2024-11-01T14:01:27.915" v="0"/>
        <pc:sldMkLst>
          <pc:docMk/>
          <pc:sldMk cId="3753985237" sldId="338"/>
        </pc:sldMkLst>
      </pc:sldChg>
    </pc:docChg>
  </pc:docChgLst>
  <pc:docChgLst>
    <pc:chgData name="Sam O'Neill" userId="cb323814-a42a-4cfe-bc74-03f595e56f6e" providerId="ADAL" clId="{EE38C5BB-5442-47D2-B77B-F9411AE41DC8}"/>
    <pc:docChg chg="undo custSel modSld">
      <pc:chgData name="Sam O'Neill" userId="cb323814-a42a-4cfe-bc74-03f595e56f6e" providerId="ADAL" clId="{EE38C5BB-5442-47D2-B77B-F9411AE41DC8}" dt="2025-10-30T15:18:24.882" v="93"/>
      <pc:docMkLst>
        <pc:docMk/>
      </pc:docMkLst>
      <pc:sldChg chg="delSp mod">
        <pc:chgData name="Sam O'Neill" userId="cb323814-a42a-4cfe-bc74-03f595e56f6e" providerId="ADAL" clId="{EE38C5BB-5442-47D2-B77B-F9411AE41DC8}" dt="2025-10-30T12:56:58.548" v="0" actId="33640"/>
        <pc:sldMkLst>
          <pc:docMk/>
          <pc:sldMk cId="110775907" sldId="256"/>
        </pc:sldMkLst>
        <pc:inkChg chg="del">
          <ac:chgData name="Sam O'Neill" userId="cb323814-a42a-4cfe-bc74-03f595e56f6e" providerId="ADAL" clId="{EE38C5BB-5442-47D2-B77B-F9411AE41DC8}" dt="2025-10-30T12:56:58.548" v="0" actId="33640"/>
          <ac:inkMkLst>
            <pc:docMk/>
            <pc:sldMk cId="110775907" sldId="256"/>
            <ac:inkMk id="4" creationId="{E9DB9925-4E43-9FA0-D6D6-E75246ACCDC2}"/>
          </ac:inkMkLst>
        </pc:inkChg>
      </pc:sldChg>
      <pc:sldChg chg="delSp modSp mod">
        <pc:chgData name="Sam O'Neill" userId="cb323814-a42a-4cfe-bc74-03f595e56f6e" providerId="ADAL" clId="{EE38C5BB-5442-47D2-B77B-F9411AE41DC8}" dt="2025-10-30T15:13:10.059" v="22" actId="20577"/>
        <pc:sldMkLst>
          <pc:docMk/>
          <pc:sldMk cId="181662958" sldId="313"/>
        </pc:sldMkLst>
        <pc:spChg chg="mod">
          <ac:chgData name="Sam O'Neill" userId="cb323814-a42a-4cfe-bc74-03f595e56f6e" providerId="ADAL" clId="{EE38C5BB-5442-47D2-B77B-F9411AE41DC8}" dt="2025-10-30T15:13:10.059" v="22" actId="20577"/>
          <ac:spMkLst>
            <pc:docMk/>
            <pc:sldMk cId="181662958" sldId="313"/>
            <ac:spMk id="5" creationId="{1E712F17-711D-489F-997B-7EE688F7E743}"/>
          </ac:spMkLst>
        </pc:spChg>
        <pc:spChg chg="mod">
          <ac:chgData name="Sam O'Neill" userId="cb323814-a42a-4cfe-bc74-03f595e56f6e" providerId="ADAL" clId="{EE38C5BB-5442-47D2-B77B-F9411AE41DC8}" dt="2025-10-30T15:12:51.755" v="10" actId="20577"/>
          <ac:spMkLst>
            <pc:docMk/>
            <pc:sldMk cId="181662958" sldId="313"/>
            <ac:spMk id="8" creationId="{608A163D-DDEA-4F46-8AC5-B1ED09607FF4}"/>
          </ac:spMkLst>
        </pc:spChg>
        <pc:inkChg chg="del">
          <ac:chgData name="Sam O'Neill" userId="cb323814-a42a-4cfe-bc74-03f595e56f6e" providerId="ADAL" clId="{EE38C5BB-5442-47D2-B77B-F9411AE41DC8}" dt="2025-10-30T12:57:01.850" v="1" actId="33639"/>
          <ac:inkMkLst>
            <pc:docMk/>
            <pc:sldMk cId="181662958" sldId="313"/>
            <ac:inkMk id="2" creationId="{FF2C46FB-2B59-AEF5-719A-C60BAB3CF3B5}"/>
          </ac:inkMkLst>
        </pc:inkChg>
      </pc:sldChg>
      <pc:sldChg chg="delSp modSp mod">
        <pc:chgData name="Sam O'Neill" userId="cb323814-a42a-4cfe-bc74-03f595e56f6e" providerId="ADAL" clId="{EE38C5BB-5442-47D2-B77B-F9411AE41DC8}" dt="2025-10-30T15:13:19.250" v="23"/>
        <pc:sldMkLst>
          <pc:docMk/>
          <pc:sldMk cId="3249660774" sldId="314"/>
        </pc:sldMkLst>
        <pc:spChg chg="mod">
          <ac:chgData name="Sam O'Neill" userId="cb323814-a42a-4cfe-bc74-03f595e56f6e" providerId="ADAL" clId="{EE38C5BB-5442-47D2-B77B-F9411AE41DC8}" dt="2025-10-30T15:13:19.250" v="23"/>
          <ac:spMkLst>
            <pc:docMk/>
            <pc:sldMk cId="3249660774" sldId="314"/>
            <ac:spMk id="5" creationId="{1E712F17-711D-489F-997B-7EE688F7E743}"/>
          </ac:spMkLst>
        </pc:spChg>
        <pc:inkChg chg="del">
          <ac:chgData name="Sam O'Neill" userId="cb323814-a42a-4cfe-bc74-03f595e56f6e" providerId="ADAL" clId="{EE38C5BB-5442-47D2-B77B-F9411AE41DC8}" dt="2025-10-30T12:57:01.850" v="1" actId="33639"/>
          <ac:inkMkLst>
            <pc:docMk/>
            <pc:sldMk cId="3249660774" sldId="314"/>
            <ac:inkMk id="2" creationId="{FB0E3860-DA8C-C12E-2BD2-EC085A72886C}"/>
          </ac:inkMkLst>
        </pc:inkChg>
      </pc:sldChg>
      <pc:sldChg chg="delSp mod">
        <pc:chgData name="Sam O'Neill" userId="cb323814-a42a-4cfe-bc74-03f595e56f6e" providerId="ADAL" clId="{EE38C5BB-5442-47D2-B77B-F9411AE41DC8}" dt="2025-10-30T12:57:01.850" v="1" actId="33639"/>
        <pc:sldMkLst>
          <pc:docMk/>
          <pc:sldMk cId="1055509658" sldId="315"/>
        </pc:sldMkLst>
        <pc:inkChg chg="del">
          <ac:chgData name="Sam O'Neill" userId="cb323814-a42a-4cfe-bc74-03f595e56f6e" providerId="ADAL" clId="{EE38C5BB-5442-47D2-B77B-F9411AE41DC8}" dt="2025-10-30T12:57:01.850" v="1" actId="33639"/>
          <ac:inkMkLst>
            <pc:docMk/>
            <pc:sldMk cId="1055509658" sldId="315"/>
            <ac:inkMk id="4" creationId="{7AB9DD9C-F9F9-BB00-3586-1B2780EF6F52}"/>
          </ac:inkMkLst>
        </pc:inkChg>
      </pc:sldChg>
      <pc:sldChg chg="delSp mod">
        <pc:chgData name="Sam O'Neill" userId="cb323814-a42a-4cfe-bc74-03f595e56f6e" providerId="ADAL" clId="{EE38C5BB-5442-47D2-B77B-F9411AE41DC8}" dt="2025-10-30T12:57:01.850" v="1" actId="33639"/>
        <pc:sldMkLst>
          <pc:docMk/>
          <pc:sldMk cId="2836535967" sldId="320"/>
        </pc:sldMkLst>
        <pc:inkChg chg="del">
          <ac:chgData name="Sam O'Neill" userId="cb323814-a42a-4cfe-bc74-03f595e56f6e" providerId="ADAL" clId="{EE38C5BB-5442-47D2-B77B-F9411AE41DC8}" dt="2025-10-30T12:57:01.850" v="1" actId="33639"/>
          <ac:inkMkLst>
            <pc:docMk/>
            <pc:sldMk cId="2836535967" sldId="320"/>
            <ac:inkMk id="3" creationId="{2930710D-7FDE-6310-A7BD-D81CEF415248}"/>
          </ac:inkMkLst>
        </pc:inkChg>
      </pc:sldChg>
      <pc:sldChg chg="delSp mod">
        <pc:chgData name="Sam O'Neill" userId="cb323814-a42a-4cfe-bc74-03f595e56f6e" providerId="ADAL" clId="{EE38C5BB-5442-47D2-B77B-F9411AE41DC8}" dt="2025-10-30T12:57:01.850" v="1" actId="33639"/>
        <pc:sldMkLst>
          <pc:docMk/>
          <pc:sldMk cId="1230406103" sldId="321"/>
        </pc:sldMkLst>
        <pc:inkChg chg="del">
          <ac:chgData name="Sam O'Neill" userId="cb323814-a42a-4cfe-bc74-03f595e56f6e" providerId="ADAL" clId="{EE38C5BB-5442-47D2-B77B-F9411AE41DC8}" dt="2025-10-30T12:57:01.850" v="1" actId="33639"/>
          <ac:inkMkLst>
            <pc:docMk/>
            <pc:sldMk cId="1230406103" sldId="321"/>
            <ac:inkMk id="2" creationId="{ABEF82FD-A74F-A495-F6AD-C1187B171C4E}"/>
          </ac:inkMkLst>
        </pc:inkChg>
      </pc:sldChg>
      <pc:sldChg chg="delSp mod">
        <pc:chgData name="Sam O'Neill" userId="cb323814-a42a-4cfe-bc74-03f595e56f6e" providerId="ADAL" clId="{EE38C5BB-5442-47D2-B77B-F9411AE41DC8}" dt="2025-10-30T12:57:01.850" v="1" actId="33639"/>
        <pc:sldMkLst>
          <pc:docMk/>
          <pc:sldMk cId="1082327340" sldId="322"/>
        </pc:sldMkLst>
        <pc:inkChg chg="del">
          <ac:chgData name="Sam O'Neill" userId="cb323814-a42a-4cfe-bc74-03f595e56f6e" providerId="ADAL" clId="{EE38C5BB-5442-47D2-B77B-F9411AE41DC8}" dt="2025-10-30T12:57:01.850" v="1" actId="33639"/>
          <ac:inkMkLst>
            <pc:docMk/>
            <pc:sldMk cId="1082327340" sldId="322"/>
            <ac:inkMk id="3" creationId="{8D462B51-3DA2-3661-69CB-DE43DFE3ECBC}"/>
          </ac:inkMkLst>
        </pc:inkChg>
      </pc:sldChg>
      <pc:sldChg chg="delSp modSp mod">
        <pc:chgData name="Sam O'Neill" userId="cb323814-a42a-4cfe-bc74-03f595e56f6e" providerId="ADAL" clId="{EE38C5BB-5442-47D2-B77B-F9411AE41DC8}" dt="2025-10-30T15:18:24.882" v="93"/>
        <pc:sldMkLst>
          <pc:docMk/>
          <pc:sldMk cId="1625045880" sldId="326"/>
        </pc:sldMkLst>
        <pc:spChg chg="mod">
          <ac:chgData name="Sam O'Neill" userId="cb323814-a42a-4cfe-bc74-03f595e56f6e" providerId="ADAL" clId="{EE38C5BB-5442-47D2-B77B-F9411AE41DC8}" dt="2025-10-30T15:18:24.882" v="93"/>
          <ac:spMkLst>
            <pc:docMk/>
            <pc:sldMk cId="1625045880" sldId="326"/>
            <ac:spMk id="6" creationId="{6A28C7C5-377C-4768-84F0-9C0F1340C812}"/>
          </ac:spMkLst>
        </pc:spChg>
        <pc:inkChg chg="del">
          <ac:chgData name="Sam O'Neill" userId="cb323814-a42a-4cfe-bc74-03f595e56f6e" providerId="ADAL" clId="{EE38C5BB-5442-47D2-B77B-F9411AE41DC8}" dt="2025-10-30T12:57:01.850" v="1" actId="33639"/>
          <ac:inkMkLst>
            <pc:docMk/>
            <pc:sldMk cId="1625045880" sldId="326"/>
            <ac:inkMk id="3" creationId="{FB7EF570-2977-0BA1-9A65-981EA29BB634}"/>
          </ac:inkMkLst>
        </pc:inkChg>
      </pc:sldChg>
      <pc:sldChg chg="delSp modSp mod">
        <pc:chgData name="Sam O'Neill" userId="cb323814-a42a-4cfe-bc74-03f595e56f6e" providerId="ADAL" clId="{EE38C5BB-5442-47D2-B77B-F9411AE41DC8}" dt="2025-10-30T15:17:28.936" v="91" actId="20577"/>
        <pc:sldMkLst>
          <pc:docMk/>
          <pc:sldMk cId="3706880328" sldId="327"/>
        </pc:sldMkLst>
        <pc:spChg chg="mod">
          <ac:chgData name="Sam O'Neill" userId="cb323814-a42a-4cfe-bc74-03f595e56f6e" providerId="ADAL" clId="{EE38C5BB-5442-47D2-B77B-F9411AE41DC8}" dt="2025-10-30T15:17:28.936" v="91" actId="20577"/>
          <ac:spMkLst>
            <pc:docMk/>
            <pc:sldMk cId="3706880328" sldId="327"/>
            <ac:spMk id="6" creationId="{6A28C7C5-377C-4768-84F0-9C0F1340C812}"/>
          </ac:spMkLst>
        </pc:spChg>
        <pc:spChg chg="mod">
          <ac:chgData name="Sam O'Neill" userId="cb323814-a42a-4cfe-bc74-03f595e56f6e" providerId="ADAL" clId="{EE38C5BB-5442-47D2-B77B-F9411AE41DC8}" dt="2025-10-30T15:13:52.332" v="38" actId="20577"/>
          <ac:spMkLst>
            <pc:docMk/>
            <pc:sldMk cId="3706880328" sldId="327"/>
            <ac:spMk id="9" creationId="{5A07AD26-4600-4F11-BBFA-E9F0C8908A24}"/>
          </ac:spMkLst>
        </pc:spChg>
        <pc:inkChg chg="del">
          <ac:chgData name="Sam O'Neill" userId="cb323814-a42a-4cfe-bc74-03f595e56f6e" providerId="ADAL" clId="{EE38C5BB-5442-47D2-B77B-F9411AE41DC8}" dt="2025-10-30T12:57:01.850" v="1" actId="33639"/>
          <ac:inkMkLst>
            <pc:docMk/>
            <pc:sldMk cId="3706880328" sldId="327"/>
            <ac:inkMk id="3" creationId="{470FA660-F02C-FE33-7DAC-3C247B1B8F86}"/>
          </ac:inkMkLst>
        </pc:inkChg>
      </pc:sldChg>
      <pc:sldChg chg="delSp mod">
        <pc:chgData name="Sam O'Neill" userId="cb323814-a42a-4cfe-bc74-03f595e56f6e" providerId="ADAL" clId="{EE38C5BB-5442-47D2-B77B-F9411AE41DC8}" dt="2025-10-30T12:57:01.850" v="1" actId="33639"/>
        <pc:sldMkLst>
          <pc:docMk/>
          <pc:sldMk cId="4174986005" sldId="329"/>
        </pc:sldMkLst>
        <pc:inkChg chg="del">
          <ac:chgData name="Sam O'Neill" userId="cb323814-a42a-4cfe-bc74-03f595e56f6e" providerId="ADAL" clId="{EE38C5BB-5442-47D2-B77B-F9411AE41DC8}" dt="2025-10-30T12:57:01.850" v="1" actId="33639"/>
          <ac:inkMkLst>
            <pc:docMk/>
            <pc:sldMk cId="4174986005" sldId="329"/>
            <ac:inkMk id="3" creationId="{4B980CD1-8C35-90FB-1840-80113D0392E3}"/>
          </ac:inkMkLst>
        </pc:inkChg>
      </pc:sldChg>
      <pc:sldChg chg="delSp mod">
        <pc:chgData name="Sam O'Neill" userId="cb323814-a42a-4cfe-bc74-03f595e56f6e" providerId="ADAL" clId="{EE38C5BB-5442-47D2-B77B-F9411AE41DC8}" dt="2025-10-30T12:57:01.850" v="1" actId="33639"/>
        <pc:sldMkLst>
          <pc:docMk/>
          <pc:sldMk cId="3753985237" sldId="338"/>
        </pc:sldMkLst>
        <pc:inkChg chg="del">
          <ac:chgData name="Sam O'Neill" userId="cb323814-a42a-4cfe-bc74-03f595e56f6e" providerId="ADAL" clId="{EE38C5BB-5442-47D2-B77B-F9411AE41DC8}" dt="2025-10-30T12:57:01.850" v="1" actId="33639"/>
          <ac:inkMkLst>
            <pc:docMk/>
            <pc:sldMk cId="3753985237" sldId="338"/>
            <ac:inkMk id="5" creationId="{FB0332BA-395E-7C47-C3E1-0F8AC6E95B19}"/>
          </ac:inkMkLst>
        </pc:inkChg>
      </pc:sldChg>
      <pc:sldChg chg="modSp">
        <pc:chgData name="Sam O'Neill" userId="cb323814-a42a-4cfe-bc74-03f595e56f6e" providerId="ADAL" clId="{EE38C5BB-5442-47D2-B77B-F9411AE41DC8}" dt="2025-10-30T15:13:24.872" v="24"/>
        <pc:sldMkLst>
          <pc:docMk/>
          <pc:sldMk cId="2736963958" sldId="340"/>
        </pc:sldMkLst>
        <pc:spChg chg="mod">
          <ac:chgData name="Sam O'Neill" userId="cb323814-a42a-4cfe-bc74-03f595e56f6e" providerId="ADAL" clId="{EE38C5BB-5442-47D2-B77B-F9411AE41DC8}" dt="2025-10-30T15:13:24.872" v="24"/>
          <ac:spMkLst>
            <pc:docMk/>
            <pc:sldMk cId="2736963958" sldId="340"/>
            <ac:spMk id="5" creationId="{1E712F17-711D-489F-997B-7EE688F7E74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CE2B88C7-E17D-454C-BBE4-15F8CA17A050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3F2E764E-E514-44DF-A9FE-1CB2FE180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512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E764E-E514-44DF-A9FE-1CB2FE180C0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1853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8023C0-102F-44C4-AC02-61E31C6A261D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89080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8023C0-102F-44C4-AC02-61E31C6A261D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002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651335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95656"/>
            <a:ext cx="128396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brilliant.org/wiki/vertex-cover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urobi.com/resource/modeling-examples-using-the-gurobi-python-api-in-jupyter-notebook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Integer Linear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Further Problems</a:t>
            </a:r>
          </a:p>
        </p:txBody>
      </p:sp>
    </p:spTree>
    <p:extLst>
      <p:ext uri="{BB962C8B-B14F-4D97-AF65-F5344CB8AC3E}">
        <p14:creationId xmlns:p14="http://schemas.microsoft.com/office/powerpoint/2010/main" val="110775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Blank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236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AB85B7-9AA6-408C-BC63-C0EAB623D4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Minimum Set Cover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34F33BF-BD07-4F3D-8A32-44A442B86B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3646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General Set Covering Problem</a:t>
            </a:r>
            <a:endParaRPr lang="en-GB" u="sng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≥1</m:t>
                          </m:r>
                        </m:e>
                      </m:nary>
                      <m:r>
                        <a:rPr lang="en-GB" sz="24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  <a:blipFill>
                <a:blip r:embed="rId2"/>
                <a:stretch>
                  <a:fillRect l="-1643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400" b="0" i="1" dirty="0">
                    <a:latin typeface="Cambria Math" panose="02040503050406030204" pitchFamily="18" charset="0"/>
                  </a:rPr>
                  <a:t> – </a:t>
                </a:r>
                <a:r>
                  <a:rPr lang="en-GB" sz="2400" dirty="0"/>
                  <a:t>All possible sets to choose from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400" dirty="0"/>
                  <a:t> – A given set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GB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2400" dirty="0"/>
                  <a:t> - Set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2400" dirty="0"/>
                  <a:t> chosen or not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2400" dirty="0"/>
                  <a:t> – number of sets |S|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400" dirty="0"/>
                  <a:t> Set of all elements contained in S</a:t>
                </a:r>
              </a:p>
            </p:txBody>
          </p:sp>
        </mc:Choice>
        <mc:Fallback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  <a:blipFill>
                <a:blip r:embed="rId3"/>
                <a:stretch>
                  <a:fillRect l="-329" t="-20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62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General Set Covering Problem</a:t>
            </a:r>
            <a:endParaRPr lang="en-GB" u="sng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≥1</m:t>
                          </m:r>
                        </m:e>
                      </m:nary>
                      <m:r>
                        <a:rPr lang="en-GB" sz="24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  <a:blipFill>
                <a:blip r:embed="rId2"/>
                <a:stretch>
                  <a:fillRect l="-1643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b="0"/>
                  <a:t>Example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i="1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1,2,5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400" b="0" i="1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4,5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={3,4}</m:t>
                      </m:r>
                    </m:oMath>
                  </m:oMathPara>
                </a14:m>
                <a:endParaRPr lang="en-GB" sz="240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240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1,2,3,4,5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sz="2400" b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/>
                  <a:t>Pick the minimum number of sets to get all elements in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GB" sz="240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b="0"/>
                  <a:t>Answer by inspection?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/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  <a:blipFill>
                <a:blip r:embed="rId3"/>
                <a:stretch>
                  <a:fillRect l="-1754" t="-2484" r="-1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9660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General Set Covering Problem</a:t>
            </a:r>
            <a:endParaRPr lang="en-GB" u="sng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≥1</m:t>
                          </m:r>
                        </m:e>
                      </m:nary>
                      <m:r>
                        <a:rPr lang="en-GB" sz="24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  <a:blipFill>
                <a:blip r:embed="rId2"/>
                <a:stretch>
                  <a:fillRect l="-1643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1,2,5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4,5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={3,4}</m:t>
                      </m:r>
                    </m:oMath>
                  </m:oMathPara>
                </a14:m>
                <a:endParaRPr lang="en-GB" sz="2400"/>
              </a:p>
              <a:p>
                <a:pPr marL="0" indent="0">
                  <a:buNone/>
                </a:pPr>
                <a:endParaRPr lang="en-GB" sz="240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240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1,2,3,4,5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sz="2400" b="0" i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sz="2400" b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/>
              </a:p>
              <a:p>
                <a:pPr marL="0" indent="0">
                  <a:buNone/>
                </a:pPr>
                <a:r>
                  <a:rPr lang="en-GB" sz="240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GB" sz="2400"/>
              </a:p>
              <a:p>
                <a:pPr marL="0" indent="0">
                  <a:buNone/>
                </a:pPr>
                <a:r>
                  <a:rPr lang="en-GB" sz="240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sz="2400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sz="240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240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b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/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  <a:blipFill>
                <a:blip r:embed="rId3"/>
                <a:stretch>
                  <a:fillRect l="-7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F7EFBD-CD84-40AC-9A01-775F33D3C9DC}"/>
                  </a:ext>
                </a:extLst>
              </p:cNvPr>
              <p:cNvSpPr txBox="1"/>
              <p:nvPr/>
            </p:nvSpPr>
            <p:spPr>
              <a:xfrm>
                <a:off x="838200" y="5312743"/>
                <a:ext cx="6094428" cy="92333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800"/>
                  <a:t>Minimum set cover 2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80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800" b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F7EFBD-CD84-40AC-9A01-775F33D3C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312743"/>
                <a:ext cx="6094428" cy="923330"/>
              </a:xfrm>
              <a:prstGeom prst="rect">
                <a:avLst/>
              </a:prstGeom>
              <a:blipFill>
                <a:blip r:embed="rId4"/>
                <a:stretch>
                  <a:fillRect l="-697" t="-2564" b="-384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3BDDA39-5003-4992-AB13-B26A31994C63}"/>
              </a:ext>
            </a:extLst>
          </p:cNvPr>
          <p:cNvSpPr txBox="1"/>
          <p:nvPr/>
        </p:nvSpPr>
        <p:spPr>
          <a:xfrm>
            <a:off x="9917810" y="3874047"/>
            <a:ext cx="1272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(Element 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6197B4-459D-473F-89EF-6C3D35251B58}"/>
              </a:ext>
            </a:extLst>
          </p:cNvPr>
          <p:cNvSpPr txBox="1"/>
          <p:nvPr/>
        </p:nvSpPr>
        <p:spPr>
          <a:xfrm>
            <a:off x="9908522" y="4119247"/>
            <a:ext cx="1272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(Element 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D80512-D955-4251-98E2-46D8AF420ED4}"/>
              </a:ext>
            </a:extLst>
          </p:cNvPr>
          <p:cNvSpPr txBox="1"/>
          <p:nvPr/>
        </p:nvSpPr>
        <p:spPr>
          <a:xfrm>
            <a:off x="9908383" y="4363376"/>
            <a:ext cx="1272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(Element 3)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B80398-7F4F-4D73-91C6-7C471BFA8B3A}"/>
              </a:ext>
            </a:extLst>
          </p:cNvPr>
          <p:cNvSpPr txBox="1"/>
          <p:nvPr/>
        </p:nvSpPr>
        <p:spPr>
          <a:xfrm>
            <a:off x="9902812" y="4608576"/>
            <a:ext cx="1272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(Element 4)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AE49A4-3AF0-4A46-9DD4-94B77F7B0CAC}"/>
              </a:ext>
            </a:extLst>
          </p:cNvPr>
          <p:cNvSpPr txBox="1"/>
          <p:nvPr/>
        </p:nvSpPr>
        <p:spPr>
          <a:xfrm>
            <a:off x="9900958" y="4837215"/>
            <a:ext cx="1272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(Element 5)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C34C90-2AE0-4CBC-AF51-2A6EB8FD1B3C}"/>
              </a:ext>
            </a:extLst>
          </p:cNvPr>
          <p:cNvCxnSpPr/>
          <p:nvPr/>
        </p:nvCxnSpPr>
        <p:spPr>
          <a:xfrm>
            <a:off x="5147035" y="2875175"/>
            <a:ext cx="7918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96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AB8CFF-9896-46E2-88DE-F88684F72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81" y="1443680"/>
            <a:ext cx="7848600" cy="47720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Costed Fire Station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28C7C5-377C-4768-84F0-9C0F1340C812}"/>
                  </a:ext>
                </a:extLst>
              </p:cNvPr>
              <p:cNvSpPr txBox="1"/>
              <p:nvPr/>
            </p:nvSpPr>
            <p:spPr>
              <a:xfrm>
                <a:off x="6180495" y="1355201"/>
                <a:ext cx="4165756" cy="5355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i="1" dirty="0">
                    <a:latin typeface="Cambria Math" panose="02040503050406030204" pitchFamily="18" charset="0"/>
                  </a:rPr>
                  <a:t> – </a:t>
                </a:r>
                <a:r>
                  <a:rPr lang="en-GB" dirty="0"/>
                  <a:t>All possible </a:t>
                </a:r>
                <a:r>
                  <a:rPr lang="en-GB" dirty="0" err="1"/>
                  <a:t>fire stations</a:t>
                </a:r>
                <a:r>
                  <a:rPr lang="en-GB" dirty="0"/>
                  <a:t> to choose from</a:t>
                </a:r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– A given </a:t>
                </a:r>
                <a:r>
                  <a:rPr lang="en-GB" dirty="0" err="1"/>
                  <a:t>fire station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 - </a:t>
                </a:r>
                <a:r>
                  <a:rPr lang="en-GB" dirty="0" err="1"/>
                  <a:t>fire station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chosen or not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 - cost of running </a:t>
                </a:r>
                <a:r>
                  <a:rPr lang="en-GB" dirty="0" err="1"/>
                  <a:t>fire station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 Set of all cities contained in S</a:t>
                </a:r>
              </a:p>
              <a:p>
                <a:endParaRPr lang="en-GB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0,1,2,3,4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endParaRPr lang="en-GB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0,2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1,2,3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1,4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={4}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GB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GB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28C7C5-377C-4768-84F0-9C0F1340C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495" y="1355201"/>
                <a:ext cx="4165756" cy="5355312"/>
              </a:xfrm>
              <a:prstGeom prst="rect">
                <a:avLst/>
              </a:prstGeom>
              <a:blipFill>
                <a:blip r:embed="rId3"/>
                <a:stretch>
                  <a:fillRect t="-796" r="-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045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Costed Fire Station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28C7C5-377C-4768-84F0-9C0F1340C812}"/>
                  </a:ext>
                </a:extLst>
              </p:cNvPr>
              <p:cNvSpPr txBox="1"/>
              <p:nvPr/>
            </p:nvSpPr>
            <p:spPr>
              <a:xfrm>
                <a:off x="1203143" y="1488639"/>
                <a:ext cx="4165756" cy="50783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i="1" dirty="0">
                    <a:latin typeface="Cambria Math" panose="02040503050406030204" pitchFamily="18" charset="0"/>
                  </a:rPr>
                  <a:t> – </a:t>
                </a:r>
                <a:r>
                  <a:rPr lang="en-GB" dirty="0"/>
                  <a:t>All possible </a:t>
                </a:r>
                <a:r>
                  <a:rPr lang="en-GB" dirty="0" err="1"/>
                  <a:t>fire stations</a:t>
                </a:r>
                <a:r>
                  <a:rPr lang="en-GB" dirty="0"/>
                  <a:t> to choose from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– A given </a:t>
                </a:r>
                <a:r>
                  <a:rPr lang="en-GB" dirty="0" err="1"/>
                  <a:t>fire station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 - </a:t>
                </a:r>
                <a:r>
                  <a:rPr lang="en-GB" dirty="0" err="1"/>
                  <a:t>fire station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chosen or not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 - cost of running </a:t>
                </a:r>
                <a:r>
                  <a:rPr lang="en-GB" dirty="0" err="1"/>
                  <a:t>fire station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 Set of all cities contained in S</a:t>
                </a:r>
              </a:p>
              <a:p>
                <a:endParaRPr lang="en-GB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={0,1,2,3,4}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endParaRPr lang="en-GB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0,2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1,2,3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1,4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={4}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28C7C5-377C-4768-84F0-9C0F1340C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143" y="1488639"/>
                <a:ext cx="4165756" cy="5078313"/>
              </a:xfrm>
              <a:prstGeom prst="rect">
                <a:avLst/>
              </a:prstGeom>
              <a:blipFill>
                <a:blip r:embed="rId3"/>
                <a:stretch>
                  <a:fillRect t="-840" r="-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07AD26-4600-4F11-BBFA-E9F0C8908A24}"/>
                  </a:ext>
                </a:extLst>
              </p:cNvPr>
              <p:cNvSpPr txBox="1"/>
              <p:nvPr/>
            </p:nvSpPr>
            <p:spPr>
              <a:xfrm>
                <a:off x="5700420" y="1385740"/>
                <a:ext cx="6094428" cy="2267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18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800" dirty="0"/>
              </a:p>
              <a:p>
                <a:pPr marL="0" indent="0">
                  <a:buNone/>
                </a:pPr>
                <a:r>
                  <a:rPr lang="en-GB" sz="18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≥1</m:t>
                          </m:r>
                        </m:e>
                      </m:nary>
                      <m:r>
                        <a:rPr lang="en-GB" sz="18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GB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1800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1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07AD26-4600-4F11-BBFA-E9F0C8908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420" y="1385740"/>
                <a:ext cx="6094428" cy="2267993"/>
              </a:xfrm>
              <a:prstGeom prst="rect">
                <a:avLst/>
              </a:prstGeom>
              <a:blipFill>
                <a:blip r:embed="rId4"/>
                <a:stretch>
                  <a:fillRect l="-800" t="-1344" b="-1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AB47DD-0860-4815-9E7D-A829345EBC04}"/>
                  </a:ext>
                </a:extLst>
              </p:cNvPr>
              <p:cNvSpPr txBox="1"/>
              <p:nvPr/>
            </p:nvSpPr>
            <p:spPr>
              <a:xfrm>
                <a:off x="5700420" y="4224882"/>
                <a:ext cx="6834432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180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GB" sz="1800"/>
              </a:p>
              <a:p>
                <a:pPr marL="0" indent="0">
                  <a:buNone/>
                </a:pPr>
                <a:r>
                  <a:rPr lang="en-GB" sz="1800"/>
                  <a:t>subject to:</a:t>
                </a:r>
              </a:p>
              <a:p>
                <a:pPr algn="ctr"/>
                <a:r>
                  <a:rPr lang="en-GB" sz="1800" b="0"/>
                  <a:t>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br>
                  <a:rPr lang="en-GB" sz="1800" b="0" i="1">
                    <a:latin typeface="Cambria Math" panose="02040503050406030204" pitchFamily="18" charset="0"/>
                  </a:rPr>
                </a:br>
                <a:r>
                  <a:rPr lang="en-GB" sz="1800" b="0" i="1">
                    <a:latin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br>
                  <a:rPr lang="en-GB" sz="1800" b="0" i="1">
                    <a:latin typeface="Cambria Math" panose="02040503050406030204" pitchFamily="18" charset="0"/>
                  </a:rPr>
                </a:br>
                <a:r>
                  <a:rPr lang="en-GB" sz="1800" b="0" i="1">
                    <a:latin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br>
                  <a:rPr lang="en-GB" sz="1800" b="0" i="1">
                    <a:latin typeface="Cambria Math" panose="02040503050406030204" pitchFamily="18" charset="0"/>
                  </a:rPr>
                </a:br>
                <a:r>
                  <a:rPr lang="en-GB" sz="1800" b="0" i="1">
                    <a:latin typeface="Cambria Math" panose="02040503050406030204" pitchFamily="18" charset="0"/>
                  </a:rPr>
                  <a:t>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br>
                  <a:rPr lang="en-GB" sz="1800" b="0" i="1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m:rPr>
                          <m:aln/>
                        </m:rPr>
                        <a:rPr lang="en-GB" sz="18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800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180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AB47DD-0860-4815-9E7D-A829345EB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420" y="4224882"/>
                <a:ext cx="6834432" cy="2585323"/>
              </a:xfrm>
              <a:prstGeom prst="rect">
                <a:avLst/>
              </a:prstGeom>
              <a:blipFill>
                <a:blip r:embed="rId5"/>
                <a:stretch>
                  <a:fillRect l="-714" t="-1179" b="-1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D5CA100-E295-4BC8-BB78-F6F52EA94AFF}"/>
              </a:ext>
            </a:extLst>
          </p:cNvPr>
          <p:cNvSpPr txBox="1"/>
          <p:nvPr/>
        </p:nvSpPr>
        <p:spPr>
          <a:xfrm>
            <a:off x="10135738" y="5028566"/>
            <a:ext cx="1654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(City 0 covered)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FFA63D-A2E7-4371-8E35-F2BCE539730D}"/>
              </a:ext>
            </a:extLst>
          </p:cNvPr>
          <p:cNvSpPr txBox="1"/>
          <p:nvPr/>
        </p:nvSpPr>
        <p:spPr>
          <a:xfrm>
            <a:off x="10135737" y="5297021"/>
            <a:ext cx="1654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(City 1 covered)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C89945-228A-4505-A7F4-74E740EE6267}"/>
              </a:ext>
            </a:extLst>
          </p:cNvPr>
          <p:cNvSpPr txBox="1"/>
          <p:nvPr/>
        </p:nvSpPr>
        <p:spPr>
          <a:xfrm>
            <a:off x="10135737" y="5584330"/>
            <a:ext cx="1654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(City 2 covered)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97BE2C-4088-4486-A5B0-96F3C5E1209E}"/>
              </a:ext>
            </a:extLst>
          </p:cNvPr>
          <p:cNvSpPr txBox="1"/>
          <p:nvPr/>
        </p:nvSpPr>
        <p:spPr>
          <a:xfrm>
            <a:off x="10135737" y="5862212"/>
            <a:ext cx="1654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(City 3 covered)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9319C5E-FDA8-4E4F-85BF-993DB64AC34F}"/>
              </a:ext>
            </a:extLst>
          </p:cNvPr>
          <p:cNvCxnSpPr/>
          <p:nvPr/>
        </p:nvCxnSpPr>
        <p:spPr>
          <a:xfrm>
            <a:off x="8700940" y="3789575"/>
            <a:ext cx="0" cy="3393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A28798D-E4FD-4EF8-AF78-5AC7F69EEFAC}"/>
              </a:ext>
            </a:extLst>
          </p:cNvPr>
          <p:cNvSpPr txBox="1"/>
          <p:nvPr/>
        </p:nvSpPr>
        <p:spPr>
          <a:xfrm>
            <a:off x="10135736" y="6123543"/>
            <a:ext cx="1654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(City 4 covered)</a:t>
            </a:r>
          </a:p>
        </p:txBody>
      </p:sp>
    </p:spTree>
    <p:extLst>
      <p:ext uri="{BB962C8B-B14F-4D97-AF65-F5344CB8AC3E}">
        <p14:creationId xmlns:p14="http://schemas.microsoft.com/office/powerpoint/2010/main" val="3706880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Costed Fire Station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28C7C5-377C-4768-84F0-9C0F1340C812}"/>
                  </a:ext>
                </a:extLst>
              </p:cNvPr>
              <p:cNvSpPr txBox="1"/>
              <p:nvPr/>
            </p:nvSpPr>
            <p:spPr>
              <a:xfrm>
                <a:off x="1203143" y="1488639"/>
                <a:ext cx="4165756" cy="50783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i="1">
                    <a:latin typeface="Cambria Math" panose="02040503050406030204" pitchFamily="18" charset="0"/>
                  </a:rPr>
                  <a:t> – </a:t>
                </a:r>
                <a:r>
                  <a:rPr lang="en-GB"/>
                  <a:t>All possible </a:t>
                </a:r>
                <a:r>
                  <a:rPr lang="en-GB" err="1"/>
                  <a:t>fire stations</a:t>
                </a:r>
                <a:r>
                  <a:rPr lang="en-GB"/>
                  <a:t> to choose from</a:t>
                </a:r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/>
                  <a:t> – A given </a:t>
                </a:r>
                <a:r>
                  <a:rPr lang="en-GB" err="1"/>
                  <a:t>fire station</a:t>
                </a:r>
                <a:r>
                  <a:rPr lang="en-GB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GB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/>
                  <a:t> - </a:t>
                </a:r>
                <a:r>
                  <a:rPr lang="en-GB" err="1"/>
                  <a:t>fire station</a:t>
                </a:r>
                <a:r>
                  <a:rPr lang="en-GB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/>
                  <a:t> chosen or not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/>
                  <a:t> - cost of running </a:t>
                </a:r>
                <a:r>
                  <a:rPr lang="en-GB" err="1"/>
                  <a:t>fire station</a:t>
                </a:r>
                <a:r>
                  <a:rPr lang="en-GB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GB"/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/>
                  <a:t> Set of all cities contained in S</a:t>
                </a:r>
              </a:p>
              <a:p>
                <a:endParaRPr lang="en-GB" i="1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i="1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={0,1,2,3,4}</m:t>
                      </m:r>
                    </m:oMath>
                  </m:oMathPara>
                </a14:m>
                <a:endParaRPr lang="en-GB" i="1">
                  <a:latin typeface="Cambria Math" panose="02040503050406030204" pitchFamily="18" charset="0"/>
                </a:endParaRPr>
              </a:p>
              <a:p>
                <a:endParaRPr lang="en-GB" i="1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0,2</m:t>
                          </m:r>
                        </m:e>
                      </m:d>
                    </m:oMath>
                  </m:oMathPara>
                </a14:m>
                <a:endParaRPr lang="en-GB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1,2,3</m:t>
                          </m:r>
                        </m:e>
                      </m:d>
                    </m:oMath>
                  </m:oMathPara>
                </a14:m>
                <a:endParaRPr lang="en-GB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1,4</m:t>
                          </m:r>
                        </m:e>
                      </m:d>
                    </m:oMath>
                  </m:oMathPara>
                </a14:m>
                <a:endParaRPr lang="en-GB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={4}</m:t>
                      </m:r>
                    </m:oMath>
                  </m:oMathPara>
                </a14:m>
                <a:endParaRPr lang="en-GB"/>
              </a:p>
              <a:p>
                <a:endParaRPr lang="en-GB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GB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GB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28C7C5-377C-4768-84F0-9C0F1340C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143" y="1488639"/>
                <a:ext cx="4165756" cy="5078313"/>
              </a:xfrm>
              <a:prstGeom prst="rect">
                <a:avLst/>
              </a:prstGeom>
              <a:blipFill>
                <a:blip r:embed="rId2"/>
                <a:stretch>
                  <a:fillRect t="-840" r="-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3D0B531-E56F-4F1E-917C-789C8C3D0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765" y="1488639"/>
            <a:ext cx="520065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5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Edge Covering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/>
              <a:t>Find a set of edges that cover the vertices…</a:t>
            </a:r>
          </a:p>
          <a:p>
            <a:pPr marL="0" indent="0">
              <a:buNone/>
            </a:pPr>
            <a:r>
              <a:rPr lang="en-GB"/>
              <a:t>e.g.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12E45F2-4AC9-4F33-965E-4AE3E6D18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19363"/>
            <a:ext cx="121920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5744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Minimum Edge Covering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/>
              <a:t>Find the minimum number of edges that cover the vertices…</a:t>
            </a:r>
          </a:p>
          <a:p>
            <a:pPr marL="0" indent="0">
              <a:buNone/>
            </a:pPr>
            <a:r>
              <a:rPr lang="en-GB"/>
              <a:t>e.g.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81273C7-01AE-4FF0-B5C8-501C64858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49230"/>
            <a:ext cx="121920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8798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0B4EFC-5B2E-46AC-92BE-FA8317FB5F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Minimum Vertex Cover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A3C1D9E-087F-4F10-82A7-128B5EF1E3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0406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Vertex Cover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/>
              <a:t>A set of vertices that includes at least one endpoint of every edge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7CF60DD-B3A2-4607-A6BF-0BA8A4AF7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0" y="1928813"/>
            <a:ext cx="2095500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5509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Minimum Vertex Cover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A34191-954C-4F73-8B52-A5EA854B20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737" y="1550266"/>
            <a:ext cx="10296525" cy="27241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99784B-23BA-449D-8E8B-1DAF95370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49" y="4274416"/>
            <a:ext cx="5010150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535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Example – Installing Security Cameras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C54DF7-AA9D-4033-8D28-DA8EE3F18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You wish to install security cameras in a school to cover every corridor.</a:t>
            </a:r>
          </a:p>
          <a:p>
            <a:r>
              <a:rPr lang="en-GB"/>
              <a:t>Obviously you would like to install as few as needed</a:t>
            </a:r>
          </a:p>
          <a:p>
            <a:endParaRPr lang="en-GB"/>
          </a:p>
          <a:p>
            <a:r>
              <a:rPr lang="en-GB"/>
              <a:t>The following example is adapted from </a:t>
            </a:r>
            <a:r>
              <a:rPr lang="en-GB">
                <a:hlinkClick r:id="rId2"/>
              </a:rPr>
              <a:t>https://brilliant.org/wiki/vertex-cover/</a:t>
            </a:r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949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Example – Installing Security Cameras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EDD6D35-A891-497D-ADAA-087B012924A0}"/>
              </a:ext>
            </a:extLst>
          </p:cNvPr>
          <p:cNvSpPr/>
          <p:nvPr/>
        </p:nvSpPr>
        <p:spPr>
          <a:xfrm>
            <a:off x="364501" y="2055043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8FDEAE6-6031-4691-97AA-E95D91396465}"/>
              </a:ext>
            </a:extLst>
          </p:cNvPr>
          <p:cNvSpPr/>
          <p:nvPr/>
        </p:nvSpPr>
        <p:spPr>
          <a:xfrm>
            <a:off x="1572703" y="1545996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A7F20C-C8AC-48C2-A839-39307431BF45}"/>
              </a:ext>
            </a:extLst>
          </p:cNvPr>
          <p:cNvSpPr/>
          <p:nvPr/>
        </p:nvSpPr>
        <p:spPr>
          <a:xfrm>
            <a:off x="2243578" y="2479249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FA4EC75-A020-4D57-B8A2-5AB3F128157E}"/>
              </a:ext>
            </a:extLst>
          </p:cNvPr>
          <p:cNvSpPr/>
          <p:nvPr/>
        </p:nvSpPr>
        <p:spPr>
          <a:xfrm>
            <a:off x="4403887" y="1216057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B3AEE98-675D-49AF-8568-BEE825D8904D}"/>
              </a:ext>
            </a:extLst>
          </p:cNvPr>
          <p:cNvSpPr/>
          <p:nvPr/>
        </p:nvSpPr>
        <p:spPr>
          <a:xfrm>
            <a:off x="5803769" y="2479248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6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D237859-E230-44C9-B19F-9B8B25FB9223}"/>
              </a:ext>
            </a:extLst>
          </p:cNvPr>
          <p:cNvSpPr/>
          <p:nvPr/>
        </p:nvSpPr>
        <p:spPr>
          <a:xfrm>
            <a:off x="4403886" y="2995367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AE35ACB-F103-4D07-AED7-CC107A70D12B}"/>
              </a:ext>
            </a:extLst>
          </p:cNvPr>
          <p:cNvSpPr/>
          <p:nvPr/>
        </p:nvSpPr>
        <p:spPr>
          <a:xfrm>
            <a:off x="5657653" y="3678023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313B35-39E4-41E9-BF03-FA4B806EF7DE}"/>
              </a:ext>
            </a:extLst>
          </p:cNvPr>
          <p:cNvSpPr/>
          <p:nvPr/>
        </p:nvSpPr>
        <p:spPr>
          <a:xfrm>
            <a:off x="3123411" y="3970254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8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3F7B298-DDDE-44ED-BA46-65D95A842DBB}"/>
              </a:ext>
            </a:extLst>
          </p:cNvPr>
          <p:cNvCxnSpPr>
            <a:cxnSpLocks/>
            <a:stCxn id="5" idx="7"/>
            <a:endCxn id="8" idx="2"/>
          </p:cNvCxnSpPr>
          <p:nvPr/>
        </p:nvCxnSpPr>
        <p:spPr>
          <a:xfrm flipV="1">
            <a:off x="613936" y="1692112"/>
            <a:ext cx="958767" cy="4057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A54EF5-560A-4C82-A795-BBB90DEE2B16}"/>
              </a:ext>
            </a:extLst>
          </p:cNvPr>
          <p:cNvCxnSpPr>
            <a:cxnSpLocks/>
            <a:stCxn id="8" idx="6"/>
            <a:endCxn id="16" idx="2"/>
          </p:cNvCxnSpPr>
          <p:nvPr/>
        </p:nvCxnSpPr>
        <p:spPr>
          <a:xfrm>
            <a:off x="1864934" y="1692112"/>
            <a:ext cx="2538952" cy="14493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15B5EA7-83FE-4809-A592-3D2D0FF6C266}"/>
              </a:ext>
            </a:extLst>
          </p:cNvPr>
          <p:cNvCxnSpPr>
            <a:cxnSpLocks/>
            <a:stCxn id="8" idx="5"/>
            <a:endCxn id="10" idx="1"/>
          </p:cNvCxnSpPr>
          <p:nvPr/>
        </p:nvCxnSpPr>
        <p:spPr>
          <a:xfrm>
            <a:off x="1822138" y="1795431"/>
            <a:ext cx="464236" cy="7266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173067B-1777-4183-95F9-A12F5ED9CF32}"/>
              </a:ext>
            </a:extLst>
          </p:cNvPr>
          <p:cNvCxnSpPr>
            <a:cxnSpLocks/>
            <a:stCxn id="10" idx="7"/>
            <a:endCxn id="12" idx="3"/>
          </p:cNvCxnSpPr>
          <p:nvPr/>
        </p:nvCxnSpPr>
        <p:spPr>
          <a:xfrm flipV="1">
            <a:off x="2493013" y="1465492"/>
            <a:ext cx="1953670" cy="105655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EB025D5-215F-44EB-941A-BB43291711DC}"/>
              </a:ext>
            </a:extLst>
          </p:cNvPr>
          <p:cNvCxnSpPr>
            <a:stCxn id="16" idx="0"/>
            <a:endCxn id="12" idx="4"/>
          </p:cNvCxnSpPr>
          <p:nvPr/>
        </p:nvCxnSpPr>
        <p:spPr>
          <a:xfrm flipV="1">
            <a:off x="4550002" y="1508288"/>
            <a:ext cx="1" cy="14870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C64D2CA-3D52-44B5-9AE2-3FB2552CC3F3}"/>
              </a:ext>
            </a:extLst>
          </p:cNvPr>
          <p:cNvCxnSpPr>
            <a:stCxn id="16" idx="7"/>
            <a:endCxn id="14" idx="2"/>
          </p:cNvCxnSpPr>
          <p:nvPr/>
        </p:nvCxnSpPr>
        <p:spPr>
          <a:xfrm flipV="1">
            <a:off x="4653321" y="2625364"/>
            <a:ext cx="1150448" cy="4127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DB3F3C3-3FC5-4E80-A938-6BA41BC682F9}"/>
              </a:ext>
            </a:extLst>
          </p:cNvPr>
          <p:cNvCxnSpPr>
            <a:stCxn id="14" idx="4"/>
            <a:endCxn id="18" idx="0"/>
          </p:cNvCxnSpPr>
          <p:nvPr/>
        </p:nvCxnSpPr>
        <p:spPr>
          <a:xfrm flipH="1">
            <a:off x="5803769" y="2771479"/>
            <a:ext cx="146116" cy="9065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F240A41-A840-4A65-961F-5E7652557F73}"/>
              </a:ext>
            </a:extLst>
          </p:cNvPr>
          <p:cNvCxnSpPr>
            <a:stCxn id="18" idx="2"/>
            <a:endCxn id="20" idx="6"/>
          </p:cNvCxnSpPr>
          <p:nvPr/>
        </p:nvCxnSpPr>
        <p:spPr>
          <a:xfrm flipH="1">
            <a:off x="3415642" y="3824139"/>
            <a:ext cx="2242011" cy="2922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A76D68E-0F11-4738-B7F8-CE9D7D686759}"/>
              </a:ext>
            </a:extLst>
          </p:cNvPr>
          <p:cNvCxnSpPr>
            <a:stCxn id="16" idx="3"/>
            <a:endCxn id="20" idx="7"/>
          </p:cNvCxnSpPr>
          <p:nvPr/>
        </p:nvCxnSpPr>
        <p:spPr>
          <a:xfrm flipH="1">
            <a:off x="3372846" y="3244802"/>
            <a:ext cx="1073836" cy="7682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794DE45-B226-4516-A141-C0385F857621}"/>
              </a:ext>
            </a:extLst>
          </p:cNvPr>
          <p:cNvCxnSpPr>
            <a:stCxn id="20" idx="1"/>
            <a:endCxn id="5" idx="5"/>
          </p:cNvCxnSpPr>
          <p:nvPr/>
        </p:nvCxnSpPr>
        <p:spPr>
          <a:xfrm flipH="1" flipV="1">
            <a:off x="613936" y="2304478"/>
            <a:ext cx="2552271" cy="17085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AD55EE5A-F125-4654-95F2-20327BC04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36" y="4433521"/>
            <a:ext cx="5010150" cy="22669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40285E-646E-4CF4-AFE1-807599AA105C}"/>
                  </a:ext>
                </a:extLst>
              </p:cNvPr>
              <p:cNvSpPr txBox="1"/>
              <p:nvPr/>
            </p:nvSpPr>
            <p:spPr>
              <a:xfrm>
                <a:off x="6446986" y="1648945"/>
                <a:ext cx="6094428" cy="49196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180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nary>
                      <m:r>
                        <a:rPr lang="en-GB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GB" sz="1800"/>
              </a:p>
              <a:p>
                <a:pPr marL="0" indent="0">
                  <a:buNone/>
                </a:pPr>
                <a:endParaRPr lang="en-GB" sz="1800"/>
              </a:p>
              <a:p>
                <a:pPr marL="0" indent="0">
                  <a:buNone/>
                </a:pPr>
                <a:r>
                  <a:rPr lang="en-GB" sz="1800"/>
                  <a:t>subject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sz="18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sz="18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br>
                  <a:rPr lang="en-GB" sz="1800" b="0" i="1">
                    <a:latin typeface="Cambria Math" panose="02040503050406030204" pitchFamily="18" charset="0"/>
                  </a:rPr>
                </a:br>
                <a:endParaRPr lang="en-GB" sz="1800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180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40285E-646E-4CF4-AFE1-807599AA1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986" y="1648945"/>
                <a:ext cx="6094428" cy="4919616"/>
              </a:xfrm>
              <a:prstGeom prst="rect">
                <a:avLst/>
              </a:prstGeom>
              <a:blipFill>
                <a:blip r:embed="rId3"/>
                <a:stretch>
                  <a:fillRect l="-901" t="-619" b="-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4986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Example – Installing Security Cameras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EDD6D35-A891-497D-ADAA-087B012924A0}"/>
              </a:ext>
            </a:extLst>
          </p:cNvPr>
          <p:cNvSpPr/>
          <p:nvPr/>
        </p:nvSpPr>
        <p:spPr>
          <a:xfrm>
            <a:off x="364501" y="2055043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8FDEAE6-6031-4691-97AA-E95D91396465}"/>
              </a:ext>
            </a:extLst>
          </p:cNvPr>
          <p:cNvSpPr/>
          <p:nvPr/>
        </p:nvSpPr>
        <p:spPr>
          <a:xfrm>
            <a:off x="1572703" y="1545996"/>
            <a:ext cx="292231" cy="292231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accent4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A7F20C-C8AC-48C2-A839-39307431BF45}"/>
              </a:ext>
            </a:extLst>
          </p:cNvPr>
          <p:cNvSpPr/>
          <p:nvPr/>
        </p:nvSpPr>
        <p:spPr>
          <a:xfrm>
            <a:off x="2243578" y="2479249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FA4EC75-A020-4D57-B8A2-5AB3F128157E}"/>
              </a:ext>
            </a:extLst>
          </p:cNvPr>
          <p:cNvSpPr/>
          <p:nvPr/>
        </p:nvSpPr>
        <p:spPr>
          <a:xfrm>
            <a:off x="4403887" y="1216057"/>
            <a:ext cx="292231" cy="292231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accent4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B3AEE98-675D-49AF-8568-BEE825D8904D}"/>
              </a:ext>
            </a:extLst>
          </p:cNvPr>
          <p:cNvSpPr/>
          <p:nvPr/>
        </p:nvSpPr>
        <p:spPr>
          <a:xfrm>
            <a:off x="5803769" y="2479248"/>
            <a:ext cx="292231" cy="292231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accent4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6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D237859-E230-44C9-B19F-9B8B25FB9223}"/>
              </a:ext>
            </a:extLst>
          </p:cNvPr>
          <p:cNvSpPr/>
          <p:nvPr/>
        </p:nvSpPr>
        <p:spPr>
          <a:xfrm>
            <a:off x="4403886" y="2995367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AE35ACB-F103-4D07-AED7-CC107A70D12B}"/>
              </a:ext>
            </a:extLst>
          </p:cNvPr>
          <p:cNvSpPr/>
          <p:nvPr/>
        </p:nvSpPr>
        <p:spPr>
          <a:xfrm>
            <a:off x="5657653" y="3678023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313B35-39E4-41E9-BF03-FA4B806EF7DE}"/>
              </a:ext>
            </a:extLst>
          </p:cNvPr>
          <p:cNvSpPr/>
          <p:nvPr/>
        </p:nvSpPr>
        <p:spPr>
          <a:xfrm>
            <a:off x="3123411" y="3970254"/>
            <a:ext cx="292231" cy="292231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accent4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8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3F7B298-DDDE-44ED-BA46-65D95A842DBB}"/>
              </a:ext>
            </a:extLst>
          </p:cNvPr>
          <p:cNvCxnSpPr>
            <a:cxnSpLocks/>
            <a:stCxn id="5" idx="7"/>
            <a:endCxn id="8" idx="2"/>
          </p:cNvCxnSpPr>
          <p:nvPr/>
        </p:nvCxnSpPr>
        <p:spPr>
          <a:xfrm flipV="1">
            <a:off x="613936" y="1692112"/>
            <a:ext cx="958767" cy="4057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A54EF5-560A-4C82-A795-BBB90DEE2B16}"/>
              </a:ext>
            </a:extLst>
          </p:cNvPr>
          <p:cNvCxnSpPr>
            <a:cxnSpLocks/>
            <a:stCxn id="8" idx="6"/>
            <a:endCxn id="16" idx="2"/>
          </p:cNvCxnSpPr>
          <p:nvPr/>
        </p:nvCxnSpPr>
        <p:spPr>
          <a:xfrm>
            <a:off x="1864934" y="1692112"/>
            <a:ext cx="2538952" cy="14493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15B5EA7-83FE-4809-A592-3D2D0FF6C266}"/>
              </a:ext>
            </a:extLst>
          </p:cNvPr>
          <p:cNvCxnSpPr>
            <a:cxnSpLocks/>
            <a:stCxn id="8" idx="5"/>
            <a:endCxn id="10" idx="1"/>
          </p:cNvCxnSpPr>
          <p:nvPr/>
        </p:nvCxnSpPr>
        <p:spPr>
          <a:xfrm>
            <a:off x="1822138" y="1795431"/>
            <a:ext cx="464236" cy="7266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173067B-1777-4183-95F9-A12F5ED9CF32}"/>
              </a:ext>
            </a:extLst>
          </p:cNvPr>
          <p:cNvCxnSpPr>
            <a:cxnSpLocks/>
            <a:stCxn id="10" idx="7"/>
            <a:endCxn id="12" idx="3"/>
          </p:cNvCxnSpPr>
          <p:nvPr/>
        </p:nvCxnSpPr>
        <p:spPr>
          <a:xfrm flipV="1">
            <a:off x="2493013" y="1465492"/>
            <a:ext cx="1953670" cy="105655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EB025D5-215F-44EB-941A-BB43291711DC}"/>
              </a:ext>
            </a:extLst>
          </p:cNvPr>
          <p:cNvCxnSpPr>
            <a:stCxn id="16" idx="0"/>
            <a:endCxn id="12" idx="4"/>
          </p:cNvCxnSpPr>
          <p:nvPr/>
        </p:nvCxnSpPr>
        <p:spPr>
          <a:xfrm flipV="1">
            <a:off x="4550002" y="1508288"/>
            <a:ext cx="1" cy="14870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C64D2CA-3D52-44B5-9AE2-3FB2552CC3F3}"/>
              </a:ext>
            </a:extLst>
          </p:cNvPr>
          <p:cNvCxnSpPr>
            <a:stCxn id="16" idx="7"/>
            <a:endCxn id="14" idx="2"/>
          </p:cNvCxnSpPr>
          <p:nvPr/>
        </p:nvCxnSpPr>
        <p:spPr>
          <a:xfrm flipV="1">
            <a:off x="4653321" y="2625364"/>
            <a:ext cx="1150448" cy="4127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DB3F3C3-3FC5-4E80-A938-6BA41BC682F9}"/>
              </a:ext>
            </a:extLst>
          </p:cNvPr>
          <p:cNvCxnSpPr>
            <a:stCxn id="14" idx="4"/>
            <a:endCxn id="18" idx="0"/>
          </p:cNvCxnSpPr>
          <p:nvPr/>
        </p:nvCxnSpPr>
        <p:spPr>
          <a:xfrm flipH="1">
            <a:off x="5803769" y="2771479"/>
            <a:ext cx="146116" cy="9065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F240A41-A840-4A65-961F-5E7652557F73}"/>
              </a:ext>
            </a:extLst>
          </p:cNvPr>
          <p:cNvCxnSpPr>
            <a:stCxn id="18" idx="2"/>
            <a:endCxn id="20" idx="6"/>
          </p:cNvCxnSpPr>
          <p:nvPr/>
        </p:nvCxnSpPr>
        <p:spPr>
          <a:xfrm flipH="1">
            <a:off x="3415642" y="3824139"/>
            <a:ext cx="2242011" cy="2922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A76D68E-0F11-4738-B7F8-CE9D7D686759}"/>
              </a:ext>
            </a:extLst>
          </p:cNvPr>
          <p:cNvCxnSpPr>
            <a:stCxn id="16" idx="3"/>
            <a:endCxn id="20" idx="7"/>
          </p:cNvCxnSpPr>
          <p:nvPr/>
        </p:nvCxnSpPr>
        <p:spPr>
          <a:xfrm flipH="1">
            <a:off x="3372846" y="3244802"/>
            <a:ext cx="1073836" cy="7682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794DE45-B226-4516-A141-C0385F857621}"/>
              </a:ext>
            </a:extLst>
          </p:cNvPr>
          <p:cNvCxnSpPr>
            <a:stCxn id="20" idx="1"/>
            <a:endCxn id="5" idx="5"/>
          </p:cNvCxnSpPr>
          <p:nvPr/>
        </p:nvCxnSpPr>
        <p:spPr>
          <a:xfrm flipH="1" flipV="1">
            <a:off x="613936" y="2304478"/>
            <a:ext cx="2552271" cy="17085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40285E-646E-4CF4-AFE1-807599AA105C}"/>
                  </a:ext>
                </a:extLst>
              </p:cNvPr>
              <p:cNvSpPr txBox="1"/>
              <p:nvPr/>
            </p:nvSpPr>
            <p:spPr>
              <a:xfrm>
                <a:off x="6446986" y="1648945"/>
                <a:ext cx="6094428" cy="49196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180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nary>
                      <m:r>
                        <a:rPr lang="en-GB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GB" sz="1800"/>
              </a:p>
              <a:p>
                <a:pPr marL="0" indent="0">
                  <a:buNone/>
                </a:pPr>
                <a:endParaRPr lang="en-GB" sz="1800"/>
              </a:p>
              <a:p>
                <a:pPr marL="0" indent="0">
                  <a:buNone/>
                </a:pPr>
                <a:r>
                  <a:rPr lang="en-GB" sz="1800"/>
                  <a:t>subject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sz="18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sz="18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br>
                  <a:rPr lang="en-GB" sz="1800" b="0" i="1">
                    <a:latin typeface="Cambria Math" panose="02040503050406030204" pitchFamily="18" charset="0"/>
                  </a:rPr>
                </a:br>
                <a:endParaRPr lang="en-GB" sz="1800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180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40285E-646E-4CF4-AFE1-807599AA1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986" y="1648945"/>
                <a:ext cx="6094428" cy="4919616"/>
              </a:xfrm>
              <a:prstGeom prst="rect">
                <a:avLst/>
              </a:prstGeom>
              <a:blipFill>
                <a:blip r:embed="rId2"/>
                <a:stretch>
                  <a:fillRect l="-901" t="-619" b="-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C35BF59-8655-4CB2-8CD3-139134099487}"/>
              </a:ext>
            </a:extLst>
          </p:cNvPr>
          <p:cNvSpPr txBox="1"/>
          <p:nvPr/>
        </p:nvSpPr>
        <p:spPr>
          <a:xfrm>
            <a:off x="1008668" y="5269584"/>
            <a:ext cx="179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MATLAB Solution</a:t>
            </a:r>
          </a:p>
        </p:txBody>
      </p:sp>
    </p:spTree>
    <p:extLst>
      <p:ext uri="{BB962C8B-B14F-4D97-AF65-F5344CB8AC3E}">
        <p14:creationId xmlns:p14="http://schemas.microsoft.com/office/powerpoint/2010/main" val="2706896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Example – Installing Security Cameras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EDD6D35-A891-497D-ADAA-087B012924A0}"/>
              </a:ext>
            </a:extLst>
          </p:cNvPr>
          <p:cNvSpPr/>
          <p:nvPr/>
        </p:nvSpPr>
        <p:spPr>
          <a:xfrm>
            <a:off x="364501" y="2055043"/>
            <a:ext cx="292231" cy="292231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8FDEAE6-6031-4691-97AA-E95D91396465}"/>
              </a:ext>
            </a:extLst>
          </p:cNvPr>
          <p:cNvSpPr/>
          <p:nvPr/>
        </p:nvSpPr>
        <p:spPr>
          <a:xfrm>
            <a:off x="1572703" y="1545996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A7F20C-C8AC-48C2-A839-39307431BF45}"/>
              </a:ext>
            </a:extLst>
          </p:cNvPr>
          <p:cNvSpPr/>
          <p:nvPr/>
        </p:nvSpPr>
        <p:spPr>
          <a:xfrm>
            <a:off x="2243578" y="2479249"/>
            <a:ext cx="292231" cy="292231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FA4EC75-A020-4D57-B8A2-5AB3F128157E}"/>
              </a:ext>
            </a:extLst>
          </p:cNvPr>
          <p:cNvSpPr/>
          <p:nvPr/>
        </p:nvSpPr>
        <p:spPr>
          <a:xfrm>
            <a:off x="4403887" y="1216057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B3AEE98-675D-49AF-8568-BEE825D8904D}"/>
              </a:ext>
            </a:extLst>
          </p:cNvPr>
          <p:cNvSpPr/>
          <p:nvPr/>
        </p:nvSpPr>
        <p:spPr>
          <a:xfrm>
            <a:off x="5803769" y="2479248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6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D237859-E230-44C9-B19F-9B8B25FB9223}"/>
              </a:ext>
            </a:extLst>
          </p:cNvPr>
          <p:cNvSpPr/>
          <p:nvPr/>
        </p:nvSpPr>
        <p:spPr>
          <a:xfrm>
            <a:off x="4403886" y="2995367"/>
            <a:ext cx="292231" cy="292231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AE35ACB-F103-4D07-AED7-CC107A70D12B}"/>
              </a:ext>
            </a:extLst>
          </p:cNvPr>
          <p:cNvSpPr/>
          <p:nvPr/>
        </p:nvSpPr>
        <p:spPr>
          <a:xfrm>
            <a:off x="5657653" y="3678023"/>
            <a:ext cx="292231" cy="292231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313B35-39E4-41E9-BF03-FA4B806EF7DE}"/>
              </a:ext>
            </a:extLst>
          </p:cNvPr>
          <p:cNvSpPr/>
          <p:nvPr/>
        </p:nvSpPr>
        <p:spPr>
          <a:xfrm>
            <a:off x="3123411" y="3970254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8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3F7B298-DDDE-44ED-BA46-65D95A842DBB}"/>
              </a:ext>
            </a:extLst>
          </p:cNvPr>
          <p:cNvCxnSpPr>
            <a:cxnSpLocks/>
            <a:stCxn id="5" idx="7"/>
            <a:endCxn id="8" idx="2"/>
          </p:cNvCxnSpPr>
          <p:nvPr/>
        </p:nvCxnSpPr>
        <p:spPr>
          <a:xfrm flipV="1">
            <a:off x="613936" y="1692112"/>
            <a:ext cx="958767" cy="4057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A54EF5-560A-4C82-A795-BBB90DEE2B16}"/>
              </a:ext>
            </a:extLst>
          </p:cNvPr>
          <p:cNvCxnSpPr>
            <a:cxnSpLocks/>
            <a:stCxn id="8" idx="6"/>
            <a:endCxn id="16" idx="2"/>
          </p:cNvCxnSpPr>
          <p:nvPr/>
        </p:nvCxnSpPr>
        <p:spPr>
          <a:xfrm>
            <a:off x="1864934" y="1692112"/>
            <a:ext cx="2538952" cy="14493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15B5EA7-83FE-4809-A592-3D2D0FF6C266}"/>
              </a:ext>
            </a:extLst>
          </p:cNvPr>
          <p:cNvCxnSpPr>
            <a:cxnSpLocks/>
            <a:stCxn id="8" idx="5"/>
            <a:endCxn id="10" idx="1"/>
          </p:cNvCxnSpPr>
          <p:nvPr/>
        </p:nvCxnSpPr>
        <p:spPr>
          <a:xfrm>
            <a:off x="1822138" y="1795431"/>
            <a:ext cx="464236" cy="7266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173067B-1777-4183-95F9-A12F5ED9CF32}"/>
              </a:ext>
            </a:extLst>
          </p:cNvPr>
          <p:cNvCxnSpPr>
            <a:cxnSpLocks/>
            <a:stCxn id="10" idx="7"/>
            <a:endCxn id="12" idx="3"/>
          </p:cNvCxnSpPr>
          <p:nvPr/>
        </p:nvCxnSpPr>
        <p:spPr>
          <a:xfrm flipV="1">
            <a:off x="2493013" y="1465492"/>
            <a:ext cx="1953670" cy="105655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EB025D5-215F-44EB-941A-BB43291711DC}"/>
              </a:ext>
            </a:extLst>
          </p:cNvPr>
          <p:cNvCxnSpPr>
            <a:stCxn id="16" idx="0"/>
            <a:endCxn id="12" idx="4"/>
          </p:cNvCxnSpPr>
          <p:nvPr/>
        </p:nvCxnSpPr>
        <p:spPr>
          <a:xfrm flipV="1">
            <a:off x="4550002" y="1508288"/>
            <a:ext cx="1" cy="14870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C64D2CA-3D52-44B5-9AE2-3FB2552CC3F3}"/>
              </a:ext>
            </a:extLst>
          </p:cNvPr>
          <p:cNvCxnSpPr>
            <a:stCxn id="16" idx="7"/>
            <a:endCxn id="14" idx="2"/>
          </p:cNvCxnSpPr>
          <p:nvPr/>
        </p:nvCxnSpPr>
        <p:spPr>
          <a:xfrm flipV="1">
            <a:off x="4653321" y="2625364"/>
            <a:ext cx="1150448" cy="4127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DB3F3C3-3FC5-4E80-A938-6BA41BC682F9}"/>
              </a:ext>
            </a:extLst>
          </p:cNvPr>
          <p:cNvCxnSpPr>
            <a:stCxn id="14" idx="4"/>
            <a:endCxn id="18" idx="0"/>
          </p:cNvCxnSpPr>
          <p:nvPr/>
        </p:nvCxnSpPr>
        <p:spPr>
          <a:xfrm flipH="1">
            <a:off x="5803769" y="2771479"/>
            <a:ext cx="146116" cy="9065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F240A41-A840-4A65-961F-5E7652557F73}"/>
              </a:ext>
            </a:extLst>
          </p:cNvPr>
          <p:cNvCxnSpPr>
            <a:stCxn id="18" idx="2"/>
            <a:endCxn id="20" idx="6"/>
          </p:cNvCxnSpPr>
          <p:nvPr/>
        </p:nvCxnSpPr>
        <p:spPr>
          <a:xfrm flipH="1">
            <a:off x="3415642" y="3824139"/>
            <a:ext cx="2242011" cy="2922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A76D68E-0F11-4738-B7F8-CE9D7D686759}"/>
              </a:ext>
            </a:extLst>
          </p:cNvPr>
          <p:cNvCxnSpPr>
            <a:stCxn id="16" idx="3"/>
            <a:endCxn id="20" idx="7"/>
          </p:cNvCxnSpPr>
          <p:nvPr/>
        </p:nvCxnSpPr>
        <p:spPr>
          <a:xfrm flipH="1">
            <a:off x="3372846" y="3244802"/>
            <a:ext cx="1073836" cy="7682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794DE45-B226-4516-A141-C0385F857621}"/>
              </a:ext>
            </a:extLst>
          </p:cNvPr>
          <p:cNvCxnSpPr>
            <a:stCxn id="20" idx="1"/>
            <a:endCxn id="5" idx="5"/>
          </p:cNvCxnSpPr>
          <p:nvPr/>
        </p:nvCxnSpPr>
        <p:spPr>
          <a:xfrm flipH="1" flipV="1">
            <a:off x="613936" y="2304478"/>
            <a:ext cx="2552271" cy="17085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40285E-646E-4CF4-AFE1-807599AA105C}"/>
                  </a:ext>
                </a:extLst>
              </p:cNvPr>
              <p:cNvSpPr txBox="1"/>
              <p:nvPr/>
            </p:nvSpPr>
            <p:spPr>
              <a:xfrm>
                <a:off x="6446986" y="1648945"/>
                <a:ext cx="6094428" cy="49196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180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nary>
                      <m:r>
                        <a:rPr lang="en-GB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GB" sz="1800"/>
              </a:p>
              <a:p>
                <a:pPr marL="0" indent="0">
                  <a:buNone/>
                </a:pPr>
                <a:endParaRPr lang="en-GB" sz="1800"/>
              </a:p>
              <a:p>
                <a:pPr marL="0" indent="0">
                  <a:buNone/>
                </a:pPr>
                <a:r>
                  <a:rPr lang="en-GB" sz="1800"/>
                  <a:t>subject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sz="18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sz="18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br>
                  <a:rPr lang="en-GB" sz="1800" b="0" i="1">
                    <a:latin typeface="Cambria Math" panose="02040503050406030204" pitchFamily="18" charset="0"/>
                  </a:rPr>
                </a:br>
                <a:endParaRPr lang="en-GB" sz="1800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180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40285E-646E-4CF4-AFE1-807599AA1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986" y="1648945"/>
                <a:ext cx="6094428" cy="4919616"/>
              </a:xfrm>
              <a:prstGeom prst="rect">
                <a:avLst/>
              </a:prstGeom>
              <a:blipFill>
                <a:blip r:embed="rId2"/>
                <a:stretch>
                  <a:fillRect l="-901" t="-619" b="-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414B8E7-4051-4B42-8C13-6838E29175B5}"/>
              </a:ext>
            </a:extLst>
          </p:cNvPr>
          <p:cNvSpPr txBox="1"/>
          <p:nvPr/>
        </p:nvSpPr>
        <p:spPr>
          <a:xfrm>
            <a:off x="1008668" y="5269584"/>
            <a:ext cx="1946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Another possibility</a:t>
            </a:r>
          </a:p>
        </p:txBody>
      </p:sp>
    </p:spTree>
    <p:extLst>
      <p:ext uri="{BB962C8B-B14F-4D97-AF65-F5344CB8AC3E}">
        <p14:creationId xmlns:p14="http://schemas.microsoft.com/office/powerpoint/2010/main" val="3304692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0B4EFC-5B2E-46AC-92BE-FA8317FB5F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Maximum Weight Matching</a:t>
            </a:r>
            <a:br>
              <a:rPr lang="en-GB"/>
            </a:br>
            <a:r>
              <a:rPr lang="en-GB"/>
              <a:t>and Assignment Problem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A3C1D9E-087F-4F10-82A7-128B5EF1E3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9715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Maximum Matching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96BEE7E-F8BC-4474-B13D-DD5F5C1D5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49" y="3848661"/>
            <a:ext cx="12192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4" name="Content Placeholder 5">
            <a:extLst>
              <a:ext uri="{FF2B5EF4-FFF2-40B4-BE49-F238E27FC236}">
                <a16:creationId xmlns:a16="http://schemas.microsoft.com/office/drawing/2014/main" id="{75F47005-A2E3-41C8-AB54-95A28ABF8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/>
              <a:t>Matching – Set of edges without common vertices</a:t>
            </a:r>
          </a:p>
          <a:p>
            <a:r>
              <a:rPr lang="en-GB"/>
              <a:t>Maximum Matching – Matching with the largest number of edges </a:t>
            </a:r>
          </a:p>
          <a:p>
            <a:pPr marL="0" indent="0">
              <a:buNone/>
            </a:pPr>
            <a:r>
              <a:rPr lang="en-GB" u="sng"/>
              <a:t>Examples of Maximum Matchings</a:t>
            </a:r>
          </a:p>
        </p:txBody>
      </p:sp>
    </p:spTree>
    <p:extLst>
      <p:ext uri="{BB962C8B-B14F-4D97-AF65-F5344CB8AC3E}">
        <p14:creationId xmlns:p14="http://schemas.microsoft.com/office/powerpoint/2010/main" val="4017261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Perfect Matching</a:t>
            </a:r>
          </a:p>
        </p:txBody>
      </p:sp>
      <p:sp>
        <p:nvSpPr>
          <p:cNvPr id="114" name="Content Placeholder 5">
            <a:extLst>
              <a:ext uri="{FF2B5EF4-FFF2-40B4-BE49-F238E27FC236}">
                <a16:creationId xmlns:a16="http://schemas.microsoft.com/office/drawing/2014/main" id="{75F47005-A2E3-41C8-AB54-95A28ABF8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/>
              <a:t>Matching – Set of edges without common vertices</a:t>
            </a:r>
          </a:p>
          <a:p>
            <a:r>
              <a:rPr lang="en-GB"/>
              <a:t>Perfect Matching – Matching that includes every vertex</a:t>
            </a:r>
          </a:p>
          <a:p>
            <a:pPr marL="0" indent="0">
              <a:buNone/>
            </a:pPr>
            <a:r>
              <a:rPr lang="en-GB" u="sng"/>
              <a:t>Examples</a:t>
            </a: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5CF407B0-26ED-4C38-B05A-87B80BC54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7817" y="3679547"/>
            <a:ext cx="6916365" cy="2684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5052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Maximum Weight Matching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3455CEF-B33D-4A8C-B8F6-68EB7A6FE0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599" y="4164734"/>
            <a:ext cx="5105400" cy="228600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8968DC-CD40-450F-A2DA-9F526821B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37" y="1550266"/>
            <a:ext cx="10296525" cy="2724150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61C26DDD-2656-43D7-A910-BEA83E97DB43}"/>
              </a:ext>
            </a:extLst>
          </p:cNvPr>
          <p:cNvSpPr txBox="1"/>
          <p:nvPr/>
        </p:nvSpPr>
        <p:spPr>
          <a:xfrm>
            <a:off x="6874497" y="4753264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Select a set of edges without common vertices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Maximise the weight of the edges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2327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Balanced Assignment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0F588-CD01-495F-9E8F-658803448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874"/>
            <a:ext cx="10515600" cy="4744089"/>
          </a:xfrm>
        </p:spPr>
        <p:txBody>
          <a:bodyPr/>
          <a:lstStyle/>
          <a:p>
            <a:r>
              <a:rPr lang="en-GB"/>
              <a:t>Assign a worker to each job – minimise completion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67" name="Table 5267">
                <a:extLst>
                  <a:ext uri="{FF2B5EF4-FFF2-40B4-BE49-F238E27FC236}">
                    <a16:creationId xmlns:a16="http://schemas.microsoft.com/office/drawing/2014/main" id="{2FF5C1BF-4138-49A6-B0C2-7F98D7F71C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3165" y="2501900"/>
              <a:ext cx="5603710" cy="1854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20742">
                      <a:extLst>
                        <a:ext uri="{9D8B030D-6E8A-4147-A177-3AD203B41FA5}">
                          <a16:colId xmlns:a16="http://schemas.microsoft.com/office/drawing/2014/main" val="2571511227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276182287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77288981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869018946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335339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495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Worker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4059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8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1405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98077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67" name="Table 5267">
                <a:extLst>
                  <a:ext uri="{FF2B5EF4-FFF2-40B4-BE49-F238E27FC236}">
                    <a16:creationId xmlns:a16="http://schemas.microsoft.com/office/drawing/2014/main" id="{2FF5C1BF-4138-49A6-B0C2-7F98D7F71C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3165" y="2501900"/>
              <a:ext cx="5603710" cy="1854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20742">
                      <a:extLst>
                        <a:ext uri="{9D8B030D-6E8A-4147-A177-3AD203B41FA5}">
                          <a16:colId xmlns:a16="http://schemas.microsoft.com/office/drawing/2014/main" val="2571511227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276182287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77288981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869018946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335339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495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Worker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108197" r="-3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108197" r="-2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108197" r="-1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108197" r="-2174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4059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208197" r="-3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208197" r="-2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208197" r="-1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208197" r="-2174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8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308197" r="-3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308197" r="-2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308197" r="-1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308197" r="-2174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1405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408197" r="-3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408197" r="-2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408197" r="-1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408197" r="-2174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980775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06280EFC-A85E-4638-8A5F-C21ECE459A82}"/>
              </a:ext>
            </a:extLst>
          </p:cNvPr>
          <p:cNvGrpSpPr/>
          <p:nvPr/>
        </p:nvGrpSpPr>
        <p:grpSpPr>
          <a:xfrm>
            <a:off x="7394713" y="1893545"/>
            <a:ext cx="3959087" cy="3611217"/>
            <a:chOff x="1401417" y="2365513"/>
            <a:chExt cx="3959087" cy="361121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1AAFD12-EE8B-4263-8FEF-678A5AE4F815}"/>
                </a:ext>
              </a:extLst>
            </p:cNvPr>
            <p:cNvSpPr/>
            <p:nvPr/>
          </p:nvSpPr>
          <p:spPr>
            <a:xfrm>
              <a:off x="1401417" y="2365513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DCD040F-C774-4949-A2C0-9E362AD31262}"/>
                </a:ext>
              </a:extLst>
            </p:cNvPr>
            <p:cNvSpPr/>
            <p:nvPr/>
          </p:nvSpPr>
          <p:spPr>
            <a:xfrm>
              <a:off x="1401417" y="3713921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8055194-E144-4BC4-B12F-DA80C72A27E0}"/>
                </a:ext>
              </a:extLst>
            </p:cNvPr>
            <p:cNvSpPr/>
            <p:nvPr/>
          </p:nvSpPr>
          <p:spPr>
            <a:xfrm>
              <a:off x="1401417" y="5062330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C40150-CCFA-40B1-8F65-BF76E72B7B3E}"/>
                </a:ext>
              </a:extLst>
            </p:cNvPr>
            <p:cNvSpPr/>
            <p:nvPr/>
          </p:nvSpPr>
          <p:spPr>
            <a:xfrm>
              <a:off x="4446104" y="2365513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E1C2953-DC8B-4723-B295-A3486D4709FA}"/>
                </a:ext>
              </a:extLst>
            </p:cNvPr>
            <p:cNvSpPr/>
            <p:nvPr/>
          </p:nvSpPr>
          <p:spPr>
            <a:xfrm>
              <a:off x="4446104" y="3713921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2200340-A816-4859-8361-61760B2C8990}"/>
                </a:ext>
              </a:extLst>
            </p:cNvPr>
            <p:cNvSpPr/>
            <p:nvPr/>
          </p:nvSpPr>
          <p:spPr>
            <a:xfrm>
              <a:off x="4446104" y="5062330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3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5663B3F-6D63-431B-93EF-70A35F64CC8F}"/>
                </a:ext>
              </a:extLst>
            </p:cNvPr>
            <p:cNvCxnSpPr>
              <a:stCxn id="7" idx="6"/>
              <a:endCxn id="10" idx="2"/>
            </p:cNvCxnSpPr>
            <p:nvPr/>
          </p:nvCxnSpPr>
          <p:spPr>
            <a:xfrm>
              <a:off x="2315817" y="2822713"/>
              <a:ext cx="2130287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CBBAA8C-8E94-4A92-9D25-9E446C8616D0}"/>
                </a:ext>
              </a:extLst>
            </p:cNvPr>
            <p:cNvCxnSpPr>
              <a:stCxn id="7" idx="6"/>
              <a:endCxn id="11" idx="2"/>
            </p:cNvCxnSpPr>
            <p:nvPr/>
          </p:nvCxnSpPr>
          <p:spPr>
            <a:xfrm>
              <a:off x="2315817" y="2822713"/>
              <a:ext cx="2130287" cy="1348408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ABCD906-54EF-447C-AAFC-4403514E3EDD}"/>
                </a:ext>
              </a:extLst>
            </p:cNvPr>
            <p:cNvCxnSpPr>
              <a:stCxn id="7" idx="6"/>
              <a:endCxn id="12" idx="2"/>
            </p:cNvCxnSpPr>
            <p:nvPr/>
          </p:nvCxnSpPr>
          <p:spPr>
            <a:xfrm>
              <a:off x="2315817" y="2822713"/>
              <a:ext cx="2130287" cy="2696817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E4519FE-7923-4684-ACD7-057A047A18A5}"/>
                </a:ext>
              </a:extLst>
            </p:cNvPr>
            <p:cNvCxnSpPr>
              <a:stCxn id="8" idx="6"/>
              <a:endCxn id="10" idx="2"/>
            </p:cNvCxnSpPr>
            <p:nvPr/>
          </p:nvCxnSpPr>
          <p:spPr>
            <a:xfrm flipV="1">
              <a:off x="2315817" y="2822713"/>
              <a:ext cx="2130287" cy="1348408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2637B46-7C0B-4824-9D31-C703F00FEB5B}"/>
                </a:ext>
              </a:extLst>
            </p:cNvPr>
            <p:cNvCxnSpPr>
              <a:cxnSpLocks/>
              <a:stCxn id="8" idx="6"/>
              <a:endCxn id="11" idx="2"/>
            </p:cNvCxnSpPr>
            <p:nvPr/>
          </p:nvCxnSpPr>
          <p:spPr>
            <a:xfrm>
              <a:off x="2315817" y="4171121"/>
              <a:ext cx="2130287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CA763BA-76DC-4B8A-B4D0-63FC015C8FCE}"/>
                </a:ext>
              </a:extLst>
            </p:cNvPr>
            <p:cNvCxnSpPr>
              <a:cxnSpLocks/>
              <a:stCxn id="8" idx="6"/>
              <a:endCxn id="12" idx="2"/>
            </p:cNvCxnSpPr>
            <p:nvPr/>
          </p:nvCxnSpPr>
          <p:spPr>
            <a:xfrm>
              <a:off x="2315817" y="4171121"/>
              <a:ext cx="2130287" cy="1348409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0B38595-8C78-4AF8-907A-7CE0FFD4D1F2}"/>
                </a:ext>
              </a:extLst>
            </p:cNvPr>
            <p:cNvCxnSpPr>
              <a:stCxn id="9" idx="6"/>
              <a:endCxn id="10" idx="2"/>
            </p:cNvCxnSpPr>
            <p:nvPr/>
          </p:nvCxnSpPr>
          <p:spPr>
            <a:xfrm flipV="1">
              <a:off x="2315817" y="2822713"/>
              <a:ext cx="2130287" cy="2696817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E6B2619-16BE-4179-A0D6-CF29ECF07BEF}"/>
                </a:ext>
              </a:extLst>
            </p:cNvPr>
            <p:cNvCxnSpPr>
              <a:stCxn id="9" idx="6"/>
              <a:endCxn id="12" idx="2"/>
            </p:cNvCxnSpPr>
            <p:nvPr/>
          </p:nvCxnSpPr>
          <p:spPr>
            <a:xfrm>
              <a:off x="2315817" y="5519530"/>
              <a:ext cx="2130287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4ED88E7-7FC2-4E5E-BF47-01DB46FE5C7E}"/>
                </a:ext>
              </a:extLst>
            </p:cNvPr>
            <p:cNvCxnSpPr>
              <a:stCxn id="9" idx="6"/>
              <a:endCxn id="11" idx="2"/>
            </p:cNvCxnSpPr>
            <p:nvPr/>
          </p:nvCxnSpPr>
          <p:spPr>
            <a:xfrm flipV="1">
              <a:off x="2315817" y="4171121"/>
              <a:ext cx="2130287" cy="1348409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8F4D3A9B-D5CD-45E1-B9D4-179FF2BA21B3}"/>
              </a:ext>
            </a:extLst>
          </p:cNvPr>
          <p:cNvSpPr/>
          <p:nvPr/>
        </p:nvSpPr>
        <p:spPr>
          <a:xfrm>
            <a:off x="7394713" y="5866218"/>
            <a:ext cx="914400" cy="914400"/>
          </a:xfrm>
          <a:prstGeom prst="ellipse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0BDBD5D-8B7A-4911-BAD6-705D42648A03}"/>
              </a:ext>
            </a:extLst>
          </p:cNvPr>
          <p:cNvSpPr/>
          <p:nvPr/>
        </p:nvSpPr>
        <p:spPr>
          <a:xfrm>
            <a:off x="10439400" y="5866218"/>
            <a:ext cx="914400" cy="914400"/>
          </a:xfrm>
          <a:prstGeom prst="ellipse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4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E4D87B-0FDC-4A76-8325-35034A1E07A1}"/>
              </a:ext>
            </a:extLst>
          </p:cNvPr>
          <p:cNvCxnSpPr>
            <a:cxnSpLocks/>
            <a:stCxn id="7" idx="6"/>
            <a:endCxn id="23" idx="2"/>
          </p:cNvCxnSpPr>
          <p:nvPr/>
        </p:nvCxnSpPr>
        <p:spPr>
          <a:xfrm>
            <a:off x="8309113" y="2350745"/>
            <a:ext cx="2130287" cy="3972673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411E733-9E05-4127-8427-CE742ED2AE16}"/>
              </a:ext>
            </a:extLst>
          </p:cNvPr>
          <p:cNvCxnSpPr>
            <a:cxnSpLocks/>
            <a:stCxn id="8" idx="6"/>
            <a:endCxn id="23" idx="2"/>
          </p:cNvCxnSpPr>
          <p:nvPr/>
        </p:nvCxnSpPr>
        <p:spPr>
          <a:xfrm>
            <a:off x="8309113" y="3699153"/>
            <a:ext cx="2130287" cy="2624265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EE21810-5449-4112-A0F4-75DDA28FC559}"/>
              </a:ext>
            </a:extLst>
          </p:cNvPr>
          <p:cNvCxnSpPr>
            <a:cxnSpLocks/>
            <a:stCxn id="9" idx="6"/>
            <a:endCxn id="23" idx="2"/>
          </p:cNvCxnSpPr>
          <p:nvPr/>
        </p:nvCxnSpPr>
        <p:spPr>
          <a:xfrm>
            <a:off x="8309113" y="5047562"/>
            <a:ext cx="2130287" cy="1275856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11BDBE4-3F76-41FD-A596-E452DBA813EE}"/>
              </a:ext>
            </a:extLst>
          </p:cNvPr>
          <p:cNvCxnSpPr>
            <a:cxnSpLocks/>
            <a:stCxn id="22" idx="6"/>
            <a:endCxn id="23" idx="2"/>
          </p:cNvCxnSpPr>
          <p:nvPr/>
        </p:nvCxnSpPr>
        <p:spPr>
          <a:xfrm>
            <a:off x="8309113" y="6323418"/>
            <a:ext cx="2130287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B93A43-3615-4BB5-A928-25DC872945A1}"/>
              </a:ext>
            </a:extLst>
          </p:cNvPr>
          <p:cNvCxnSpPr>
            <a:cxnSpLocks/>
            <a:stCxn id="22" idx="6"/>
            <a:endCxn id="12" idx="2"/>
          </p:cNvCxnSpPr>
          <p:nvPr/>
        </p:nvCxnSpPr>
        <p:spPr>
          <a:xfrm flipV="1">
            <a:off x="8309113" y="5047562"/>
            <a:ext cx="2130287" cy="1275856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70F3C34-C0A2-46C1-AE38-C564DC807725}"/>
              </a:ext>
            </a:extLst>
          </p:cNvPr>
          <p:cNvCxnSpPr>
            <a:cxnSpLocks/>
            <a:stCxn id="22" idx="6"/>
            <a:endCxn id="11" idx="2"/>
          </p:cNvCxnSpPr>
          <p:nvPr/>
        </p:nvCxnSpPr>
        <p:spPr>
          <a:xfrm flipV="1">
            <a:off x="8309113" y="3699153"/>
            <a:ext cx="2130287" cy="2624265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4EEF14-22A4-4D33-83E6-29AAB4C55F06}"/>
              </a:ext>
            </a:extLst>
          </p:cNvPr>
          <p:cNvCxnSpPr>
            <a:cxnSpLocks/>
            <a:stCxn id="22" idx="6"/>
            <a:endCxn id="10" idx="2"/>
          </p:cNvCxnSpPr>
          <p:nvPr/>
        </p:nvCxnSpPr>
        <p:spPr>
          <a:xfrm flipV="1">
            <a:off x="8309113" y="2350745"/>
            <a:ext cx="2130287" cy="3972673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F61CA7-D6F4-42BD-9BAA-C66E8AF0A052}"/>
                  </a:ext>
                </a:extLst>
              </p:cNvPr>
              <p:cNvSpPr txBox="1"/>
              <p:nvPr/>
            </p:nvSpPr>
            <p:spPr>
              <a:xfrm>
                <a:off x="612068" y="4726115"/>
                <a:ext cx="6094378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/>
                  <a:t>This is a bipartite graph and requires a perfect matching…</a:t>
                </a:r>
              </a:p>
              <a:p>
                <a:endParaRPr lang="en-GB"/>
              </a:p>
              <a:p>
                <a:r>
                  <a:rPr lang="en-GB"/>
                  <a:t>How many solutions??</a:t>
                </a:r>
              </a:p>
              <a:p>
                <a:endParaRPr lang="en-GB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4!</m:t>
                      </m:r>
                    </m:oMath>
                  </m:oMathPara>
                </a14:m>
                <a:endParaRPr lang="en-GB"/>
              </a:p>
              <a:p>
                <a:endParaRPr lang="en-GB"/>
              </a:p>
              <a:p>
                <a:r>
                  <a:rPr lang="en-GB"/>
                  <a:t>In general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en-GB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F61CA7-D6F4-42BD-9BAA-C66E8AF0A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68" y="4726115"/>
                <a:ext cx="6094378" cy="2031325"/>
              </a:xfrm>
              <a:prstGeom prst="rect">
                <a:avLst/>
              </a:prstGeom>
              <a:blipFill>
                <a:blip r:embed="rId3"/>
                <a:stretch>
                  <a:fillRect l="-800" t="-1497" b="-3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29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Balanced Assignment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0F588-CD01-495F-9E8F-658803448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874"/>
            <a:ext cx="10515600" cy="4744089"/>
          </a:xfrm>
        </p:spPr>
        <p:txBody>
          <a:bodyPr/>
          <a:lstStyle/>
          <a:p>
            <a:r>
              <a:rPr lang="en-GB"/>
              <a:t>Example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67" name="Table 5267">
                <a:extLst>
                  <a:ext uri="{FF2B5EF4-FFF2-40B4-BE49-F238E27FC236}">
                    <a16:creationId xmlns:a16="http://schemas.microsoft.com/office/drawing/2014/main" id="{2FF5C1BF-4138-49A6-B0C2-7F98D7F71C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3165" y="2501900"/>
              <a:ext cx="5603710" cy="1854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20742">
                      <a:extLst>
                        <a:ext uri="{9D8B030D-6E8A-4147-A177-3AD203B41FA5}">
                          <a16:colId xmlns:a16="http://schemas.microsoft.com/office/drawing/2014/main" val="2571511227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276182287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77288981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869018946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335339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495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Worker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solidFill>
                          <a:schemeClr val="accent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4059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solidFill>
                          <a:schemeClr val="accent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8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solidFill>
                          <a:schemeClr val="accent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1405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solidFill>
                          <a:schemeClr val="accent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98077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67" name="Table 5267">
                <a:extLst>
                  <a:ext uri="{FF2B5EF4-FFF2-40B4-BE49-F238E27FC236}">
                    <a16:creationId xmlns:a16="http://schemas.microsoft.com/office/drawing/2014/main" id="{2FF5C1BF-4138-49A6-B0C2-7F98D7F71C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3165" y="2501900"/>
              <a:ext cx="5603710" cy="1854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20742">
                      <a:extLst>
                        <a:ext uri="{9D8B030D-6E8A-4147-A177-3AD203B41FA5}">
                          <a16:colId xmlns:a16="http://schemas.microsoft.com/office/drawing/2014/main" val="2571511227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276182287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77288981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869018946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335339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495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Worker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108197" r="-3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108197" r="-2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108197" r="-1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108197" r="-2174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4059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208197" r="-3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208197" r="-2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208197" r="-1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208197" r="-2174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8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308197" r="-3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308197" r="-2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308197" r="-1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308197" r="-2174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1405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408197" r="-3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408197" r="-2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408197" r="-1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408197" r="-2174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980775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06280EFC-A85E-4638-8A5F-C21ECE459A82}"/>
              </a:ext>
            </a:extLst>
          </p:cNvPr>
          <p:cNvGrpSpPr/>
          <p:nvPr/>
        </p:nvGrpSpPr>
        <p:grpSpPr>
          <a:xfrm>
            <a:off x="7394713" y="1893545"/>
            <a:ext cx="3959087" cy="3611217"/>
            <a:chOff x="1401417" y="2365513"/>
            <a:chExt cx="3959087" cy="361121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1AAFD12-EE8B-4263-8FEF-678A5AE4F815}"/>
                </a:ext>
              </a:extLst>
            </p:cNvPr>
            <p:cNvSpPr/>
            <p:nvPr/>
          </p:nvSpPr>
          <p:spPr>
            <a:xfrm>
              <a:off x="1401417" y="2365513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DCD040F-C774-4949-A2C0-9E362AD31262}"/>
                </a:ext>
              </a:extLst>
            </p:cNvPr>
            <p:cNvSpPr/>
            <p:nvPr/>
          </p:nvSpPr>
          <p:spPr>
            <a:xfrm>
              <a:off x="1401417" y="3713921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8055194-E144-4BC4-B12F-DA80C72A27E0}"/>
                </a:ext>
              </a:extLst>
            </p:cNvPr>
            <p:cNvSpPr/>
            <p:nvPr/>
          </p:nvSpPr>
          <p:spPr>
            <a:xfrm>
              <a:off x="1401417" y="5062330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C40150-CCFA-40B1-8F65-BF76E72B7B3E}"/>
                </a:ext>
              </a:extLst>
            </p:cNvPr>
            <p:cNvSpPr/>
            <p:nvPr/>
          </p:nvSpPr>
          <p:spPr>
            <a:xfrm>
              <a:off x="4446104" y="2365513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E1C2953-DC8B-4723-B295-A3486D4709FA}"/>
                </a:ext>
              </a:extLst>
            </p:cNvPr>
            <p:cNvSpPr/>
            <p:nvPr/>
          </p:nvSpPr>
          <p:spPr>
            <a:xfrm>
              <a:off x="4446104" y="3713921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2200340-A816-4859-8361-61760B2C8990}"/>
                </a:ext>
              </a:extLst>
            </p:cNvPr>
            <p:cNvSpPr/>
            <p:nvPr/>
          </p:nvSpPr>
          <p:spPr>
            <a:xfrm>
              <a:off x="4446104" y="5062330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3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CBBAA8C-8E94-4A92-9D25-9E446C8616D0}"/>
                </a:ext>
              </a:extLst>
            </p:cNvPr>
            <p:cNvCxnSpPr>
              <a:stCxn id="7" idx="6"/>
              <a:endCxn id="11" idx="2"/>
            </p:cNvCxnSpPr>
            <p:nvPr/>
          </p:nvCxnSpPr>
          <p:spPr>
            <a:xfrm>
              <a:off x="2315817" y="2822713"/>
              <a:ext cx="2130287" cy="1348408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0B38595-8C78-4AF8-907A-7CE0FFD4D1F2}"/>
                </a:ext>
              </a:extLst>
            </p:cNvPr>
            <p:cNvCxnSpPr>
              <a:stCxn id="9" idx="6"/>
              <a:endCxn id="10" idx="2"/>
            </p:cNvCxnSpPr>
            <p:nvPr/>
          </p:nvCxnSpPr>
          <p:spPr>
            <a:xfrm flipV="1">
              <a:off x="2315817" y="2822713"/>
              <a:ext cx="2130287" cy="2696817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8F4D3A9B-D5CD-45E1-B9D4-179FF2BA21B3}"/>
              </a:ext>
            </a:extLst>
          </p:cNvPr>
          <p:cNvSpPr/>
          <p:nvPr/>
        </p:nvSpPr>
        <p:spPr>
          <a:xfrm>
            <a:off x="7394713" y="5866218"/>
            <a:ext cx="914400" cy="914400"/>
          </a:xfrm>
          <a:prstGeom prst="ellipse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0BDBD5D-8B7A-4911-BAD6-705D42648A03}"/>
              </a:ext>
            </a:extLst>
          </p:cNvPr>
          <p:cNvSpPr/>
          <p:nvPr/>
        </p:nvSpPr>
        <p:spPr>
          <a:xfrm>
            <a:off x="10439400" y="5866218"/>
            <a:ext cx="914400" cy="914400"/>
          </a:xfrm>
          <a:prstGeom prst="ellipse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411E733-9E05-4127-8427-CE742ED2AE16}"/>
              </a:ext>
            </a:extLst>
          </p:cNvPr>
          <p:cNvCxnSpPr>
            <a:cxnSpLocks/>
            <a:stCxn id="8" idx="6"/>
            <a:endCxn id="23" idx="2"/>
          </p:cNvCxnSpPr>
          <p:nvPr/>
        </p:nvCxnSpPr>
        <p:spPr>
          <a:xfrm>
            <a:off x="8309113" y="3699153"/>
            <a:ext cx="2130287" cy="2624265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B93A43-3615-4BB5-A928-25DC872945A1}"/>
              </a:ext>
            </a:extLst>
          </p:cNvPr>
          <p:cNvCxnSpPr>
            <a:cxnSpLocks/>
            <a:stCxn id="22" idx="6"/>
            <a:endCxn id="12" idx="2"/>
          </p:cNvCxnSpPr>
          <p:nvPr/>
        </p:nvCxnSpPr>
        <p:spPr>
          <a:xfrm flipV="1">
            <a:off x="8309113" y="5047562"/>
            <a:ext cx="2130287" cy="1275856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F61CA7-D6F4-42BD-9BAA-C66E8AF0A052}"/>
                  </a:ext>
                </a:extLst>
              </p:cNvPr>
              <p:cNvSpPr txBox="1"/>
              <p:nvPr/>
            </p:nvSpPr>
            <p:spPr>
              <a:xfrm>
                <a:off x="612068" y="4726115"/>
                <a:ext cx="6094378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/>
                  <a:t>This is a bipartite graph and requires a perfect matching…</a:t>
                </a:r>
              </a:p>
              <a:p>
                <a:endParaRPr lang="en-GB"/>
              </a:p>
              <a:p>
                <a:r>
                  <a:rPr lang="en-GB"/>
                  <a:t>Here every vertex is included and no edge has a common vertex</a:t>
                </a:r>
              </a:p>
              <a:p>
                <a:endParaRPr lang="en-GB"/>
              </a:p>
              <a:p>
                <a:r>
                  <a:rPr lang="en-GB"/>
                  <a:t>Cost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2+7+5+9=23</m:t>
                    </m:r>
                  </m:oMath>
                </a14:m>
                <a:endParaRPr lang="en-GB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F61CA7-D6F4-42BD-9BAA-C66E8AF0A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68" y="4726115"/>
                <a:ext cx="6094378" cy="1754326"/>
              </a:xfrm>
              <a:prstGeom prst="rect">
                <a:avLst/>
              </a:prstGeom>
              <a:blipFill>
                <a:blip r:embed="rId3"/>
                <a:stretch>
                  <a:fillRect l="-800" t="-173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9946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Balanced Assignment Problem – 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0F588-CD01-495F-9E8F-658803448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874"/>
            <a:ext cx="10515600" cy="4744089"/>
          </a:xfrm>
        </p:spPr>
        <p:txBody>
          <a:bodyPr/>
          <a:lstStyle/>
          <a:p>
            <a:r>
              <a:rPr lang="en-GB"/>
              <a:t>Pick 1 per row and 1 per column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67" name="Table 5267">
                <a:extLst>
                  <a:ext uri="{FF2B5EF4-FFF2-40B4-BE49-F238E27FC236}">
                    <a16:creationId xmlns:a16="http://schemas.microsoft.com/office/drawing/2014/main" id="{2FF5C1BF-4138-49A6-B0C2-7F98D7F71C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8935483"/>
                  </p:ext>
                </p:extLst>
              </p:nvPr>
            </p:nvGraphicFramePr>
            <p:xfrm>
              <a:off x="263165" y="2501900"/>
              <a:ext cx="5603710" cy="1854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20742">
                      <a:extLst>
                        <a:ext uri="{9D8B030D-6E8A-4147-A177-3AD203B41FA5}">
                          <a16:colId xmlns:a16="http://schemas.microsoft.com/office/drawing/2014/main" val="2571511227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276182287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77288981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869018946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335339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495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Worker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4059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8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1405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98077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67" name="Table 5267">
                <a:extLst>
                  <a:ext uri="{FF2B5EF4-FFF2-40B4-BE49-F238E27FC236}">
                    <a16:creationId xmlns:a16="http://schemas.microsoft.com/office/drawing/2014/main" id="{2FF5C1BF-4138-49A6-B0C2-7F98D7F71C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8935483"/>
                  </p:ext>
                </p:extLst>
              </p:nvPr>
            </p:nvGraphicFramePr>
            <p:xfrm>
              <a:off x="263165" y="2501900"/>
              <a:ext cx="5603710" cy="1854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20742">
                      <a:extLst>
                        <a:ext uri="{9D8B030D-6E8A-4147-A177-3AD203B41FA5}">
                          <a16:colId xmlns:a16="http://schemas.microsoft.com/office/drawing/2014/main" val="2571511227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276182287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77288981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869018946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335339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495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Worker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108197" r="-3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108197" r="-2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108197" r="-1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108197" r="-2174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4059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208197" r="-3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208197" r="-2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208197" r="-1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208197" r="-2174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8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308197" r="-3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308197" r="-2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308197" r="-1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308197" r="-2174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1405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408197" r="-3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408197" r="-2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408197" r="-1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408197" r="-2174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98077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A2785456-9093-4F5D-9117-3CC17774F8F6}"/>
                  </a:ext>
                </a:extLst>
              </p:cNvPr>
              <p:cNvSpPr txBox="1"/>
              <p:nvPr/>
            </p:nvSpPr>
            <p:spPr>
              <a:xfrm>
                <a:off x="6096000" y="1625574"/>
                <a:ext cx="6440338" cy="5769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GB" sz="1800" b="0" i="1">
                    <a:latin typeface="Cambria Math" panose="02040503050406030204" pitchFamily="18" charset="0"/>
                  </a:rPr>
                  <a:t>- </a:t>
                </a:r>
                <a:r>
                  <a:rPr lang="en-GB"/>
                  <a:t>Set of Workers</a:t>
                </a:r>
                <a:endParaRPr lang="en-GB" sz="1800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GB" sz="1800"/>
                  <a:t>   - Set of Jobs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𝑢𝑣</m:t>
                        </m:r>
                      </m:sub>
                    </m:sSub>
                  </m:oMath>
                </a14:m>
                <a:r>
                  <a:rPr lang="en-GB" sz="1800"/>
                  <a:t> - Worker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sz="1800"/>
                  <a:t> completes job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GB" sz="180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𝑢𝑣</m:t>
                        </m:r>
                      </m:sub>
                    </m:sSub>
                  </m:oMath>
                </a14:m>
                <a:r>
                  <a:rPr lang="en-GB" sz="1800"/>
                  <a:t> - Completion time for worker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sz="1800"/>
                  <a:t> completing job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GB" sz="1800"/>
              </a:p>
              <a:p>
                <a:pPr marL="0" indent="0">
                  <a:buNone/>
                </a:pPr>
                <a:endParaRPr lang="en-GB" sz="1800"/>
              </a:p>
              <a:p>
                <a:pPr marL="0" indent="0">
                  <a:buNone/>
                </a:pPr>
                <a:r>
                  <a:rPr lang="en-GB" sz="1800"/>
                  <a:t>minimise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𝑢𝑣</m:t>
                                      </m:r>
                                    </m:sub>
                                  </m:s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𝑢𝑣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𝑢𝑣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𝑢𝑣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44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44</m:t>
                          </m:r>
                        </m:sub>
                      </m:sSub>
                    </m:oMath>
                  </m:oMathPara>
                </a14:m>
                <a:endParaRPr lang="en-GB" sz="1800"/>
              </a:p>
              <a:p>
                <a:pPr marL="0" indent="0">
                  <a:buNone/>
                </a:pPr>
                <a:r>
                  <a:rPr lang="en-GB" sz="1800"/>
                  <a:t>subject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𝑢𝑣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GB" sz="1800"/>
              </a:p>
              <a:p>
                <a:endParaRPr lang="en-GB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𝑢𝑣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GB" sz="1800"/>
              </a:p>
              <a:p>
                <a:endParaRPr lang="en-GB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𝑢𝑣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1800"/>
              </a:p>
              <a:p>
                <a:endParaRPr lang="en-GB" sz="1800"/>
              </a:p>
              <a:p>
                <a:endParaRPr lang="en-GB" sz="1800"/>
              </a:p>
            </p:txBody>
          </p:sp>
        </mc:Choice>
        <mc:Fallback xmlns="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A2785456-9093-4F5D-9117-3CC17774F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625574"/>
                <a:ext cx="6440338" cy="5769656"/>
              </a:xfrm>
              <a:prstGeom prst="rect">
                <a:avLst/>
              </a:prstGeom>
              <a:blipFill>
                <a:blip r:embed="rId3"/>
                <a:stretch>
                  <a:fillRect l="-758" t="-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269" name="Content Placeholder 5">
            <a:extLst>
              <a:ext uri="{FF2B5EF4-FFF2-40B4-BE49-F238E27FC236}">
                <a16:creationId xmlns:a16="http://schemas.microsoft.com/office/drawing/2014/main" id="{BECB2219-215D-46C4-899E-92DDE5909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20" y="4356100"/>
            <a:ext cx="51054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782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Balanced Assignment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0F588-CD01-495F-9E8F-658803448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874"/>
            <a:ext cx="10515600" cy="4744089"/>
          </a:xfrm>
        </p:spPr>
        <p:txBody>
          <a:bodyPr/>
          <a:lstStyle/>
          <a:p>
            <a:r>
              <a:rPr lang="en-GB"/>
              <a:t>Optimal Solution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6280EFC-A85E-4638-8A5F-C21ECE459A82}"/>
              </a:ext>
            </a:extLst>
          </p:cNvPr>
          <p:cNvGrpSpPr/>
          <p:nvPr/>
        </p:nvGrpSpPr>
        <p:grpSpPr>
          <a:xfrm>
            <a:off x="7394713" y="1893545"/>
            <a:ext cx="3959087" cy="3611217"/>
            <a:chOff x="1401417" y="2365513"/>
            <a:chExt cx="3959087" cy="361121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1AAFD12-EE8B-4263-8FEF-678A5AE4F815}"/>
                </a:ext>
              </a:extLst>
            </p:cNvPr>
            <p:cNvSpPr/>
            <p:nvPr/>
          </p:nvSpPr>
          <p:spPr>
            <a:xfrm>
              <a:off x="1401417" y="2365513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DCD040F-C774-4949-A2C0-9E362AD31262}"/>
                </a:ext>
              </a:extLst>
            </p:cNvPr>
            <p:cNvSpPr/>
            <p:nvPr/>
          </p:nvSpPr>
          <p:spPr>
            <a:xfrm>
              <a:off x="1401417" y="3713921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8055194-E144-4BC4-B12F-DA80C72A27E0}"/>
                </a:ext>
              </a:extLst>
            </p:cNvPr>
            <p:cNvSpPr/>
            <p:nvPr/>
          </p:nvSpPr>
          <p:spPr>
            <a:xfrm>
              <a:off x="1401417" y="5062330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C40150-CCFA-40B1-8F65-BF76E72B7B3E}"/>
                </a:ext>
              </a:extLst>
            </p:cNvPr>
            <p:cNvSpPr/>
            <p:nvPr/>
          </p:nvSpPr>
          <p:spPr>
            <a:xfrm>
              <a:off x="4446104" y="2365513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E1C2953-DC8B-4723-B295-A3486D4709FA}"/>
                </a:ext>
              </a:extLst>
            </p:cNvPr>
            <p:cNvSpPr/>
            <p:nvPr/>
          </p:nvSpPr>
          <p:spPr>
            <a:xfrm>
              <a:off x="4446104" y="3713921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2200340-A816-4859-8361-61760B2C8990}"/>
                </a:ext>
              </a:extLst>
            </p:cNvPr>
            <p:cNvSpPr/>
            <p:nvPr/>
          </p:nvSpPr>
          <p:spPr>
            <a:xfrm>
              <a:off x="4446104" y="5062330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3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CBBAA8C-8E94-4A92-9D25-9E446C8616D0}"/>
                </a:ext>
              </a:extLst>
            </p:cNvPr>
            <p:cNvCxnSpPr>
              <a:stCxn id="7" idx="6"/>
              <a:endCxn id="11" idx="2"/>
            </p:cNvCxnSpPr>
            <p:nvPr/>
          </p:nvCxnSpPr>
          <p:spPr>
            <a:xfrm>
              <a:off x="2315817" y="2822713"/>
              <a:ext cx="2130287" cy="1348408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0B38595-8C78-4AF8-907A-7CE0FFD4D1F2}"/>
                </a:ext>
              </a:extLst>
            </p:cNvPr>
            <p:cNvCxnSpPr>
              <a:cxnSpLocks/>
              <a:stCxn id="9" idx="6"/>
              <a:endCxn id="12" idx="2"/>
            </p:cNvCxnSpPr>
            <p:nvPr/>
          </p:nvCxnSpPr>
          <p:spPr>
            <a:xfrm>
              <a:off x="2315817" y="5519530"/>
              <a:ext cx="2130287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8F4D3A9B-D5CD-45E1-B9D4-179FF2BA21B3}"/>
              </a:ext>
            </a:extLst>
          </p:cNvPr>
          <p:cNvSpPr/>
          <p:nvPr/>
        </p:nvSpPr>
        <p:spPr>
          <a:xfrm>
            <a:off x="7394713" y="5866218"/>
            <a:ext cx="914400" cy="914400"/>
          </a:xfrm>
          <a:prstGeom prst="ellipse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0BDBD5D-8B7A-4911-BAD6-705D42648A03}"/>
              </a:ext>
            </a:extLst>
          </p:cNvPr>
          <p:cNvSpPr/>
          <p:nvPr/>
        </p:nvSpPr>
        <p:spPr>
          <a:xfrm>
            <a:off x="10439400" y="5866218"/>
            <a:ext cx="914400" cy="914400"/>
          </a:xfrm>
          <a:prstGeom prst="ellipse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411E733-9E05-4127-8427-CE742ED2AE16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 flipV="1">
            <a:off x="8309113" y="2350745"/>
            <a:ext cx="2130287" cy="1348408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B93A43-3615-4BB5-A928-25DC872945A1}"/>
              </a:ext>
            </a:extLst>
          </p:cNvPr>
          <p:cNvCxnSpPr>
            <a:cxnSpLocks/>
            <a:stCxn id="22" idx="6"/>
            <a:endCxn id="23" idx="2"/>
          </p:cNvCxnSpPr>
          <p:nvPr/>
        </p:nvCxnSpPr>
        <p:spPr>
          <a:xfrm>
            <a:off x="8309113" y="6323418"/>
            <a:ext cx="2130287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F61CA7-D6F4-42BD-9BAA-C66E8AF0A052}"/>
                  </a:ext>
                </a:extLst>
              </p:cNvPr>
              <p:cNvSpPr txBox="1"/>
              <p:nvPr/>
            </p:nvSpPr>
            <p:spPr>
              <a:xfrm>
                <a:off x="612068" y="4726115"/>
                <a:ext cx="6094378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/>
                  <a:t>This is a bipartite graph and requires a perfect matching…</a:t>
                </a:r>
              </a:p>
              <a:p>
                <a:endParaRPr lang="en-GB"/>
              </a:p>
              <a:p>
                <a:r>
                  <a:rPr lang="en-GB"/>
                  <a:t>Here every vertex is included and no edge has a common vertex</a:t>
                </a:r>
              </a:p>
              <a:p>
                <a:endParaRPr lang="en-GB"/>
              </a:p>
              <a:p>
                <a:r>
                  <a:rPr lang="en-GB"/>
                  <a:t>Cost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2+6+1+4=13</m:t>
                    </m:r>
                  </m:oMath>
                </a14:m>
                <a:endParaRPr lang="en-GB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F61CA7-D6F4-42BD-9BAA-C66E8AF0A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68" y="4726115"/>
                <a:ext cx="6094378" cy="1754326"/>
              </a:xfrm>
              <a:prstGeom prst="rect">
                <a:avLst/>
              </a:prstGeom>
              <a:blipFill>
                <a:blip r:embed="rId2"/>
                <a:stretch>
                  <a:fillRect l="-800" t="-173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5267">
                <a:extLst>
                  <a:ext uri="{FF2B5EF4-FFF2-40B4-BE49-F238E27FC236}">
                    <a16:creationId xmlns:a16="http://schemas.microsoft.com/office/drawing/2014/main" id="{B7567E64-58FF-4349-81E2-6B0DDD0BA0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9365105"/>
                  </p:ext>
                </p:extLst>
              </p:nvPr>
            </p:nvGraphicFramePr>
            <p:xfrm>
              <a:off x="263165" y="2501900"/>
              <a:ext cx="5603710" cy="1854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20742">
                      <a:extLst>
                        <a:ext uri="{9D8B030D-6E8A-4147-A177-3AD203B41FA5}">
                          <a16:colId xmlns:a16="http://schemas.microsoft.com/office/drawing/2014/main" val="2571511227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276182287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77288981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869018946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335339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495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Worker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solidFill>
                          <a:schemeClr val="accent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4059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solidFill>
                          <a:schemeClr val="accent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8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solidFill>
                          <a:schemeClr val="accent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1405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solidFill>
                          <a:schemeClr val="accent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98077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5267">
                <a:extLst>
                  <a:ext uri="{FF2B5EF4-FFF2-40B4-BE49-F238E27FC236}">
                    <a16:creationId xmlns:a16="http://schemas.microsoft.com/office/drawing/2014/main" id="{B7567E64-58FF-4349-81E2-6B0DDD0BA0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9365105"/>
                  </p:ext>
                </p:extLst>
              </p:nvPr>
            </p:nvGraphicFramePr>
            <p:xfrm>
              <a:off x="263165" y="2501900"/>
              <a:ext cx="5603710" cy="1854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20742">
                      <a:extLst>
                        <a:ext uri="{9D8B030D-6E8A-4147-A177-3AD203B41FA5}">
                          <a16:colId xmlns:a16="http://schemas.microsoft.com/office/drawing/2014/main" val="2571511227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276182287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77288981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869018946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335339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495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Worker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43" t="-108197" r="-3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543" t="-108197" r="-2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543" t="-108197" r="-1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543" t="-108197" r="-2174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4059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43" t="-208197" r="-3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543" t="-208197" r="-2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543" t="-208197" r="-1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543" t="-208197" r="-2174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8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43" t="-308197" r="-3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543" t="-308197" r="-2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543" t="-308197" r="-1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543" t="-308197" r="-2174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1405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43" t="-408197" r="-3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543" t="-408197" r="-2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543" t="-408197" r="-1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543" t="-408197" r="-2174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98077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539852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D7D6E-393A-4784-B833-7D21C4520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725"/>
            <a:ext cx="10515600" cy="4948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>
                <a:cs typeface="Courier New" panose="02070309020205020404" pitchFamily="49" charset="0"/>
              </a:rPr>
              <a:t>Assign 3 students to the 3 different dissertation projects.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/>
              <a:t>Assignment Problem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6933585B-C245-48E7-895E-131D599196E4}"/>
              </a:ext>
            </a:extLst>
          </p:cNvPr>
          <p:cNvGrpSpPr/>
          <p:nvPr/>
        </p:nvGrpSpPr>
        <p:grpSpPr>
          <a:xfrm>
            <a:off x="1401417" y="2365513"/>
            <a:ext cx="3959087" cy="3611217"/>
            <a:chOff x="1401417" y="2365513"/>
            <a:chExt cx="3959087" cy="3611217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95D6F8F8-AA88-4851-BD55-650F6F374E1A}"/>
                </a:ext>
              </a:extLst>
            </p:cNvPr>
            <p:cNvSpPr/>
            <p:nvPr/>
          </p:nvSpPr>
          <p:spPr>
            <a:xfrm>
              <a:off x="1401417" y="2365513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s1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91FB7F3-3B14-4A27-9DF4-87962C888935}"/>
                </a:ext>
              </a:extLst>
            </p:cNvPr>
            <p:cNvSpPr/>
            <p:nvPr/>
          </p:nvSpPr>
          <p:spPr>
            <a:xfrm>
              <a:off x="1401417" y="3713921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s2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612162E-7B71-4682-907F-C956CC363DAF}"/>
                </a:ext>
              </a:extLst>
            </p:cNvPr>
            <p:cNvSpPr/>
            <p:nvPr/>
          </p:nvSpPr>
          <p:spPr>
            <a:xfrm>
              <a:off x="1401417" y="5062330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s3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DCE59E2F-C0F5-4619-84D9-A1F296E65FFE}"/>
                </a:ext>
              </a:extLst>
            </p:cNvPr>
            <p:cNvSpPr/>
            <p:nvPr/>
          </p:nvSpPr>
          <p:spPr>
            <a:xfrm>
              <a:off x="4446104" y="2365513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p1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8B720AF8-4CBD-4E63-91D4-F5EA74F15A73}"/>
                </a:ext>
              </a:extLst>
            </p:cNvPr>
            <p:cNvSpPr/>
            <p:nvPr/>
          </p:nvSpPr>
          <p:spPr>
            <a:xfrm>
              <a:off x="4446104" y="3713921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p2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6910E17-E2F3-4DEA-9161-FCE72FAA73E8}"/>
                </a:ext>
              </a:extLst>
            </p:cNvPr>
            <p:cNvSpPr/>
            <p:nvPr/>
          </p:nvSpPr>
          <p:spPr>
            <a:xfrm>
              <a:off x="4446104" y="5062330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p3</a:t>
              </a: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FA9AD748-70EC-4326-B7C7-DD8F8615075E}"/>
                </a:ext>
              </a:extLst>
            </p:cNvPr>
            <p:cNvCxnSpPr>
              <a:stCxn id="62" idx="6"/>
              <a:endCxn id="65" idx="2"/>
            </p:cNvCxnSpPr>
            <p:nvPr/>
          </p:nvCxnSpPr>
          <p:spPr>
            <a:xfrm>
              <a:off x="2315817" y="2822713"/>
              <a:ext cx="213028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73E4F57F-C502-441F-B17F-FF0481BB30D8}"/>
                </a:ext>
              </a:extLst>
            </p:cNvPr>
            <p:cNvCxnSpPr>
              <a:stCxn id="62" idx="6"/>
              <a:endCxn id="66" idx="2"/>
            </p:cNvCxnSpPr>
            <p:nvPr/>
          </p:nvCxnSpPr>
          <p:spPr>
            <a:xfrm>
              <a:off x="2315817" y="2822713"/>
              <a:ext cx="2130287" cy="134840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A15EFEB8-2502-4830-849B-5CA6E5B37FB1}"/>
                </a:ext>
              </a:extLst>
            </p:cNvPr>
            <p:cNvCxnSpPr>
              <a:stCxn id="62" idx="6"/>
              <a:endCxn id="67" idx="2"/>
            </p:cNvCxnSpPr>
            <p:nvPr/>
          </p:nvCxnSpPr>
          <p:spPr>
            <a:xfrm>
              <a:off x="2315817" y="2822713"/>
              <a:ext cx="2130287" cy="269681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DCDCFE17-D496-499D-A719-698E0BF5AFA5}"/>
                </a:ext>
              </a:extLst>
            </p:cNvPr>
            <p:cNvCxnSpPr>
              <a:stCxn id="63" idx="6"/>
              <a:endCxn id="65" idx="2"/>
            </p:cNvCxnSpPr>
            <p:nvPr/>
          </p:nvCxnSpPr>
          <p:spPr>
            <a:xfrm flipV="1">
              <a:off x="2315817" y="2822713"/>
              <a:ext cx="2130287" cy="134840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3E9A6F4E-5947-4C94-9442-852118DD507A}"/>
                </a:ext>
              </a:extLst>
            </p:cNvPr>
            <p:cNvCxnSpPr>
              <a:cxnSpLocks/>
              <a:stCxn id="63" idx="6"/>
              <a:endCxn id="66" idx="2"/>
            </p:cNvCxnSpPr>
            <p:nvPr/>
          </p:nvCxnSpPr>
          <p:spPr>
            <a:xfrm>
              <a:off x="2315817" y="4171121"/>
              <a:ext cx="213028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6C275508-99B9-4DB9-B8FF-ECF1F2627C1A}"/>
                </a:ext>
              </a:extLst>
            </p:cNvPr>
            <p:cNvCxnSpPr>
              <a:cxnSpLocks/>
              <a:stCxn id="63" idx="6"/>
              <a:endCxn id="67" idx="2"/>
            </p:cNvCxnSpPr>
            <p:nvPr/>
          </p:nvCxnSpPr>
          <p:spPr>
            <a:xfrm>
              <a:off x="2315817" y="4171121"/>
              <a:ext cx="2130287" cy="134840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4B929750-2ADB-49E7-915F-7D61D0EA5268}"/>
                </a:ext>
              </a:extLst>
            </p:cNvPr>
            <p:cNvCxnSpPr>
              <a:stCxn id="64" idx="6"/>
              <a:endCxn id="65" idx="2"/>
            </p:cNvCxnSpPr>
            <p:nvPr/>
          </p:nvCxnSpPr>
          <p:spPr>
            <a:xfrm flipV="1">
              <a:off x="2315817" y="2822713"/>
              <a:ext cx="2130287" cy="269681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6970740D-D926-4147-A53B-109B6C944B8D}"/>
                </a:ext>
              </a:extLst>
            </p:cNvPr>
            <p:cNvCxnSpPr>
              <a:stCxn id="64" idx="6"/>
              <a:endCxn id="67" idx="2"/>
            </p:cNvCxnSpPr>
            <p:nvPr/>
          </p:nvCxnSpPr>
          <p:spPr>
            <a:xfrm>
              <a:off x="2315817" y="5519530"/>
              <a:ext cx="213028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1F288A9C-B904-4F1B-A5FA-FFAC66730D8C}"/>
                </a:ext>
              </a:extLst>
            </p:cNvPr>
            <p:cNvCxnSpPr>
              <a:stCxn id="64" idx="6"/>
              <a:endCxn id="66" idx="2"/>
            </p:cNvCxnSpPr>
            <p:nvPr/>
          </p:nvCxnSpPr>
          <p:spPr>
            <a:xfrm flipV="1">
              <a:off x="2315817" y="4171121"/>
              <a:ext cx="2130287" cy="134840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7056532A-1ABB-4EB4-8978-EA48B283E710}"/>
              </a:ext>
            </a:extLst>
          </p:cNvPr>
          <p:cNvGrpSpPr/>
          <p:nvPr/>
        </p:nvGrpSpPr>
        <p:grpSpPr>
          <a:xfrm>
            <a:off x="6930887" y="2365513"/>
            <a:ext cx="3959087" cy="3611217"/>
            <a:chOff x="6930887" y="2365513"/>
            <a:chExt cx="3959087" cy="3611217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65DCCF64-18F5-4BC5-8C22-9356D3AD2B92}"/>
                </a:ext>
              </a:extLst>
            </p:cNvPr>
            <p:cNvSpPr/>
            <p:nvPr/>
          </p:nvSpPr>
          <p:spPr>
            <a:xfrm>
              <a:off x="6930887" y="2365513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s1</a:t>
              </a: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59077CE7-2768-4C9C-AE2C-9CC6BB3C4DEF}"/>
                </a:ext>
              </a:extLst>
            </p:cNvPr>
            <p:cNvSpPr/>
            <p:nvPr/>
          </p:nvSpPr>
          <p:spPr>
            <a:xfrm>
              <a:off x="6930887" y="3713921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s2</a:t>
              </a: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47984690-2B6C-41EA-90C0-467059999C5A}"/>
                </a:ext>
              </a:extLst>
            </p:cNvPr>
            <p:cNvSpPr/>
            <p:nvPr/>
          </p:nvSpPr>
          <p:spPr>
            <a:xfrm>
              <a:off x="6930887" y="5062330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s3</a:t>
              </a: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0986D2CF-BE9E-4F99-95FB-69CF60A97403}"/>
                </a:ext>
              </a:extLst>
            </p:cNvPr>
            <p:cNvSpPr/>
            <p:nvPr/>
          </p:nvSpPr>
          <p:spPr>
            <a:xfrm>
              <a:off x="9975574" y="2365513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p1</a:t>
              </a: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13CDEC45-B68B-44BD-8844-D64CCE9CEE1A}"/>
                </a:ext>
              </a:extLst>
            </p:cNvPr>
            <p:cNvSpPr/>
            <p:nvPr/>
          </p:nvSpPr>
          <p:spPr>
            <a:xfrm>
              <a:off x="9975574" y="3713921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p2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B8CEB490-CC2B-4AEA-8797-D066160E55FD}"/>
                </a:ext>
              </a:extLst>
            </p:cNvPr>
            <p:cNvSpPr/>
            <p:nvPr/>
          </p:nvSpPr>
          <p:spPr>
            <a:xfrm>
              <a:off x="9975574" y="5062330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p3</a:t>
              </a:r>
            </a:p>
          </p:txBody>
        </p: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81019FEF-B250-47C8-9C45-BE3E777B78D0}"/>
                </a:ext>
              </a:extLst>
            </p:cNvPr>
            <p:cNvCxnSpPr>
              <a:stCxn id="98" idx="6"/>
              <a:endCxn id="101" idx="2"/>
            </p:cNvCxnSpPr>
            <p:nvPr/>
          </p:nvCxnSpPr>
          <p:spPr>
            <a:xfrm>
              <a:off x="7845287" y="2822713"/>
              <a:ext cx="213028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3AB623F6-9B54-4B74-9BA5-63C6C1F36BDE}"/>
                </a:ext>
              </a:extLst>
            </p:cNvPr>
            <p:cNvCxnSpPr>
              <a:stCxn id="98" idx="6"/>
              <a:endCxn id="102" idx="2"/>
            </p:cNvCxnSpPr>
            <p:nvPr/>
          </p:nvCxnSpPr>
          <p:spPr>
            <a:xfrm>
              <a:off x="7845287" y="2822713"/>
              <a:ext cx="2130287" cy="134840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534F9EA0-6A85-4C79-A058-4EE481DDC848}"/>
                </a:ext>
              </a:extLst>
            </p:cNvPr>
            <p:cNvCxnSpPr>
              <a:stCxn id="98" idx="6"/>
              <a:endCxn id="103" idx="2"/>
            </p:cNvCxnSpPr>
            <p:nvPr/>
          </p:nvCxnSpPr>
          <p:spPr>
            <a:xfrm>
              <a:off x="7845287" y="2822713"/>
              <a:ext cx="2130287" cy="269681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F447739E-C414-4CD5-826A-3DFDB6BD5EB6}"/>
                </a:ext>
              </a:extLst>
            </p:cNvPr>
            <p:cNvCxnSpPr>
              <a:stCxn id="99" idx="6"/>
              <a:endCxn id="101" idx="2"/>
            </p:cNvCxnSpPr>
            <p:nvPr/>
          </p:nvCxnSpPr>
          <p:spPr>
            <a:xfrm flipV="1">
              <a:off x="7845287" y="2822713"/>
              <a:ext cx="2130287" cy="134840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CF6E4E63-2028-411F-BBBE-205C94733138}"/>
                </a:ext>
              </a:extLst>
            </p:cNvPr>
            <p:cNvCxnSpPr>
              <a:cxnSpLocks/>
              <a:stCxn id="99" idx="6"/>
              <a:endCxn id="102" idx="2"/>
            </p:cNvCxnSpPr>
            <p:nvPr/>
          </p:nvCxnSpPr>
          <p:spPr>
            <a:xfrm>
              <a:off x="7845287" y="4171121"/>
              <a:ext cx="213028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F1AAB7E6-B03A-4302-9E4A-44B409329673}"/>
                </a:ext>
              </a:extLst>
            </p:cNvPr>
            <p:cNvCxnSpPr>
              <a:cxnSpLocks/>
              <a:stCxn id="99" idx="6"/>
              <a:endCxn id="103" idx="2"/>
            </p:cNvCxnSpPr>
            <p:nvPr/>
          </p:nvCxnSpPr>
          <p:spPr>
            <a:xfrm>
              <a:off x="7845287" y="4171121"/>
              <a:ext cx="2130287" cy="134840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754BBB65-2A2F-409A-AAE7-81B52607E6A8}"/>
                </a:ext>
              </a:extLst>
            </p:cNvPr>
            <p:cNvCxnSpPr>
              <a:stCxn id="100" idx="6"/>
              <a:endCxn id="101" idx="2"/>
            </p:cNvCxnSpPr>
            <p:nvPr/>
          </p:nvCxnSpPr>
          <p:spPr>
            <a:xfrm flipV="1">
              <a:off x="7845287" y="2822713"/>
              <a:ext cx="2130287" cy="269681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40060A92-ECE4-4945-A3BB-BE964949BD82}"/>
                </a:ext>
              </a:extLst>
            </p:cNvPr>
            <p:cNvCxnSpPr>
              <a:stCxn id="100" idx="6"/>
              <a:endCxn id="103" idx="2"/>
            </p:cNvCxnSpPr>
            <p:nvPr/>
          </p:nvCxnSpPr>
          <p:spPr>
            <a:xfrm>
              <a:off x="7845287" y="5519530"/>
              <a:ext cx="2130287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1B252484-995A-4FCE-BDE4-878355DDE132}"/>
                </a:ext>
              </a:extLst>
            </p:cNvPr>
            <p:cNvCxnSpPr>
              <a:stCxn id="100" idx="6"/>
              <a:endCxn id="102" idx="2"/>
            </p:cNvCxnSpPr>
            <p:nvPr/>
          </p:nvCxnSpPr>
          <p:spPr>
            <a:xfrm flipV="1">
              <a:off x="7845287" y="4171121"/>
              <a:ext cx="2130287" cy="134840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76806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D7D6E-393A-4784-B833-7D21C4520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725"/>
            <a:ext cx="10515600" cy="4948238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>
                <a:cs typeface="Courier New" panose="02070309020205020404" pitchFamily="49" charset="0"/>
              </a:rPr>
              <a:t>Study these models and understand the Python code. It will be useful for coming lectures.</a:t>
            </a:r>
          </a:p>
          <a:p>
            <a:pPr marL="514350" indent="-514350">
              <a:buFont typeface="+mj-lt"/>
              <a:buAutoNum type="arabicPeriod"/>
            </a:pPr>
            <a:r>
              <a:rPr lang="en-GB">
                <a:cs typeface="Courier New" panose="02070309020205020404" pitchFamily="49" charset="0"/>
              </a:rPr>
              <a:t>Code the costed fire station in </a:t>
            </a:r>
            <a:r>
              <a:rPr lang="en-GB" err="1">
                <a:cs typeface="Courier New" panose="02070309020205020404" pitchFamily="49" charset="0"/>
              </a:rPr>
              <a:t>Pyomo</a:t>
            </a:r>
            <a:r>
              <a:rPr lang="en-GB">
                <a:cs typeface="Courier New" panose="02070309020205020404" pitchFamily="49" charset="0"/>
              </a:rPr>
              <a:t> using an incidence matrix (matrix of 0s and 1s). Think about how each element (city) is covered by each fire station.</a:t>
            </a:r>
          </a:p>
          <a:p>
            <a:pPr marL="514350" indent="-514350">
              <a:buFont typeface="+mj-lt"/>
              <a:buAutoNum type="arabicPeriod"/>
            </a:pPr>
            <a:endParaRPr lang="en-GB"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>
                <a:cs typeface="Courier New" panose="02070309020205020404" pitchFamily="49" charset="0"/>
              </a:rPr>
              <a:t>Look at the examples on </a:t>
            </a:r>
            <a:r>
              <a:rPr lang="en-GB" err="1">
                <a:cs typeface="Courier New" panose="02070309020205020404" pitchFamily="49" charset="0"/>
              </a:rPr>
              <a:t>Gurobi</a:t>
            </a:r>
            <a:r>
              <a:rPr lang="en-GB">
                <a:cs typeface="Courier New" panose="02070309020205020404" pitchFamily="49" charset="0"/>
              </a:rPr>
              <a:t> - </a:t>
            </a:r>
            <a:r>
              <a:rPr lang="en-GB">
                <a:cs typeface="Courier New" panose="02070309020205020404" pitchFamily="49" charset="0"/>
                <a:hlinkClick r:id="rId3"/>
              </a:rPr>
              <a:t>https://www.gurobi.com/resource/modeling-examples-using-the-gurobi-python-api-in-jupyter-notebook/</a:t>
            </a:r>
            <a:endParaRPr lang="en-GB"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>
                <a:cs typeface="Courier New" panose="02070309020205020404" pitchFamily="49" charset="0"/>
              </a:rPr>
              <a:t>Pick an example and try coding it in </a:t>
            </a:r>
            <a:r>
              <a:rPr lang="en-GB" err="1">
                <a:cs typeface="Courier New" panose="02070309020205020404" pitchFamily="49" charset="0"/>
              </a:rPr>
              <a:t>Pyomo</a:t>
            </a:r>
            <a:endParaRPr lang="en-GB"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>
                <a:cs typeface="Courier New" panose="02070309020205020404" pitchFamily="49" charset="0"/>
              </a:rPr>
              <a:t>Try coding the problems below yourself.</a:t>
            </a:r>
          </a:p>
          <a:p>
            <a:pPr marL="0" indent="0">
              <a:buNone/>
            </a:pPr>
            <a:endParaRPr lang="en-GB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>
                <a:cs typeface="Courier New" panose="02070309020205020404" pitchFamily="49" charset="0"/>
              </a:rPr>
              <a:t>Look up other problems, such as:</a:t>
            </a:r>
          </a:p>
          <a:p>
            <a:r>
              <a:rPr lang="en-GB">
                <a:cs typeface="Courier New" panose="02070309020205020404" pitchFamily="49" charset="0"/>
              </a:rPr>
              <a:t>Maximum Set Cover</a:t>
            </a:r>
          </a:p>
          <a:p>
            <a:r>
              <a:rPr lang="en-GB">
                <a:cs typeface="Courier New" panose="02070309020205020404" pitchFamily="49" charset="0"/>
              </a:rPr>
              <a:t>Minimum Edge Cover</a:t>
            </a:r>
          </a:p>
          <a:p>
            <a:r>
              <a:rPr lang="en-GB">
                <a:cs typeface="Courier New" panose="02070309020205020404" pitchFamily="49" charset="0"/>
              </a:rPr>
              <a:t>Maximum Independent Set </a:t>
            </a:r>
          </a:p>
          <a:p>
            <a:endParaRPr lang="en-GB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>
              <a:cs typeface="Courier New" panose="020703090202050204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/>
              <a:t>Tutorial </a:t>
            </a:r>
          </a:p>
        </p:txBody>
      </p:sp>
    </p:spTree>
    <p:extLst>
      <p:ext uri="{BB962C8B-B14F-4D97-AF65-F5344CB8AC3E}">
        <p14:creationId xmlns:p14="http://schemas.microsoft.com/office/powerpoint/2010/main" val="3476947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05AB76-3B20-4758-80DF-EDDDD7C672B5}">
  <ds:schemaRefs>
    <ds:schemaRef ds:uri="606370cc-c8d9-4222-8a4e-3c320f1e3034"/>
    <ds:schemaRef ds:uri="bf6b85bd-8a7e-4854-be4d-0780382295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B587AB4-D8C9-43A3-B80F-6729B49465FB}">
  <ds:schemaRefs>
    <ds:schemaRef ds:uri="606370cc-c8d9-4222-8a4e-3c320f1e3034"/>
    <ds:schemaRef ds:uri="bf6b85bd-8a7e-4854-be4d-0780382295a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1513</Words>
  <Application>Microsoft Office PowerPoint</Application>
  <PresentationFormat>Widescreen</PresentationFormat>
  <Paragraphs>404</Paragraphs>
  <Slides>28</Slides>
  <Notes>3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Cambria Math</vt:lpstr>
      <vt:lpstr>Calibri Light</vt:lpstr>
      <vt:lpstr>Courier New</vt:lpstr>
      <vt:lpstr>Calibri</vt:lpstr>
      <vt:lpstr>Arial</vt:lpstr>
      <vt:lpstr>Office Theme</vt:lpstr>
      <vt:lpstr>Integer Linear Programming</vt:lpstr>
      <vt:lpstr>Blank Slide</vt:lpstr>
      <vt:lpstr>Minimum Set Cover</vt:lpstr>
      <vt:lpstr>PowerPoint Presentation</vt:lpstr>
      <vt:lpstr>PowerPoint Presentation</vt:lpstr>
      <vt:lpstr>PowerPoint Presentation</vt:lpstr>
      <vt:lpstr>Costed Fire Station Example</vt:lpstr>
      <vt:lpstr>Costed Fire Station Example</vt:lpstr>
      <vt:lpstr>Costed Fire Station Example</vt:lpstr>
      <vt:lpstr>Edge Covering</vt:lpstr>
      <vt:lpstr>Minimum Edge Covering</vt:lpstr>
      <vt:lpstr>Minimum Vertex Cover</vt:lpstr>
      <vt:lpstr>Vertex Cover</vt:lpstr>
      <vt:lpstr>Minimum Vertex Cover</vt:lpstr>
      <vt:lpstr>Example – Installing Security Cameras</vt:lpstr>
      <vt:lpstr>Example – Installing Security Cameras</vt:lpstr>
      <vt:lpstr>Example – Installing Security Cameras</vt:lpstr>
      <vt:lpstr>Example – Installing Security Cameras</vt:lpstr>
      <vt:lpstr>Maximum Weight Matching and Assignment Problem</vt:lpstr>
      <vt:lpstr>Maximum Matching</vt:lpstr>
      <vt:lpstr>Perfect Matching</vt:lpstr>
      <vt:lpstr>Maximum Weight Matching</vt:lpstr>
      <vt:lpstr>Balanced Assignment Problem</vt:lpstr>
      <vt:lpstr>Balanced Assignment Problem</vt:lpstr>
      <vt:lpstr>Balanced Assignment Problem – Model</vt:lpstr>
      <vt:lpstr>Balanced Assignment Problem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 1</dc:title>
  <dc:creator>Sam O'Neill</dc:creator>
  <cp:lastModifiedBy>Sam O'Neill</cp:lastModifiedBy>
  <cp:revision>1</cp:revision>
  <cp:lastPrinted>2023-10-30T10:02:02Z</cp:lastPrinted>
  <dcterms:created xsi:type="dcterms:W3CDTF">2019-10-08T20:55:29Z</dcterms:created>
  <dcterms:modified xsi:type="dcterms:W3CDTF">2025-10-30T15:18:28Z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
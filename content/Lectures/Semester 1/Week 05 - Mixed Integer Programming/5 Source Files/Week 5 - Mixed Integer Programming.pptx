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4"/>
  </p:sldMasterIdLst>
  <p:sldIdLst>
    <p:sldId id="256" r:id="rId5"/>
    <p:sldId id="257" r:id="rId6"/>
    <p:sldId id="261" r:id="rId7"/>
    <p:sldId id="294" r:id="rId8"/>
    <p:sldId id="293" r:id="rId9"/>
    <p:sldId id="287" r:id="rId10"/>
    <p:sldId id="289" r:id="rId11"/>
    <p:sldId id="290" r:id="rId12"/>
    <p:sldId id="288" r:id="rId13"/>
    <p:sldId id="295" r:id="rId14"/>
    <p:sldId id="296" r:id="rId15"/>
    <p:sldId id="297" r:id="rId16"/>
    <p:sldId id="298" r:id="rId17"/>
    <p:sldId id="299" r:id="rId18"/>
    <p:sldId id="300" r:id="rId19"/>
    <p:sldId id="301" r:id="rId20"/>
    <p:sldId id="302" r:id="rId21"/>
    <p:sldId id="303" r:id="rId22"/>
    <p:sldId id="304" r:id="rId23"/>
    <p:sldId id="305" r:id="rId24"/>
    <p:sldId id="306" r:id="rId25"/>
    <p:sldId id="313" r:id="rId26"/>
    <p:sldId id="314" r:id="rId27"/>
    <p:sldId id="307" r:id="rId28"/>
    <p:sldId id="308" r:id="rId29"/>
    <p:sldId id="311" r:id="rId30"/>
    <p:sldId id="309" r:id="rId31"/>
    <p:sldId id="316" r:id="rId32"/>
    <p:sldId id="310" r:id="rId33"/>
    <p:sldId id="312" r:id="rId34"/>
    <p:sldId id="315" r:id="rId35"/>
    <p:sldId id="317" r:id="rId36"/>
  </p:sldIdLst>
  <p:sldSz cx="12192000" cy="6858000"/>
  <p:notesSz cx="6858000" cy="9144000"/>
  <p:embeddedFontLst>
    <p:embeddedFont>
      <p:font typeface="Cambria Math" panose="02040503050406030204" pitchFamily="18" charset="0"/>
      <p:regular r:id="rId3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002" autoAdjust="0"/>
    <p:restoredTop sz="94660"/>
  </p:normalViewPr>
  <p:slideViewPr>
    <p:cSldViewPr snapToGrid="0">
      <p:cViewPr varScale="1">
        <p:scale>
          <a:sx n="79" d="100"/>
          <a:sy n="79" d="100"/>
        </p:scale>
        <p:origin x="110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viewProps" Target="viewProps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microsoft.com/office/2016/11/relationships/changesInfo" Target="changesInfos/changesInfo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font" Target="fonts/font1.fntdata"/><Relationship Id="rId40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m O'Neill" userId="cb323814-a42a-4cfe-bc74-03f595e56f6e" providerId="ADAL" clId="{17ADD47D-E5AE-440A-99C5-4F3DA05BBA04}"/>
    <pc:docChg chg="modSld">
      <pc:chgData name="Sam O'Neill" userId="cb323814-a42a-4cfe-bc74-03f595e56f6e" providerId="ADAL" clId="{17ADD47D-E5AE-440A-99C5-4F3DA05BBA04}" dt="2025-10-23T11:33:38.512" v="4" actId="20577"/>
      <pc:docMkLst>
        <pc:docMk/>
      </pc:docMkLst>
      <pc:sldChg chg="modSp mod">
        <pc:chgData name="Sam O'Neill" userId="cb323814-a42a-4cfe-bc74-03f595e56f6e" providerId="ADAL" clId="{17ADD47D-E5AE-440A-99C5-4F3DA05BBA04}" dt="2025-10-23T11:33:38.512" v="4" actId="20577"/>
        <pc:sldMkLst>
          <pc:docMk/>
          <pc:sldMk cId="1906797595" sldId="299"/>
        </pc:sldMkLst>
        <pc:spChg chg="mod">
          <ac:chgData name="Sam O'Neill" userId="cb323814-a42a-4cfe-bc74-03f595e56f6e" providerId="ADAL" clId="{17ADD47D-E5AE-440A-99C5-4F3DA05BBA04}" dt="2025-10-23T11:33:38.512" v="4" actId="20577"/>
          <ac:spMkLst>
            <pc:docMk/>
            <pc:sldMk cId="1906797595" sldId="299"/>
            <ac:spMk id="6" creationId="{DB57E94D-7ABF-4564-B18E-07C64105872B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ABBAC1-2D9D-438C-84FD-5677FB2015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9D2278A-87EE-4087-BA9C-1A154C61C4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B11740-48CC-4B20-9618-94656899CD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23/10/2025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9E45EF-1488-4E98-8F1B-3F4788AC25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DB6FCC-0BC2-4AA4-925B-22D3EF2D8E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77979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767EFA-FACA-468A-B2A7-2E32FD0B90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802430-43F1-4C28-BE1C-28ED37EE7D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FBB0AA-51D3-4839-A908-7015E2EFF7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23/10/2025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DC416D-0726-4084-B6F6-452A521AF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7677A2-00AB-4338-8691-A71099F2E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13953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A5ED08-8FF7-4847-92F6-6DF83E4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B1DE87-CB76-4E70-AECB-9CBE3F3023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21CDAD-5A24-4E23-A4A4-0BE4EE23C1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23/10/2025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282401-4EE4-4C50-BED8-58196B379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B306CF-8C34-4765-AF17-57F5E452A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1011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9B6DC1-2D4C-4500-A124-3A2178B42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270328-3EAB-407A-BC9A-67303094D46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D10CF3-44D5-426B-90EA-C3216942EA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9F800DC-C93C-49EB-B420-A7C8AD13CA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23/10/2025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42C8C-018B-4C45-BF70-2979A1913F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E6DF55-225F-4BDE-BA17-DD5E62A2C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93615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5C8F6E-783B-419D-8F7A-1EE4DB2F75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CFF0B8-F056-4E7E-96D0-CFC881A80F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CCB7B8-D30F-432A-A39F-D2824661AA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7D116FF-A0B3-48D2-A545-15D737D03DD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F53AA2-3036-4360-B9B2-BFD386DB687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A0757EF-E8E3-4492-A3C9-A83CE780FB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23/10/2025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CE87707-4C6F-4EF0-93C1-82BE22E8A4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E476A2F-BA81-404B-9F96-2E20865747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054530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140136-FC6F-49F7-B359-BF7D0864AE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708460E-A6D9-4EA4-8CD9-79B728F7B0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23/10/2025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04E9CEA-31CF-495F-BF82-1B4015A103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CEC68A0-EE84-4811-A17B-F2B5C41581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13225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E83A0D1-DFE6-4040-807F-A93930F021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23/10/2025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85175EF-2BEA-46E1-8408-918366AC73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215D81-516E-4FBF-B580-FFD158DF60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068816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C2555A-2F2B-4172-B1F4-AB4425A72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D83D13-EE9C-4E69-A844-8F30111F36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A7D11B3-CD25-4C10-90FA-CDFC2010B1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F23933-0DD6-4845-AC19-36722E8711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23/10/2025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6B2963-B911-4CBA-9CE0-BA9B6C0CF7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9A3CC0-592A-49FC-87EC-1F3156F27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81134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85835-588D-4F39-814A-E404E353B9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0F9445E-A078-4E35-A97B-9EA7C9974A4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AD55AA-1343-4DA0-A1A1-C8031518BA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4BE6E0-6DE4-43F8-8D0C-02419D43CC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23/10/2025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BF1EF2-7817-4456-8AE3-85AA5F05D7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30F326-DBF6-4284-ACAC-626F757942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01338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DC0DE9-F1A0-46B8-AFDA-AB87D705A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74C441D-4127-4ED9-833F-CD2D839F522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03F0E1-708B-4A1D-8674-AF136F1A36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23/10/2025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A81D14-2BA8-4E09-BF3E-21B3C55D36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85FBFF-6587-4941-B27A-D8ACF8D52A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29000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5283187-306D-41AF-8D48-1F019C83236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3550706-0F3D-4D07-97D7-5B4C39D95A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505F43-656E-4D61-B3A3-E658893D43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23/10/2025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282740-B97C-41EF-A674-99F8FF991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CCC395-1B08-44ED-BE5A-AD0032621D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63072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9A06B44-7335-44F0-B60B-F8039489CD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8C67D6-82BB-4E0E-8D6F-ECCAFEC545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635D0A-85B9-4327-B0DD-1D2A4FC64E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A039F1-953F-4A39-846E-4A181A4AE2B1}" type="datetimeFigureOut">
              <a:rPr lang="en-GB" smtClean="0"/>
              <a:t>23/10/2025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BA259C-4727-433D-9628-60CAD269560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5CC516-E88A-4038-AA89-4BF3F93C3B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  <p:sp>
        <p:nvSpPr>
          <p:cNvPr id="7" name="MSIPCMContentMarking" descr="{&quot;HashCode&quot;:269651335,&quot;Placement&quot;:&quot;Footer&quot;}">
            <a:extLst>
              <a:ext uri="{FF2B5EF4-FFF2-40B4-BE49-F238E27FC236}">
                <a16:creationId xmlns:a16="http://schemas.microsoft.com/office/drawing/2014/main" id="{64B23A5A-228F-4E95-8C6A-4486B3D720E7}"/>
              </a:ext>
            </a:extLst>
          </p:cNvPr>
          <p:cNvSpPr txBox="1"/>
          <p:nvPr userDrawn="1"/>
        </p:nvSpPr>
        <p:spPr>
          <a:xfrm>
            <a:off x="0" y="6595656"/>
            <a:ext cx="1283967" cy="262344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GB" sz="1000">
                <a:solidFill>
                  <a:srgbClr val="000000"/>
                </a:solidFill>
                <a:latin typeface="Calibri" panose="020F0502020204030204" pitchFamily="34" charset="0"/>
              </a:rPr>
              <a:t>Sensitivity: Internal</a:t>
            </a:r>
          </a:p>
        </p:txBody>
      </p:sp>
    </p:spTree>
    <p:extLst>
      <p:ext uri="{BB962C8B-B14F-4D97-AF65-F5344CB8AC3E}">
        <p14:creationId xmlns:p14="http://schemas.microsoft.com/office/powerpoint/2010/main" val="32318785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image" Target="../media/image20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0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0.png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0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51.png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0.png"/><Relationship Id="rId5" Type="http://schemas.openxmlformats.org/officeDocument/2006/relationships/image" Target="../media/image91.png"/><Relationship Id="rId4" Type="http://schemas.openxmlformats.org/officeDocument/2006/relationships/image" Target="../media/image13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1.png"/><Relationship Id="rId2" Type="http://schemas.openxmlformats.org/officeDocument/2006/relationships/image" Target="../media/image27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7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1.png"/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34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37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40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85F331-FA4C-4E92-A9DC-B75BC327C4A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Mixed Integer Programming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D97D86-8A1E-4C21-88F2-2ADD855AA1D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7759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670DCA-349F-4E07-9481-BFF877916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D27342-B019-4230-BC68-60F4E0ADF1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Review –MILP</a:t>
            </a:r>
          </a:p>
          <a:p>
            <a:r>
              <a:rPr lang="en-GB" dirty="0"/>
              <a:t>Binary Variables</a:t>
            </a:r>
          </a:p>
          <a:p>
            <a:pPr lvl="1"/>
            <a:r>
              <a:rPr lang="en-GB" dirty="0"/>
              <a:t>Knapsack Example</a:t>
            </a:r>
          </a:p>
          <a:p>
            <a:pPr lvl="1"/>
            <a:r>
              <a:rPr lang="en-GB" dirty="0"/>
              <a:t>Set Covering Problem Example</a:t>
            </a:r>
          </a:p>
          <a:p>
            <a:pPr lvl="1"/>
            <a:r>
              <a:rPr lang="en-GB" dirty="0"/>
              <a:t>Purchasing Problem</a:t>
            </a:r>
          </a:p>
        </p:txBody>
      </p:sp>
    </p:spTree>
    <p:extLst>
      <p:ext uri="{BB962C8B-B14F-4D97-AF65-F5344CB8AC3E}">
        <p14:creationId xmlns:p14="http://schemas.microsoft.com/office/powerpoint/2010/main" val="24644771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Blank Slide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8A88B-52B3-469E-A512-B72752EB78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0109"/>
            <a:ext cx="10515600" cy="4726854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842361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85F331-FA4C-4E92-A9DC-B75BC327C4A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Review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D97D86-8A1E-4C21-88F2-2ADD855AA1D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2297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D27342-B019-4230-BC68-60F4E0ADF1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7142"/>
            <a:ext cx="10515600" cy="4649821"/>
          </a:xfrm>
        </p:spPr>
        <p:txBody>
          <a:bodyPr>
            <a:normAutofit/>
          </a:bodyPr>
          <a:lstStyle/>
          <a:p>
            <a:r>
              <a:rPr lang="en-GB" dirty="0"/>
              <a:t>Linear Objective</a:t>
            </a:r>
          </a:p>
          <a:p>
            <a:r>
              <a:rPr lang="en-GB" dirty="0"/>
              <a:t>Linear Constraints</a:t>
            </a:r>
          </a:p>
          <a:p>
            <a:r>
              <a:rPr lang="en-GB" dirty="0"/>
              <a:t>Some or all of the decision variables are restricted to be integers</a:t>
            </a:r>
          </a:p>
          <a:p>
            <a:endParaRPr lang="en-GB" dirty="0"/>
          </a:p>
          <a:p>
            <a:pPr marL="0" indent="0">
              <a:buNone/>
            </a:pPr>
            <a:r>
              <a:rPr lang="en-GB" dirty="0" err="1"/>
              <a:t>e.g</a:t>
            </a:r>
            <a:endParaRPr lang="en-GB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B57E94D-7ABF-4564-B18E-07C64105872B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062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What is a Mixed-Integer Linear Program</a:t>
            </a:r>
            <a:endParaRPr lang="en-GB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B934FDF3-D3CC-493E-B3AE-42951DF22101}"/>
                  </a:ext>
                </a:extLst>
              </p:cNvPr>
              <p:cNvSpPr/>
              <p:nvPr/>
            </p:nvSpPr>
            <p:spPr>
              <a:xfrm>
                <a:off x="1967345" y="3636390"/>
                <a:ext cx="4128655" cy="203132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GB" dirty="0"/>
                  <a:t>maximise     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=2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+3.5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GB" dirty="0"/>
              </a:p>
              <a:p>
                <a:r>
                  <a:rPr lang="en-GB" dirty="0"/>
                  <a:t>subject to:	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14</m:t>
                      </m:r>
                    </m:oMath>
                    <m:oMath xmlns:m="http://schemas.openxmlformats.org/officeDocument/2006/math">
                      <m:r>
                        <a:rPr lang="en-GB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+3</m:t>
                      </m:r>
                      <m:r>
                        <a:rPr lang="en-GB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≤12.5</m:t>
                      </m:r>
                    </m:oMath>
                  </m:oMathPara>
                </a14:m>
                <a:br>
                  <a:rPr lang="en-GB" i="1" dirty="0">
                    <a:solidFill>
                      <a:srgbClr val="00B050"/>
                    </a:solidFill>
                    <a:latin typeface="Cambria Math" panose="02040503050406030204" pitchFamily="18" charset="0"/>
                  </a:rPr>
                </a:br>
                <a:r>
                  <a:rPr lang="en-GB" dirty="0"/>
                  <a:t>and</a:t>
                </a:r>
                <a:br>
                  <a:rPr lang="en-GB" i="1" dirty="0">
                    <a:solidFill>
                      <a:schemeClr val="accent2"/>
                    </a:solidFill>
                    <a:latin typeface="Cambria Math" panose="02040503050406030204" pitchFamily="18" charset="0"/>
                  </a:rPr>
                </a:br>
                <a:r>
                  <a:rPr lang="en-GB" i="1" dirty="0">
                    <a:solidFill>
                      <a:schemeClr val="accent2"/>
                    </a:solidFill>
                    <a:latin typeface="Cambria Math" panose="02040503050406030204" pitchFamily="18" charset="0"/>
                  </a:rPr>
                  <a:t> 		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𝑦</m:t>
                    </m:r>
                    <m:r>
                      <m:rPr>
                        <m:aln/>
                      </m:rPr>
                      <a:rPr lang="en-GB" i="1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br>
                  <a:rPr lang="en-GB" i="1" dirty="0">
                    <a:latin typeface="Cambria Math" panose="02040503050406030204" pitchFamily="18" charset="0"/>
                  </a:rPr>
                </a:br>
                <a:r>
                  <a:rPr lang="en-GB" i="1" dirty="0">
                    <a:latin typeface="Cambria Math" panose="02040503050406030204" pitchFamily="18" charset="0"/>
                  </a:rPr>
                  <a:t> 		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ℤ</m:t>
                    </m:r>
                  </m:oMath>
                </a14:m>
                <a:endParaRPr lang="en-GB" sz="1400" u="sng" dirty="0"/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B934FDF3-D3CC-493E-B3AE-42951DF2210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67345" y="3636390"/>
                <a:ext cx="4128655" cy="2031325"/>
              </a:xfrm>
              <a:prstGeom prst="rect">
                <a:avLst/>
              </a:prstGeom>
              <a:blipFill>
                <a:blip r:embed="rId2"/>
                <a:stretch>
                  <a:fillRect l="-1329" t="-1802" b="-3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CEB19BF4-B3E2-47AE-8A23-8ECDC94ECE7C}"/>
                  </a:ext>
                </a:extLst>
              </p:cNvPr>
              <p:cNvSpPr/>
              <p:nvPr/>
            </p:nvSpPr>
            <p:spPr>
              <a:xfrm>
                <a:off x="6834670" y="3636390"/>
                <a:ext cx="4128655" cy="203132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GB" dirty="0"/>
                  <a:t>maximise     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=2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+3.5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GB" dirty="0"/>
              </a:p>
              <a:p>
                <a:r>
                  <a:rPr lang="en-GB" dirty="0"/>
                  <a:t>subject to:	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14</m:t>
                      </m:r>
                    </m:oMath>
                    <m:oMath xmlns:m="http://schemas.openxmlformats.org/officeDocument/2006/math">
                      <m:r>
                        <a:rPr lang="en-GB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+3</m:t>
                      </m:r>
                      <m:r>
                        <a:rPr lang="en-GB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≤12.5</m:t>
                      </m:r>
                    </m:oMath>
                  </m:oMathPara>
                </a14:m>
                <a:br>
                  <a:rPr lang="en-GB" i="1" dirty="0">
                    <a:solidFill>
                      <a:srgbClr val="00B050"/>
                    </a:solidFill>
                    <a:latin typeface="Cambria Math" panose="02040503050406030204" pitchFamily="18" charset="0"/>
                  </a:rPr>
                </a:br>
                <a:r>
                  <a:rPr lang="en-GB" dirty="0"/>
                  <a:t>and</a:t>
                </a:r>
                <a:br>
                  <a:rPr lang="en-GB" i="1" dirty="0">
                    <a:solidFill>
                      <a:schemeClr val="accent2"/>
                    </a:solidFill>
                    <a:latin typeface="Cambria Math" panose="02040503050406030204" pitchFamily="18" charset="0"/>
                  </a:rPr>
                </a:br>
                <a:r>
                  <a:rPr lang="en-GB" i="1" dirty="0">
                    <a:solidFill>
                      <a:schemeClr val="accent2"/>
                    </a:solidFill>
                    <a:latin typeface="Cambria Math" panose="02040503050406030204" pitchFamily="18" charset="0"/>
                  </a:rPr>
                  <a:t> 		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𝑦</m:t>
                    </m:r>
                    <m:r>
                      <m:rPr>
                        <m:aln/>
                      </m:rPr>
                      <a:rPr lang="en-GB" i="1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br>
                  <a:rPr lang="en-GB" i="1" dirty="0">
                    <a:latin typeface="Cambria Math" panose="02040503050406030204" pitchFamily="18" charset="0"/>
                  </a:rPr>
                </a:br>
                <a:r>
                  <a:rPr lang="en-GB" i="1" dirty="0">
                    <a:latin typeface="Cambria Math" panose="02040503050406030204" pitchFamily="18" charset="0"/>
                  </a:rPr>
                  <a:t> 		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ℤ</m:t>
                    </m:r>
                  </m:oMath>
                </a14:m>
                <a:endParaRPr lang="en-GB" sz="1400" u="sng" dirty="0"/>
              </a:p>
            </p:txBody>
          </p:sp>
        </mc:Choice>
        <mc:Fallback xmlns="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CEB19BF4-B3E2-47AE-8A23-8ECDC94ECE7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4670" y="3636390"/>
                <a:ext cx="4128655" cy="2031325"/>
              </a:xfrm>
              <a:prstGeom prst="rect">
                <a:avLst/>
              </a:prstGeom>
              <a:blipFill>
                <a:blip r:embed="rId3"/>
                <a:stretch>
                  <a:fillRect l="-1182" t="-180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455601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7" grpId="0"/>
      <p:bldP spid="8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Linear Program Solution Without Integers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8A88B-52B3-469E-A512-B72752EB78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0109"/>
            <a:ext cx="10515600" cy="4726854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endParaRPr lang="en-GB" dirty="0"/>
          </a:p>
          <a:p>
            <a:pPr marL="0" lvl="0" indent="0">
              <a:buNone/>
            </a:pP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F878BBEB-A064-4796-B5E0-3607E13FED4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98419" y="1617038"/>
                <a:ext cx="4289982" cy="2330039"/>
              </a:xfrm>
              <a:prstGeom prst="rect">
                <a:avLst/>
              </a:prstGeom>
              <a:ln w="28575">
                <a:solidFill>
                  <a:schemeClr val="tx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sz="2000" dirty="0"/>
                  <a:t>maximise      </a:t>
                </a:r>
                <a14:m>
                  <m:oMath xmlns:m="http://schemas.openxmlformats.org/officeDocument/2006/math">
                    <m:r>
                      <a:rPr lang="en-GB" sz="2000" b="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GB" sz="2000" b="0" i="1" dirty="0" smtClean="0">
                        <a:latin typeface="Cambria Math" panose="02040503050406030204" pitchFamily="18" charset="0"/>
                      </a:rPr>
                      <m:t>=2</m:t>
                    </m:r>
                    <m:r>
                      <a:rPr lang="en-GB" sz="200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sz="2000" i="1" dirty="0" smtClean="0">
                        <a:latin typeface="Cambria Math" panose="02040503050406030204" pitchFamily="18" charset="0"/>
                      </a:rPr>
                      <m:t>+3.5</m:t>
                    </m:r>
                    <m:r>
                      <a:rPr lang="en-GB" sz="2000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GB" sz="20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sz="2000" dirty="0"/>
                  <a:t>subject to:	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sz="20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0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sz="20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sz="20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sz="20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14</m:t>
                      </m:r>
                    </m:oMath>
                    <m:oMath xmlns:m="http://schemas.openxmlformats.org/officeDocument/2006/math">
                      <m:r>
                        <a:rPr lang="en-GB" sz="20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sz="20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0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+3</m:t>
                      </m:r>
                      <m:r>
                        <a:rPr lang="en-GB" sz="20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sz="20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≤12.5</m:t>
                      </m:r>
                    </m:oMath>
                    <m:oMath xmlns:m="http://schemas.openxmlformats.org/officeDocument/2006/math">
                      <m:r>
                        <a:rPr lang="en-GB" sz="2000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GB" sz="2000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000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sz="2000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sz="2000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sz="2000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GB" sz="2000" i="1" dirty="0">
                  <a:solidFill>
                    <a:srgbClr val="7030A0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GB" sz="2000" dirty="0"/>
                  <a:t>and</a:t>
                </a:r>
                <a:br>
                  <a:rPr lang="en-GB" sz="2000" i="1" dirty="0">
                    <a:solidFill>
                      <a:schemeClr val="accent2"/>
                    </a:solidFill>
                    <a:latin typeface="Cambria Math" panose="02040503050406030204" pitchFamily="18" charset="0"/>
                  </a:rPr>
                </a:br>
                <a:r>
                  <a:rPr lang="en-GB" sz="2000" i="1" dirty="0">
                    <a:solidFill>
                      <a:schemeClr val="accent2"/>
                    </a:solidFill>
                    <a:latin typeface="Cambria Math" panose="02040503050406030204" pitchFamily="18" charset="0"/>
                  </a:rPr>
                  <a:t> 		     </a:t>
                </a:r>
                <a14:m>
                  <m:oMath xmlns:m="http://schemas.openxmlformats.org/officeDocument/2006/math">
                    <m:r>
                      <a:rPr lang="en-GB" sz="20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sz="20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GB" sz="2000" i="1">
                        <a:latin typeface="Cambria Math" panose="02040503050406030204" pitchFamily="18" charset="0"/>
                      </a:rPr>
                      <m:t>𝑦</m:t>
                    </m:r>
                    <m:r>
                      <m:rPr>
                        <m:aln/>
                      </m:rPr>
                      <a:rPr lang="en-GB" sz="2000" i="1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GB" sz="2000" i="1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GB" sz="1600" u="sng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GB" sz="1600" u="sng" dirty="0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F878BBEB-A064-4796-B5E0-3607E13FED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8419" y="1617038"/>
                <a:ext cx="4289982" cy="2330039"/>
              </a:xfrm>
              <a:prstGeom prst="rect">
                <a:avLst/>
              </a:prstGeom>
              <a:blipFill>
                <a:blip r:embed="rId2"/>
                <a:stretch>
                  <a:fillRect l="-1128" t="-2067"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CAE0188A-A546-403F-9827-F8E68A1E2A8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98419" y="4367638"/>
                <a:ext cx="4289982" cy="1388764"/>
              </a:xfrm>
              <a:prstGeom prst="rect">
                <a:avLst/>
              </a:prstGeom>
              <a:ln w="28575">
                <a:solidFill>
                  <a:schemeClr val="tx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sz="2000" dirty="0"/>
                  <a:t>Optimal Solution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GB" sz="2000" u="sng" dirty="0"/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16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16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p>
                          <m:r>
                            <a:rPr lang="en-GB" sz="1600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GB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=(1.9,2.9)</m:t>
                      </m:r>
                    </m:oMath>
                  </m:oMathPara>
                </a14:m>
                <a:endParaRPr lang="en-GB" sz="16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1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p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=13.</m:t>
                      </m:r>
                      <m:r>
                        <a:rPr lang="en-GB" sz="1600" b="0" i="0" smtClean="0">
                          <a:latin typeface="Cambria Math" panose="02040503050406030204" pitchFamily="18" charset="0"/>
                        </a:rPr>
                        <m:t>95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CAE0188A-A546-403F-9827-F8E68A1E2A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8419" y="4367638"/>
                <a:ext cx="4289982" cy="1388764"/>
              </a:xfrm>
              <a:prstGeom prst="rect">
                <a:avLst/>
              </a:prstGeom>
              <a:blipFill>
                <a:blip r:embed="rId3"/>
                <a:stretch>
                  <a:fillRect l="-1128" t="-3433"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10">
            <a:extLst>
              <a:ext uri="{FF2B5EF4-FFF2-40B4-BE49-F238E27FC236}">
                <a16:creationId xmlns:a16="http://schemas.microsoft.com/office/drawing/2014/main" id="{4471E226-A92A-42BD-B44C-D06557447C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46654" y="1450109"/>
            <a:ext cx="6581775" cy="456247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2915145B-275F-437D-A101-CBEC8D0DD57B}"/>
                  </a:ext>
                </a:extLst>
              </p:cNvPr>
              <p:cNvSpPr/>
              <p:nvPr/>
            </p:nvSpPr>
            <p:spPr>
              <a:xfrm>
                <a:off x="9575735" y="2305628"/>
                <a:ext cx="1660006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+3.5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2915145B-275F-437D-A101-CBEC8D0DD57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75735" y="2305628"/>
                <a:ext cx="1660006" cy="369332"/>
              </a:xfrm>
              <a:prstGeom prst="rect">
                <a:avLst/>
              </a:prstGeom>
              <a:blipFill>
                <a:blip r:embed="rId5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196470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12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Rounded Solutions</a:t>
            </a:r>
            <a:endParaRPr lang="en-GB" u="sn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8A88B-52B3-469E-A512-B72752EB78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0109"/>
            <a:ext cx="10515600" cy="4726854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endParaRPr lang="en-GB" dirty="0"/>
          </a:p>
          <a:p>
            <a:pPr marL="0" lvl="0" indent="0">
              <a:buNone/>
            </a:pP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CAE0188A-A546-403F-9827-F8E68A1E2A8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67622" y="1399598"/>
                <a:ext cx="4289982" cy="1388764"/>
              </a:xfrm>
              <a:prstGeom prst="rect">
                <a:avLst/>
              </a:prstGeom>
              <a:ln w="28575">
                <a:solidFill>
                  <a:schemeClr val="tx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sz="2000" dirty="0"/>
                  <a:t>Optimal Solution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GB" sz="2000" u="sng" dirty="0"/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16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16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p>
                          <m:r>
                            <a:rPr lang="en-GB" sz="1600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GB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=(1.9,2.9)</m:t>
                      </m:r>
                    </m:oMath>
                  </m:oMathPara>
                </a14:m>
                <a:endParaRPr lang="en-GB" sz="16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1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p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=13.95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CAE0188A-A546-403F-9827-F8E68A1E2A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622" y="1399598"/>
                <a:ext cx="4289982" cy="1388764"/>
              </a:xfrm>
              <a:prstGeom prst="rect">
                <a:avLst/>
              </a:prstGeom>
              <a:blipFill>
                <a:blip r:embed="rId2"/>
                <a:stretch>
                  <a:fillRect l="-1128" t="-3879"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A585A4FB-0B6E-4E47-8A78-94F6A9737B3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67622" y="3134656"/>
                <a:ext cx="4289982" cy="3042307"/>
              </a:xfrm>
              <a:prstGeom prst="rect">
                <a:avLst/>
              </a:prstGeom>
              <a:ln w="28575">
                <a:solidFill>
                  <a:schemeClr val="tx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50000"/>
                  </a:lnSpc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6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GB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=(1,2)</m:t>
                      </m:r>
                    </m:oMath>
                  </m:oMathPara>
                </a14:m>
                <a:endParaRPr lang="en-GB" sz="1600" dirty="0"/>
              </a:p>
              <a:p>
                <a:pPr marL="0" indent="0">
                  <a:lnSpc>
                    <a:spcPct val="150000"/>
                  </a:lnSpc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1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p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=9</m:t>
                      </m:r>
                    </m:oMath>
                  </m:oMathPara>
                </a14:m>
                <a:endParaRPr lang="en-GB" sz="1600" dirty="0"/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6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GB" sz="1600" i="1">
                          <a:latin typeface="Cambria Math" panose="02040503050406030204" pitchFamily="18" charset="0"/>
                        </a:rPr>
                        <m:t>=(1,</m:t>
                      </m:r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sz="1600" dirty="0"/>
              </a:p>
              <a:p>
                <a:pPr marL="0" indent="0" algn="ctr">
                  <a:lnSpc>
                    <a:spcPct val="100000"/>
                  </a:lnSpc>
                  <a:buNone/>
                </a:pPr>
                <a:r>
                  <a:rPr lang="en-GB" sz="1600" b="1" dirty="0"/>
                  <a:t>Infeasible!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6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GB" sz="1600" i="1">
                          <a:latin typeface="Cambria Math" panose="02040503050406030204" pitchFamily="18" charset="0"/>
                        </a:rPr>
                        <m:t>=(</m:t>
                      </m:r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,2)</m:t>
                      </m:r>
                    </m:oMath>
                  </m:oMathPara>
                </a14:m>
                <a:endParaRPr lang="en-GB" sz="1600" dirty="0"/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p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GB" sz="16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11</m:t>
                      </m:r>
                    </m:oMath>
                  </m:oMathPara>
                </a14:m>
                <a:endParaRPr lang="en-GB" sz="1600" dirty="0"/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6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GB" sz="1600" i="1">
                          <a:latin typeface="Cambria Math" panose="02040503050406030204" pitchFamily="18" charset="0"/>
                        </a:rPr>
                        <m:t>=(</m:t>
                      </m:r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sz="1600" dirty="0"/>
              </a:p>
              <a:p>
                <a:pPr marL="0" indent="0" algn="ctr">
                  <a:lnSpc>
                    <a:spcPct val="100000"/>
                  </a:lnSpc>
                  <a:buNone/>
                </a:pPr>
                <a:r>
                  <a:rPr lang="en-GB" sz="1600" b="1" dirty="0"/>
                  <a:t>Infeasible!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:endParaRPr lang="en-GB" sz="1600" dirty="0"/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A585A4FB-0B6E-4E47-8A78-94F6A9737B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622" y="3134656"/>
                <a:ext cx="4289982" cy="3042307"/>
              </a:xfrm>
              <a:prstGeom prst="rect">
                <a:avLst/>
              </a:prstGeom>
              <a:blipFill>
                <a:blip r:embed="rId3"/>
                <a:stretch>
                  <a:fillRect b="-1587"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2C90E30B-8361-908F-6F93-2BE69F5C555C}"/>
              </a:ext>
            </a:extLst>
          </p:cNvPr>
          <p:cNvGrpSpPr/>
          <p:nvPr/>
        </p:nvGrpSpPr>
        <p:grpSpPr>
          <a:xfrm>
            <a:off x="5246654" y="1450109"/>
            <a:ext cx="6581775" cy="4562475"/>
            <a:chOff x="5246654" y="1450109"/>
            <a:chExt cx="6581775" cy="4562475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39D7DB87-1C37-46CF-9899-EE47228F1EA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246654" y="1450109"/>
              <a:ext cx="6581775" cy="4562475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CA30A218-CFB1-4A35-B5EF-78C48F20D340}"/>
                    </a:ext>
                  </a:extLst>
                </p:cNvPr>
                <p:cNvSpPr/>
                <p:nvPr/>
              </p:nvSpPr>
              <p:spPr>
                <a:xfrm>
                  <a:off x="9575735" y="2305628"/>
                  <a:ext cx="1660006" cy="3693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=2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+3.5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en-GB" dirty="0"/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CA30A218-CFB1-4A35-B5EF-78C48F20D34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75735" y="2305628"/>
                  <a:ext cx="1660006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0519208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build="p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Rounded Solutions</a:t>
            </a:r>
            <a:endParaRPr lang="en-GB" u="sn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8A88B-52B3-469E-A512-B72752EB78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0109"/>
            <a:ext cx="10515600" cy="4726854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endParaRPr lang="en-GB" dirty="0"/>
          </a:p>
          <a:p>
            <a:pPr marL="0" lvl="0" indent="0">
              <a:buNone/>
            </a:pP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A585A4FB-0B6E-4E47-8A78-94F6A9737B3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67622" y="1845728"/>
                <a:ext cx="4277755" cy="3684711"/>
              </a:xfrm>
              <a:prstGeom prst="rect">
                <a:avLst/>
              </a:prstGeom>
              <a:ln w="28575">
                <a:solidFill>
                  <a:schemeClr val="tx1"/>
                </a:solidFill>
              </a:ln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50000"/>
                  </a:lnSpc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GB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=(1,2)</m:t>
                      </m:r>
                    </m:oMath>
                  </m:oMathPara>
                </a14:m>
                <a:endParaRPr lang="en-GB" sz="2000" dirty="0"/>
              </a:p>
              <a:p>
                <a:pPr marL="0" indent="0">
                  <a:lnSpc>
                    <a:spcPct val="150000"/>
                  </a:lnSpc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=9</m:t>
                      </m:r>
                    </m:oMath>
                  </m:oMathPara>
                </a14:m>
                <a:endParaRPr lang="en-GB" sz="2000" dirty="0"/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GB" sz="20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GB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GB" sz="2000" i="1">
                          <a:latin typeface="Cambria Math" panose="02040503050406030204" pitchFamily="18" charset="0"/>
                        </a:rPr>
                        <m:t>=(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sz="2000" i="1">
                          <a:latin typeface="Cambria Math" panose="02040503050406030204" pitchFamily="18" charset="0"/>
                        </a:rPr>
                        <m:t>,2)</m:t>
                      </m:r>
                    </m:oMath>
                  </m:oMathPara>
                </a14:m>
                <a:endParaRPr lang="en-GB" sz="2000" dirty="0"/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GB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11</m:t>
                      </m:r>
                    </m:oMath>
                  </m:oMathPara>
                </a14:m>
                <a:endParaRPr lang="en-GB" sz="2000" dirty="0"/>
              </a:p>
              <a:p>
                <a:pPr marL="0" indent="0">
                  <a:lnSpc>
                    <a:spcPct val="150000"/>
                  </a:lnSpc>
                  <a:buNone/>
                </a:pPr>
                <a:r>
                  <a:rPr lang="en-GB" sz="2000" dirty="0"/>
                  <a:t>However!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0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0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p>
                          <m:r>
                            <a:rPr lang="en-GB" sz="2000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GB" sz="20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GB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GB" sz="2000" i="1">
                          <a:latin typeface="Cambria Math" panose="02040503050406030204" pitchFamily="18" charset="0"/>
                        </a:rPr>
                        <m:t>=(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sz="2000" i="1">
                          <a:latin typeface="Cambria Math" panose="02040503050406030204" pitchFamily="18" charset="0"/>
                        </a:rPr>
                        <m:t>,2)</m:t>
                      </m:r>
                    </m:oMath>
                  </m:oMathPara>
                </a14:m>
                <a:endParaRPr lang="en-GB" sz="2000" dirty="0"/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000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p>
                          <m:r>
                            <a:rPr lang="en-GB" sz="20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GB" sz="2000" i="1">
                          <a:latin typeface="Cambria Math" panose="02040503050406030204" pitchFamily="18" charset="0"/>
                        </a:rPr>
                        <m:t>=1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GB" sz="2000" dirty="0"/>
              </a:p>
              <a:p>
                <a:pPr marL="0" indent="0">
                  <a:lnSpc>
                    <a:spcPct val="150000"/>
                  </a:lnSpc>
                  <a:buNone/>
                </a:pPr>
                <a:endParaRPr lang="en-GB" sz="2000" dirty="0"/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A585A4FB-0B6E-4E47-8A78-94F6A9737B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622" y="1845728"/>
                <a:ext cx="4277755" cy="3684711"/>
              </a:xfrm>
              <a:prstGeom prst="rect">
                <a:avLst/>
              </a:prstGeom>
              <a:blipFill>
                <a:blip r:embed="rId2"/>
                <a:stretch>
                  <a:fillRect l="-1132"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8EDD79A2-BA06-43F6-A166-3DA22070E8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3023" y="1497333"/>
            <a:ext cx="6715125" cy="43815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9C1189B2-A2BB-482B-894F-3064D0281ED9}"/>
                  </a:ext>
                </a:extLst>
              </p:cNvPr>
              <p:cNvSpPr/>
              <p:nvPr/>
            </p:nvSpPr>
            <p:spPr>
              <a:xfrm>
                <a:off x="9773698" y="1845728"/>
                <a:ext cx="1660006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+3.5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9C1189B2-A2BB-482B-894F-3064D0281ED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73698" y="1845728"/>
                <a:ext cx="1660006" cy="369332"/>
              </a:xfrm>
              <a:prstGeom prst="rect">
                <a:avLst/>
              </a:prstGeom>
              <a:blipFill>
                <a:blip r:embed="rId4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586665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 animBg="1"/>
      <p:bldP spid="12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7AE6ED6-0FDE-D22E-C9FB-2816149524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7607" y="1376733"/>
            <a:ext cx="7293887" cy="510129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Integer Solution via </a:t>
            </a:r>
            <a:r>
              <a:rPr lang="en-GB" dirty="0" err="1"/>
              <a:t>Pyomo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113A9BAE-B2B6-427C-97CF-F1B19CFC02A4}"/>
                  </a:ext>
                </a:extLst>
              </p:cNvPr>
              <p:cNvSpPr/>
              <p:nvPr/>
            </p:nvSpPr>
            <p:spPr>
              <a:xfrm>
                <a:off x="979054" y="1619055"/>
                <a:ext cx="4128655" cy="230832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GB" dirty="0"/>
                  <a:t>maximise     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=2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+3.5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GB" dirty="0"/>
              </a:p>
              <a:p>
                <a:r>
                  <a:rPr lang="en-GB" dirty="0"/>
                  <a:t>subject to:	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14</m:t>
                      </m:r>
                    </m:oMath>
                    <m:oMath xmlns:m="http://schemas.openxmlformats.org/officeDocument/2006/math">
                      <m:r>
                        <a:rPr lang="en-GB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+3</m:t>
                      </m:r>
                      <m:r>
                        <a:rPr lang="en-GB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≤12.5</m:t>
                      </m:r>
                    </m:oMath>
                    <m:oMath xmlns:m="http://schemas.openxmlformats.org/officeDocument/2006/math"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GB" i="1" dirty="0">
                  <a:solidFill>
                    <a:srgbClr val="7030A0"/>
                  </a:solidFill>
                  <a:latin typeface="Cambria Math" panose="02040503050406030204" pitchFamily="18" charset="0"/>
                </a:endParaRPr>
              </a:p>
              <a:p>
                <a:r>
                  <a:rPr lang="en-GB" dirty="0"/>
                  <a:t>and</a:t>
                </a:r>
                <a:br>
                  <a:rPr lang="en-GB" i="1" dirty="0">
                    <a:solidFill>
                      <a:schemeClr val="accent2"/>
                    </a:solidFill>
                    <a:latin typeface="Cambria Math" panose="02040503050406030204" pitchFamily="18" charset="0"/>
                  </a:rPr>
                </a:br>
                <a:r>
                  <a:rPr lang="en-GB" i="1" dirty="0">
                    <a:solidFill>
                      <a:schemeClr val="accent2"/>
                    </a:solidFill>
                    <a:latin typeface="Cambria Math" panose="02040503050406030204" pitchFamily="18" charset="0"/>
                  </a:rPr>
                  <a:t> 		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𝑦</m:t>
                    </m:r>
                    <m:r>
                      <m:rPr>
                        <m:aln/>
                      </m:rPr>
                      <a:rPr lang="en-GB" i="1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br>
                  <a:rPr lang="en-GB" i="1" dirty="0">
                    <a:latin typeface="Cambria Math" panose="02040503050406030204" pitchFamily="18" charset="0"/>
                  </a:rPr>
                </a:br>
                <a:r>
                  <a:rPr lang="en-GB" i="1" dirty="0">
                    <a:latin typeface="Cambria Math" panose="02040503050406030204" pitchFamily="18" charset="0"/>
                  </a:rPr>
                  <a:t> 		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ℤ</m:t>
                    </m:r>
                  </m:oMath>
                </a14:m>
                <a:endParaRPr lang="en-GB" sz="1400" u="sng" dirty="0"/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113A9BAE-B2B6-427C-97CF-F1B19CFC02A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9054" y="1619055"/>
                <a:ext cx="4128655" cy="2308324"/>
              </a:xfrm>
              <a:prstGeom prst="rect">
                <a:avLst/>
              </a:prstGeom>
              <a:blipFill>
                <a:blip r:embed="rId3"/>
                <a:stretch>
                  <a:fillRect l="-1329" t="-1587" b="-26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D55C7E04-0C4C-4AA7-B4CD-8C9AA67BAF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19255" y="4067389"/>
            <a:ext cx="905001" cy="2305372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BA3AE2C3-8C49-4731-9C2D-D3E3C0103A2E}"/>
                  </a:ext>
                </a:extLst>
              </p:cNvPr>
              <p:cNvSpPr/>
              <p:nvPr/>
            </p:nvSpPr>
            <p:spPr>
              <a:xfrm>
                <a:off x="979054" y="4700335"/>
                <a:ext cx="2797313" cy="1077218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GB" sz="1600" u="sng" dirty="0"/>
                  <a:t>Optimal Solution</a:t>
                </a:r>
              </a:p>
              <a:p>
                <a:endParaRPr lang="en-GB" sz="1600" u="sng" dirty="0"/>
              </a:p>
              <a:p>
                <a:r>
                  <a:rPr lang="en-GB" sz="1600" b="1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sz="1600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16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p>
                        <m:r>
                          <a:rPr lang="en-GB" sz="1600" b="1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GB" sz="1600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GB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16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GB" sz="16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GB" sz="16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GB" sz="1600" i="1">
                        <a:latin typeface="Cambria Math" panose="02040503050406030204" pitchFamily="18" charset="0"/>
                      </a:rPr>
                      <m:t>=(</m:t>
                    </m:r>
                    <m:r>
                      <a:rPr lang="en-GB" sz="1600" b="0" i="1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GB" sz="16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GB" sz="160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GB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GB" sz="1600" dirty="0"/>
              </a:p>
              <a:p>
                <a:r>
                  <a:rPr lang="en-GB" sz="16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1600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p>
                        <m:r>
                          <a:rPr lang="en-GB" sz="16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GB" sz="1600" i="1">
                        <a:latin typeface="Cambria Math" panose="02040503050406030204" pitchFamily="18" charset="0"/>
                      </a:rPr>
                      <m:t>=13</m:t>
                    </m:r>
                  </m:oMath>
                </a14:m>
                <a:endParaRPr lang="en-GB" sz="1600" dirty="0"/>
              </a:p>
            </p:txBody>
          </p:sp>
        </mc:Choice>
        <mc:Fallback xmlns="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BA3AE2C3-8C49-4731-9C2D-D3E3C0103A2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9054" y="4700335"/>
                <a:ext cx="2797313" cy="1077218"/>
              </a:xfrm>
              <a:prstGeom prst="rect">
                <a:avLst/>
              </a:prstGeom>
              <a:blipFill>
                <a:blip r:embed="rId5"/>
                <a:stretch>
                  <a:fillRect l="-1310" t="-169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07084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85F331-FA4C-4E92-A9DC-B75BC327C4A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Binary Variables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D97D86-8A1E-4C21-88F2-2ADD855AA1D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67294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ED27342-B019-4230-BC68-60F4E0ADF16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27142"/>
                <a:ext cx="10515600" cy="4649821"/>
              </a:xfrm>
            </p:spPr>
            <p:txBody>
              <a:bodyPr>
                <a:normAutofit/>
              </a:bodyPr>
              <a:lstStyle/>
              <a:p>
                <a:r>
                  <a:rPr lang="en-GB" dirty="0"/>
                  <a:t>A decision variable that is either 0 or 1</a:t>
                </a:r>
              </a:p>
              <a:p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This is also an integer variable restricted to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≥0</m:t>
                    </m:r>
                  </m:oMath>
                </a14:m>
                <a:r>
                  <a:rPr lang="en-GB" dirty="0"/>
                  <a:t> and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≤1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ED27342-B019-4230-BC68-60F4E0ADF16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27142"/>
                <a:ext cx="10515600" cy="4649821"/>
              </a:xfrm>
              <a:blipFill>
                <a:blip r:embed="rId2"/>
                <a:stretch>
                  <a:fillRect l="-1217" t="-223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DB57E94D-7ABF-4564-B18E-07C64105872B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062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What is a Binary Variable</a:t>
            </a:r>
            <a:endParaRPr lang="en-GB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1EC7BD6E-EC9B-4D31-94F4-11E3C3D4AA2B}"/>
                  </a:ext>
                </a:extLst>
              </p:cNvPr>
              <p:cNvSpPr/>
              <p:nvPr/>
            </p:nvSpPr>
            <p:spPr>
              <a:xfrm>
                <a:off x="1106078" y="2274838"/>
                <a:ext cx="4314334" cy="230832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GB" dirty="0"/>
                  <a:t>maximise     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=2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+3.5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GB" dirty="0"/>
              </a:p>
              <a:p>
                <a:r>
                  <a:rPr lang="en-GB" dirty="0"/>
                  <a:t>subject to:	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14</m:t>
                      </m:r>
                    </m:oMath>
                    <m:oMath xmlns:m="http://schemas.openxmlformats.org/officeDocument/2006/math">
                      <m:r>
                        <a:rPr lang="en-GB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+3</m:t>
                      </m:r>
                      <m:r>
                        <a:rPr lang="en-GB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≤12.5</m:t>
                      </m:r>
                    </m:oMath>
                    <m:oMath xmlns:m="http://schemas.openxmlformats.org/officeDocument/2006/math"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GB" i="1" dirty="0">
                  <a:solidFill>
                    <a:srgbClr val="7030A0"/>
                  </a:solidFill>
                  <a:latin typeface="Cambria Math" panose="02040503050406030204" pitchFamily="18" charset="0"/>
                </a:endParaRPr>
              </a:p>
              <a:p>
                <a:r>
                  <a:rPr lang="en-GB" dirty="0"/>
                  <a:t>and</a:t>
                </a:r>
                <a:br>
                  <a:rPr lang="en-GB" i="1" dirty="0">
                    <a:solidFill>
                      <a:schemeClr val="accent2"/>
                    </a:solidFill>
                    <a:latin typeface="Cambria Math" panose="02040503050406030204" pitchFamily="18" charset="0"/>
                  </a:rPr>
                </a:br>
                <a:r>
                  <a:rPr lang="en-GB" i="1" dirty="0">
                    <a:solidFill>
                      <a:schemeClr val="accent2"/>
                    </a:solidFill>
                    <a:latin typeface="Cambria Math" panose="02040503050406030204" pitchFamily="18" charset="0"/>
                  </a:rPr>
                  <a:t> 		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𝑦</m:t>
                    </m:r>
                    <m:r>
                      <m:rPr>
                        <m:aln/>
                      </m:rPr>
                      <a:rPr lang="en-GB" i="1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br>
                  <a:rPr lang="en-GB" i="1" dirty="0">
                    <a:latin typeface="Cambria Math" panose="02040503050406030204" pitchFamily="18" charset="0"/>
                  </a:rPr>
                </a:br>
                <a:r>
                  <a:rPr lang="en-GB" i="1" dirty="0">
                    <a:latin typeface="Cambria Math" panose="02040503050406030204" pitchFamily="18" charset="0"/>
                  </a:rPr>
                  <a:t> 		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∈{0,1}</m:t>
                    </m:r>
                  </m:oMath>
                </a14:m>
                <a:endParaRPr lang="en-GB" sz="1400" u="sng" dirty="0"/>
              </a:p>
            </p:txBody>
          </p:sp>
        </mc:Choice>
        <mc:Fallback xmlns=""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1EC7BD6E-EC9B-4D31-94F4-11E3C3D4AA2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6078" y="2274838"/>
                <a:ext cx="4314334" cy="2308324"/>
              </a:xfrm>
              <a:prstGeom prst="rect">
                <a:avLst/>
              </a:prstGeom>
              <a:blipFill>
                <a:blip r:embed="rId3"/>
                <a:stretch>
                  <a:fillRect l="-1130" t="-1319" b="-158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2A39D913-DBA6-41A7-A6FF-04DADB6B0718}"/>
                  </a:ext>
                </a:extLst>
              </p:cNvPr>
              <p:cNvSpPr/>
              <p:nvPr/>
            </p:nvSpPr>
            <p:spPr>
              <a:xfrm>
                <a:off x="6324207" y="2274838"/>
                <a:ext cx="4478910" cy="258532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GB" dirty="0"/>
                  <a:t>maximise     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=2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+3.5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GB" dirty="0"/>
              </a:p>
              <a:p>
                <a:r>
                  <a:rPr lang="en-GB" dirty="0"/>
                  <a:t>subject to:	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14</m:t>
                      </m:r>
                    </m:oMath>
                    <m:oMath xmlns:m="http://schemas.openxmlformats.org/officeDocument/2006/math">
                      <m:r>
                        <a:rPr lang="en-GB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+3</m:t>
                      </m:r>
                      <m:r>
                        <a:rPr lang="en-GB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≤12.5</m:t>
                      </m:r>
                    </m:oMath>
                    <m:oMath xmlns:m="http://schemas.openxmlformats.org/officeDocument/2006/math"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GB" i="1" dirty="0">
                  <a:solidFill>
                    <a:srgbClr val="7030A0"/>
                  </a:solidFill>
                  <a:latin typeface="Cambria Math" panose="02040503050406030204" pitchFamily="18" charset="0"/>
                </a:endParaRPr>
              </a:p>
              <a:p>
                <a:r>
                  <a:rPr lang="en-GB" dirty="0"/>
                  <a:t>and</a:t>
                </a:r>
                <a:br>
                  <a:rPr lang="en-GB" i="1" dirty="0">
                    <a:solidFill>
                      <a:schemeClr val="accent2"/>
                    </a:solidFill>
                    <a:latin typeface="Cambria Math" panose="02040503050406030204" pitchFamily="18" charset="0"/>
                  </a:rPr>
                </a:br>
                <a:r>
                  <a:rPr lang="en-GB" i="1" dirty="0">
                    <a:solidFill>
                      <a:schemeClr val="accent2"/>
                    </a:solidFill>
                    <a:latin typeface="Cambria Math" panose="02040503050406030204" pitchFamily="18" charset="0"/>
                  </a:rPr>
                  <a:t> 		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𝑦</m:t>
                    </m:r>
                    <m:r>
                      <m:rPr>
                        <m:aln/>
                      </m:rPr>
                      <a:rPr lang="en-GB" i="1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GB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≤1</m:t>
                      </m:r>
                    </m:oMath>
                  </m:oMathPara>
                </a14:m>
                <a:br>
                  <a:rPr lang="en-GB" i="1" dirty="0">
                    <a:latin typeface="Cambria Math" panose="02040503050406030204" pitchFamily="18" charset="0"/>
                  </a:rPr>
                </a:br>
                <a:r>
                  <a:rPr lang="en-GB" i="1" dirty="0">
                    <a:latin typeface="Cambria Math" panose="02040503050406030204" pitchFamily="18" charset="0"/>
                  </a:rPr>
                  <a:t> 		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ℤ</m:t>
                    </m:r>
                  </m:oMath>
                </a14:m>
                <a:endParaRPr lang="en-GB" sz="1400" u="sng" dirty="0"/>
              </a:p>
            </p:txBody>
          </p:sp>
        </mc:Choice>
        <mc:Fallback xmlns="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2A39D913-DBA6-41A7-A6FF-04DADB6B071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24207" y="2274838"/>
                <a:ext cx="4478910" cy="2585323"/>
              </a:xfrm>
              <a:prstGeom prst="rect">
                <a:avLst/>
              </a:prstGeom>
              <a:blipFill>
                <a:blip r:embed="rId4"/>
                <a:stretch>
                  <a:fillRect l="-1088" t="-117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889102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B57E94D-7ABF-4564-B18E-07C64105872B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062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Knapsack Problem</a:t>
            </a:r>
            <a:endParaRPr lang="en-GB" u="sng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909BE875-AED9-4B43-8405-70C75D23CE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dirty="0"/>
              <a:t>7 items, can only carry 10kg, which to pick to maximise value?</a:t>
            </a:r>
          </a:p>
          <a:p>
            <a:endParaRPr lang="en-GB" dirty="0"/>
          </a:p>
          <a:p>
            <a:pPr marL="0" indent="0">
              <a:buNone/>
            </a:pPr>
            <a:endParaRPr lang="en-GB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E4B6D9F-40C1-4F8A-8A0C-65E39ED83B22}"/>
              </a:ext>
            </a:extLst>
          </p:cNvPr>
          <p:cNvSpPr/>
          <p:nvPr/>
        </p:nvSpPr>
        <p:spPr>
          <a:xfrm>
            <a:off x="1118681" y="2524328"/>
            <a:ext cx="963038" cy="90467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£10</a:t>
            </a:r>
          </a:p>
          <a:p>
            <a:pPr algn="ctr"/>
            <a:r>
              <a:rPr lang="en-GB" dirty="0"/>
              <a:t> 2kg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A0E30B0-14A1-4354-AB88-EAADC51F6254}"/>
              </a:ext>
            </a:extLst>
          </p:cNvPr>
          <p:cNvSpPr/>
          <p:nvPr/>
        </p:nvSpPr>
        <p:spPr>
          <a:xfrm>
            <a:off x="2292485" y="2524328"/>
            <a:ext cx="963038" cy="90467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£10</a:t>
            </a:r>
          </a:p>
          <a:p>
            <a:pPr algn="ctr"/>
            <a:r>
              <a:rPr lang="en-GB" dirty="0"/>
              <a:t> 2kg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33454BB-1A11-45E6-8C64-7ECE7B3FD3B9}"/>
              </a:ext>
            </a:extLst>
          </p:cNvPr>
          <p:cNvSpPr/>
          <p:nvPr/>
        </p:nvSpPr>
        <p:spPr>
          <a:xfrm>
            <a:off x="3466289" y="2524328"/>
            <a:ext cx="963038" cy="90467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£10</a:t>
            </a:r>
          </a:p>
          <a:p>
            <a:pPr algn="ctr"/>
            <a:r>
              <a:rPr lang="en-GB" dirty="0"/>
              <a:t> 2kg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8E8D87E-4888-4322-899C-5B4B73531CE1}"/>
              </a:ext>
            </a:extLst>
          </p:cNvPr>
          <p:cNvSpPr/>
          <p:nvPr/>
        </p:nvSpPr>
        <p:spPr>
          <a:xfrm>
            <a:off x="4786007" y="2524328"/>
            <a:ext cx="1196503" cy="1532106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£100</a:t>
            </a:r>
          </a:p>
          <a:p>
            <a:pPr algn="ctr"/>
            <a:r>
              <a:rPr lang="en-GB" dirty="0"/>
              <a:t> 6kg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0F3A4E8-F3FA-420B-B707-772125EB726F}"/>
              </a:ext>
            </a:extLst>
          </p:cNvPr>
          <p:cNvSpPr/>
          <p:nvPr/>
        </p:nvSpPr>
        <p:spPr>
          <a:xfrm>
            <a:off x="6209492" y="2524328"/>
            <a:ext cx="1196503" cy="1532106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£100</a:t>
            </a:r>
          </a:p>
          <a:p>
            <a:pPr algn="ctr"/>
            <a:r>
              <a:rPr lang="en-GB" dirty="0"/>
              <a:t> 6kg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B2D377C-9063-4BA8-8E03-1A4D97C01BE0}"/>
              </a:ext>
            </a:extLst>
          </p:cNvPr>
          <p:cNvSpPr/>
          <p:nvPr/>
        </p:nvSpPr>
        <p:spPr>
          <a:xfrm>
            <a:off x="1118681" y="3775953"/>
            <a:ext cx="1546698" cy="1788268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£130</a:t>
            </a:r>
          </a:p>
          <a:p>
            <a:pPr algn="ctr"/>
            <a:r>
              <a:rPr lang="en-GB" dirty="0"/>
              <a:t> 8kg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131E75D-2538-4342-A4B9-EF964DBDB385}"/>
              </a:ext>
            </a:extLst>
          </p:cNvPr>
          <p:cNvSpPr/>
          <p:nvPr/>
        </p:nvSpPr>
        <p:spPr>
          <a:xfrm>
            <a:off x="2837234" y="3775953"/>
            <a:ext cx="1180289" cy="1271148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£70</a:t>
            </a:r>
          </a:p>
          <a:p>
            <a:pPr algn="ctr"/>
            <a:r>
              <a:rPr lang="en-GB" dirty="0"/>
              <a:t> 3kg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C7550956-F06E-4B25-91B5-4F3A4E6A07F2}"/>
              </a:ext>
            </a:extLst>
          </p:cNvPr>
          <p:cNvGrpSpPr/>
          <p:nvPr/>
        </p:nvGrpSpPr>
        <p:grpSpPr>
          <a:xfrm>
            <a:off x="8174479" y="2764428"/>
            <a:ext cx="3189976" cy="3811317"/>
            <a:chOff x="8686798" y="2365646"/>
            <a:chExt cx="3189976" cy="3811317"/>
          </a:xfrm>
        </p:grpSpPr>
        <p:pic>
          <p:nvPicPr>
            <p:cNvPr id="18" name="Picture 2" descr="Image result for knapsack cartoon">
              <a:extLst>
                <a:ext uri="{FF2B5EF4-FFF2-40B4-BE49-F238E27FC236}">
                  <a16:creationId xmlns:a16="http://schemas.microsoft.com/office/drawing/2014/main" id="{EF88B0A5-A3A5-4FA7-9ED8-2F779E41D37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686798" y="2365646"/>
              <a:ext cx="3189976" cy="38113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6A80403-07C6-4DA0-8029-7907A9C4C990}"/>
                </a:ext>
              </a:extLst>
            </p:cNvPr>
            <p:cNvSpPr txBox="1"/>
            <p:nvPr/>
          </p:nvSpPr>
          <p:spPr>
            <a:xfrm>
              <a:off x="10134794" y="2976664"/>
              <a:ext cx="6319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bg1"/>
                  </a:solidFill>
                </a:rPr>
                <a:t>10kg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322773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B57E94D-7ABF-4564-B18E-07C64105872B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062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Knapsack Problem</a:t>
            </a:r>
            <a:endParaRPr lang="en-GB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0" name="Table 19">
                <a:extLst>
                  <a:ext uri="{FF2B5EF4-FFF2-40B4-BE49-F238E27FC236}">
                    <a16:creationId xmlns:a16="http://schemas.microsoft.com/office/drawing/2014/main" id="{C6238E36-F671-44E2-A37A-C7A91B3D928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68170221"/>
                  </p:ext>
                </p:extLst>
              </p:nvPr>
            </p:nvGraphicFramePr>
            <p:xfrm>
              <a:off x="6674177" y="1460919"/>
              <a:ext cx="4895544" cy="29667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95167">
                      <a:extLst>
                        <a:ext uri="{9D8B030D-6E8A-4147-A177-3AD203B41FA5}">
                          <a16:colId xmlns:a16="http://schemas.microsoft.com/office/drawing/2014/main" val="1926681466"/>
                        </a:ext>
                      </a:extLst>
                    </a:gridCol>
                    <a:gridCol w="1819374">
                      <a:extLst>
                        <a:ext uri="{9D8B030D-6E8A-4147-A177-3AD203B41FA5}">
                          <a16:colId xmlns:a16="http://schemas.microsoft.com/office/drawing/2014/main" val="2776989404"/>
                        </a:ext>
                      </a:extLst>
                    </a:gridCol>
                    <a:gridCol w="1681003">
                      <a:extLst>
                        <a:ext uri="{9D8B030D-6E8A-4147-A177-3AD203B41FA5}">
                          <a16:colId xmlns:a16="http://schemas.microsoft.com/office/drawing/2014/main" val="2900847431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Item -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GB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b="1" i="1" smtClean="0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GB" b="1" i="1" smtClean="0">
                                      <a:latin typeface="Cambria Math" panose="02040503050406030204" pitchFamily="18" charset="0"/>
                                    </a:rPr>
                                    <m:t>𝒊</m:t>
                                  </m:r>
                                </m:sub>
                              </m:sSub>
                            </m:oMath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Weight (Kg) -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GB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b="1" i="1" smtClean="0">
                                      <a:latin typeface="Cambria Math" panose="02040503050406030204" pitchFamily="18" charset="0"/>
                                    </a:rPr>
                                    <m:t>𝒘</m:t>
                                  </m:r>
                                </m:e>
                                <m:sub>
                                  <m:r>
                                    <a:rPr lang="en-GB" b="1" i="1" smtClean="0">
                                      <a:latin typeface="Cambria Math" panose="02040503050406030204" pitchFamily="18" charset="0"/>
                                    </a:rPr>
                                    <m:t>𝒊</m:t>
                                  </m:r>
                                </m:sub>
                              </m:sSub>
                            </m:oMath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Value (£) -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GB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b="1" i="1" smtClean="0">
                                      <a:latin typeface="Cambria Math" panose="02040503050406030204" pitchFamily="18" charset="0"/>
                                    </a:rPr>
                                    <m:t>𝒗</m:t>
                                  </m:r>
                                </m:e>
                                <m:sub>
                                  <m:r>
                                    <a:rPr lang="en-GB" b="1" i="1" smtClean="0">
                                      <a:latin typeface="Cambria Math" panose="02040503050406030204" pitchFamily="18" charset="0"/>
                                    </a:rPr>
                                    <m:t>𝒊</m:t>
                                  </m:r>
                                </m:sub>
                              </m:sSub>
                            </m:oMath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1985406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7012406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984538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5191721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100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3674672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100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1462513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130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5283523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70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6101920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0" name="Table 19">
                <a:extLst>
                  <a:ext uri="{FF2B5EF4-FFF2-40B4-BE49-F238E27FC236}">
                    <a16:creationId xmlns:a16="http://schemas.microsoft.com/office/drawing/2014/main" id="{C6238E36-F671-44E2-A37A-C7A91B3D928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68170221"/>
                  </p:ext>
                </p:extLst>
              </p:nvPr>
            </p:nvGraphicFramePr>
            <p:xfrm>
              <a:off x="6674177" y="1460919"/>
              <a:ext cx="4895544" cy="29667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95167">
                      <a:extLst>
                        <a:ext uri="{9D8B030D-6E8A-4147-A177-3AD203B41FA5}">
                          <a16:colId xmlns:a16="http://schemas.microsoft.com/office/drawing/2014/main" val="1926681466"/>
                        </a:ext>
                      </a:extLst>
                    </a:gridCol>
                    <a:gridCol w="1819374">
                      <a:extLst>
                        <a:ext uri="{9D8B030D-6E8A-4147-A177-3AD203B41FA5}">
                          <a16:colId xmlns:a16="http://schemas.microsoft.com/office/drawing/2014/main" val="2776989404"/>
                        </a:ext>
                      </a:extLst>
                    </a:gridCol>
                    <a:gridCol w="1681003">
                      <a:extLst>
                        <a:ext uri="{9D8B030D-6E8A-4147-A177-3AD203B41FA5}">
                          <a16:colId xmlns:a16="http://schemas.microsoft.com/office/drawing/2014/main" val="2900847431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37" t="-8197" r="-253275" b="-7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76923" t="-8197" r="-93980" b="-7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91667" t="-8197" r="-1812" b="-7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1985406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7012406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984538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5191721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100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3674672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100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1462513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130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5283523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70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61019208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DB4BF9A-C329-400F-AE3F-748A9A8F87B1}"/>
                  </a:ext>
                </a:extLst>
              </p:cNvPr>
              <p:cNvSpPr txBox="1"/>
              <p:nvPr/>
            </p:nvSpPr>
            <p:spPr>
              <a:xfrm>
                <a:off x="838200" y="1276253"/>
                <a:ext cx="292484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For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GB" dirty="0"/>
                  <a:t> items and a capacity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DB4BF9A-C329-400F-AE3F-748A9A8F87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276253"/>
                <a:ext cx="2924840" cy="369332"/>
              </a:xfrm>
              <a:prstGeom prst="rect">
                <a:avLst/>
              </a:prstGeom>
              <a:blipFill>
                <a:blip r:embed="rId4"/>
                <a:stretch>
                  <a:fillRect l="-1879" t="-8197" b="-2459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" name="Group 1">
            <a:extLst>
              <a:ext uri="{FF2B5EF4-FFF2-40B4-BE49-F238E27FC236}">
                <a16:creationId xmlns:a16="http://schemas.microsoft.com/office/drawing/2014/main" id="{8E1AEC58-0715-AB1E-519D-80BD50A3AC27}"/>
              </a:ext>
            </a:extLst>
          </p:cNvPr>
          <p:cNvGrpSpPr/>
          <p:nvPr/>
        </p:nvGrpSpPr>
        <p:grpSpPr>
          <a:xfrm>
            <a:off x="838200" y="1858145"/>
            <a:ext cx="6096000" cy="3553488"/>
            <a:chOff x="838200" y="1858145"/>
            <a:chExt cx="6096000" cy="355348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4F37846F-943D-4BF2-B269-643BE66BF636}"/>
                    </a:ext>
                  </a:extLst>
                </p:cNvPr>
                <p:cNvSpPr/>
                <p:nvPr/>
              </p:nvSpPr>
              <p:spPr>
                <a:xfrm>
                  <a:off x="838200" y="1858145"/>
                  <a:ext cx="6096000" cy="2435795"/>
                </a:xfrm>
                <a:prstGeom prst="rect">
                  <a:avLst/>
                </a:prstGeom>
              </p:spPr>
              <p:txBody>
                <a:bodyPr>
                  <a:spAutoFit/>
                </a:bodyPr>
                <a:lstStyle/>
                <a:p>
                  <a:r>
                    <a:rPr lang="en-GB" dirty="0"/>
                    <a:t>maximise		</a:t>
                  </a: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nary>
                          <m:naryPr>
                            <m:chr m:val="∑"/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nary>
                      </m:oMath>
                    </m:oMathPara>
                  </a14:m>
                  <a:endParaRPr lang="en-GB" dirty="0"/>
                </a:p>
                <a:p>
                  <a:r>
                    <a:rPr lang="en-GB" dirty="0"/>
                    <a:t>subject to:</a:t>
                  </a: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nary>
                          <m:naryPr>
                            <m:chr m:val="∑"/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GB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GB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GB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nary>
                        <m:r>
                          <a:rPr lang="en-GB" b="0" i="0" smtClean="0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m:rPr>
                            <m:sty m:val="p"/>
                          </m:rPr>
                          <a:rPr lang="en-GB" b="0" i="0" smtClean="0">
                            <a:latin typeface="Cambria Math" panose="02040503050406030204" pitchFamily="18" charset="0"/>
                          </a:rPr>
                          <m:t>W</m:t>
                        </m:r>
                      </m:oMath>
                    </m:oMathPara>
                  </a14:m>
                  <a:endParaRPr lang="en-GB" dirty="0"/>
                </a:p>
                <a:p>
                  <a:r>
                    <a:rPr lang="en-GB" dirty="0"/>
                    <a:t>   	          	        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∈</m:t>
                      </m:r>
                      <m:d>
                        <m:dPr>
                          <m:begChr m:val="{"/>
                          <m:endChr m:val="}"/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     ∀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𝑖</m:t>
                      </m:r>
                    </m:oMath>
                  </a14:m>
                  <a:endParaRPr lang="en-GB" dirty="0"/>
                </a:p>
              </p:txBody>
            </p:sp>
          </mc:Choice>
          <mc:Fallback xmlns=""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4F37846F-943D-4BF2-B269-643BE66BF63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8200" y="1858145"/>
                  <a:ext cx="6096000" cy="2435795"/>
                </a:xfrm>
                <a:prstGeom prst="rect">
                  <a:avLst/>
                </a:prstGeom>
                <a:blipFill>
                  <a:blip r:embed="rId5"/>
                  <a:stretch>
                    <a:fillRect l="-900" t="-1504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19A3DC00-F0F5-4906-ADFA-EBD1C1CA722E}"/>
                    </a:ext>
                  </a:extLst>
                </p:cNvPr>
                <p:cNvSpPr txBox="1"/>
                <p:nvPr/>
              </p:nvSpPr>
              <p:spPr>
                <a:xfrm>
                  <a:off x="838200" y="5042301"/>
                  <a:ext cx="361470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GB" dirty="0"/>
                    <a:t>For our example </a:t>
                  </a:r>
                  <a14:m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b="0" i="0" smtClean="0">
                          <a:latin typeface="Cambria Math" panose="02040503050406030204" pitchFamily="18" charset="0"/>
                        </a:rPr>
                        <m:t>7</m:t>
                      </m:r>
                    </m:oMath>
                  </a14:m>
                  <a:r>
                    <a:rPr lang="en-GB" dirty="0"/>
                    <a:t> and 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GB" b="0" i="0" smtClean="0">
                          <a:latin typeface="Cambria Math" panose="02040503050406030204" pitchFamily="18" charset="0"/>
                        </a:rPr>
                        <m:t>W</m:t>
                      </m:r>
                      <m:r>
                        <a:rPr lang="en-GB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10</m:t>
                      </m:r>
                    </m:oMath>
                  </a14:m>
                  <a:endParaRPr lang="en-GB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19A3DC00-F0F5-4906-ADFA-EBD1C1CA72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8200" y="5042301"/>
                  <a:ext cx="3614707" cy="369332"/>
                </a:xfrm>
                <a:prstGeom prst="rect">
                  <a:avLst/>
                </a:prstGeom>
                <a:blipFill>
                  <a:blip r:embed="rId6"/>
                  <a:stretch>
                    <a:fillRect l="-1520" t="-8197" b="-24590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976698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B57E94D-7ABF-4564-B18E-07C64105872B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062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Knapsack Problem via </a:t>
            </a:r>
            <a:r>
              <a:rPr lang="en-GB"/>
              <a:t>Pyomo</a:t>
            </a:r>
            <a:endParaRPr lang="en-GB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4F37846F-943D-4BF2-B269-643BE66BF636}"/>
                  </a:ext>
                </a:extLst>
              </p:cNvPr>
              <p:cNvSpPr/>
              <p:nvPr/>
            </p:nvSpPr>
            <p:spPr>
              <a:xfrm>
                <a:off x="960748" y="1349098"/>
                <a:ext cx="4176860" cy="248285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GB" dirty="0"/>
                  <a:t>Maximise		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p>
                        <m:e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GB" dirty="0"/>
              </a:p>
              <a:p>
                <a:r>
                  <a:rPr lang="en-GB" dirty="0"/>
                  <a:t>subject to: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p>
                        <m:e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GB" b="0" i="0" smtClean="0">
                          <a:latin typeface="Cambria Math" panose="02040503050406030204" pitchFamily="18" charset="0"/>
                        </a:rPr>
                        <m:t>≤10</m:t>
                      </m:r>
                    </m:oMath>
                  </m:oMathPara>
                </a14:m>
                <a:endParaRPr lang="en-GB" dirty="0"/>
              </a:p>
              <a:p>
                <a:r>
                  <a:rPr lang="en-GB" dirty="0"/>
                  <a:t>   	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,     ∀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4F37846F-943D-4BF2-B269-643BE66BF63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748" y="1349098"/>
                <a:ext cx="4176860" cy="2482859"/>
              </a:xfrm>
              <a:prstGeom prst="rect">
                <a:avLst/>
              </a:prstGeom>
              <a:blipFill>
                <a:blip r:embed="rId2"/>
                <a:stretch>
                  <a:fillRect l="-1314" t="-122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Table 6">
                <a:extLst>
                  <a:ext uri="{FF2B5EF4-FFF2-40B4-BE49-F238E27FC236}">
                    <a16:creationId xmlns:a16="http://schemas.microsoft.com/office/drawing/2014/main" id="{C9986D5A-6EE9-4558-9842-A7DCFC713A7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12348293"/>
                  </p:ext>
                </p:extLst>
              </p:nvPr>
            </p:nvGraphicFramePr>
            <p:xfrm>
              <a:off x="470554" y="4118614"/>
              <a:ext cx="3770722" cy="24384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074607">
                      <a:extLst>
                        <a:ext uri="{9D8B030D-6E8A-4147-A177-3AD203B41FA5}">
                          <a16:colId xmlns:a16="http://schemas.microsoft.com/office/drawing/2014/main" val="1926681466"/>
                        </a:ext>
                      </a:extLst>
                    </a:gridCol>
                    <a:gridCol w="1401347">
                      <a:extLst>
                        <a:ext uri="{9D8B030D-6E8A-4147-A177-3AD203B41FA5}">
                          <a16:colId xmlns:a16="http://schemas.microsoft.com/office/drawing/2014/main" val="2776989404"/>
                        </a:ext>
                      </a:extLst>
                    </a:gridCol>
                    <a:gridCol w="1294768">
                      <a:extLst>
                        <a:ext uri="{9D8B030D-6E8A-4147-A177-3AD203B41FA5}">
                          <a16:colId xmlns:a16="http://schemas.microsoft.com/office/drawing/2014/main" val="2900847431"/>
                        </a:ext>
                      </a:extLst>
                    </a:gridCol>
                  </a:tblGrid>
                  <a:tr h="27340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Item -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GB" sz="14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400" b="1" i="1" smtClean="0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GB" sz="1400" b="1" i="1" smtClean="0">
                                      <a:latin typeface="Cambria Math" panose="02040503050406030204" pitchFamily="18" charset="0"/>
                                    </a:rPr>
                                    <m:t>𝒊</m:t>
                                  </m:r>
                                </m:sub>
                              </m:sSub>
                            </m:oMath>
                          </a14:m>
                          <a:endParaRPr lang="en-GB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Weight (Kg) -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GB" sz="14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400" b="1" i="1" smtClean="0">
                                      <a:latin typeface="Cambria Math" panose="02040503050406030204" pitchFamily="18" charset="0"/>
                                    </a:rPr>
                                    <m:t>𝒘</m:t>
                                  </m:r>
                                </m:e>
                                <m:sub>
                                  <m:r>
                                    <a:rPr lang="en-GB" sz="1400" b="1" i="1" smtClean="0">
                                      <a:latin typeface="Cambria Math" panose="02040503050406030204" pitchFamily="18" charset="0"/>
                                    </a:rPr>
                                    <m:t>𝒊</m:t>
                                  </m:r>
                                </m:sub>
                              </m:sSub>
                            </m:oMath>
                          </a14:m>
                          <a:endParaRPr lang="en-GB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Value (£) -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GB" sz="14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400" b="1" i="1" smtClean="0">
                                      <a:latin typeface="Cambria Math" panose="02040503050406030204" pitchFamily="18" charset="0"/>
                                    </a:rPr>
                                    <m:t>𝒗</m:t>
                                  </m:r>
                                </m:e>
                                <m:sub>
                                  <m:r>
                                    <a:rPr lang="en-GB" sz="1400" b="1" i="1" smtClean="0">
                                      <a:latin typeface="Cambria Math" panose="02040503050406030204" pitchFamily="18" charset="0"/>
                                    </a:rPr>
                                    <m:t>𝒊</m:t>
                                  </m:r>
                                </m:sub>
                              </m:sSub>
                            </m:oMath>
                          </a14:m>
                          <a:endParaRPr lang="en-GB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19854069"/>
                      </a:ext>
                    </a:extLst>
                  </a:tr>
                  <a:tr h="27340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70124068"/>
                      </a:ext>
                    </a:extLst>
                  </a:tr>
                  <a:tr h="27340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98453803"/>
                      </a:ext>
                    </a:extLst>
                  </a:tr>
                  <a:tr h="27340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51917217"/>
                      </a:ext>
                    </a:extLst>
                  </a:tr>
                  <a:tr h="27340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100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36746720"/>
                      </a:ext>
                    </a:extLst>
                  </a:tr>
                  <a:tr h="27340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100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14625138"/>
                      </a:ext>
                    </a:extLst>
                  </a:tr>
                  <a:tr h="27340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130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52835236"/>
                      </a:ext>
                    </a:extLst>
                  </a:tr>
                  <a:tr h="27340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70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6101920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Table 6">
                <a:extLst>
                  <a:ext uri="{FF2B5EF4-FFF2-40B4-BE49-F238E27FC236}">
                    <a16:creationId xmlns:a16="http://schemas.microsoft.com/office/drawing/2014/main" id="{C9986D5A-6EE9-4558-9842-A7DCFC713A7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12348293"/>
                  </p:ext>
                </p:extLst>
              </p:nvPr>
            </p:nvGraphicFramePr>
            <p:xfrm>
              <a:off x="470554" y="4118614"/>
              <a:ext cx="3770722" cy="24384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074607">
                      <a:extLst>
                        <a:ext uri="{9D8B030D-6E8A-4147-A177-3AD203B41FA5}">
                          <a16:colId xmlns:a16="http://schemas.microsoft.com/office/drawing/2014/main" val="1926681466"/>
                        </a:ext>
                      </a:extLst>
                    </a:gridCol>
                    <a:gridCol w="1401347">
                      <a:extLst>
                        <a:ext uri="{9D8B030D-6E8A-4147-A177-3AD203B41FA5}">
                          <a16:colId xmlns:a16="http://schemas.microsoft.com/office/drawing/2014/main" val="2776989404"/>
                        </a:ext>
                      </a:extLst>
                    </a:gridCol>
                    <a:gridCol w="1294768">
                      <a:extLst>
                        <a:ext uri="{9D8B030D-6E8A-4147-A177-3AD203B41FA5}">
                          <a16:colId xmlns:a16="http://schemas.microsoft.com/office/drawing/2014/main" val="2900847431"/>
                        </a:ext>
                      </a:extLst>
                    </a:gridCol>
                  </a:tblGrid>
                  <a:tr h="3048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68" t="-2000" r="-253977" b="-722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76957" t="-2000" r="-94348" b="-722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91080" t="-2000" r="-1878" b="-722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19854069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70124068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98453803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51917217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100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36746720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100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14625138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130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52835236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70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61019208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001CAB1A-C766-6FFC-F912-46506166CF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5583" y="1458298"/>
            <a:ext cx="7611948" cy="4556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67975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B57E94D-7ABF-4564-B18E-07C64105872B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062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Set Covering Problem - </a:t>
            </a:r>
            <a:r>
              <a:rPr lang="en-US" dirty="0"/>
              <a:t>Fire Stations Example </a:t>
            </a:r>
            <a:endParaRPr lang="en-GB" u="sng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F61A3B54-7426-4472-B580-E94AB5BFF2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7142"/>
            <a:ext cx="10515600" cy="4649821"/>
          </a:xfrm>
        </p:spPr>
        <p:txBody>
          <a:bodyPr>
            <a:normAutofit/>
          </a:bodyPr>
          <a:lstStyle/>
          <a:p>
            <a:r>
              <a:rPr lang="en-US" sz="2400" dirty="0"/>
              <a:t>There are six cities in region R. The region must determine where to build fire stations. </a:t>
            </a:r>
          </a:p>
          <a:p>
            <a:r>
              <a:rPr lang="en-US" sz="2400" dirty="0"/>
              <a:t>The region wants to build the minimum number of fire stations and ensure that at least one fire station is near 15 minutes of each city.</a:t>
            </a:r>
          </a:p>
          <a:p>
            <a:endParaRPr lang="en-US" sz="1100" dirty="0"/>
          </a:p>
          <a:p>
            <a:pPr marL="0" indent="0">
              <a:buNone/>
            </a:pPr>
            <a:r>
              <a:rPr lang="en-US" sz="2400" dirty="0"/>
              <a:t> The times (in minutes) required to drive between cities are: </a:t>
            </a:r>
          </a:p>
          <a:p>
            <a:pPr marL="0" indent="0">
              <a:buNone/>
            </a:pPr>
            <a:endParaRPr lang="en-GB" sz="2400" dirty="0"/>
          </a:p>
        </p:txBody>
      </p:sp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38A27961-09A4-4B98-B611-77D2EC878B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3740908"/>
              </p:ext>
            </p:extLst>
          </p:nvPr>
        </p:nvGraphicFramePr>
        <p:xfrm>
          <a:off x="1824612" y="3896995"/>
          <a:ext cx="8128001" cy="259588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161143">
                  <a:extLst>
                    <a:ext uri="{9D8B030D-6E8A-4147-A177-3AD203B41FA5}">
                      <a16:colId xmlns:a16="http://schemas.microsoft.com/office/drawing/2014/main" val="1046520813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2476028075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1467538741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949666296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1720813093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3087542261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28178782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City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99139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 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82409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582021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9423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8487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80794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1817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136560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B57E94D-7ABF-4564-B18E-07C64105872B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062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Set Covering Problem - </a:t>
            </a:r>
            <a:r>
              <a:rPr lang="en-US" dirty="0"/>
              <a:t>Fire Stations Example </a:t>
            </a:r>
            <a:endParaRPr lang="en-GB" u="sng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F61A3B54-7426-4472-B580-E94AB5BFF2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5797" y="1342894"/>
            <a:ext cx="9167041" cy="984685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GB" sz="2400" dirty="0"/>
              <a:t>This is a connected network!</a:t>
            </a:r>
          </a:p>
          <a:p>
            <a:pPr marL="0" indent="0">
              <a:buNone/>
            </a:pPr>
            <a:r>
              <a:rPr lang="en-GB" sz="2400" dirty="0"/>
              <a:t>We are removing edges that don’t allow us to reach another node in 15 minutes</a:t>
            </a:r>
          </a:p>
        </p:txBody>
      </p:sp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38A27961-09A4-4B98-B611-77D2EC878B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0124360"/>
              </p:ext>
            </p:extLst>
          </p:nvPr>
        </p:nvGraphicFramePr>
        <p:xfrm>
          <a:off x="401165" y="2599055"/>
          <a:ext cx="8128001" cy="259588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161143">
                  <a:extLst>
                    <a:ext uri="{9D8B030D-6E8A-4147-A177-3AD203B41FA5}">
                      <a16:colId xmlns:a16="http://schemas.microsoft.com/office/drawing/2014/main" val="1046520813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2476028075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1467538741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949666296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1720813093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3087542261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28178782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City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99139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 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82409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582021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9423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8487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80794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1817997"/>
                  </a:ext>
                </a:extLst>
              </a:tr>
            </a:tbl>
          </a:graphicData>
        </a:graphic>
      </p:graphicFrame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5335FE97-3CD3-48BC-A4D9-430DE6A1AE72}"/>
              </a:ext>
            </a:extLst>
          </p:cNvPr>
          <p:cNvSpPr txBox="1">
            <a:spLocks/>
          </p:cNvSpPr>
          <p:nvPr/>
        </p:nvSpPr>
        <p:spPr>
          <a:xfrm>
            <a:off x="445797" y="5466411"/>
            <a:ext cx="9167041" cy="9846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GB" sz="2400" dirty="0"/>
              <a:t>By inspection, build for city 2 and 4.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GB" sz="2400" dirty="0"/>
              <a:t>Covers 1,2,6 and 3,4,5.</a:t>
            </a:r>
          </a:p>
        </p:txBody>
      </p:sp>
    </p:spTree>
    <p:extLst>
      <p:ext uri="{BB962C8B-B14F-4D97-AF65-F5344CB8AC3E}">
        <p14:creationId xmlns:p14="http://schemas.microsoft.com/office/powerpoint/2010/main" val="37702774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8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B57E94D-7ABF-4564-B18E-07C64105872B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062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Set Covering Problem - </a:t>
            </a:r>
            <a:r>
              <a:rPr lang="en-US" dirty="0"/>
              <a:t>Fire Stations Example </a:t>
            </a:r>
            <a:endParaRPr lang="en-GB" u="sng" dirty="0"/>
          </a:p>
        </p:txBody>
      </p:sp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38A27961-09A4-4B98-B611-77D2EC878B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5637832"/>
              </p:ext>
            </p:extLst>
          </p:nvPr>
        </p:nvGraphicFramePr>
        <p:xfrm>
          <a:off x="7480697" y="1071418"/>
          <a:ext cx="4104842" cy="213360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586406">
                  <a:extLst>
                    <a:ext uri="{9D8B030D-6E8A-4147-A177-3AD203B41FA5}">
                      <a16:colId xmlns:a16="http://schemas.microsoft.com/office/drawing/2014/main" val="1046520813"/>
                    </a:ext>
                  </a:extLst>
                </a:gridCol>
                <a:gridCol w="586406">
                  <a:extLst>
                    <a:ext uri="{9D8B030D-6E8A-4147-A177-3AD203B41FA5}">
                      <a16:colId xmlns:a16="http://schemas.microsoft.com/office/drawing/2014/main" val="2476028075"/>
                    </a:ext>
                  </a:extLst>
                </a:gridCol>
                <a:gridCol w="586406">
                  <a:extLst>
                    <a:ext uri="{9D8B030D-6E8A-4147-A177-3AD203B41FA5}">
                      <a16:colId xmlns:a16="http://schemas.microsoft.com/office/drawing/2014/main" val="1467538741"/>
                    </a:ext>
                  </a:extLst>
                </a:gridCol>
                <a:gridCol w="586406">
                  <a:extLst>
                    <a:ext uri="{9D8B030D-6E8A-4147-A177-3AD203B41FA5}">
                      <a16:colId xmlns:a16="http://schemas.microsoft.com/office/drawing/2014/main" val="949666296"/>
                    </a:ext>
                  </a:extLst>
                </a:gridCol>
                <a:gridCol w="586406">
                  <a:extLst>
                    <a:ext uri="{9D8B030D-6E8A-4147-A177-3AD203B41FA5}">
                      <a16:colId xmlns:a16="http://schemas.microsoft.com/office/drawing/2014/main" val="1720813093"/>
                    </a:ext>
                  </a:extLst>
                </a:gridCol>
                <a:gridCol w="586406">
                  <a:extLst>
                    <a:ext uri="{9D8B030D-6E8A-4147-A177-3AD203B41FA5}">
                      <a16:colId xmlns:a16="http://schemas.microsoft.com/office/drawing/2014/main" val="3087542261"/>
                    </a:ext>
                  </a:extLst>
                </a:gridCol>
                <a:gridCol w="586406">
                  <a:extLst>
                    <a:ext uri="{9D8B030D-6E8A-4147-A177-3AD203B41FA5}">
                      <a16:colId xmlns:a16="http://schemas.microsoft.com/office/drawing/2014/main" val="2817878240"/>
                    </a:ext>
                  </a:extLst>
                </a:gridCol>
              </a:tblGrid>
              <a:tr h="300703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City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9913981"/>
                  </a:ext>
                </a:extLst>
              </a:tr>
              <a:tr h="300703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 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8240908"/>
                  </a:ext>
                </a:extLst>
              </a:tr>
              <a:tr h="300703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58202110"/>
                  </a:ext>
                </a:extLst>
              </a:tr>
              <a:tr h="300703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942314"/>
                  </a:ext>
                </a:extLst>
              </a:tr>
              <a:tr h="300703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8487898"/>
                  </a:ext>
                </a:extLst>
              </a:tr>
              <a:tr h="300703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8079493"/>
                  </a:ext>
                </a:extLst>
              </a:tr>
              <a:tr h="300703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1817997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E712F17-711D-489F-997B-7EE688F7E74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19383"/>
                <a:ext cx="9323895" cy="465758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sz="2400" dirty="0"/>
                  <a:t>Let 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"/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m:rPr>
                                <m:nor/>
                              </m:rPr>
                              <a:rPr lang="en-GB" sz="2400" b="0" i="0" smtClean="0">
                                <a:latin typeface="Cambria Math" panose="02040503050406030204" pitchFamily="18" charset="0"/>
                              </a:rPr>
                              <m:t> − </m:t>
                            </m:r>
                            <m:r>
                              <m:rPr>
                                <m:nor/>
                              </m:rPr>
                              <a:rPr lang="en-GB" sz="2400" b="0" i="0" smtClean="0">
                                <a:latin typeface="Cambria Math" panose="02040503050406030204" pitchFamily="18" charset="0"/>
                              </a:rPr>
                              <m:t>if</m:t>
                            </m:r>
                            <m:r>
                              <m:rPr>
                                <m:nor/>
                              </m:rPr>
                              <a:rPr lang="en-GB" sz="2400" b="0" i="0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m:rPr>
                                <m:nor/>
                              </m:rPr>
                              <a:rPr lang="en-GB" sz="2400" b="0" i="0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  <m:r>
                              <m:rPr>
                                <m:nor/>
                              </m:rPr>
                              <a:rPr lang="en-GB" sz="2400" b="0" i="0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m:rPr>
                                <m:nor/>
                              </m:rPr>
                              <a:rPr lang="en-GB" sz="2400" b="0" i="0" smtClean="0">
                                <a:latin typeface="Cambria Math" panose="02040503050406030204" pitchFamily="18" charset="0"/>
                              </a:rPr>
                              <m:t>fire</m:t>
                            </m:r>
                            <m:r>
                              <m:rPr>
                                <m:nor/>
                              </m:rPr>
                              <a:rPr lang="en-GB" sz="2400" b="0" i="0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m:rPr>
                                <m:nor/>
                              </m:rPr>
                              <a:rPr lang="en-GB" sz="2400" b="0" i="0" smtClean="0">
                                <a:latin typeface="Cambria Math" panose="02040503050406030204" pitchFamily="18" charset="0"/>
                              </a:rPr>
                              <m:t>station</m:t>
                            </m:r>
                            <m:r>
                              <m:rPr>
                                <m:nor/>
                              </m:rPr>
                              <a:rPr lang="en-GB" sz="2400" b="0" i="0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m:rPr>
                                <m:nor/>
                              </m:rPr>
                              <a:rPr lang="en-GB" sz="2400" b="0" i="0" smtClean="0">
                                <a:latin typeface="Cambria Math" panose="02040503050406030204" pitchFamily="18" charset="0"/>
                              </a:rPr>
                              <m:t>is</m:t>
                            </m:r>
                            <m:r>
                              <m:rPr>
                                <m:nor/>
                              </m:rPr>
                              <a:rPr lang="en-GB" sz="2400" b="0" i="0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m:rPr>
                                <m:nor/>
                              </m:rPr>
                              <a:rPr lang="en-GB" sz="2400" b="0" i="0" smtClean="0">
                                <a:latin typeface="Cambria Math" panose="02040503050406030204" pitchFamily="18" charset="0"/>
                              </a:rPr>
                              <m:t>built</m:t>
                            </m:r>
                          </m:e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  <m:r>
                              <m:rPr>
                                <m:nor/>
                              </m:rPr>
                              <a:rPr lang="en-GB" sz="2400" b="0" i="0" smtClean="0">
                                <a:latin typeface="Cambria Math" panose="02040503050406030204" pitchFamily="18" charset="0"/>
                              </a:rPr>
                              <m:t> − </m:t>
                            </m:r>
                            <m:r>
                              <m:rPr>
                                <m:nor/>
                              </m:rPr>
                              <a:rPr lang="en-GB" sz="2400" b="0" i="0" smtClean="0">
                                <a:latin typeface="Cambria Math" panose="02040503050406030204" pitchFamily="18" charset="0"/>
                              </a:rPr>
                              <m:t>otherwise</m:t>
                            </m:r>
                            <m:r>
                              <m:rPr>
                                <m:nor/>
                              </m:rPr>
                              <a:rPr lang="en-GB" sz="2400" b="0" i="0" smtClean="0">
                                <a:latin typeface="Cambria Math" panose="02040503050406030204" pitchFamily="18" charset="0"/>
                              </a:rPr>
                              <m:t>                    </m:t>
                            </m:r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eqArr>
                      </m:e>
                    </m:d>
                  </m:oMath>
                </a14:m>
                <a:r>
                  <a:rPr lang="en-GB" sz="2400" dirty="0"/>
                  <a:t> </a:t>
                </a:r>
              </a:p>
              <a:p>
                <a:pPr marL="0" indent="0">
                  <a:buNone/>
                </a:pPr>
                <a:endParaRPr lang="en-GB" sz="2400" dirty="0"/>
              </a:p>
              <a:p>
                <a:pPr marL="0" indent="0">
                  <a:buNone/>
                </a:pPr>
                <a:r>
                  <a:rPr lang="en-GB" sz="2400" dirty="0"/>
                  <a:t>Objective?</a:t>
                </a:r>
              </a:p>
              <a:p>
                <a:pPr marL="0" indent="0">
                  <a:buNone/>
                </a:pPr>
                <a:endParaRPr lang="en-GB" sz="2400" dirty="0"/>
              </a:p>
              <a:p>
                <a:pPr marL="0" indent="0">
                  <a:buNone/>
                </a:pPr>
                <a:r>
                  <a:rPr lang="en-GB" sz="2400" dirty="0"/>
                  <a:t>Minimise the number of fire stations built!</a:t>
                </a:r>
              </a:p>
              <a:p>
                <a:pPr marL="0" indent="0">
                  <a:buNone/>
                </a:pPr>
                <a:r>
                  <a:rPr lang="en-GB" sz="2400" dirty="0"/>
                  <a:t>minimise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p>
                        <m:e>
                          <m:sSub>
                            <m:sSubPr>
                              <m:ctrlP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sub>
                          </m:s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E712F17-711D-489F-997B-7EE688F7E7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19383"/>
                <a:ext cx="9323895" cy="4657580"/>
              </a:xfrm>
              <a:blipFill>
                <a:blip r:embed="rId2"/>
                <a:stretch>
                  <a:fillRect l="-1046" t="-183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088969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B57E94D-7ABF-4564-B18E-07C64105872B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062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Set Covering Problem - </a:t>
            </a:r>
            <a:r>
              <a:rPr lang="en-US" dirty="0"/>
              <a:t>Fire Stations Example </a:t>
            </a:r>
            <a:endParaRPr lang="en-GB" u="sng" dirty="0"/>
          </a:p>
        </p:txBody>
      </p:sp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38A27961-09A4-4B98-B611-77D2EC878B16}"/>
              </a:ext>
            </a:extLst>
          </p:cNvPr>
          <p:cNvGraphicFramePr>
            <a:graphicFrameLocks noGrp="1"/>
          </p:cNvGraphicFramePr>
          <p:nvPr/>
        </p:nvGraphicFramePr>
        <p:xfrm>
          <a:off x="7480697" y="1071418"/>
          <a:ext cx="4104842" cy="213360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586406">
                  <a:extLst>
                    <a:ext uri="{9D8B030D-6E8A-4147-A177-3AD203B41FA5}">
                      <a16:colId xmlns:a16="http://schemas.microsoft.com/office/drawing/2014/main" val="1046520813"/>
                    </a:ext>
                  </a:extLst>
                </a:gridCol>
                <a:gridCol w="586406">
                  <a:extLst>
                    <a:ext uri="{9D8B030D-6E8A-4147-A177-3AD203B41FA5}">
                      <a16:colId xmlns:a16="http://schemas.microsoft.com/office/drawing/2014/main" val="2476028075"/>
                    </a:ext>
                  </a:extLst>
                </a:gridCol>
                <a:gridCol w="586406">
                  <a:extLst>
                    <a:ext uri="{9D8B030D-6E8A-4147-A177-3AD203B41FA5}">
                      <a16:colId xmlns:a16="http://schemas.microsoft.com/office/drawing/2014/main" val="1467538741"/>
                    </a:ext>
                  </a:extLst>
                </a:gridCol>
                <a:gridCol w="586406">
                  <a:extLst>
                    <a:ext uri="{9D8B030D-6E8A-4147-A177-3AD203B41FA5}">
                      <a16:colId xmlns:a16="http://schemas.microsoft.com/office/drawing/2014/main" val="949666296"/>
                    </a:ext>
                  </a:extLst>
                </a:gridCol>
                <a:gridCol w="586406">
                  <a:extLst>
                    <a:ext uri="{9D8B030D-6E8A-4147-A177-3AD203B41FA5}">
                      <a16:colId xmlns:a16="http://schemas.microsoft.com/office/drawing/2014/main" val="1720813093"/>
                    </a:ext>
                  </a:extLst>
                </a:gridCol>
                <a:gridCol w="586406">
                  <a:extLst>
                    <a:ext uri="{9D8B030D-6E8A-4147-A177-3AD203B41FA5}">
                      <a16:colId xmlns:a16="http://schemas.microsoft.com/office/drawing/2014/main" val="3087542261"/>
                    </a:ext>
                  </a:extLst>
                </a:gridCol>
                <a:gridCol w="586406">
                  <a:extLst>
                    <a:ext uri="{9D8B030D-6E8A-4147-A177-3AD203B41FA5}">
                      <a16:colId xmlns:a16="http://schemas.microsoft.com/office/drawing/2014/main" val="2817878240"/>
                    </a:ext>
                  </a:extLst>
                </a:gridCol>
              </a:tblGrid>
              <a:tr h="300703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City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9913981"/>
                  </a:ext>
                </a:extLst>
              </a:tr>
              <a:tr h="300703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 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8240908"/>
                  </a:ext>
                </a:extLst>
              </a:tr>
              <a:tr h="300703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58202110"/>
                  </a:ext>
                </a:extLst>
              </a:tr>
              <a:tr h="300703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942314"/>
                  </a:ext>
                </a:extLst>
              </a:tr>
              <a:tr h="300703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8487898"/>
                  </a:ext>
                </a:extLst>
              </a:tr>
              <a:tr h="300703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8079493"/>
                  </a:ext>
                </a:extLst>
              </a:tr>
              <a:tr h="300703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1817997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E712F17-711D-489F-997B-7EE688F7E74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19383"/>
                <a:ext cx="8138665" cy="4657580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GB" sz="2400" dirty="0"/>
                  <a:t>Constraints?</a:t>
                </a:r>
              </a:p>
              <a:p>
                <a:pPr marL="0" indent="0">
                  <a:buNone/>
                </a:pPr>
                <a:endParaRPr lang="en-GB" sz="2400" dirty="0"/>
              </a:p>
              <a:p>
                <a:pPr marL="0" indent="0">
                  <a:buNone/>
                </a:pPr>
                <a:r>
                  <a:rPr lang="en-GB" sz="2400" dirty="0"/>
                  <a:t>Consider City 1, who can reach it in 15 minutes?</a:t>
                </a:r>
              </a:p>
              <a:p>
                <a:r>
                  <a:rPr lang="en-GB" sz="2400" dirty="0"/>
                  <a:t>City 1 and City 2 </a:t>
                </a:r>
              </a:p>
              <a:p>
                <a:endParaRPr lang="en-GB" sz="24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≥1</m:t>
                    </m:r>
                  </m:oMath>
                </a14:m>
                <a:r>
                  <a:rPr lang="en-GB" sz="2400" dirty="0"/>
                  <a:t>	(City 1 Constraint)</a:t>
                </a:r>
              </a:p>
              <a:p>
                <a:pPr marL="0" indent="0">
                  <a:buNone/>
                </a:pPr>
                <a:endParaRPr lang="en-GB" sz="2400" dirty="0"/>
              </a:p>
              <a:p>
                <a:pPr marL="0" indent="0">
                  <a:buNone/>
                </a:pPr>
                <a:r>
                  <a:rPr lang="en-GB" sz="2400" dirty="0"/>
                  <a:t>Consider City 2, who can reach it in 15 minutes?</a:t>
                </a:r>
              </a:p>
              <a:p>
                <a:r>
                  <a:rPr lang="en-GB" sz="2400" dirty="0"/>
                  <a:t>City 1, City 2  and City 6</a:t>
                </a:r>
              </a:p>
              <a:p>
                <a:pPr marL="0" indent="0">
                  <a:buNone/>
                </a:pPr>
                <a:endParaRPr lang="en-GB" sz="24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≥1</m:t>
                    </m:r>
                  </m:oMath>
                </a14:m>
                <a:r>
                  <a:rPr lang="en-GB" sz="2400" dirty="0"/>
                  <a:t>	(City 2 Constraint)</a:t>
                </a:r>
              </a:p>
              <a:p>
                <a:pPr marL="0" indent="0">
                  <a:buNone/>
                </a:pPr>
                <a:endParaRPr lang="en-GB" sz="2400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E712F17-711D-489F-997B-7EE688F7E7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19383"/>
                <a:ext cx="8138665" cy="4657580"/>
              </a:xfrm>
              <a:blipFill>
                <a:blip r:embed="rId3"/>
                <a:stretch>
                  <a:fillRect l="-1199" t="-2487" b="-144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964275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B57E94D-7ABF-4564-B18E-07C64105872B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062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Set Covering Problem - </a:t>
            </a:r>
            <a:r>
              <a:rPr lang="en-US" dirty="0"/>
              <a:t>Fire Stations Example </a:t>
            </a:r>
            <a:endParaRPr lang="en-GB" u="sng" dirty="0"/>
          </a:p>
        </p:txBody>
      </p:sp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38A27961-09A4-4B98-B611-77D2EC878B16}"/>
              </a:ext>
            </a:extLst>
          </p:cNvPr>
          <p:cNvGraphicFramePr>
            <a:graphicFrameLocks noGrp="1"/>
          </p:cNvGraphicFramePr>
          <p:nvPr/>
        </p:nvGraphicFramePr>
        <p:xfrm>
          <a:off x="7480697" y="1071418"/>
          <a:ext cx="4104842" cy="213360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586406">
                  <a:extLst>
                    <a:ext uri="{9D8B030D-6E8A-4147-A177-3AD203B41FA5}">
                      <a16:colId xmlns:a16="http://schemas.microsoft.com/office/drawing/2014/main" val="1046520813"/>
                    </a:ext>
                  </a:extLst>
                </a:gridCol>
                <a:gridCol w="586406">
                  <a:extLst>
                    <a:ext uri="{9D8B030D-6E8A-4147-A177-3AD203B41FA5}">
                      <a16:colId xmlns:a16="http://schemas.microsoft.com/office/drawing/2014/main" val="2476028075"/>
                    </a:ext>
                  </a:extLst>
                </a:gridCol>
                <a:gridCol w="586406">
                  <a:extLst>
                    <a:ext uri="{9D8B030D-6E8A-4147-A177-3AD203B41FA5}">
                      <a16:colId xmlns:a16="http://schemas.microsoft.com/office/drawing/2014/main" val="1467538741"/>
                    </a:ext>
                  </a:extLst>
                </a:gridCol>
                <a:gridCol w="586406">
                  <a:extLst>
                    <a:ext uri="{9D8B030D-6E8A-4147-A177-3AD203B41FA5}">
                      <a16:colId xmlns:a16="http://schemas.microsoft.com/office/drawing/2014/main" val="949666296"/>
                    </a:ext>
                  </a:extLst>
                </a:gridCol>
                <a:gridCol w="586406">
                  <a:extLst>
                    <a:ext uri="{9D8B030D-6E8A-4147-A177-3AD203B41FA5}">
                      <a16:colId xmlns:a16="http://schemas.microsoft.com/office/drawing/2014/main" val="1720813093"/>
                    </a:ext>
                  </a:extLst>
                </a:gridCol>
                <a:gridCol w="586406">
                  <a:extLst>
                    <a:ext uri="{9D8B030D-6E8A-4147-A177-3AD203B41FA5}">
                      <a16:colId xmlns:a16="http://schemas.microsoft.com/office/drawing/2014/main" val="3087542261"/>
                    </a:ext>
                  </a:extLst>
                </a:gridCol>
                <a:gridCol w="586406">
                  <a:extLst>
                    <a:ext uri="{9D8B030D-6E8A-4147-A177-3AD203B41FA5}">
                      <a16:colId xmlns:a16="http://schemas.microsoft.com/office/drawing/2014/main" val="2817878240"/>
                    </a:ext>
                  </a:extLst>
                </a:gridCol>
              </a:tblGrid>
              <a:tr h="300703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City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9913981"/>
                  </a:ext>
                </a:extLst>
              </a:tr>
              <a:tr h="300703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 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8240908"/>
                  </a:ext>
                </a:extLst>
              </a:tr>
              <a:tr h="300703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58202110"/>
                  </a:ext>
                </a:extLst>
              </a:tr>
              <a:tr h="300703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942314"/>
                  </a:ext>
                </a:extLst>
              </a:tr>
              <a:tr h="300703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8487898"/>
                  </a:ext>
                </a:extLst>
              </a:tr>
              <a:tr h="300703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8079493"/>
                  </a:ext>
                </a:extLst>
              </a:tr>
              <a:tr h="300703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1817997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E712F17-711D-489F-997B-7EE688F7E74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19383"/>
                <a:ext cx="7306559" cy="465758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sz="2400" dirty="0"/>
                  <a:t>minimise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6</m:t>
                          </m:r>
                        </m:sup>
                        <m:e>
                          <m:sSub>
                            <m:sSubPr>
                              <m:ctrlPr>
                                <a:rPr lang="en-GB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GB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GB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GB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GB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GB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sub>
                          </m:sSub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GB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GB" sz="2400" dirty="0"/>
              </a:p>
              <a:p>
                <a:pPr marL="0" indent="0">
                  <a:buNone/>
                </a:pPr>
                <a:r>
                  <a:rPr lang="en-GB" sz="2400" dirty="0"/>
                  <a:t>subject to:</a:t>
                </a:r>
              </a:p>
              <a:p>
                <a:pPr marL="0" indent="0">
                  <a:buNone/>
                </a:pPr>
                <a:r>
                  <a:rPr lang="en-GB" sz="2400" b="0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≥1</m:t>
                    </m:r>
                  </m:oMath>
                </a14:m>
                <a:r>
                  <a:rPr lang="en-GB" sz="2400" dirty="0"/>
                  <a:t>		(City 1 Constraint)</a:t>
                </a:r>
              </a:p>
              <a:p>
                <a:pPr marL="0" indent="0">
                  <a:buNone/>
                </a:pPr>
                <a:r>
                  <a:rPr lang="en-GB" sz="2400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≥1</m:t>
                    </m:r>
                  </m:oMath>
                </a14:m>
                <a:r>
                  <a:rPr lang="en-GB" sz="2400" dirty="0"/>
                  <a:t>	(City 2 Constraint)</a:t>
                </a:r>
              </a:p>
              <a:p>
                <a:pPr marL="0" indent="0">
                  <a:buNone/>
                </a:pPr>
                <a:r>
                  <a:rPr lang="en-GB" sz="2400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≥1</m:t>
                    </m:r>
                  </m:oMath>
                </a14:m>
                <a:r>
                  <a:rPr lang="en-GB" sz="2400" dirty="0"/>
                  <a:t>		(City 3 Constraint)</a:t>
                </a:r>
              </a:p>
              <a:p>
                <a:pPr marL="0" indent="0">
                  <a:buNone/>
                </a:pPr>
                <a:r>
                  <a:rPr lang="en-GB" sz="2400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≥1</m:t>
                    </m:r>
                  </m:oMath>
                </a14:m>
                <a:r>
                  <a:rPr lang="en-GB" sz="2400" dirty="0"/>
                  <a:t>	(City 4 Constraint)</a:t>
                </a:r>
              </a:p>
              <a:p>
                <a:pPr marL="0" indent="0">
                  <a:buNone/>
                </a:pPr>
                <a:r>
                  <a:rPr lang="en-GB" sz="2400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≥1</m:t>
                    </m:r>
                  </m:oMath>
                </a14:m>
                <a:r>
                  <a:rPr lang="en-GB" sz="2400" dirty="0"/>
                  <a:t>	(City 5 Constraint)</a:t>
                </a:r>
              </a:p>
              <a:p>
                <a:pPr marL="0" indent="0">
                  <a:buNone/>
                </a:pPr>
                <a:r>
                  <a:rPr lang="en-GB" sz="2400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≥1</m:t>
                    </m:r>
                  </m:oMath>
                </a14:m>
                <a:r>
                  <a:rPr lang="en-GB" sz="2400" dirty="0"/>
                  <a:t>	(City 6 Constraint)</a:t>
                </a:r>
              </a:p>
              <a:p>
                <a:pPr marL="0" indent="0">
                  <a:buNone/>
                </a:pPr>
                <a:endParaRPr lang="en-GB" sz="2400" dirty="0"/>
              </a:p>
              <a:p>
                <a:pPr marL="0" indent="0">
                  <a:buNone/>
                </a:pPr>
                <a:endParaRPr lang="en-GB" sz="2400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E712F17-711D-489F-997B-7EE688F7E7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19383"/>
                <a:ext cx="7306559" cy="4657580"/>
              </a:xfrm>
              <a:blipFill>
                <a:blip r:embed="rId3"/>
                <a:stretch>
                  <a:fillRect l="-1336" t="-1832" b="-52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091741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B57E94D-7ABF-4564-B18E-07C64105872B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062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Set Covering Problem - </a:t>
            </a:r>
            <a:r>
              <a:rPr lang="en-US" dirty="0"/>
              <a:t>Fire Stations Example </a:t>
            </a:r>
            <a:endParaRPr lang="en-GB" u="sn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E712F17-711D-489F-997B-7EE688F7E7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19383"/>
            <a:ext cx="7306559" cy="4657580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endParaRPr lang="en-GB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4">
                <a:extLst>
                  <a:ext uri="{FF2B5EF4-FFF2-40B4-BE49-F238E27FC236}">
                    <a16:creationId xmlns:a16="http://schemas.microsoft.com/office/drawing/2014/main" id="{22FA12C9-F212-4EB6-8B38-9DD0BD7EBE9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990600" y="1671783"/>
                <a:ext cx="10363200" cy="465758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sz="2400" dirty="0"/>
                  <a:t>minimise 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13"/>
                                <m:mcJc m:val="center"/>
                              </m:mcPr>
                            </m:mc>
                          </m:mcs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sSub>
                              <m:sSubPr>
                                <m:ctrl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brk m:alnAt="7"/>
                                  </m:r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m:rPr>
                                    <m:brk m:alnAt="7"/>
                                  </m:r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e>
                          <m:e>
                            <m:sSub>
                              <m:sSubPr>
                                <m:ctrl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e>
                          <m:e>
                            <m:sSub>
                              <m:sSubPr>
                                <m:ctrl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e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e>
                          <m:e>
                            <m:sSub>
                              <m:sSubPr>
                                <m:ctrl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</m:e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e>
                          <m:e>
                            <m:sSub>
                              <m:sSubPr>
                                <m:ctrl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sub>
                            </m:sSub>
                          </m:e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e>
                          <m:e>
                            <m:sSub>
                              <m:sSubPr>
                                <m:ctrl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</m:sub>
                            </m:sSub>
                          </m:e>
                          <m:e/>
                          <m:e/>
                        </m:mr>
                      </m:m>
                    </m:oMath>
                  </m:oMathPara>
                </a14:m>
                <a:endParaRPr lang="en-GB" sz="24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sz="2400" dirty="0"/>
                  <a:t>subject to: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13"/>
                                <m:mcJc m:val="center"/>
                              </m:mcPr>
                            </m:mc>
                          </m:mcs>
                          <m:ctrlPr>
                            <a:rPr lang="en-GB" sz="2400" i="1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sSub>
                              <m:sSubPr>
                                <m:ctrlPr>
                                  <a:rPr lang="en-GB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brk m:alnAt="7"/>
                                  </m:rPr>
                                  <a:rPr lang="en-GB" sz="24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m:rPr>
                                    <m:brk m:alnAt="7"/>
                                  </m:rPr>
                                  <a:rPr lang="en-GB" sz="24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r>
                              <a:rPr lang="en-GB" sz="24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e>
                          <m:e>
                            <m:sSub>
                              <m:sSubPr>
                                <m:ctrlPr>
                                  <a:rPr lang="en-GB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sz="2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  <m:e/>
                          <m:e/>
                          <m:e/>
                          <m:e/>
                          <m:e/>
                          <m:e/>
                          <m:e/>
                          <m:e/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≥</m:t>
                            </m:r>
                          </m:e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mr>
                        <m:mr>
                          <m:e>
                            <m:sSub>
                              <m:sSubPr>
                                <m:ctrl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e>
                          <m:e>
                            <m:sSub>
                              <m:sSubPr>
                                <m:ctrl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  <m:e/>
                          <m:e/>
                          <m:e/>
                          <m:e/>
                          <m:e/>
                          <m:e/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e>
                          <m:e>
                            <m:sSub>
                              <m:sSubPr>
                                <m:ctrl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</m:sub>
                            </m:sSub>
                          </m:e>
                          <m:e>
                            <m:r>
                              <a:rPr lang="en-GB" sz="2400" i="1">
                                <a:latin typeface="Cambria Math" panose="02040503050406030204" pitchFamily="18" charset="0"/>
                              </a:rPr>
                              <m:t>≥ </m:t>
                            </m:r>
                          </m:e>
                          <m:e>
                            <m:r>
                              <a:rPr lang="en-GB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mr>
                        <m:mr>
                          <m:e/>
                          <m:e/>
                          <m:e/>
                          <m:e/>
                          <m:e>
                            <m:sSub>
                              <m:sSubPr>
                                <m:ctrl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e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e>
                          <m:e>
                            <m:sSub>
                              <m:sSubPr>
                                <m:ctrl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</m:e>
                          <m:e/>
                          <m:e/>
                          <m:e/>
                          <m:e/>
                          <m:e>
                            <m:r>
                              <a:rPr lang="en-GB" sz="2400" i="1">
                                <a:latin typeface="Cambria Math" panose="02040503050406030204" pitchFamily="18" charset="0"/>
                              </a:rPr>
                              <m:t>≥</m:t>
                            </m:r>
                          </m:e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mr>
                        <m:mr>
                          <m:e/>
                          <m:e/>
                          <m:e/>
                          <m:e/>
                          <m:e>
                            <m:sSub>
                              <m:sSubPr>
                                <m:ctrl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e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e>
                          <m:e>
                            <m:sSub>
                              <m:sSubPr>
                                <m:ctrl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</m:e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e>
                          <m:e>
                            <m:sSub>
                              <m:sSubPr>
                                <m:ctrl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sub>
                            </m:sSub>
                          </m:e>
                          <m:e/>
                          <m:e/>
                          <m:e>
                            <m:r>
                              <a:rPr lang="en-GB" sz="2400" i="1">
                                <a:latin typeface="Cambria Math" panose="02040503050406030204" pitchFamily="18" charset="0"/>
                              </a:rPr>
                              <m:t>≥</m:t>
                            </m:r>
                          </m:e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mr>
                        <m:mr>
                          <m:e/>
                          <m:e/>
                          <m:e/>
                          <m:e/>
                          <m:e/>
                          <m:e/>
                          <m:e>
                            <m:sSub>
                              <m:sSubPr>
                                <m:ctrl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</m:e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e>
                          <m:e>
                            <m:sSub>
                              <m:sSubPr>
                                <m:ctrl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sub>
                            </m:sSub>
                          </m:e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e>
                          <m:e>
                            <m:sSub>
                              <m:sSubPr>
                                <m:ctrl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</m:sub>
                            </m:sSub>
                          </m:e>
                          <m:e>
                            <m:r>
                              <a:rPr lang="en-GB" sz="2400" i="1">
                                <a:latin typeface="Cambria Math" panose="02040503050406030204" pitchFamily="18" charset="0"/>
                              </a:rPr>
                              <m:t>≥</m:t>
                            </m:r>
                          </m:e>
                          <m:e>
                            <m:r>
                              <a:rPr lang="en-GB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mr>
                        <m:mr>
                          <m:e/>
                          <m:e/>
                          <m:e>
                            <m:sSub>
                              <m:sSubPr>
                                <m:ctrl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  <m:e/>
                          <m:e/>
                          <m:e/>
                          <m:e/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e>
                          <m:e>
                            <m:sSub>
                              <m:sSubPr>
                                <m:ctrl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sub>
                            </m:sSub>
                          </m:e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e>
                          <m:e>
                            <m:sSub>
                              <m:sSubPr>
                                <m:ctrl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</m:sub>
                            </m:sSub>
                          </m:e>
                          <m:e>
                            <m:r>
                              <a:rPr lang="en-GB" sz="2400" i="1">
                                <a:latin typeface="Cambria Math" panose="02040503050406030204" pitchFamily="18" charset="0"/>
                              </a:rPr>
                              <m:t>≥</m:t>
                            </m:r>
                          </m:e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mr>
                      </m:m>
                    </m:oMath>
                  </m:oMathPara>
                </a14:m>
                <a:endParaRPr lang="en-GB" sz="2400" dirty="0"/>
              </a:p>
              <a:p>
                <a:pPr marL="0" indent="0">
                  <a:buNone/>
                </a:pPr>
                <a:endParaRPr lang="en-GB" sz="2400" dirty="0"/>
              </a:p>
              <a:p>
                <a:pPr marL="0" indent="0">
                  <a:buNone/>
                </a:pPr>
                <a:r>
                  <a:rPr lang="en-GB" sz="2400" dirty="0"/>
                  <a:t>And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∈</m:t>
                      </m:r>
                      <m:d>
                        <m:dPr>
                          <m:begChr m:val="{"/>
                          <m:endChr m:val="}"/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7" name="Content Placeholder 4">
                <a:extLst>
                  <a:ext uri="{FF2B5EF4-FFF2-40B4-BE49-F238E27FC236}">
                    <a16:creationId xmlns:a16="http://schemas.microsoft.com/office/drawing/2014/main" id="{22FA12C9-F212-4EB6-8B38-9DD0BD7EBE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0600" y="1671783"/>
                <a:ext cx="10363200" cy="4657580"/>
              </a:xfrm>
              <a:prstGeom prst="rect">
                <a:avLst/>
              </a:prstGeom>
              <a:blipFill>
                <a:blip r:embed="rId2"/>
                <a:stretch>
                  <a:fillRect l="-941" t="-183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563443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B57E94D-7ABF-4564-B18E-07C64105872B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062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Set Covering Problem - </a:t>
            </a:r>
            <a:r>
              <a:rPr lang="en-US" dirty="0"/>
              <a:t>Fire Stations Example </a:t>
            </a:r>
            <a:endParaRPr lang="en-GB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E712F17-711D-489F-997B-7EE688F7E74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2141" y="1428161"/>
                <a:ext cx="4166994" cy="465758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sz="1800" dirty="0"/>
                  <a:t>minimise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sz="1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18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GB" sz="1800" i="1">
                              <a:latin typeface="Cambria Math" panose="02040503050406030204" pitchFamily="18" charset="0"/>
                            </a:rPr>
                            <m:t>6</m:t>
                          </m:r>
                        </m:sup>
                        <m:e>
                          <m:sSub>
                            <m:sSubPr>
                              <m:ctrlPr>
                                <a:rPr lang="en-GB" sz="1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8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GB" sz="1800" i="1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GB" sz="1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GB" sz="1800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GB" sz="1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GB" sz="1800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GB" sz="1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8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GB" sz="1800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GB" sz="1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800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GB" sz="1800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GB" sz="1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800" i="1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sub>
                          </m:sSub>
                          <m:r>
                            <a:rPr lang="en-GB" sz="1800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GB" sz="1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800" i="1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GB" sz="1800" dirty="0"/>
              </a:p>
              <a:p>
                <a:pPr marL="0" indent="0">
                  <a:buNone/>
                </a:pPr>
                <a:r>
                  <a:rPr lang="en-GB" sz="1800" dirty="0"/>
                  <a:t>subject to:</a:t>
                </a:r>
              </a:p>
              <a:p>
                <a:pPr marL="0" indent="0">
                  <a:buNone/>
                </a:pPr>
                <a:r>
                  <a:rPr lang="en-GB" sz="1800" dirty="0"/>
                  <a:t>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sz="18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sz="1800" b="0" i="1" smtClean="0">
                        <a:latin typeface="Cambria Math" panose="02040503050406030204" pitchFamily="18" charset="0"/>
                      </a:rPr>
                      <m:t>≥1</m:t>
                    </m:r>
                  </m:oMath>
                </a14:m>
                <a:r>
                  <a:rPr lang="en-GB" sz="1800" dirty="0"/>
                  <a:t>	       (City 1 Constraint)</a:t>
                </a:r>
              </a:p>
              <a:p>
                <a:pPr marL="0" indent="0">
                  <a:buNone/>
                </a:pPr>
                <a:r>
                  <a:rPr lang="en-GB" sz="1800" dirty="0"/>
                  <a:t>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18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sz="18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18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sz="18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GB" sz="1800" i="1">
                        <a:latin typeface="Cambria Math" panose="02040503050406030204" pitchFamily="18" charset="0"/>
                      </a:rPr>
                      <m:t>≥1</m:t>
                    </m:r>
                  </m:oMath>
                </a14:m>
                <a:r>
                  <a:rPr lang="en-GB" sz="1800" dirty="0"/>
                  <a:t>      (City 2 Constraint)</a:t>
                </a:r>
              </a:p>
              <a:p>
                <a:pPr marL="0" indent="0">
                  <a:buNone/>
                </a:pPr>
                <a:r>
                  <a:rPr lang="en-GB" sz="1800" dirty="0"/>
                  <a:t>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GB" sz="18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GB" sz="1800" i="1">
                        <a:latin typeface="Cambria Math" panose="02040503050406030204" pitchFamily="18" charset="0"/>
                      </a:rPr>
                      <m:t>≥1</m:t>
                    </m:r>
                  </m:oMath>
                </a14:m>
                <a:r>
                  <a:rPr lang="en-GB" sz="1800" dirty="0"/>
                  <a:t>	        (City 3 Constraint) </a:t>
                </a:r>
              </a:p>
              <a:p>
                <a:pPr marL="0" indent="0">
                  <a:buNone/>
                </a:pPr>
                <a:r>
                  <a:rPr lang="en-GB" sz="1800" dirty="0"/>
                  <a:t>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GB" sz="18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GB" sz="18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en-GB" sz="1800" i="1">
                        <a:latin typeface="Cambria Math" panose="02040503050406030204" pitchFamily="18" charset="0"/>
                      </a:rPr>
                      <m:t>≥1</m:t>
                    </m:r>
                  </m:oMath>
                </a14:m>
                <a:r>
                  <a:rPr lang="en-GB" sz="1800" dirty="0"/>
                  <a:t>      (City 4 Constraint)</a:t>
                </a:r>
              </a:p>
              <a:p>
                <a:pPr marL="0" indent="0">
                  <a:buNone/>
                </a:pPr>
                <a:r>
                  <a:rPr lang="en-GB" sz="1800" dirty="0"/>
                  <a:t>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GB" sz="18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en-GB" sz="18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GB" sz="1800" i="1">
                        <a:latin typeface="Cambria Math" panose="02040503050406030204" pitchFamily="18" charset="0"/>
                      </a:rPr>
                      <m:t>≥1</m:t>
                    </m:r>
                  </m:oMath>
                </a14:m>
                <a:r>
                  <a:rPr lang="en-GB" sz="1800" dirty="0"/>
                  <a:t>      (City 5 Constraint)</a:t>
                </a:r>
              </a:p>
              <a:p>
                <a:pPr marL="0" indent="0">
                  <a:buNone/>
                </a:pPr>
                <a:r>
                  <a:rPr lang="en-GB" sz="1800" dirty="0"/>
                  <a:t>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sz="18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en-GB" sz="18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1800" i="1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GB" sz="1800" i="1">
                        <a:latin typeface="Cambria Math" panose="02040503050406030204" pitchFamily="18" charset="0"/>
                      </a:rPr>
                      <m:t>≥1</m:t>
                    </m:r>
                  </m:oMath>
                </a14:m>
                <a:r>
                  <a:rPr lang="en-GB" sz="1800" dirty="0"/>
                  <a:t>      (City 6 Constraint)</a:t>
                </a:r>
              </a:p>
              <a:p>
                <a:pPr marL="0" indent="0">
                  <a:buNone/>
                </a:pPr>
                <a:endParaRPr lang="en-GB" sz="1800" dirty="0"/>
              </a:p>
              <a:p>
                <a:pPr marL="0" indent="0">
                  <a:buNone/>
                </a:pPr>
                <a:r>
                  <a:rPr lang="en-GB" sz="1800" dirty="0"/>
                  <a:t>and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8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800" i="1">
                          <a:latin typeface="Cambria Math" panose="02040503050406030204" pitchFamily="18" charset="0"/>
                        </a:rPr>
                        <m:t>∈</m:t>
                      </m:r>
                      <m:d>
                        <m:dPr>
                          <m:begChr m:val="{"/>
                          <m:endChr m:val="}"/>
                          <m:ctrlPr>
                            <a:rPr lang="en-GB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800" i="1"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  <m:r>
                        <a:rPr lang="en-GB" sz="1800" i="1"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en-GB" sz="1800" i="1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sz="1800" dirty="0"/>
              </a:p>
              <a:p>
                <a:pPr marL="0" indent="0">
                  <a:buNone/>
                </a:pPr>
                <a:endParaRPr lang="en-GB" sz="1800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E712F17-711D-489F-997B-7EE688F7E7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2141" y="1428161"/>
                <a:ext cx="4166994" cy="4657580"/>
              </a:xfrm>
              <a:blipFill>
                <a:blip r:embed="rId2"/>
                <a:stretch>
                  <a:fillRect l="-1170" t="-1178" r="-102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A1BCACB5-32B2-A811-3B81-81D6CB2138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0437" y="1349185"/>
            <a:ext cx="7203974" cy="4815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699429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B57E94D-7ABF-4564-B18E-07C64105872B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062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General Set Covering Problem</a:t>
            </a:r>
            <a:endParaRPr lang="en-GB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E712F17-711D-489F-997B-7EE688F7E74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2141" y="1428161"/>
                <a:ext cx="5562160" cy="465758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sz="2400" dirty="0"/>
                  <a:t>minimise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GB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GB" sz="2400" dirty="0"/>
              </a:p>
              <a:p>
                <a:pPr marL="0" indent="0">
                  <a:buNone/>
                </a:pPr>
                <a:r>
                  <a:rPr lang="en-GB" sz="2400" dirty="0"/>
                  <a:t>subject to: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GB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GB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≥1</m:t>
                          </m:r>
                        </m:e>
                      </m:nary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𝑈</m:t>
                      </m:r>
                    </m:oMath>
                  </m:oMathPara>
                </a14:m>
                <a:endParaRPr lang="en-GB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∈{0,1}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E712F17-711D-489F-997B-7EE688F7E7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2141" y="1428161"/>
                <a:ext cx="5562160" cy="4657580"/>
              </a:xfrm>
              <a:blipFill>
                <a:blip r:embed="rId2"/>
                <a:stretch>
                  <a:fillRect l="-1643" t="-183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4">
                <a:extLst>
                  <a:ext uri="{FF2B5EF4-FFF2-40B4-BE49-F238E27FC236}">
                    <a16:creationId xmlns:a16="http://schemas.microsoft.com/office/drawing/2014/main" id="{608A163D-DDEA-4F46-8AC5-B1ED09607FF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014301" y="1545257"/>
                <a:ext cx="5562160" cy="465758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 xmlns:m="http://schemas.openxmlformats.org/officeDocument/2006/math"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GB" sz="2400" b="0" i="1" dirty="0">
                    <a:latin typeface="Cambria Math" panose="02040503050406030204" pitchFamily="18" charset="0"/>
                  </a:rPr>
                  <a:t> – </a:t>
                </a:r>
                <a:r>
                  <a:rPr lang="en-GB" sz="2400" dirty="0"/>
                  <a:t>All possible sets to choose from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GB" sz="24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GB" sz="2400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GB" sz="2400" i="1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GB" sz="2400" dirty="0"/>
                  <a:t> – A given set </a:t>
                </a:r>
                <a14:m>
                  <m:oMath xmlns:m="http://schemas.openxmlformats.org/officeDocument/2006/math"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GB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GB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GB" sz="2400" dirty="0"/>
                  <a:t> - Set </a:t>
                </a:r>
                <a14:m>
                  <m:oMath xmlns:m="http://schemas.openxmlformats.org/officeDocument/2006/math"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GB" sz="2400" dirty="0"/>
                  <a:t> chosen or not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GB" sz="24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 xmlns:m="http://schemas.openxmlformats.org/officeDocument/2006/math"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GB" sz="2400" dirty="0"/>
                  <a:t> Set of all elements contained in S</a:t>
                </a:r>
              </a:p>
            </p:txBody>
          </p:sp>
        </mc:Choice>
        <mc:Fallback xmlns="">
          <p:sp>
            <p:nvSpPr>
              <p:cNvPr id="8" name="Content Placeholder 4">
                <a:extLst>
                  <a:ext uri="{FF2B5EF4-FFF2-40B4-BE49-F238E27FC236}">
                    <a16:creationId xmlns:a16="http://schemas.microsoft.com/office/drawing/2014/main" id="{608A163D-DDEA-4F46-8AC5-B1ED09607F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4301" y="1545257"/>
                <a:ext cx="5562160" cy="4657580"/>
              </a:xfrm>
              <a:prstGeom prst="rect">
                <a:avLst/>
              </a:prstGeom>
              <a:blipFill>
                <a:blip r:embed="rId3"/>
                <a:stretch>
                  <a:fillRect l="-329" t="-209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16629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B57E94D-7ABF-4564-B18E-07C64105872B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062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General Set Covering Problem</a:t>
            </a:r>
            <a:endParaRPr lang="en-GB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E712F17-711D-489F-997B-7EE688F7E74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2141" y="1428161"/>
                <a:ext cx="5562160" cy="465758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sz="2400" dirty="0"/>
                  <a:t>minimise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GB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GB" sz="2400" dirty="0"/>
              </a:p>
              <a:p>
                <a:pPr marL="0" indent="0">
                  <a:buNone/>
                </a:pPr>
                <a:r>
                  <a:rPr lang="en-GB" sz="2400" dirty="0"/>
                  <a:t>subject to: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GB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GB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≥1</m:t>
                          </m:r>
                        </m:e>
                      </m:nary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𝑈</m:t>
                      </m:r>
                    </m:oMath>
                  </m:oMathPara>
                </a14:m>
                <a:endParaRPr lang="en-GB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∈{0,1}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E712F17-711D-489F-997B-7EE688F7E7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2141" y="1428161"/>
                <a:ext cx="5562160" cy="4657580"/>
              </a:xfrm>
              <a:blipFill>
                <a:blip r:embed="rId2"/>
                <a:stretch>
                  <a:fillRect l="-1643" t="-183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4">
                <a:extLst>
                  <a:ext uri="{FF2B5EF4-FFF2-40B4-BE49-F238E27FC236}">
                    <a16:creationId xmlns:a16="http://schemas.microsoft.com/office/drawing/2014/main" id="{608A163D-DDEA-4F46-8AC5-B1ED09607FF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014301" y="1545257"/>
                <a:ext cx="5562160" cy="465758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1,2,5</m:t>
                          </m:r>
                        </m:e>
                      </m:d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,  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2,3</m:t>
                          </m:r>
                        </m:e>
                      </m:d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,  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4,5</m:t>
                          </m:r>
                        </m:e>
                      </m:d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,  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={3,4}</m:t>
                      </m:r>
                    </m:oMath>
                  </m:oMathPara>
                </a14:m>
                <a:endParaRPr lang="en-GB" sz="24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GB" sz="24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1,2,3,4,5</m:t>
                          </m:r>
                        </m:e>
                      </m:d>
                    </m:oMath>
                  </m:oMathPara>
                </a14:m>
                <a:endParaRPr lang="en-GB" sz="2400" b="0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GB" sz="24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sz="2400" dirty="0"/>
                  <a:t>Minimum set cover 3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GB" sz="24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{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GB" sz="2400" b="0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GB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{</m:t>
                          </m:r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240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GB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GB" sz="24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GB" sz="2400" b="0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GB" sz="2400" dirty="0"/>
              </a:p>
            </p:txBody>
          </p:sp>
        </mc:Choice>
        <mc:Fallback xmlns="">
          <p:sp>
            <p:nvSpPr>
              <p:cNvPr id="8" name="Content Placeholder 4">
                <a:extLst>
                  <a:ext uri="{FF2B5EF4-FFF2-40B4-BE49-F238E27FC236}">
                    <a16:creationId xmlns:a16="http://schemas.microsoft.com/office/drawing/2014/main" id="{608A163D-DDEA-4F46-8AC5-B1ED09607F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4301" y="1545257"/>
                <a:ext cx="5562160" cy="4657580"/>
              </a:xfrm>
              <a:prstGeom prst="rect">
                <a:avLst/>
              </a:prstGeom>
              <a:blipFill>
                <a:blip r:embed="rId3"/>
                <a:stretch>
                  <a:fillRect l="-175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496607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8" grpId="0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7AAB4CA-C581-40AD-A67E-BBCA4F20520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5167"/>
                <a:ext cx="6967194" cy="478179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Maximise the expected profit given that you have a budget of </a:t>
                </a:r>
                <a14:m>
                  <m:oMath xmlns:m="http://schemas.openxmlformats.org/officeDocument/2006/math">
                    <m:r>
                      <a:rPr lang="en-GB" b="0" i="0" smtClean="0">
                        <a:latin typeface="Cambria Math" panose="02040503050406030204" pitchFamily="18" charset="0"/>
                      </a:rPr>
                      <m:t>£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160</m:t>
                    </m:r>
                  </m:oMath>
                </a14:m>
                <a:r>
                  <a:rPr lang="en-GB" dirty="0"/>
                  <a:t> and can order a maximum of 10 per item.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In addition, add the following:</a:t>
                </a:r>
              </a:p>
              <a:p>
                <a:r>
                  <a:rPr lang="en-GB" dirty="0"/>
                  <a:t>Minimum order placed must be greater than 6</a:t>
                </a:r>
              </a:p>
              <a:p>
                <a:pPr lvl="1"/>
                <a:r>
                  <a:rPr lang="en-GB" dirty="0"/>
                  <a:t>You can order at most 2 different items</a:t>
                </a:r>
              </a:p>
              <a:p>
                <a:pPr lvl="1"/>
                <a:r>
                  <a:rPr lang="en-GB" dirty="0"/>
                  <a:t>You can order either item 1 or item 4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7AAB4CA-C581-40AD-A67E-BBCA4F20520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5167"/>
                <a:ext cx="6967194" cy="4781796"/>
              </a:xfrm>
              <a:blipFill>
                <a:blip r:embed="rId2"/>
                <a:stretch>
                  <a:fillRect l="-1839" t="-2168" r="-140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itle 1">
            <a:extLst>
              <a:ext uri="{FF2B5EF4-FFF2-40B4-BE49-F238E27FC236}">
                <a16:creationId xmlns:a16="http://schemas.microsoft.com/office/drawing/2014/main" id="{1B876616-1C15-4AB5-BA64-DEC40A67D88E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062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Purchasing Problem</a:t>
            </a:r>
            <a:endParaRPr lang="en-GB" u="sng" dirty="0"/>
          </a:p>
        </p:txBody>
      </p:sp>
      <p:graphicFrame>
        <p:nvGraphicFramePr>
          <p:cNvPr id="8" name="Table 4">
            <a:extLst>
              <a:ext uri="{FF2B5EF4-FFF2-40B4-BE49-F238E27FC236}">
                <a16:creationId xmlns:a16="http://schemas.microsoft.com/office/drawing/2014/main" id="{7A841ABB-95A8-4FD4-919D-68E4E42027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3345541"/>
              </p:ext>
            </p:extLst>
          </p:nvPr>
        </p:nvGraphicFramePr>
        <p:xfrm>
          <a:off x="7682845" y="365125"/>
          <a:ext cx="4138367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1279">
                  <a:extLst>
                    <a:ext uri="{9D8B030D-6E8A-4147-A177-3AD203B41FA5}">
                      <a16:colId xmlns:a16="http://schemas.microsoft.com/office/drawing/2014/main" val="2988077324"/>
                    </a:ext>
                  </a:extLst>
                </a:gridCol>
                <a:gridCol w="1102936">
                  <a:extLst>
                    <a:ext uri="{9D8B030D-6E8A-4147-A177-3AD203B41FA5}">
                      <a16:colId xmlns:a16="http://schemas.microsoft.com/office/drawing/2014/main" val="3948684592"/>
                    </a:ext>
                  </a:extLst>
                </a:gridCol>
                <a:gridCol w="2234152">
                  <a:extLst>
                    <a:ext uri="{9D8B030D-6E8A-4147-A177-3AD203B41FA5}">
                      <a16:colId xmlns:a16="http://schemas.microsoft.com/office/drawing/2014/main" val="397546807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Item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Cost </a:t>
                      </a:r>
                    </a:p>
                    <a:p>
                      <a:r>
                        <a:rPr lang="en-GB" dirty="0"/>
                        <a:t>(per kg)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Expected Profit </a:t>
                      </a:r>
                    </a:p>
                    <a:p>
                      <a:r>
                        <a:rPr lang="en-GB" dirty="0"/>
                        <a:t>(per kg)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894343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92610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69515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52145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45904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444873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8897854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7AAB4CA-C581-40AD-A67E-BBCA4F20520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66887"/>
                <a:ext cx="7429107" cy="4810076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GB" dirty="0"/>
                  <a:t>Maximum order of 10 per item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Maximise		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  <m:e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subject to: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  <m:e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GB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b="0" i="0" smtClean="0">
                          <a:latin typeface="Cambria Math" panose="02040503050406030204" pitchFamily="18" charset="0"/>
                        </a:rPr>
                        <m:t>160</m:t>
                      </m:r>
                    </m:oMath>
                  </m:oMathPara>
                </a14:m>
                <a:endParaRPr lang="en-GB" i="1" dirty="0"/>
              </a:p>
              <a:p>
                <a:pPr marL="0" indent="0">
                  <a:buNone/>
                </a:pPr>
                <a:endParaRPr lang="en-GB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≥0,  ∀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≤10,  ∀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i="1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7AAB4CA-C581-40AD-A67E-BBCA4F20520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66887"/>
                <a:ext cx="7429107" cy="4810076"/>
              </a:xfrm>
              <a:blipFill>
                <a:blip r:embed="rId2"/>
                <a:stretch>
                  <a:fillRect l="-1478" t="-316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9F9F96BF-1864-4775-AD5B-122B669372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6519180"/>
              </p:ext>
            </p:extLst>
          </p:nvPr>
        </p:nvGraphicFramePr>
        <p:xfrm>
          <a:off x="7682845" y="365125"/>
          <a:ext cx="4138367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1279">
                  <a:extLst>
                    <a:ext uri="{9D8B030D-6E8A-4147-A177-3AD203B41FA5}">
                      <a16:colId xmlns:a16="http://schemas.microsoft.com/office/drawing/2014/main" val="2988077324"/>
                    </a:ext>
                  </a:extLst>
                </a:gridCol>
                <a:gridCol w="1102936">
                  <a:extLst>
                    <a:ext uri="{9D8B030D-6E8A-4147-A177-3AD203B41FA5}">
                      <a16:colId xmlns:a16="http://schemas.microsoft.com/office/drawing/2014/main" val="3948684592"/>
                    </a:ext>
                  </a:extLst>
                </a:gridCol>
                <a:gridCol w="2234152">
                  <a:extLst>
                    <a:ext uri="{9D8B030D-6E8A-4147-A177-3AD203B41FA5}">
                      <a16:colId xmlns:a16="http://schemas.microsoft.com/office/drawing/2014/main" val="397546807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Item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Cost (kg)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Expected Profit (kg)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894343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92610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69515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52145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45904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44487381"/>
                  </a:ext>
                </a:extLst>
              </a:tr>
            </a:tbl>
          </a:graphicData>
        </a:graphic>
      </p:graphicFrame>
      <p:sp>
        <p:nvSpPr>
          <p:cNvPr id="9" name="Title 1">
            <a:extLst>
              <a:ext uri="{FF2B5EF4-FFF2-40B4-BE49-F238E27FC236}">
                <a16:creationId xmlns:a16="http://schemas.microsoft.com/office/drawing/2014/main" id="{CED9EDD6-DDE7-4E00-956B-87651705295A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062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Basic Model</a:t>
            </a:r>
            <a:endParaRPr lang="en-GB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57AD87E-AAC5-49AC-83B9-908B2225A26E}"/>
                  </a:ext>
                </a:extLst>
              </p:cNvPr>
              <p:cNvSpPr txBox="1"/>
              <p:nvPr/>
            </p:nvSpPr>
            <p:spPr>
              <a:xfrm>
                <a:off x="7125092" y="2887682"/>
                <a:ext cx="4969498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dirty="0"/>
                  <a:t> - Profit (per item) for item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GB" dirty="0"/>
              </a:p>
              <a:p>
                <a:endParaRPr lang="en-GB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dirty="0"/>
                  <a:t> - Cost (per item) for item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GB" dirty="0"/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57AD87E-AAC5-49AC-83B9-908B2225A2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5092" y="2887682"/>
                <a:ext cx="4969498" cy="1200329"/>
              </a:xfrm>
              <a:prstGeom prst="rect">
                <a:avLst/>
              </a:prstGeom>
              <a:blipFill>
                <a:blip r:embed="rId3"/>
                <a:stretch>
                  <a:fillRect t="-304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10978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7AAB4CA-C581-40AD-A67E-BBCA4F20520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06631"/>
                <a:ext cx="6703243" cy="4970332"/>
              </a:xfrm>
            </p:spPr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en-GB" dirty="0"/>
                  <a:t>Minimum order per item is greater than 6</a:t>
                </a:r>
              </a:p>
              <a:p>
                <a:pPr marL="0" indent="0">
                  <a:buNone/>
                </a:pPr>
                <a:r>
                  <a:rPr lang="en-GB" dirty="0"/>
                  <a:t>Maximise		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  <m:e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subject to: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  <m:e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GB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b="0" i="0" smtClean="0">
                          <a:latin typeface="Cambria Math" panose="02040503050406030204" pitchFamily="18" charset="0"/>
                        </a:rPr>
                        <m:t>160</m:t>
                      </m:r>
                    </m:oMath>
                  </m:oMathPara>
                </a14:m>
                <a:endParaRPr lang="en-GB" i="1" dirty="0"/>
              </a:p>
              <a:p>
                <a:pPr marL="0" indent="0">
                  <a:buNone/>
                </a:pPr>
                <a:endParaRPr lang="en-GB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≥6,  ∀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≤10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i="1" dirty="0"/>
              </a:p>
              <a:p>
                <a:pPr marL="0" indent="0">
                  <a:buNone/>
                </a:pPr>
                <a:endParaRPr lang="en-GB" i="1" dirty="0"/>
              </a:p>
              <a:p>
                <a:pPr marL="0" indent="0">
                  <a:buNone/>
                </a:pPr>
                <a:r>
                  <a:rPr lang="en-GB" dirty="0"/>
                  <a:t>What is wrong with this?</a:t>
                </a:r>
              </a:p>
              <a:p>
                <a:pPr marL="0" indent="0">
                  <a:buNone/>
                </a:pPr>
                <a:endParaRPr lang="en-GB" i="1" dirty="0"/>
              </a:p>
              <a:p>
                <a:pPr marL="0" indent="0">
                  <a:buNone/>
                </a:pPr>
                <a:r>
                  <a:rPr lang="en-GB" dirty="0"/>
                  <a:t>Answer: I don’t have to order an item! </a:t>
                </a:r>
              </a:p>
              <a:p>
                <a:pPr marL="0" indent="0">
                  <a:buNone/>
                </a:pPr>
                <a:r>
                  <a:rPr lang="en-GB" dirty="0"/>
                  <a:t>This requires at least 6 of every item to be chosen.</a:t>
                </a:r>
              </a:p>
              <a:p>
                <a:pPr marL="0" indent="0">
                  <a:buNone/>
                </a:pPr>
                <a:endParaRPr lang="en-GB" i="1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7AAB4CA-C581-40AD-A67E-BBCA4F20520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06631"/>
                <a:ext cx="6703243" cy="4970332"/>
              </a:xfrm>
              <a:blipFill>
                <a:blip r:embed="rId2"/>
                <a:stretch>
                  <a:fillRect l="-819" t="-208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9F9F96BF-1864-4775-AD5B-122B66937289}"/>
              </a:ext>
            </a:extLst>
          </p:cNvPr>
          <p:cNvGraphicFramePr>
            <a:graphicFrameLocks noGrp="1"/>
          </p:cNvGraphicFramePr>
          <p:nvPr/>
        </p:nvGraphicFramePr>
        <p:xfrm>
          <a:off x="7810630" y="365125"/>
          <a:ext cx="4010582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5921">
                  <a:extLst>
                    <a:ext uri="{9D8B030D-6E8A-4147-A177-3AD203B41FA5}">
                      <a16:colId xmlns:a16="http://schemas.microsoft.com/office/drawing/2014/main" val="2988077324"/>
                    </a:ext>
                  </a:extLst>
                </a:gridCol>
                <a:gridCol w="1137261">
                  <a:extLst>
                    <a:ext uri="{9D8B030D-6E8A-4147-A177-3AD203B41FA5}">
                      <a16:colId xmlns:a16="http://schemas.microsoft.com/office/drawing/2014/main" val="3948684592"/>
                    </a:ext>
                  </a:extLst>
                </a:gridCol>
                <a:gridCol w="1977400">
                  <a:extLst>
                    <a:ext uri="{9D8B030D-6E8A-4147-A177-3AD203B41FA5}">
                      <a16:colId xmlns:a16="http://schemas.microsoft.com/office/drawing/2014/main" val="397546807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Item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Cost (g)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Expected Profit (g)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894343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92610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69515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52145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45904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44487381"/>
                  </a:ext>
                </a:extLst>
              </a:tr>
            </a:tbl>
          </a:graphicData>
        </a:graphic>
      </p:graphicFrame>
      <p:sp>
        <p:nvSpPr>
          <p:cNvPr id="5" name="Title 1">
            <a:extLst>
              <a:ext uri="{FF2B5EF4-FFF2-40B4-BE49-F238E27FC236}">
                <a16:creationId xmlns:a16="http://schemas.microsoft.com/office/drawing/2014/main" id="{F10B0B7E-0A20-4067-96A0-A6B0EAA08C07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062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Updated Problem</a:t>
            </a:r>
            <a:endParaRPr lang="en-GB" u="sng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7A7BE5A-63D3-4501-98F2-13904E875854}"/>
              </a:ext>
            </a:extLst>
          </p:cNvPr>
          <p:cNvSpPr txBox="1"/>
          <p:nvPr/>
        </p:nvSpPr>
        <p:spPr>
          <a:xfrm>
            <a:off x="6825006" y="4760537"/>
            <a:ext cx="518866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I want to say the following.</a:t>
            </a:r>
          </a:p>
          <a:p>
            <a:endParaRPr lang="en-GB" dirty="0"/>
          </a:p>
          <a:p>
            <a:r>
              <a:rPr lang="en-GB" b="1" dirty="0"/>
              <a:t>IF</a:t>
            </a:r>
            <a:r>
              <a:rPr lang="en-GB" dirty="0"/>
              <a:t> I choose to order an Item </a:t>
            </a:r>
            <a:r>
              <a:rPr lang="en-GB" b="1" dirty="0"/>
              <a:t>THEN</a:t>
            </a:r>
          </a:p>
          <a:p>
            <a:r>
              <a:rPr lang="en-GB" b="1" dirty="0"/>
              <a:t>	</a:t>
            </a:r>
            <a:r>
              <a:rPr lang="en-GB" dirty="0"/>
              <a:t>I must order at least 6 and no more than 10</a:t>
            </a:r>
            <a:endParaRPr lang="en-GB" b="1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C3AC71B-D6CF-4934-B8A1-1AE08E69646F}"/>
              </a:ext>
            </a:extLst>
          </p:cNvPr>
          <p:cNvCxnSpPr/>
          <p:nvPr/>
        </p:nvCxnSpPr>
        <p:spPr>
          <a:xfrm>
            <a:off x="6004874" y="5392132"/>
            <a:ext cx="659877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765309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2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7AAB4CA-C581-40AD-A67E-BBCA4F20520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06631"/>
                <a:ext cx="6703243" cy="4970332"/>
              </a:xfrm>
            </p:spPr>
            <p:txBody>
              <a:bodyPr>
                <a:normAutofit fontScale="85000" lnSpcReduction="10000"/>
              </a:bodyPr>
              <a:lstStyle/>
              <a:p>
                <a:pPr marL="0" indent="0">
                  <a:buNone/>
                </a:pPr>
                <a:r>
                  <a:rPr lang="en-GB" dirty="0"/>
                  <a:t>Minimum order per item is greater than 6</a:t>
                </a:r>
              </a:p>
              <a:p>
                <a:pPr marL="0" indent="0">
                  <a:buNone/>
                </a:pPr>
                <a:r>
                  <a:rPr lang="en-GB" dirty="0"/>
                  <a:t>Maximise		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  <m:e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subject to: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  <m:e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GB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b="0" i="0" smtClean="0">
                          <a:latin typeface="Cambria Math" panose="02040503050406030204" pitchFamily="18" charset="0"/>
                        </a:rPr>
                        <m:t>160</m:t>
                      </m:r>
                    </m:oMath>
                  </m:oMathPara>
                </a14:m>
                <a:endParaRPr lang="en-GB" i="1" dirty="0"/>
              </a:p>
              <a:p>
                <a:pPr marL="0" indent="0">
                  <a:buNone/>
                </a:pPr>
                <a:endParaRPr lang="en-GB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10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   (1)</m:t>
                      </m:r>
                    </m:oMath>
                  </m:oMathPara>
                </a14:m>
                <a:endParaRPr lang="en-GB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≥6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    ∀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   (2)</m:t>
                      </m:r>
                    </m:oMath>
                  </m:oMathPara>
                </a14:m>
                <a:endParaRPr lang="en-GB" b="0" i="1" dirty="0"/>
              </a:p>
              <a:p>
                <a:pPr marL="0" indent="0">
                  <a:buNone/>
                </a:pPr>
                <a:r>
                  <a:rPr lang="en-GB" b="0" dirty="0"/>
                  <a:t>and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∈</m:t>
                      </m:r>
                      <m:d>
                        <m:dPr>
                          <m:begChr m:val="{"/>
                          <m:endChr m:val="}"/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i="1" dirty="0"/>
              </a:p>
              <a:p>
                <a:pPr marL="0" indent="0">
                  <a:buNone/>
                </a:pPr>
                <a:endParaRPr lang="en-GB" i="1" dirty="0"/>
              </a:p>
              <a:p>
                <a:pPr marL="0" indent="0">
                  <a:buNone/>
                </a:pPr>
                <a:endParaRPr lang="en-GB" i="1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7AAB4CA-C581-40AD-A67E-BBCA4F20520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06631"/>
                <a:ext cx="6703243" cy="4970332"/>
              </a:xfrm>
              <a:blipFill>
                <a:blip r:embed="rId2"/>
                <a:stretch>
                  <a:fillRect l="-1456" t="-233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9F9F96BF-1864-4775-AD5B-122B66937289}"/>
              </a:ext>
            </a:extLst>
          </p:cNvPr>
          <p:cNvGraphicFramePr>
            <a:graphicFrameLocks noGrp="1"/>
          </p:cNvGraphicFramePr>
          <p:nvPr/>
        </p:nvGraphicFramePr>
        <p:xfrm>
          <a:off x="7810630" y="365125"/>
          <a:ext cx="4010582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5921">
                  <a:extLst>
                    <a:ext uri="{9D8B030D-6E8A-4147-A177-3AD203B41FA5}">
                      <a16:colId xmlns:a16="http://schemas.microsoft.com/office/drawing/2014/main" val="2988077324"/>
                    </a:ext>
                  </a:extLst>
                </a:gridCol>
                <a:gridCol w="1137261">
                  <a:extLst>
                    <a:ext uri="{9D8B030D-6E8A-4147-A177-3AD203B41FA5}">
                      <a16:colId xmlns:a16="http://schemas.microsoft.com/office/drawing/2014/main" val="3948684592"/>
                    </a:ext>
                  </a:extLst>
                </a:gridCol>
                <a:gridCol w="1977400">
                  <a:extLst>
                    <a:ext uri="{9D8B030D-6E8A-4147-A177-3AD203B41FA5}">
                      <a16:colId xmlns:a16="http://schemas.microsoft.com/office/drawing/2014/main" val="397546807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Item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Cost (g)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Expected Profit (g)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894343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92610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69515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52145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45904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44487381"/>
                  </a:ext>
                </a:extLst>
              </a:tr>
            </a:tbl>
          </a:graphicData>
        </a:graphic>
      </p:graphicFrame>
      <p:sp>
        <p:nvSpPr>
          <p:cNvPr id="5" name="Title 1">
            <a:extLst>
              <a:ext uri="{FF2B5EF4-FFF2-40B4-BE49-F238E27FC236}">
                <a16:creationId xmlns:a16="http://schemas.microsoft.com/office/drawing/2014/main" id="{F10B0B7E-0A20-4067-96A0-A6B0EAA08C07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062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Binary Variables!</a:t>
            </a:r>
            <a:endParaRPr lang="en-GB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526C748-C0E5-41DF-9741-5DB58E9CC675}"/>
                  </a:ext>
                </a:extLst>
              </p:cNvPr>
              <p:cNvSpPr txBox="1"/>
              <p:nvPr/>
            </p:nvSpPr>
            <p:spPr>
              <a:xfrm>
                <a:off x="6221691" y="2887682"/>
                <a:ext cx="5872899" cy="42473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dirty="0"/>
                  <a:t> – 0 if item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GB" dirty="0"/>
                  <a:t> picked, 1 if item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GB" dirty="0"/>
                  <a:t> not picked</a:t>
                </a:r>
              </a:p>
              <a:p>
                <a:endParaRPr lang="en-GB" dirty="0"/>
              </a:p>
              <a:p>
                <a:r>
                  <a:rPr lang="en-GB" dirty="0"/>
                  <a:t>When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GB" b="0" dirty="0"/>
                  <a:t>, constraints (1) and (2) become: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≤0</m:t>
                      </m:r>
                    </m:oMath>
                  </m:oMathPara>
                </a14:m>
                <a:endParaRPr lang="en-GB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GB" dirty="0"/>
              </a:p>
              <a:p>
                <a:endParaRPr lang="en-GB" dirty="0"/>
              </a:p>
              <a:p>
                <a:r>
                  <a:rPr lang="en-GB" dirty="0"/>
                  <a:t>i.e. You </a:t>
                </a:r>
                <a:r>
                  <a:rPr lang="en-GB" b="1" dirty="0"/>
                  <a:t>don’t</a:t>
                </a:r>
                <a:r>
                  <a:rPr lang="en-GB" dirty="0"/>
                  <a:t> choose item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GB" dirty="0"/>
                  <a:t> – force lower and upper bounds of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GB" dirty="0"/>
              </a:p>
              <a:p>
                <a:endParaRPr lang="en-GB" dirty="0"/>
              </a:p>
              <a:p>
                <a:r>
                  <a:rPr lang="en-GB" dirty="0"/>
                  <a:t>When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GB" dirty="0"/>
                  <a:t>, constraints (1) and (2) become: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GB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≥6</m:t>
                      </m:r>
                    </m:oMath>
                  </m:oMathPara>
                </a14:m>
                <a:endParaRPr lang="en-GB" dirty="0"/>
              </a:p>
              <a:p>
                <a:r>
                  <a:rPr lang="en-GB" dirty="0"/>
                  <a:t>i.e. You </a:t>
                </a:r>
                <a:r>
                  <a:rPr lang="en-GB" b="1" dirty="0"/>
                  <a:t>do</a:t>
                </a:r>
                <a:r>
                  <a:rPr lang="en-GB" dirty="0"/>
                  <a:t> choose item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GB" dirty="0"/>
                  <a:t> – force lower and upper bounds of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6≤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≤10</m:t>
                    </m:r>
                  </m:oMath>
                </a14:m>
                <a:endParaRPr lang="en-GB" dirty="0"/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526C748-C0E5-41DF-9741-5DB58E9CC6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21691" y="2887682"/>
                <a:ext cx="5872899" cy="4247317"/>
              </a:xfrm>
              <a:prstGeom prst="rect">
                <a:avLst/>
              </a:prstGeom>
              <a:blipFill>
                <a:blip r:embed="rId3"/>
                <a:stretch>
                  <a:fillRect l="-935" t="-86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335030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F10B0B7E-0A20-4067-96A0-A6B0EAA08C07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062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In </a:t>
            </a:r>
            <a:r>
              <a:rPr lang="en-GB" dirty="0" err="1"/>
              <a:t>Pyomo</a:t>
            </a:r>
            <a:endParaRPr lang="en-GB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F46028B5-D713-444A-8C5B-9F197A6C91D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206631"/>
                <a:ext cx="4638773" cy="497033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sz="2000" dirty="0"/>
                  <a:t>Minimum order per item is greater than 6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sz="2000" dirty="0"/>
                  <a:t>Maximise		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sz="20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sz="200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  <m:e>
                          <m:sSub>
                            <m:sSubPr>
                              <m:ctrlPr>
                                <a:rPr lang="en-GB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GB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GB" sz="20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sz="2000" dirty="0"/>
                  <a:t>subject to: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sz="20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sz="200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  <m:e>
                          <m:sSub>
                            <m:sSubPr>
                              <m:ctrlPr>
                                <a:rPr lang="en-GB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GB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GB" sz="200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sz="2000" b="0" i="0" smtClean="0">
                          <a:latin typeface="Cambria Math" panose="02040503050406030204" pitchFamily="18" charset="0"/>
                        </a:rPr>
                        <m:t>16</m:t>
                      </m:r>
                      <m:r>
                        <a:rPr lang="en-GB" sz="2000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GB" sz="2000" i="1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GB" sz="2000" i="1" dirty="0"/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00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00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200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sz="2000" i="1" smtClean="0">
                          <a:latin typeface="Cambria Math" panose="02040503050406030204" pitchFamily="18" charset="0"/>
                        </a:rPr>
                        <m:t>10</m:t>
                      </m:r>
                      <m:sSub>
                        <m:sSubPr>
                          <m:ctrlPr>
                            <a:rPr lang="en-GB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00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GB" sz="200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2000" i="1" smtClean="0"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en-GB" sz="2000" i="1" smtClean="0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sz="2000" i="1" dirty="0"/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00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00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2000" i="1" smtClean="0">
                          <a:latin typeface="Cambria Math" panose="02040503050406030204" pitchFamily="18" charset="0"/>
                        </a:rPr>
                        <m:t>≥6</m:t>
                      </m:r>
                      <m:sSub>
                        <m:sSubPr>
                          <m:ctrlPr>
                            <a:rPr lang="en-GB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00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GB" sz="200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2000" i="1" smtClean="0"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en-GB" sz="2000" i="1" smtClean="0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sz="2000" i="1" dirty="0"/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sz="2000" dirty="0"/>
                  <a:t>and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00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GB" sz="200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2000" i="1" smtClean="0">
                          <a:latin typeface="Cambria Math" panose="02040503050406030204" pitchFamily="18" charset="0"/>
                        </a:rPr>
                        <m:t>∈</m:t>
                      </m:r>
                      <m:d>
                        <m:dPr>
                          <m:begChr m:val="{"/>
                          <m:endChr m:val="}"/>
                          <m:ctrlPr>
                            <a:rPr lang="en-GB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000" i="1" smtClean="0"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  <m:r>
                        <a:rPr lang="en-GB" sz="2000" i="1" smtClean="0"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en-GB" sz="2000" i="1" smtClean="0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sz="2000" i="1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GB" sz="2000" i="1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GB" sz="2000" i="1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GB" sz="2000" dirty="0"/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F46028B5-D713-444A-8C5B-9F197A6C91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206631"/>
                <a:ext cx="4638773" cy="4970332"/>
              </a:xfrm>
              <a:prstGeom prst="rect">
                <a:avLst/>
              </a:prstGeom>
              <a:blipFill>
                <a:blip r:embed="rId2"/>
                <a:stretch>
                  <a:fillRect l="-1447" t="-135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91BCC93E-64C9-A0F4-389B-E8CD9052C1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8396" y="1742234"/>
            <a:ext cx="6958988" cy="5012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697470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7AAB4CA-C581-40AD-A67E-BBCA4F20520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06631"/>
                <a:ext cx="7429107" cy="4970332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sz="1600" dirty="0"/>
                  <a:t>You can order amounts of a most 2 items</a:t>
                </a:r>
              </a:p>
              <a:p>
                <a:pPr marL="0" indent="0">
                  <a:buNone/>
                </a:pPr>
                <a:endParaRPr lang="en-GB" sz="1600" dirty="0"/>
              </a:p>
              <a:p>
                <a:pPr marL="0" indent="0">
                  <a:buNone/>
                </a:pPr>
                <a:r>
                  <a:rPr lang="en-GB" sz="1600" dirty="0"/>
                  <a:t>maximise		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  <m:e>
                          <m:sSub>
                            <m:sSubPr>
                              <m:ctrlPr>
                                <a:rPr lang="en-GB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GB" sz="1600" dirty="0"/>
              </a:p>
              <a:p>
                <a:pPr marL="0" indent="0">
                  <a:buNone/>
                </a:pPr>
                <a:r>
                  <a:rPr lang="en-GB" sz="1600" dirty="0"/>
                  <a:t>subject to: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  <m:e>
                          <m:sSub>
                            <m:sSubPr>
                              <m:ctrlPr>
                                <a:rPr lang="en-GB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GB" sz="160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sz="1600" b="0" i="0" smtClean="0">
                          <a:latin typeface="Cambria Math" panose="02040503050406030204" pitchFamily="18" charset="0"/>
                        </a:rPr>
                        <m:t>16</m:t>
                      </m:r>
                      <m:r>
                        <a:rPr lang="en-GB" sz="160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GB" sz="1600" i="1" dirty="0"/>
              </a:p>
              <a:p>
                <a:pPr marL="0" indent="0">
                  <a:buNone/>
                </a:pPr>
                <a:endParaRPr lang="en-GB" sz="1600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10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sz="1600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≥6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sz="1600" i="1" dirty="0"/>
              </a:p>
              <a:p>
                <a:pPr marL="0" indent="0">
                  <a:buNone/>
                </a:pPr>
                <a:endParaRPr lang="en-GB" sz="1600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  <m:e>
                          <m:sSub>
                            <m:sSubPr>
                              <m:ctrlPr>
                                <a:rPr lang="en-GB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b="0" i="1" smtClean="0"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</m:e>
                            <m:sub>
                              <m:r>
                                <a:rPr lang="en-GB" sz="16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GB" sz="160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GB" sz="1600" i="1" dirty="0"/>
              </a:p>
              <a:p>
                <a:pPr marL="0" indent="0">
                  <a:buNone/>
                </a:pPr>
                <a:r>
                  <a:rPr lang="en-GB" sz="1600" dirty="0"/>
                  <a:t>and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∈</m:t>
                      </m:r>
                      <m:d>
                        <m:dPr>
                          <m:begChr m:val="{"/>
                          <m:endChr m:val="}"/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  <m:r>
                        <a:rPr lang="en-GB" sz="1600" i="1"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sz="1600" i="1" dirty="0"/>
              </a:p>
              <a:p>
                <a:pPr marL="0" indent="0">
                  <a:buNone/>
                </a:pPr>
                <a:endParaRPr lang="en-GB" sz="1600" i="1" dirty="0"/>
              </a:p>
              <a:p>
                <a:pPr marL="0" indent="0">
                  <a:buNone/>
                </a:pPr>
                <a:endParaRPr lang="en-GB" sz="1600" i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7AAB4CA-C581-40AD-A67E-BBCA4F20520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06631"/>
                <a:ext cx="7429107" cy="4970332"/>
              </a:xfrm>
              <a:blipFill>
                <a:blip r:embed="rId2"/>
                <a:stretch>
                  <a:fillRect l="-493" t="-85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9F9F96BF-1864-4775-AD5B-122B66937289}"/>
              </a:ext>
            </a:extLst>
          </p:cNvPr>
          <p:cNvGraphicFramePr>
            <a:graphicFrameLocks noGrp="1"/>
          </p:cNvGraphicFramePr>
          <p:nvPr/>
        </p:nvGraphicFramePr>
        <p:xfrm>
          <a:off x="7810630" y="365125"/>
          <a:ext cx="4010582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5921">
                  <a:extLst>
                    <a:ext uri="{9D8B030D-6E8A-4147-A177-3AD203B41FA5}">
                      <a16:colId xmlns:a16="http://schemas.microsoft.com/office/drawing/2014/main" val="2988077324"/>
                    </a:ext>
                  </a:extLst>
                </a:gridCol>
                <a:gridCol w="1137261">
                  <a:extLst>
                    <a:ext uri="{9D8B030D-6E8A-4147-A177-3AD203B41FA5}">
                      <a16:colId xmlns:a16="http://schemas.microsoft.com/office/drawing/2014/main" val="3948684592"/>
                    </a:ext>
                  </a:extLst>
                </a:gridCol>
                <a:gridCol w="1977400">
                  <a:extLst>
                    <a:ext uri="{9D8B030D-6E8A-4147-A177-3AD203B41FA5}">
                      <a16:colId xmlns:a16="http://schemas.microsoft.com/office/drawing/2014/main" val="397546807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Item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Cost (g)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Expected Profit (g)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894343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92610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69515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52145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45904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44487381"/>
                  </a:ext>
                </a:extLst>
              </a:tr>
            </a:tbl>
          </a:graphicData>
        </a:graphic>
      </p:graphicFrame>
      <p:sp>
        <p:nvSpPr>
          <p:cNvPr id="5" name="Title 1">
            <a:extLst>
              <a:ext uri="{FF2B5EF4-FFF2-40B4-BE49-F238E27FC236}">
                <a16:creationId xmlns:a16="http://schemas.microsoft.com/office/drawing/2014/main" id="{F10B0B7E-0A20-4067-96A0-A6B0EAA08C07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062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Additional Constraint</a:t>
            </a:r>
            <a:endParaRPr lang="en-GB" u="sng" dirty="0"/>
          </a:p>
        </p:txBody>
      </p:sp>
    </p:spTree>
    <p:extLst>
      <p:ext uri="{BB962C8B-B14F-4D97-AF65-F5344CB8AC3E}">
        <p14:creationId xmlns:p14="http://schemas.microsoft.com/office/powerpoint/2010/main" val="39148010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F10B0B7E-0A20-4067-96A0-A6B0EAA08C07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062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In </a:t>
            </a:r>
            <a:r>
              <a:rPr lang="en-GB" dirty="0" err="1"/>
              <a:t>Pyomo</a:t>
            </a:r>
            <a:endParaRPr lang="en-GB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C9A070FD-2FBD-44F1-BCE6-C0DAC3A33FE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206631"/>
                <a:ext cx="4223994" cy="4970332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sz="1600" dirty="0"/>
                  <a:t>You can order amounts of a most 2 items</a:t>
                </a:r>
              </a:p>
              <a:p>
                <a:pPr marL="0" indent="0">
                  <a:buNone/>
                </a:pPr>
                <a:endParaRPr lang="en-GB" sz="1600" dirty="0"/>
              </a:p>
              <a:p>
                <a:pPr marL="0" indent="0">
                  <a:buNone/>
                </a:pPr>
                <a:r>
                  <a:rPr lang="en-GB" sz="1600" dirty="0"/>
                  <a:t>Maximise		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  <m:e>
                          <m:sSub>
                            <m:sSubPr>
                              <m:ctrlPr>
                                <a:rPr lang="en-GB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GB" sz="1600" dirty="0"/>
              </a:p>
              <a:p>
                <a:pPr marL="0" indent="0">
                  <a:buNone/>
                </a:pPr>
                <a:r>
                  <a:rPr lang="en-GB" sz="1600" dirty="0"/>
                  <a:t>subject to: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  <m:e>
                          <m:sSub>
                            <m:sSubPr>
                              <m:ctrlPr>
                                <a:rPr lang="en-GB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GB" sz="160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sz="1600" b="0" i="0" smtClean="0">
                          <a:latin typeface="Cambria Math" panose="02040503050406030204" pitchFamily="18" charset="0"/>
                        </a:rPr>
                        <m:t>16</m:t>
                      </m:r>
                      <m:r>
                        <a:rPr lang="en-GB" sz="160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GB" sz="1600" i="1" dirty="0"/>
              </a:p>
              <a:p>
                <a:pPr marL="0" indent="0">
                  <a:buNone/>
                </a:pPr>
                <a:endParaRPr lang="en-GB" sz="1600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10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sz="1600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≥6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sz="1600" i="1" dirty="0"/>
              </a:p>
              <a:p>
                <a:pPr marL="0" indent="0">
                  <a:buNone/>
                </a:pPr>
                <a:endParaRPr lang="en-GB" sz="1600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  <m:e>
                          <m:sSub>
                            <m:sSubPr>
                              <m:ctrlPr>
                                <a:rPr lang="en-GB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b="0" i="1" smtClean="0"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</m:e>
                            <m:sub>
                              <m:r>
                                <a:rPr lang="en-GB" sz="16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GB" sz="160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GB" sz="1600" i="1" dirty="0"/>
              </a:p>
              <a:p>
                <a:pPr marL="0" indent="0">
                  <a:buNone/>
                </a:pPr>
                <a:r>
                  <a:rPr lang="en-GB" sz="1600" dirty="0"/>
                  <a:t>and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∈</m:t>
                      </m:r>
                      <m:d>
                        <m:dPr>
                          <m:begChr m:val="{"/>
                          <m:endChr m:val="}"/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  <m:r>
                        <a:rPr lang="en-GB" sz="1600" i="1"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sz="1600" i="1" dirty="0"/>
              </a:p>
              <a:p>
                <a:pPr marL="0" indent="0">
                  <a:buNone/>
                </a:pPr>
                <a:endParaRPr lang="en-GB" sz="1600" i="1" dirty="0"/>
              </a:p>
              <a:p>
                <a:pPr marL="0" indent="0">
                  <a:buNone/>
                </a:pPr>
                <a:endParaRPr lang="en-GB" sz="1600" i="1" dirty="0"/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C9A070FD-2FBD-44F1-BCE6-C0DAC3A33FE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206631"/>
                <a:ext cx="4223994" cy="4970332"/>
              </a:xfrm>
              <a:blipFill>
                <a:blip r:embed="rId2"/>
                <a:stretch>
                  <a:fillRect l="-867" t="-85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FA47B6C8-F94A-ED6D-5201-9BDEA395DA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9689" y="1299991"/>
            <a:ext cx="7148790" cy="5337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759104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7AAB4CA-C581-40AD-A67E-BBCA4F20520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06631"/>
                <a:ext cx="7429107" cy="4970332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sz="1600" dirty="0"/>
                  <a:t>You can only order either item 1 or item 4, not both</a:t>
                </a:r>
              </a:p>
              <a:p>
                <a:pPr marL="0" indent="0">
                  <a:buNone/>
                </a:pPr>
                <a:endParaRPr lang="en-GB" sz="1600" dirty="0"/>
              </a:p>
              <a:p>
                <a:pPr marL="0" indent="0">
                  <a:buNone/>
                </a:pPr>
                <a:r>
                  <a:rPr lang="en-GB" sz="1600" dirty="0"/>
                  <a:t>maximise		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  <m:e>
                          <m:sSub>
                            <m:sSubPr>
                              <m:ctrlPr>
                                <a:rPr lang="en-GB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GB" sz="1600" dirty="0"/>
              </a:p>
              <a:p>
                <a:pPr marL="0" indent="0">
                  <a:buNone/>
                </a:pPr>
                <a:r>
                  <a:rPr lang="en-GB" sz="1600" dirty="0"/>
                  <a:t>subject to: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  <m:e>
                          <m:sSub>
                            <m:sSubPr>
                              <m:ctrlPr>
                                <a:rPr lang="en-GB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GB" sz="160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160</m:t>
                      </m:r>
                    </m:oMath>
                  </m:oMathPara>
                </a14:m>
                <a:endParaRPr lang="en-GB" sz="1600" i="1" dirty="0"/>
              </a:p>
              <a:p>
                <a:pPr marL="0" indent="0">
                  <a:buNone/>
                </a:pPr>
                <a:endParaRPr lang="en-GB" sz="1600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10</m:t>
                      </m:r>
                      <m:sSub>
                        <m:sSubPr>
                          <m:ctrlPr>
                            <a:rPr lang="en-GB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∀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sz="1600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≥6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sz="1600" i="1" dirty="0"/>
              </a:p>
              <a:p>
                <a:pPr marL="0" indent="0">
                  <a:buNone/>
                </a:pPr>
                <a:endParaRPr lang="en-GB" sz="1600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≤1</m:t>
                      </m:r>
                    </m:oMath>
                  </m:oMathPara>
                </a14:m>
                <a:endParaRPr lang="en-GB" sz="1600" i="1" dirty="0"/>
              </a:p>
              <a:p>
                <a:pPr marL="0" indent="0">
                  <a:buNone/>
                </a:pPr>
                <a:r>
                  <a:rPr lang="en-GB" sz="1600" dirty="0"/>
                  <a:t>and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∈</m:t>
                      </m:r>
                      <m:d>
                        <m:dPr>
                          <m:begChr m:val="{"/>
                          <m:endChr m:val="}"/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  <m:r>
                        <a:rPr lang="en-GB" sz="1600" i="1"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sz="1600" i="1" dirty="0"/>
              </a:p>
              <a:p>
                <a:pPr marL="0" indent="0">
                  <a:buNone/>
                </a:pPr>
                <a:endParaRPr lang="en-GB" sz="1600" i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7AAB4CA-C581-40AD-A67E-BBCA4F20520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06631"/>
                <a:ext cx="7429107" cy="4970332"/>
              </a:xfrm>
              <a:blipFill>
                <a:blip r:embed="rId2"/>
                <a:stretch>
                  <a:fillRect l="-493" t="-85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9F9F96BF-1864-4775-AD5B-122B66937289}"/>
              </a:ext>
            </a:extLst>
          </p:cNvPr>
          <p:cNvGraphicFramePr>
            <a:graphicFrameLocks noGrp="1"/>
          </p:cNvGraphicFramePr>
          <p:nvPr/>
        </p:nvGraphicFramePr>
        <p:xfrm>
          <a:off x="7810630" y="365125"/>
          <a:ext cx="4010582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5921">
                  <a:extLst>
                    <a:ext uri="{9D8B030D-6E8A-4147-A177-3AD203B41FA5}">
                      <a16:colId xmlns:a16="http://schemas.microsoft.com/office/drawing/2014/main" val="2988077324"/>
                    </a:ext>
                  </a:extLst>
                </a:gridCol>
                <a:gridCol w="1137261">
                  <a:extLst>
                    <a:ext uri="{9D8B030D-6E8A-4147-A177-3AD203B41FA5}">
                      <a16:colId xmlns:a16="http://schemas.microsoft.com/office/drawing/2014/main" val="3948684592"/>
                    </a:ext>
                  </a:extLst>
                </a:gridCol>
                <a:gridCol w="1977400">
                  <a:extLst>
                    <a:ext uri="{9D8B030D-6E8A-4147-A177-3AD203B41FA5}">
                      <a16:colId xmlns:a16="http://schemas.microsoft.com/office/drawing/2014/main" val="397546807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Item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Cost (g)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Expected Profit (g)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894343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92610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69515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52145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45904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44487381"/>
                  </a:ext>
                </a:extLst>
              </a:tr>
            </a:tbl>
          </a:graphicData>
        </a:graphic>
      </p:graphicFrame>
      <p:sp>
        <p:nvSpPr>
          <p:cNvPr id="5" name="Title 1">
            <a:extLst>
              <a:ext uri="{FF2B5EF4-FFF2-40B4-BE49-F238E27FC236}">
                <a16:creationId xmlns:a16="http://schemas.microsoft.com/office/drawing/2014/main" id="{F10B0B7E-0A20-4067-96A0-A6B0EAA08C07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062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Purchasing Problem</a:t>
            </a:r>
            <a:endParaRPr lang="en-GB" u="sng" dirty="0"/>
          </a:p>
        </p:txBody>
      </p:sp>
    </p:spTree>
    <p:extLst>
      <p:ext uri="{BB962C8B-B14F-4D97-AF65-F5344CB8AC3E}">
        <p14:creationId xmlns:p14="http://schemas.microsoft.com/office/powerpoint/2010/main" val="26853823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F10B0B7E-0A20-4067-96A0-A6B0EAA08C07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062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Purchasing Problem</a:t>
            </a:r>
            <a:endParaRPr lang="en-GB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80B82477-CCF4-48EB-8F46-22FDB6D87F0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206631"/>
                <a:ext cx="4497371" cy="497033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sz="1600" dirty="0"/>
                  <a:t>You can only order either item 1 or item 4, not both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GB" sz="16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sz="1600" dirty="0"/>
                  <a:t>Maximise		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sz="160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  <m:e>
                          <m:sSub>
                            <m:sSubPr>
                              <m:ctrlPr>
                                <a:rPr lang="en-GB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GB" sz="16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sz="1600" dirty="0"/>
                  <a:t>subject to: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sz="160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  <m:e>
                          <m:sSub>
                            <m:sSubPr>
                              <m:ctrlPr>
                                <a:rPr lang="en-GB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GB" sz="160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16</m:t>
                      </m:r>
                      <m:r>
                        <a:rPr lang="en-GB" sz="160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GB" sz="1600" i="1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GB" sz="1600" i="1" dirty="0"/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60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sz="1600" i="1" smtClean="0">
                          <a:latin typeface="Cambria Math" panose="02040503050406030204" pitchFamily="18" charset="0"/>
                        </a:rPr>
                        <m:t>10</m:t>
                      </m:r>
                      <m:sSub>
                        <m:sSubPr>
                          <m:ctrlPr>
                            <a:rPr lang="en-GB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GB" sz="160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∀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sz="1600" i="1" dirty="0"/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≥6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sz="1600" i="1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GB" sz="1600" i="1" dirty="0"/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GB" sz="160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160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GB" sz="160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en-GB" sz="1600" i="1" smtClean="0">
                          <a:latin typeface="Cambria Math" panose="02040503050406030204" pitchFamily="18" charset="0"/>
                        </a:rPr>
                        <m:t>≤1</m:t>
                      </m:r>
                    </m:oMath>
                  </m:oMathPara>
                </a14:m>
                <a:endParaRPr lang="en-GB" sz="1600" i="1" dirty="0"/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sz="1600" dirty="0"/>
                  <a:t>and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∈</m:t>
                      </m:r>
                      <m:d>
                        <m:dPr>
                          <m:begChr m:val="{"/>
                          <m:endChr m:val="}"/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  <m:r>
                        <a:rPr lang="en-GB" sz="1600" i="1"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sz="1600" i="1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GB" sz="1600" i="1" dirty="0"/>
              </a:p>
            </p:txBody>
          </p:sp>
        </mc:Choice>
        <mc:Fallback xmlns=""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80B82477-CCF4-48EB-8F46-22FDB6D87F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206631"/>
                <a:ext cx="4497371" cy="4970332"/>
              </a:xfrm>
              <a:prstGeom prst="rect">
                <a:avLst/>
              </a:prstGeom>
              <a:blipFill>
                <a:blip r:embed="rId2"/>
                <a:stretch>
                  <a:fillRect l="-814" t="-85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9EDB2037-462E-754E-CFE1-9160DA8812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5571" y="1280908"/>
            <a:ext cx="6835138" cy="5052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36319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1A328A96253EC468854895DB51C3CA9" ma:contentTypeVersion="12" ma:contentTypeDescription="Create a new document." ma:contentTypeScope="" ma:versionID="70ca04a2727be2bcabd6e8d4d48cd64c">
  <xsd:schema xmlns:xsd="http://www.w3.org/2001/XMLSchema" xmlns:xs="http://www.w3.org/2001/XMLSchema" xmlns:p="http://schemas.microsoft.com/office/2006/metadata/properties" xmlns:ns2="606370cc-c8d9-4222-8a4e-3c320f1e3034" xmlns:ns3="bf6b85bd-8a7e-4854-be4d-0780382295a8" targetNamespace="http://schemas.microsoft.com/office/2006/metadata/properties" ma:root="true" ma:fieldsID="153e2816b688b383ad24b8974a641912" ns2:_="" ns3:_="">
    <xsd:import namespace="606370cc-c8d9-4222-8a4e-3c320f1e3034"/>
    <xsd:import namespace="bf6b85bd-8a7e-4854-be4d-0780382295a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06370cc-c8d9-4222-8a4e-3c320f1e303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MediaServiceAutoTags" ma:internalName="MediaServiceAutoTags" ma:readOnly="true">
      <xsd:simpleType>
        <xsd:restriction base="dms:Text"/>
      </xsd:simpleType>
    </xsd:element>
    <xsd:element name="MediaServiceOCR" ma:index="11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f6b85bd-8a7e-4854-be4d-0780382295a8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B587AB4-D8C9-43A3-B80F-6729B49465FB}">
  <ds:schemaRefs>
    <ds:schemaRef ds:uri="http://purl.org/dc/dcmitype/"/>
    <ds:schemaRef ds:uri="http://schemas.microsoft.com/office/2006/metadata/properties"/>
    <ds:schemaRef ds:uri="http://schemas.microsoft.com/office/2006/documentManagement/types"/>
    <ds:schemaRef ds:uri="http://schemas.microsoft.com/office/infopath/2007/PartnerControls"/>
    <ds:schemaRef ds:uri="http://purl.org/dc/terms/"/>
    <ds:schemaRef ds:uri="http://www.w3.org/XML/1998/namespace"/>
    <ds:schemaRef ds:uri="http://schemas.openxmlformats.org/package/2006/metadata/core-properties"/>
    <ds:schemaRef ds:uri="bf6b85bd-8a7e-4854-be4d-0780382295a8"/>
    <ds:schemaRef ds:uri="606370cc-c8d9-4222-8a4e-3c320f1e3034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E49AC1EE-B6B3-4625-9CB8-D61F060C41F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605AB76-3B20-4758-80DF-EDDDD7C672B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06370cc-c8d9-4222-8a4e-3c320f1e3034"/>
    <ds:schemaRef ds:uri="bf6b85bd-8a7e-4854-be4d-0780382295a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3104</TotalTime>
  <Words>2172</Words>
  <Application>Microsoft Office PowerPoint</Application>
  <PresentationFormat>Widescreen</PresentationFormat>
  <Paragraphs>734</Paragraphs>
  <Slides>32</Slides>
  <Notes>0</Notes>
  <HiddenSlides>3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7" baseType="lpstr">
      <vt:lpstr>Calibri</vt:lpstr>
      <vt:lpstr>Arial</vt:lpstr>
      <vt:lpstr>Cambria Math</vt:lpstr>
      <vt:lpstr>Calibri Light</vt:lpstr>
      <vt:lpstr>Office Theme</vt:lpstr>
      <vt:lpstr>Mixed Integer Programming</vt:lpstr>
      <vt:lpstr>Contents</vt:lpstr>
      <vt:lpstr>Blank Slide</vt:lpstr>
      <vt:lpstr>Review</vt:lpstr>
      <vt:lpstr>PowerPoint Presentation</vt:lpstr>
      <vt:lpstr>Linear Program Solution Without Integers</vt:lpstr>
      <vt:lpstr>Rounded Solutions</vt:lpstr>
      <vt:lpstr>Rounded Solutions</vt:lpstr>
      <vt:lpstr>Integer Solution via Pyomo</vt:lpstr>
      <vt:lpstr>Binary Variables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 1</dc:title>
  <dc:creator>Sam O'Neill</dc:creator>
  <cp:lastModifiedBy>Sam O'Neill</cp:lastModifiedBy>
  <cp:revision>2</cp:revision>
  <dcterms:created xsi:type="dcterms:W3CDTF">2019-10-08T20:55:29Z</dcterms:created>
  <dcterms:modified xsi:type="dcterms:W3CDTF">2025-10-23T11:34:01Z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0x01010051A328A96253EC468854895DB51C3CA9</vt:lpwstr>
  </property>
  <property fmtid="{D5CDD505-2E9C-101B-9397-08002B2CF9AE}" pid="3" name="MSIP_Label_b47d098f-2640-4837-b575-e0be04df0525_Enabled">
    <vt:lpwstr>True</vt:lpwstr>
  </property>
  <property fmtid="{D5CDD505-2E9C-101B-9397-08002B2CF9AE}" pid="4" name="MSIP_Label_b47d098f-2640-4837-b575-e0be04df0525_SiteId">
    <vt:lpwstr>98f1bb3a-5efa-4782-88ba-bd897db60e62</vt:lpwstr>
  </property>
  <property fmtid="{D5CDD505-2E9C-101B-9397-08002B2CF9AE}" pid="5" name="MSIP_Label_b47d098f-2640-4837-b575-e0be04df0525_Owner">
    <vt:lpwstr>TCSR529@derby.ac.uk</vt:lpwstr>
  </property>
  <property fmtid="{D5CDD505-2E9C-101B-9397-08002B2CF9AE}" pid="6" name="MSIP_Label_b47d098f-2640-4837-b575-e0be04df0525_SetDate">
    <vt:lpwstr>2019-10-09T12:50:04.3095525Z</vt:lpwstr>
  </property>
  <property fmtid="{D5CDD505-2E9C-101B-9397-08002B2CF9AE}" pid="7" name="MSIP_Label_b47d098f-2640-4837-b575-e0be04df0525_Name">
    <vt:lpwstr>Internal</vt:lpwstr>
  </property>
  <property fmtid="{D5CDD505-2E9C-101B-9397-08002B2CF9AE}" pid="8" name="MSIP_Label_b47d098f-2640-4837-b575-e0be04df0525_Application">
    <vt:lpwstr>Microsoft Azure Information Protection</vt:lpwstr>
  </property>
  <property fmtid="{D5CDD505-2E9C-101B-9397-08002B2CF9AE}" pid="9" name="MSIP_Label_b47d098f-2640-4837-b575-e0be04df0525_Extended_MSFT_Method">
    <vt:lpwstr>Automatic</vt:lpwstr>
  </property>
  <property fmtid="{D5CDD505-2E9C-101B-9397-08002B2CF9AE}" pid="10" name="MSIP_Label_501a0944-9d81-4c75-b857-2ec7863455b7_Enabled">
    <vt:lpwstr>True</vt:lpwstr>
  </property>
  <property fmtid="{D5CDD505-2E9C-101B-9397-08002B2CF9AE}" pid="11" name="MSIP_Label_501a0944-9d81-4c75-b857-2ec7863455b7_SiteId">
    <vt:lpwstr>98f1bb3a-5efa-4782-88ba-bd897db60e62</vt:lpwstr>
  </property>
  <property fmtid="{D5CDD505-2E9C-101B-9397-08002B2CF9AE}" pid="12" name="MSIP_Label_501a0944-9d81-4c75-b857-2ec7863455b7_Owner">
    <vt:lpwstr>TCSR529@derby.ac.uk</vt:lpwstr>
  </property>
  <property fmtid="{D5CDD505-2E9C-101B-9397-08002B2CF9AE}" pid="13" name="MSIP_Label_501a0944-9d81-4c75-b857-2ec7863455b7_SetDate">
    <vt:lpwstr>2019-10-09T12:50:04.3095525Z</vt:lpwstr>
  </property>
  <property fmtid="{D5CDD505-2E9C-101B-9397-08002B2CF9AE}" pid="14" name="MSIP_Label_501a0944-9d81-4c75-b857-2ec7863455b7_Name">
    <vt:lpwstr>Internal with visible marking</vt:lpwstr>
  </property>
  <property fmtid="{D5CDD505-2E9C-101B-9397-08002B2CF9AE}" pid="15" name="MSIP_Label_501a0944-9d81-4c75-b857-2ec7863455b7_Application">
    <vt:lpwstr>Microsoft Azure Information Protection</vt:lpwstr>
  </property>
  <property fmtid="{D5CDD505-2E9C-101B-9397-08002B2CF9AE}" pid="16" name="MSIP_Label_501a0944-9d81-4c75-b857-2ec7863455b7_Parent">
    <vt:lpwstr>b47d098f-2640-4837-b575-e0be04df0525</vt:lpwstr>
  </property>
  <property fmtid="{D5CDD505-2E9C-101B-9397-08002B2CF9AE}" pid="17" name="MSIP_Label_501a0944-9d81-4c75-b857-2ec7863455b7_Extended_MSFT_Method">
    <vt:lpwstr>Automatic</vt:lpwstr>
  </property>
  <property fmtid="{D5CDD505-2E9C-101B-9397-08002B2CF9AE}" pid="18" name="Sensitivity">
    <vt:lpwstr>Internal Internal with visible marking</vt:lpwstr>
  </property>
</Properties>
</file>
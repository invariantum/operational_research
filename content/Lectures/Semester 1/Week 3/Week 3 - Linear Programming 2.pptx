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74" r:id="rId8"/>
    <p:sldId id="279" r:id="rId9"/>
    <p:sldId id="281" r:id="rId10"/>
    <p:sldId id="282" r:id="rId11"/>
    <p:sldId id="293" r:id="rId12"/>
    <p:sldId id="294" r:id="rId13"/>
    <p:sldId id="262" r:id="rId14"/>
    <p:sldId id="263" r:id="rId15"/>
    <p:sldId id="283" r:id="rId16"/>
    <p:sldId id="264" r:id="rId17"/>
    <p:sldId id="265" r:id="rId18"/>
    <p:sldId id="266" r:id="rId19"/>
    <p:sldId id="295" r:id="rId20"/>
    <p:sldId id="297" r:id="rId21"/>
    <p:sldId id="284" r:id="rId22"/>
    <p:sldId id="296" r:id="rId23"/>
    <p:sldId id="286" r:id="rId24"/>
    <p:sldId id="287" r:id="rId25"/>
    <p:sldId id="289" r:id="rId26"/>
    <p:sldId id="290" r:id="rId27"/>
    <p:sldId id="288" r:id="rId28"/>
    <p:sldId id="292" r:id="rId29"/>
    <p:sldId id="291" r:id="rId30"/>
    <p:sldId id="298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BC099-A5D4-464E-A2C6-67CAD9D2390F}" v="3" dt="2025-10-09T11:10:41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24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2C253332-77D0-4931-987E-56C628B4F653}"/>
    <pc:docChg chg="modSld">
      <pc:chgData name="Sam O'Neill" userId="cb323814-a42a-4cfe-bc74-03f595e56f6e" providerId="ADAL" clId="{2C253332-77D0-4931-987E-56C628B4F653}" dt="2024-10-11T11:58:43.632" v="0" actId="33639"/>
      <pc:docMkLst>
        <pc:docMk/>
      </pc:docMkLst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960105888" sldId="26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033217" sldId="26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56650311" sldId="26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74261045" sldId="274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2827178" sldId="28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43845886" sldId="28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96814727" sldId="28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477283215" sldId="28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919647061" sldId="287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30708497" sldId="288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51920825" sldId="289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933514211" sldId="29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04010382" sldId="294"/>
        </pc:sldMkLst>
      </pc:sldChg>
    </pc:docChg>
  </pc:docChgLst>
  <pc:docChgLst>
    <pc:chgData name="Sam O'Neill" userId="cb323814-a42a-4cfe-bc74-03f595e56f6e" providerId="ADAL" clId="{8FABC099-A5D4-464E-A2C6-67CAD9D2390F}"/>
    <pc:docChg chg="custSel addSld modSld">
      <pc:chgData name="Sam O'Neill" userId="cb323814-a42a-4cfe-bc74-03f595e56f6e" providerId="ADAL" clId="{8FABC099-A5D4-464E-A2C6-67CAD9D2390F}" dt="2025-10-09T11:12:51.567" v="83" actId="14100"/>
      <pc:docMkLst>
        <pc:docMk/>
      </pc:docMkLst>
      <pc:sldChg chg="modSp mod">
        <pc:chgData name="Sam O'Neill" userId="cb323814-a42a-4cfe-bc74-03f595e56f6e" providerId="ADAL" clId="{8FABC099-A5D4-464E-A2C6-67CAD9D2390F}" dt="2025-10-03T13:00:33.631" v="27" actId="27636"/>
        <pc:sldMkLst>
          <pc:docMk/>
          <pc:sldMk cId="1361163114" sldId="279"/>
        </pc:sldMkLst>
        <pc:spChg chg="mod">
          <ac:chgData name="Sam O'Neill" userId="cb323814-a42a-4cfe-bc74-03f595e56f6e" providerId="ADAL" clId="{8FABC099-A5D4-464E-A2C6-67CAD9D2390F}" dt="2025-10-03T13:00:33.631" v="27" actId="27636"/>
          <ac:spMkLst>
            <pc:docMk/>
            <pc:sldMk cId="1361163114" sldId="279"/>
            <ac:spMk id="7" creationId="{F0A442F2-8CDD-41B3-A473-0D23A68EB622}"/>
          </ac:spMkLst>
        </pc:spChg>
      </pc:sldChg>
      <pc:sldChg chg="addSp delSp modSp mod">
        <pc:chgData name="Sam O'Neill" userId="cb323814-a42a-4cfe-bc74-03f595e56f6e" providerId="ADAL" clId="{8FABC099-A5D4-464E-A2C6-67CAD9D2390F}" dt="2025-10-03T12:50:10.490" v="4" actId="14100"/>
        <pc:sldMkLst>
          <pc:docMk/>
          <pc:sldMk cId="643845886" sldId="282"/>
        </pc:sldMkLst>
        <pc:picChg chg="add mod">
          <ac:chgData name="Sam O'Neill" userId="cb323814-a42a-4cfe-bc74-03f595e56f6e" providerId="ADAL" clId="{8FABC099-A5D4-464E-A2C6-67CAD9D2390F}" dt="2025-10-03T12:50:10.490" v="4" actId="14100"/>
          <ac:picMkLst>
            <pc:docMk/>
            <pc:sldMk cId="643845886" sldId="282"/>
            <ac:picMk id="5" creationId="{48C547D7-E2F8-73A6-9255-5260B7EA58A1}"/>
          </ac:picMkLst>
        </pc:picChg>
      </pc:sldChg>
      <pc:sldChg chg="addSp delSp modSp mod">
        <pc:chgData name="Sam O'Neill" userId="cb323814-a42a-4cfe-bc74-03f595e56f6e" providerId="ADAL" clId="{8FABC099-A5D4-464E-A2C6-67CAD9D2390F}" dt="2025-10-04T12:34:54.045" v="60" actId="1076"/>
        <pc:sldMkLst>
          <pc:docMk/>
          <pc:sldMk cId="1096814727" sldId="283"/>
        </pc:sldMkLst>
        <pc:picChg chg="add mod">
          <ac:chgData name="Sam O'Neill" userId="cb323814-a42a-4cfe-bc74-03f595e56f6e" providerId="ADAL" clId="{8FABC099-A5D4-464E-A2C6-67CAD9D2390F}" dt="2025-10-04T12:34:54.045" v="60" actId="1076"/>
          <ac:picMkLst>
            <pc:docMk/>
            <pc:sldMk cId="1096814727" sldId="283"/>
            <ac:picMk id="4" creationId="{2808C2EA-3B0F-C8A5-0453-30AA9D2F2022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8.394" v="54" actId="1038"/>
        <pc:sldMkLst>
          <pc:docMk/>
          <pc:sldMk cId="230708497" sldId="288"/>
        </pc:sldMkLst>
        <pc:spChg chg="mod">
          <ac:chgData name="Sam O'Neill" userId="cb323814-a42a-4cfe-bc74-03f595e56f6e" providerId="ADAL" clId="{8FABC099-A5D4-464E-A2C6-67CAD9D2390F}" dt="2025-10-03T12:59:22.997" v="16" actId="1076"/>
          <ac:spMkLst>
            <pc:docMk/>
            <pc:sldMk cId="230708497" sldId="288"/>
            <ac:spMk id="12" creationId="{BA3AE2C3-8C49-4731-9C2D-D3E3C0103A2E}"/>
          </ac:spMkLst>
        </pc:spChg>
        <pc:picChg chg="add mod">
          <ac:chgData name="Sam O'Neill" userId="cb323814-a42a-4cfe-bc74-03f595e56f6e" providerId="ADAL" clId="{8FABC099-A5D4-464E-A2C6-67CAD9D2390F}" dt="2025-10-03T13:01:18.394" v="54" actId="1038"/>
          <ac:picMkLst>
            <pc:docMk/>
            <pc:sldMk cId="230708497" sldId="288"/>
            <ac:picMk id="9" creationId="{0668276A-C43C-6C3F-0F36-AA6B49171685}"/>
          </ac:picMkLst>
        </pc:picChg>
        <pc:picChg chg="add mod">
          <ac:chgData name="Sam O'Neill" userId="cb323814-a42a-4cfe-bc74-03f595e56f6e" providerId="ADAL" clId="{8FABC099-A5D4-464E-A2C6-67CAD9D2390F}" dt="2025-10-03T12:59:58.708" v="20" actId="1076"/>
          <ac:picMkLst>
            <pc:docMk/>
            <pc:sldMk cId="230708497" sldId="288"/>
            <ac:picMk id="11" creationId="{288DD23C-0A47-E1A6-CBAC-5FB0578A5FC1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4.306" v="49" actId="1036"/>
        <pc:sldMkLst>
          <pc:docMk/>
          <pc:sldMk cId="2933514211" sldId="291"/>
        </pc:sldMkLst>
        <pc:spChg chg="mod">
          <ac:chgData name="Sam O'Neill" userId="cb323814-a42a-4cfe-bc74-03f595e56f6e" providerId="ADAL" clId="{8FABC099-A5D4-464E-A2C6-67CAD9D2390F}" dt="2025-10-03T13:00:40.644" v="29" actId="1076"/>
          <ac:spMkLst>
            <pc:docMk/>
            <pc:sldMk cId="2933514211" sldId="291"/>
            <ac:spMk id="9" creationId="{93A6B6DE-D0C7-49D7-9F4B-B293557EE871}"/>
          </ac:spMkLst>
        </pc:spChg>
        <pc:picChg chg="add mod">
          <ac:chgData name="Sam O'Neill" userId="cb323814-a42a-4cfe-bc74-03f595e56f6e" providerId="ADAL" clId="{8FABC099-A5D4-464E-A2C6-67CAD9D2390F}" dt="2025-10-03T13:00:29.533" v="23" actId="1076"/>
          <ac:picMkLst>
            <pc:docMk/>
            <pc:sldMk cId="2933514211" sldId="291"/>
            <ac:picMk id="4" creationId="{0627E75D-C05C-DDF1-DB83-6A2F7E2B75F9}"/>
          </ac:picMkLst>
        </pc:picChg>
        <pc:picChg chg="add mod">
          <ac:chgData name="Sam O'Neill" userId="cb323814-a42a-4cfe-bc74-03f595e56f6e" providerId="ADAL" clId="{8FABC099-A5D4-464E-A2C6-67CAD9D2390F}" dt="2025-10-03T13:01:14.306" v="49" actId="1036"/>
          <ac:picMkLst>
            <pc:docMk/>
            <pc:sldMk cId="2933514211" sldId="291"/>
            <ac:picMk id="7" creationId="{02BDD6BF-5C01-5C64-D44B-8178472826BC}"/>
          </ac:picMkLst>
        </pc:picChg>
      </pc:sldChg>
      <pc:sldChg chg="addSp delSp modSp mod">
        <pc:chgData name="Sam O'Neill" userId="cb323814-a42a-4cfe-bc74-03f595e56f6e" providerId="ADAL" clId="{8FABC099-A5D4-464E-A2C6-67CAD9D2390F}" dt="2025-10-09T11:12:51.567" v="83" actId="14100"/>
        <pc:sldMkLst>
          <pc:docMk/>
          <pc:sldMk cId="918005165" sldId="295"/>
        </pc:sldMkLst>
        <pc:picChg chg="add del mod">
          <ac:chgData name="Sam O'Neill" userId="cb323814-a42a-4cfe-bc74-03f595e56f6e" providerId="ADAL" clId="{8FABC099-A5D4-464E-A2C6-67CAD9D2390F}" dt="2025-10-09T11:12:43.330" v="79" actId="478"/>
          <ac:picMkLst>
            <pc:docMk/>
            <pc:sldMk cId="918005165" sldId="295"/>
            <ac:picMk id="4" creationId="{2D41DAA0-F230-E1D1-B04F-CF7DCDFDD17B}"/>
          </ac:picMkLst>
        </pc:picChg>
        <pc:picChg chg="add del mod">
          <ac:chgData name="Sam O'Neill" userId="cb323814-a42a-4cfe-bc74-03f595e56f6e" providerId="ADAL" clId="{8FABC099-A5D4-464E-A2C6-67CAD9D2390F}" dt="2025-10-09T11:12:06.806" v="74" actId="478"/>
          <ac:picMkLst>
            <pc:docMk/>
            <pc:sldMk cId="918005165" sldId="295"/>
            <ac:picMk id="6" creationId="{3BEA044C-83E7-49B4-AB48-E039E07AC8BC}"/>
          </ac:picMkLst>
        </pc:picChg>
        <pc:picChg chg="add mod">
          <ac:chgData name="Sam O'Neill" userId="cb323814-a42a-4cfe-bc74-03f595e56f6e" providerId="ADAL" clId="{8FABC099-A5D4-464E-A2C6-67CAD9D2390F}" dt="2025-10-09T11:12:51.567" v="83" actId="14100"/>
          <ac:picMkLst>
            <pc:docMk/>
            <pc:sldMk cId="918005165" sldId="295"/>
            <ac:picMk id="8" creationId="{B6524BB6-004F-0D1B-EC3C-30BBCE8B5245}"/>
          </ac:picMkLst>
        </pc:picChg>
      </pc:sldChg>
      <pc:sldChg chg="modSp new mod">
        <pc:chgData name="Sam O'Neill" userId="cb323814-a42a-4cfe-bc74-03f595e56f6e" providerId="ADAL" clId="{8FABC099-A5D4-464E-A2C6-67CAD9D2390F}" dt="2025-10-09T11:10:41.158" v="73" actId="20577"/>
        <pc:sldMkLst>
          <pc:docMk/>
          <pc:sldMk cId="290701179" sldId="298"/>
        </pc:sldMkLst>
        <pc:spChg chg="mod">
          <ac:chgData name="Sam O'Neill" userId="cb323814-a42a-4cfe-bc74-03f595e56f6e" providerId="ADAL" clId="{8FABC099-A5D4-464E-A2C6-67CAD9D2390F}" dt="2025-10-09T11:10:38.111" v="70" actId="20577"/>
          <ac:spMkLst>
            <pc:docMk/>
            <pc:sldMk cId="290701179" sldId="298"/>
            <ac:spMk id="2" creationId="{DF687696-D5A6-65B2-5302-F465B1977247}"/>
          </ac:spMkLst>
        </pc:spChg>
        <pc:spChg chg="mod">
          <ac:chgData name="Sam O'Neill" userId="cb323814-a42a-4cfe-bc74-03f595e56f6e" providerId="ADAL" clId="{8FABC099-A5D4-464E-A2C6-67CAD9D2390F}" dt="2025-10-09T11:10:41.158" v="73" actId="20577"/>
          <ac:spMkLst>
            <pc:docMk/>
            <pc:sldMk cId="290701179" sldId="298"/>
            <ac:spMk id="3" creationId="{CC3C251A-0187-3E6E-4518-70BA7B915EE3}"/>
          </ac:spMkLst>
        </pc:spChg>
      </pc:sldChg>
    </pc:docChg>
  </pc:docChgLst>
  <pc:docChgLst>
    <pc:chgData name="Sam O'Neill" userId="cb323814-a42a-4cfe-bc74-03f595e56f6e" providerId="ADAL" clId="{ECCB5DA2-7522-4F7B-A76E-51F720C0ABD2}"/>
    <pc:docChg chg="custSel modSld">
      <pc:chgData name="Sam O'Neill" userId="cb323814-a42a-4cfe-bc74-03f595e56f6e" providerId="ADAL" clId="{ECCB5DA2-7522-4F7B-A76E-51F720C0ABD2}" dt="2023-10-09T08:51:55.901" v="1" actId="27636"/>
      <pc:docMkLst>
        <pc:docMk/>
      </pc:docMkLst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960105888" sldId="26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033217" sldId="26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56650311" sldId="26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74261045" sldId="274"/>
        </pc:sldMkLst>
      </pc:sldChg>
      <pc:sldChg chg="modSp mod">
        <pc:chgData name="Sam O'Neill" userId="cb323814-a42a-4cfe-bc74-03f595e56f6e" providerId="ADAL" clId="{ECCB5DA2-7522-4F7B-A76E-51F720C0ABD2}" dt="2023-10-09T08:51:55.901" v="1" actId="27636"/>
        <pc:sldMkLst>
          <pc:docMk/>
          <pc:sldMk cId="1361163114" sldId="27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2827178" sldId="28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43845886" sldId="28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96814727" sldId="28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477283215" sldId="28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919647061" sldId="287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30708497" sldId="288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51920825" sldId="28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933514211" sldId="29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04010382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3.png"/><Relationship Id="rId7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y20IlA3po-hK4UWxqkc-Hxk0h6babXl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Programming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</a:t>
            </a:r>
          </a:p>
          <a:p>
            <a:r>
              <a:rPr lang="en-GB" dirty="0"/>
              <a:t>Simplex Method Demonstration</a:t>
            </a:r>
          </a:p>
          <a:p>
            <a:r>
              <a:rPr lang="en-GB" dirty="0"/>
              <a:t>Problem Based Approach (Python)</a:t>
            </a:r>
          </a:p>
          <a:p>
            <a:r>
              <a:rPr lang="en-GB" dirty="0"/>
              <a:t>Diet Problem (Tutorial Question 5)</a:t>
            </a:r>
          </a:p>
          <a:p>
            <a:r>
              <a:rPr lang="en-GB" dirty="0"/>
              <a:t>Formulating with Summation Notation</a:t>
            </a:r>
          </a:p>
          <a:p>
            <a:r>
              <a:rPr lang="en-GB" dirty="0"/>
              <a:t>Manufacturing Problem (Question 4 Adapted)</a:t>
            </a:r>
          </a:p>
          <a:p>
            <a:r>
              <a:rPr lang="en-GB" dirty="0"/>
              <a:t>Introduction to:</a:t>
            </a:r>
          </a:p>
          <a:p>
            <a:pPr lvl="1"/>
            <a:r>
              <a:rPr lang="en-GB" dirty="0"/>
              <a:t>Integer and Mixed-Integer Based Programming 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Linear Programming Model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linear programming model can be written as follows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GB" b="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(C1)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GB" b="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(C2)</a:t>
                </a:r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A7403-1380-4581-AF6F-CBE721F7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7" y="2390107"/>
            <a:ext cx="3766125" cy="3786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/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/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/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Our linear programming model</a:t>
                </a:r>
              </a:p>
              <a:p>
                <a:pPr marL="0" indent="0"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blipFill>
                <a:blip r:embed="rId2"/>
                <a:stretch>
                  <a:fillRect l="-1382" t="-22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and</a:t>
                </a:r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blipFill>
                <a:blip r:embed="rId4"/>
                <a:stretch>
                  <a:fillRect l="-10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11DFFC-CC29-41D8-BD58-58F01D35B3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779390" y="2652837"/>
            <a:ext cx="21673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634743-B38E-4A5C-935B-06A45A5F3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44070" y="2569786"/>
            <a:ext cx="499620" cy="29957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16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00E18A-BC3F-4B7A-9993-BFF3EDFF913E}"/>
              </a:ext>
            </a:extLst>
          </p:cNvPr>
          <p:cNvSpPr/>
          <p:nvPr/>
        </p:nvSpPr>
        <p:spPr>
          <a:xfrm>
            <a:off x="838200" y="4045134"/>
            <a:ext cx="41014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We are maximising.</a:t>
            </a:r>
          </a:p>
          <a:p>
            <a:endParaRPr lang="en-GB" sz="2000" dirty="0"/>
          </a:p>
          <a:p>
            <a:r>
              <a:rPr lang="en-GB" sz="2000" dirty="0"/>
              <a:t>The </a:t>
            </a:r>
            <a:r>
              <a:rPr lang="en-GB" sz="2000" dirty="0" err="1"/>
              <a:t>Scipy</a:t>
            </a:r>
            <a:r>
              <a:rPr lang="en-GB" sz="2000" dirty="0"/>
              <a:t> function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minimises!</a:t>
            </a:r>
          </a:p>
          <a:p>
            <a:endParaRPr lang="en-GB" sz="2000" dirty="0"/>
          </a:p>
          <a:p>
            <a:r>
              <a:rPr lang="en-GB" sz="2000" dirty="0"/>
              <a:t>Notice that in the Python code we call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using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-f</a:t>
            </a:r>
            <a:r>
              <a:rPr lang="en-GB" sz="2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DAA83-5BE3-D565-5A26-17A9F3B1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80" y="1959526"/>
            <a:ext cx="6257421" cy="361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E00CD-D274-4138-9EE4-65D98B6C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4158"/>
            <a:ext cx="3238500" cy="2533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</a:t>
            </a:r>
            <a:r>
              <a:rPr lang="en-GB" dirty="0" err="1"/>
              <a:t>Pyomo</a:t>
            </a:r>
            <a:r>
              <a:rPr lang="en-GB" dirty="0"/>
              <a:t> (Modelling Language)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/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/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/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8C547D7-E2F8-73A6-9255-5260B7EA5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897" y="1306627"/>
            <a:ext cx="5962032" cy="489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4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B0844EB-0512-4D2C-BBD8-B08EB6329D08}"/>
              </a:ext>
            </a:extLst>
          </p:cNvPr>
          <p:cNvSpPr/>
          <p:nvPr/>
        </p:nvSpPr>
        <p:spPr>
          <a:xfrm>
            <a:off x="561175" y="5601681"/>
            <a:ext cx="9074985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minimise the cost of the diet.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BF738-6D3C-4575-86DE-7181B896D68C}"/>
              </a:ext>
            </a:extLst>
          </p:cNvPr>
          <p:cNvSpPr/>
          <p:nvPr/>
        </p:nvSpPr>
        <p:spPr>
          <a:xfrm>
            <a:off x="561175" y="3788358"/>
            <a:ext cx="9430043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meals provided must satisfy certain basic restriction on vitamin and fat content. The right table gives the target quantities for a sample of 4 vitamins and one fat 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75BC0-B040-45E9-9F7A-8E697FF075DB}"/>
              </a:ext>
            </a:extLst>
          </p:cNvPr>
          <p:cNvSpPr/>
          <p:nvPr/>
        </p:nvSpPr>
        <p:spPr>
          <a:xfrm>
            <a:off x="561175" y="4677676"/>
            <a:ext cx="10515600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quantities of each nutrient contained in one unit of each of 10 foods and the cost and attractiveness of a unit of each food is given in the left table.</a:t>
            </a:r>
          </a:p>
        </p:txBody>
      </p:sp>
    </p:spTree>
    <p:extLst>
      <p:ext uri="{BB962C8B-B14F-4D97-AF65-F5344CB8AC3E}">
        <p14:creationId xmlns:p14="http://schemas.microsoft.com/office/powerpoint/2010/main" val="39098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/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Objective:</a:t>
                </a:r>
              </a:p>
              <a:p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  <a:blipFill>
                <a:blip r:embed="rId2"/>
                <a:stretch>
                  <a:fillRect l="-881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/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Vitamin A Constraint:</a:t>
                </a:r>
                <a:endParaRPr lang="en-GB" sz="2400" dirty="0"/>
              </a:p>
              <a:p>
                <a:r>
                  <a:rPr lang="en-GB" sz="24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18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+22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  <a:blipFill>
                <a:blip r:embed="rId3"/>
                <a:stretch>
                  <a:fillRect l="-950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/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400" u="sng" dirty="0"/>
                  <a:t>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- Number of food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  <a:blipFill>
                <a:blip r:embed="rId4"/>
                <a:stretch>
                  <a:fillRect l="-3426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01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10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61715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66976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(Variable)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blipFill>
                <a:blip r:embed="rId2"/>
                <a:stretch>
                  <a:fillRect l="-399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3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5a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808C2EA-3B0F-C8A5-0453-30AA9D2F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809" y="1204967"/>
            <a:ext cx="6380802" cy="53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1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blipFill>
                <a:blip r:embed="rId2"/>
                <a:stretch>
                  <a:fillRect l="-533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blipFill>
                <a:blip r:embed="rId3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blipFill>
                <a:blip r:embed="rId4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73A517D-F145-42C3-B0F0-4C23B24F5ECD}"/>
              </a:ext>
            </a:extLst>
          </p:cNvPr>
          <p:cNvSpPr/>
          <p:nvPr/>
        </p:nvSpPr>
        <p:spPr>
          <a:xfrm>
            <a:off x="257666" y="4145479"/>
            <a:ext cx="5257014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maximise the attractiveness of the diet.</a:t>
            </a:r>
          </a:p>
        </p:txBody>
      </p:sp>
    </p:spTree>
    <p:extLst>
      <p:ext uri="{BB962C8B-B14F-4D97-AF65-F5344CB8AC3E}">
        <p14:creationId xmlns:p14="http://schemas.microsoft.com/office/powerpoint/2010/main" val="384212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6A6017-A891-49C1-ABF1-AD75CC4E3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89038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75FD5D-647A-4470-8B6A-CF85FD1CA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60000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    -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505E12-165A-4C48-B077-9A2AD82ADFA3}"/>
              </a:ext>
            </a:extLst>
          </p:cNvPr>
          <p:cNvSpPr txBox="1"/>
          <p:nvPr/>
        </p:nvSpPr>
        <p:spPr>
          <a:xfrm>
            <a:off x="1012055" y="4647243"/>
            <a:ext cx="7430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UNBOUNDED!!</a:t>
            </a:r>
          </a:p>
          <a:p>
            <a:endParaRPr lang="en-GB" dirty="0"/>
          </a:p>
          <a:p>
            <a:r>
              <a:rPr lang="en-GB" dirty="0"/>
              <a:t>The program is free to pick foods with no fat. As long as the vitamin constraints are satisfied, we are in the feasible region and the objective is unbounded.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FE1A-1495-4FB6-AF09-58076583C96E}"/>
              </a:ext>
            </a:extLst>
          </p:cNvPr>
          <p:cNvSpPr txBox="1"/>
          <p:nvPr/>
        </p:nvSpPr>
        <p:spPr>
          <a:xfrm>
            <a:off x="1012055" y="3971168"/>
            <a:ext cx="743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issue here?</a:t>
            </a:r>
          </a:p>
        </p:txBody>
      </p:sp>
    </p:spTree>
    <p:extLst>
      <p:ext uri="{BB962C8B-B14F-4D97-AF65-F5344CB8AC3E}">
        <p14:creationId xmlns:p14="http://schemas.microsoft.com/office/powerpoint/2010/main" val="16728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8"/>
            <a:ext cx="10515600" cy="5091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Maximum and minimum restrictions on both fat and vitamin content, e.g. maximum content = minimum content + 20%.</a:t>
            </a:r>
          </a:p>
          <a:p>
            <a:pPr marL="0" indent="0">
              <a:buNone/>
            </a:pPr>
            <a:endParaRPr lang="en-GB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≥25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F4990D-F916-48EE-BA36-89BA419B7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02339"/>
              </p:ext>
            </p:extLst>
          </p:nvPr>
        </p:nvGraphicFramePr>
        <p:xfrm>
          <a:off x="1116490" y="2450402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96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Fat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250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5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5c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/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≤240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≥250,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02" b="-1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524BB6-004F-0D1B-EC3C-30BBCE8B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062" y="1071418"/>
            <a:ext cx="5443729" cy="55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0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DF9C5C-6DF4-44D7-A35B-C3F0BA658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Brief Introduction to Mixed-Integer Linear Programming (MILP)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5F5AE3-F551-480A-A17F-CC54493F24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30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GB" dirty="0"/>
              <a:t>A firm manufactures 3 products, X, Y and Z.</a:t>
            </a:r>
          </a:p>
          <a:p>
            <a:pPr marL="0" lvl="0" indent="0">
              <a:buNone/>
            </a:pPr>
            <a:r>
              <a:rPr lang="en-GB" dirty="0"/>
              <a:t> </a:t>
            </a:r>
          </a:p>
          <a:p>
            <a:pPr marL="0" lvl="0" indent="0">
              <a:buNone/>
            </a:pPr>
            <a:r>
              <a:rPr lang="en-GB" dirty="0"/>
              <a:t>Each one is processed by a single machine, machine A, which has a capacity of 100 hours per week.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It takes 4.5 hours to make product X, 2 hours to make product Y and 3 hours to make product Z. </a:t>
            </a:r>
          </a:p>
          <a:p>
            <a:pPr marL="0" lvl="0" indent="0">
              <a:buNone/>
            </a:pPr>
            <a:endParaRPr lang="en-GB" dirty="0"/>
          </a:p>
          <a:p>
            <a:r>
              <a:rPr lang="en-GB" dirty="0"/>
              <a:t>The profit made (per unit) for X, Y and Z is £11.5, £5 and £8 respectively.</a:t>
            </a:r>
          </a:p>
          <a:p>
            <a:r>
              <a:rPr lang="en-GB" dirty="0"/>
              <a:t>The firm only has enough material a week to make 20 of product Z</a:t>
            </a:r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many X’s, Y’s and Z’s should be made per week so that the largest profit is made?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GB" dirty="0"/>
                  <a:t>maximise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11.5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dirty="0"/>
                  <a:t>		(objective)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GB" dirty="0"/>
                  <a:t>		(machine hours constraint)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GB" dirty="0"/>
                  <a:t>				(product Z constraint)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and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				(non-negativity constraint)</a:t>
                </a:r>
              </a:p>
              <a:p>
                <a:pPr marL="0" lvl="0" indent="0">
                  <a:buNone/>
                </a:pPr>
                <a:r>
                  <a:rPr lang="en-GB" u="sng" dirty="0"/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8.89,0,20</m:t>
                          </m:r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262.62</m:t>
                      </m:r>
                    </m:oMath>
                  </m:oMathPara>
                </a14:m>
                <a:endParaRPr lang="en-GB" dirty="0"/>
              </a:p>
              <a:p>
                <a:pPr marL="0" lv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8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What if anything that isn’t fully manufactured has to be discarded or it would cost the company overtime?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9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Perhaps we should only allow the solution to be completed products (i.e. whole numbers).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It transpires that if your round the solution up,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you need 100.5 hours (INFEASIBLE). If you round down 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dirty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lang="en-GB" sz="2000" dirty="0"/>
                  <a:t> hours.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However, if you make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,20</m:t>
                        </m:r>
                      </m:e>
                    </m:d>
                  </m:oMath>
                </a14:m>
                <a:r>
                  <a:rPr lang="en-GB" sz="2000" dirty="0"/>
                  <a:t>, and get a profit of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262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2000" dirty="0"/>
                  <a:t> hours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A ten pounds might not seem like much, but imagine we are dealing in thousands or millions of pounds!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b="1" dirty="0">
                    <a:solidFill>
                      <a:srgbClr val="00B050"/>
                    </a:solidFill>
                  </a:rPr>
                  <a:t>KEY POINT:</a:t>
                </a:r>
                <a:r>
                  <a:rPr lang="en-GB" sz="2000" dirty="0">
                    <a:solidFill>
                      <a:srgbClr val="00B050"/>
                    </a:solidFill>
                  </a:rPr>
                  <a:t> Rounding a solution does not necessarily give you the optimal integer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80" t="-387" r="-464" b="-10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2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Desmos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9D7DB87-1C37-46CF-9899-EE47228F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2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  <a:blipFill>
                <a:blip r:embed="rId3"/>
                <a:stretch>
                  <a:fillRect l="-1310" t="-1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668276A-C43C-6C3F-0F36-AA6B49171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4" y="5187431"/>
            <a:ext cx="4151035" cy="16316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DD23C-0A47-E1A6-CBAC-5FB0578A5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937" y="1307516"/>
            <a:ext cx="707806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FBDBC-9C9A-4430-A4AF-4C809CB8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181" y="1276555"/>
            <a:ext cx="6505575" cy="482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Mixed-Integer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Mixed-Integer Solution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blipFill>
                <a:blip r:embed="rId4"/>
                <a:stretch>
                  <a:fillRect l="-2461" t="-549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27E75D-C05C-DDF1-DB83-6A2F7E2B7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388" y="1196151"/>
            <a:ext cx="6258798" cy="502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DD6BF-5C01-5C64-D44B-817847282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71" y="5058651"/>
            <a:ext cx="4289982" cy="17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7696-D5A6-65B2-5302-F465B197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251A-0187-3E6E-4518-70BA7B91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https://colab.research.google.com/drive/1y20IlA3po-hK4UWxqkc-Hxk0h6babXlT?usp=sharing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70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82487C-B106-4F48-B90C-C8C2D07989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terms/"/>
    <ds:schemaRef ds:uri="http://schemas.microsoft.com/office/2006/documentManagement/types"/>
    <ds:schemaRef ds:uri="bf6b85bd-8a7e-4854-be4d-0780382295a8"/>
    <ds:schemaRef ds:uri="http://schemas.microsoft.com/office/2006/metadata/properties"/>
    <ds:schemaRef ds:uri="606370cc-c8d9-4222-8a4e-3c320f1e3034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2439</Words>
  <Application>Microsoft Office PowerPoint</Application>
  <PresentationFormat>Widescreen</PresentationFormat>
  <Paragraphs>713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Cambria Math</vt:lpstr>
      <vt:lpstr>Calibri Light</vt:lpstr>
      <vt:lpstr>Calibri</vt:lpstr>
      <vt:lpstr>Courier New</vt:lpstr>
      <vt:lpstr>Arial</vt:lpstr>
      <vt:lpstr>Office Theme</vt:lpstr>
      <vt:lpstr>Linear Programming 2</vt:lpstr>
      <vt:lpstr>Contents</vt:lpstr>
      <vt:lpstr>Blank Slide</vt:lpstr>
      <vt:lpstr>Linear Programming Model</vt:lpstr>
      <vt:lpstr>Canonical Form (Matrices)</vt:lpstr>
      <vt:lpstr>Solution with Python</vt:lpstr>
      <vt:lpstr>Solution with Pyomo (Modelling Language)</vt:lpstr>
      <vt:lpstr>Diet Problem (Tutorial Question 5a)</vt:lpstr>
      <vt:lpstr>Diet Problem (Tutorial Question 5a)</vt:lpstr>
      <vt:lpstr>Diet Problem (Tutorial Question 5a)</vt:lpstr>
      <vt:lpstr>Diet Problem (Tutorial Question 5a)</vt:lpstr>
      <vt:lpstr>5a Solution via Pyomo (Problem Based)</vt:lpstr>
      <vt:lpstr>Diet Problem (Tutorial Question 5b)</vt:lpstr>
      <vt:lpstr>Diet Problem (Tutorial Question 5)</vt:lpstr>
      <vt:lpstr>Fix</vt:lpstr>
      <vt:lpstr>5c Solution via Pyomo (Problem Based)</vt:lpstr>
      <vt:lpstr>Brief Introduction to Mixed-Integer Linear Programming (MILP)</vt:lpstr>
      <vt:lpstr>Manufacturing Problem (Tutorial Q4 Adapted)</vt:lpstr>
      <vt:lpstr>Manufacturing Problem (Tutorial Q4 Adapted)</vt:lpstr>
      <vt:lpstr>Manufacturing Problem (Tutorial Q4 Adapted)</vt:lpstr>
      <vt:lpstr>Desmos Demonstration</vt:lpstr>
      <vt:lpstr>Rounded Solutions</vt:lpstr>
      <vt:lpstr>Rounded Solutions</vt:lpstr>
      <vt:lpstr>Integer Solution via Pyomo (problem based)</vt:lpstr>
      <vt:lpstr>Mixed-Integer Program</vt:lpstr>
      <vt:lpstr>Mixed-Integer Solution (problem based)</vt:lpstr>
      <vt:lpstr>Demos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2025-10-09T11:12:54Z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
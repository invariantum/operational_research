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4"/>
  </p:sldMasterIdLst>
  <p:sldIdLst>
    <p:sldId id="256" r:id="rId5"/>
    <p:sldId id="257" r:id="rId6"/>
    <p:sldId id="258" r:id="rId7"/>
    <p:sldId id="260" r:id="rId8"/>
    <p:sldId id="262" r:id="rId9"/>
    <p:sldId id="263" r:id="rId10"/>
    <p:sldId id="265" r:id="rId11"/>
    <p:sldId id="266" r:id="rId12"/>
    <p:sldId id="264" r:id="rId13"/>
    <p:sldId id="267" r:id="rId14"/>
    <p:sldId id="268" r:id="rId15"/>
    <p:sldId id="269" r:id="rId16"/>
    <p:sldId id="274" r:id="rId17"/>
    <p:sldId id="273" r:id="rId18"/>
    <p:sldId id="275" r:id="rId19"/>
    <p:sldId id="271" r:id="rId20"/>
    <p:sldId id="270" r:id="rId21"/>
    <p:sldId id="276" r:id="rId22"/>
    <p:sldId id="272" r:id="rId23"/>
    <p:sldId id="278" r:id="rId24"/>
    <p:sldId id="279" r:id="rId25"/>
    <p:sldId id="280" r:id="rId26"/>
    <p:sldId id="282" r:id="rId27"/>
    <p:sldId id="283" r:id="rId28"/>
    <p:sldId id="281" r:id="rId29"/>
    <p:sldId id="284" r:id="rId30"/>
    <p:sldId id="285" r:id="rId31"/>
  </p:sldIdLst>
  <p:sldSz cx="12192000" cy="6858000"/>
  <p:notesSz cx="6858000" cy="9144000"/>
  <p:embeddedFontLst>
    <p:embeddedFont>
      <p:font typeface="Cambria Math" panose="02040503050406030204" pitchFamily="18" charset="0"/>
      <p:regular r:id="rId32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E5DEC410-C6B0-4C99-8A50-0FAAAFFEC6E4}" v="37" dt="2025-10-01T13:55:35.552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8" d="100"/>
          <a:sy n="78" d="100"/>
        </p:scale>
        <p:origin x="850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21" Type="http://schemas.openxmlformats.org/officeDocument/2006/relationships/slide" Target="slides/slide17.xml"/><Relationship Id="rId34" Type="http://schemas.openxmlformats.org/officeDocument/2006/relationships/viewProps" Target="viewProps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presProps" Target="presProps.xml"/><Relationship Id="rId38" Type="http://schemas.microsoft.com/office/2015/10/relationships/revisionInfo" Target="revisionInfo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openxmlformats.org/officeDocument/2006/relationships/slide" Target="slides/slide25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font" Target="fonts/font1.fntdata"/><Relationship Id="rId37" Type="http://schemas.microsoft.com/office/2016/11/relationships/changesInfo" Target="changesInfos/changesInfo1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tableStyles" Target="tableStyles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slide" Target="slides/slide27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theme" Target="theme/theme1.xml"/><Relationship Id="rId8" Type="http://schemas.openxmlformats.org/officeDocument/2006/relationships/slide" Target="slides/slide4.xml"/><Relationship Id="rId3" Type="http://schemas.openxmlformats.org/officeDocument/2006/relationships/customXml" Target="../customXml/item3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am O'Neill" userId="cb323814-a42a-4cfe-bc74-03f595e56f6e" providerId="ADAL" clId="{FC573C1E-5364-4385-B41B-4E798FCD684A}"/>
    <pc:docChg chg="custSel modSld">
      <pc:chgData name="Sam O'Neill" userId="cb323814-a42a-4cfe-bc74-03f595e56f6e" providerId="ADAL" clId="{FC573C1E-5364-4385-B41B-4E798FCD684A}" dt="2023-10-02T09:01:02.828" v="6" actId="14100"/>
      <pc:docMkLst>
        <pc:docMk/>
      </pc:docMkLst>
      <pc:sldChg chg="addSp delSp modSp mod">
        <pc:chgData name="Sam O'Neill" userId="cb323814-a42a-4cfe-bc74-03f595e56f6e" providerId="ADAL" clId="{FC573C1E-5364-4385-B41B-4E798FCD684A}" dt="2023-10-02T09:01:02.828" v="6" actId="14100"/>
        <pc:sldMkLst>
          <pc:docMk/>
          <pc:sldMk cId="2837434748" sldId="281"/>
        </pc:sldMkLst>
      </pc:sldChg>
    </pc:docChg>
  </pc:docChgLst>
  <pc:docChgLst>
    <pc:chgData name="Sam O'Neill" userId="cb323814-a42a-4cfe-bc74-03f595e56f6e" providerId="ADAL" clId="{FE101BF0-67F3-4B44-8042-2748916B529A}"/>
    <pc:docChg chg="custSel modSld">
      <pc:chgData name="Sam O'Neill" userId="cb323814-a42a-4cfe-bc74-03f595e56f6e" providerId="ADAL" clId="{FE101BF0-67F3-4B44-8042-2748916B529A}" dt="2023-10-02T10:53:03.337" v="4" actId="1076"/>
      <pc:docMkLst>
        <pc:docMk/>
      </pc:docMkLst>
      <pc:sldChg chg="addSp delSp modSp mod">
        <pc:chgData name="Sam O'Neill" userId="cb323814-a42a-4cfe-bc74-03f595e56f6e" providerId="ADAL" clId="{FE101BF0-67F3-4B44-8042-2748916B529A}" dt="2023-10-02T10:53:03.337" v="4" actId="1076"/>
        <pc:sldMkLst>
          <pc:docMk/>
          <pc:sldMk cId="2837434748" sldId="281"/>
        </pc:sldMkLst>
      </pc:sldChg>
    </pc:docChg>
  </pc:docChgLst>
  <pc:docChgLst>
    <pc:chgData name="Sam O'Neill" userId="cb323814-a42a-4cfe-bc74-03f595e56f6e" providerId="ADAL" clId="{E5DEC410-C6B0-4C99-8A50-0FAAAFFEC6E4}"/>
    <pc:docChg chg="undo custSel modSld modMainMaster">
      <pc:chgData name="Sam O'Neill" userId="cb323814-a42a-4cfe-bc74-03f595e56f6e" providerId="ADAL" clId="{E5DEC410-C6B0-4C99-8A50-0FAAAFFEC6E4}" dt="2025-10-01T13:55:58.070" v="235" actId="5793"/>
      <pc:docMkLst>
        <pc:docMk/>
      </pc:docMkLst>
      <pc:sldChg chg="modSp mod">
        <pc:chgData name="Sam O'Neill" userId="cb323814-a42a-4cfe-bc74-03f595e56f6e" providerId="ADAL" clId="{E5DEC410-C6B0-4C99-8A50-0FAAAFFEC6E4}" dt="2025-10-01T13:49:28.371" v="38"/>
        <pc:sldMkLst>
          <pc:docMk/>
          <pc:sldMk cId="110775907" sldId="256"/>
        </pc:sldMkLst>
        <pc:spChg chg="mod">
          <ac:chgData name="Sam O'Neill" userId="cb323814-a42a-4cfe-bc74-03f595e56f6e" providerId="ADAL" clId="{E5DEC410-C6B0-4C99-8A50-0FAAAFFEC6E4}" dt="2025-10-01T13:49:28.371" v="38"/>
          <ac:spMkLst>
            <pc:docMk/>
            <pc:sldMk cId="110775907" sldId="256"/>
            <ac:spMk id="2" creationId="{0A85F331-FA4C-4E92-A9DC-B75BC327C4AF}"/>
          </ac:spMkLst>
        </pc:spChg>
        <pc:spChg chg="mod">
          <ac:chgData name="Sam O'Neill" userId="cb323814-a42a-4cfe-bc74-03f595e56f6e" providerId="ADAL" clId="{E5DEC410-C6B0-4C99-8A50-0FAAAFFEC6E4}" dt="2025-10-01T13:49:28.371" v="38"/>
          <ac:spMkLst>
            <pc:docMk/>
            <pc:sldMk cId="110775907" sldId="256"/>
            <ac:spMk id="3" creationId="{18D97D86-8A1E-4C21-88F2-2ADD855AA1D7}"/>
          </ac:spMkLst>
        </pc:spChg>
      </pc:sldChg>
      <pc:sldChg chg="modSp">
        <pc:chgData name="Sam O'Neill" userId="cb323814-a42a-4cfe-bc74-03f595e56f6e" providerId="ADAL" clId="{E5DEC410-C6B0-4C99-8A50-0FAAAFFEC6E4}" dt="2025-10-01T13:49:28.371" v="38"/>
        <pc:sldMkLst>
          <pc:docMk/>
          <pc:sldMk cId="2464477114" sldId="257"/>
        </pc:sldMkLst>
        <pc:spChg chg="mod">
          <ac:chgData name="Sam O'Neill" userId="cb323814-a42a-4cfe-bc74-03f595e56f6e" providerId="ADAL" clId="{E5DEC410-C6B0-4C99-8A50-0FAAAFFEC6E4}" dt="2025-10-01T13:49:28.371" v="38"/>
          <ac:spMkLst>
            <pc:docMk/>
            <pc:sldMk cId="2464477114" sldId="257"/>
            <ac:spMk id="2" creationId="{3C670DCA-349F-4E07-9481-BFF8779160C8}"/>
          </ac:spMkLst>
        </pc:spChg>
        <pc:spChg chg="mod">
          <ac:chgData name="Sam O'Neill" userId="cb323814-a42a-4cfe-bc74-03f595e56f6e" providerId="ADAL" clId="{E5DEC410-C6B0-4C99-8A50-0FAAAFFEC6E4}" dt="2025-10-01T13:49:28.371" v="38"/>
          <ac:spMkLst>
            <pc:docMk/>
            <pc:sldMk cId="2464477114" sldId="257"/>
            <ac:spMk id="3" creationId="{2ED27342-B019-4230-BC68-60F4E0ADF16D}"/>
          </ac:spMkLst>
        </pc:spChg>
      </pc:sldChg>
      <pc:sldChg chg="modSp mod">
        <pc:chgData name="Sam O'Neill" userId="cb323814-a42a-4cfe-bc74-03f595e56f6e" providerId="ADAL" clId="{E5DEC410-C6B0-4C99-8A50-0FAAAFFEC6E4}" dt="2025-10-01T13:49:28.371" v="38"/>
        <pc:sldMkLst>
          <pc:docMk/>
          <pc:sldMk cId="737113903" sldId="258"/>
        </pc:sldMkLst>
        <pc:spChg chg="mod">
          <ac:chgData name="Sam O'Neill" userId="cb323814-a42a-4cfe-bc74-03f595e56f6e" providerId="ADAL" clId="{E5DEC410-C6B0-4C99-8A50-0FAAAFFEC6E4}" dt="2025-10-01T13:49:28.371" v="38"/>
          <ac:spMkLst>
            <pc:docMk/>
            <pc:sldMk cId="737113903" sldId="258"/>
            <ac:spMk id="3" creationId="{5198A88B-52B3-469E-A512-B72752EB7862}"/>
          </ac:spMkLst>
        </pc:spChg>
      </pc:sldChg>
      <pc:sldChg chg="modSp mod">
        <pc:chgData name="Sam O'Neill" userId="cb323814-a42a-4cfe-bc74-03f595e56f6e" providerId="ADAL" clId="{E5DEC410-C6B0-4C99-8A50-0FAAAFFEC6E4}" dt="2025-10-01T13:49:28.371" v="38"/>
        <pc:sldMkLst>
          <pc:docMk/>
          <pc:sldMk cId="3710664848" sldId="260"/>
        </pc:sldMkLst>
        <pc:spChg chg="mod">
          <ac:chgData name="Sam O'Neill" userId="cb323814-a42a-4cfe-bc74-03f595e56f6e" providerId="ADAL" clId="{E5DEC410-C6B0-4C99-8A50-0FAAAFFEC6E4}" dt="2025-10-01T13:49:28.371" v="38"/>
          <ac:spMkLst>
            <pc:docMk/>
            <pc:sldMk cId="3710664848" sldId="260"/>
            <ac:spMk id="3" creationId="{5198A88B-52B3-469E-A512-B72752EB7862}"/>
          </ac:spMkLst>
        </pc:spChg>
      </pc:sldChg>
      <pc:sldChg chg="addSp delSp modSp mod">
        <pc:chgData name="Sam O'Neill" userId="cb323814-a42a-4cfe-bc74-03f595e56f6e" providerId="ADAL" clId="{E5DEC410-C6B0-4C99-8A50-0FAAAFFEC6E4}" dt="2025-10-01T13:55:58.070" v="235" actId="5793"/>
        <pc:sldMkLst>
          <pc:docMk/>
          <pc:sldMk cId="1402902768" sldId="262"/>
        </pc:sldMkLst>
        <pc:spChg chg="add mod">
          <ac:chgData name="Sam O'Neill" userId="cb323814-a42a-4cfe-bc74-03f595e56f6e" providerId="ADAL" clId="{E5DEC410-C6B0-4C99-8A50-0FAAAFFEC6E4}" dt="2025-10-01T13:53:38.907" v="45" actId="1076"/>
          <ac:spMkLst>
            <pc:docMk/>
            <pc:sldMk cId="1402902768" sldId="262"/>
            <ac:spMk id="4" creationId="{5778C8C0-FC92-C1C1-0E55-A45D8C17C8BF}"/>
          </ac:spMkLst>
        </pc:spChg>
        <pc:spChg chg="add del mod">
          <ac:chgData name="Sam O'Neill" userId="cb323814-a42a-4cfe-bc74-03f595e56f6e" providerId="ADAL" clId="{E5DEC410-C6B0-4C99-8A50-0FAAAFFEC6E4}" dt="2025-10-01T13:53:48.272" v="51"/>
          <ac:spMkLst>
            <pc:docMk/>
            <pc:sldMk cId="1402902768" sldId="262"/>
            <ac:spMk id="6" creationId="{C20B2F98-5EE0-D997-A5FC-42D42359D804}"/>
          </ac:spMkLst>
        </pc:spChg>
        <pc:spChg chg="mod">
          <ac:chgData name="Sam O'Neill" userId="cb323814-a42a-4cfe-bc74-03f595e56f6e" providerId="ADAL" clId="{E5DEC410-C6B0-4C99-8A50-0FAAAFFEC6E4}" dt="2025-10-01T13:55:44.802" v="224" actId="1036"/>
          <ac:spMkLst>
            <pc:docMk/>
            <pc:sldMk cId="1402902768" sldId="262"/>
            <ac:spMk id="7" creationId="{E68F968E-8943-4A8B-9A31-C309B6C11DE0}"/>
          </ac:spMkLst>
        </pc:spChg>
        <pc:spChg chg="add mod">
          <ac:chgData name="Sam O'Neill" userId="cb323814-a42a-4cfe-bc74-03f595e56f6e" providerId="ADAL" clId="{E5DEC410-C6B0-4C99-8A50-0FAAAFFEC6E4}" dt="2025-10-01T13:53:58.668" v="54" actId="1076"/>
          <ac:spMkLst>
            <pc:docMk/>
            <pc:sldMk cId="1402902768" sldId="262"/>
            <ac:spMk id="8" creationId="{828C7031-9023-47AE-BAAD-C65337F626EC}"/>
          </ac:spMkLst>
        </pc:spChg>
        <pc:spChg chg="add mod">
          <ac:chgData name="Sam O'Neill" userId="cb323814-a42a-4cfe-bc74-03f595e56f6e" providerId="ADAL" clId="{E5DEC410-C6B0-4C99-8A50-0FAAAFFEC6E4}" dt="2025-10-01T13:55:58.070" v="235" actId="5793"/>
          <ac:spMkLst>
            <pc:docMk/>
            <pc:sldMk cId="1402902768" sldId="262"/>
            <ac:spMk id="10" creationId="{F4C98BA3-91FF-92FA-10DA-2094F4D5D25E}"/>
          </ac:spMkLst>
        </pc:spChg>
        <pc:spChg chg="add mod">
          <ac:chgData name="Sam O'Neill" userId="cb323814-a42a-4cfe-bc74-03f595e56f6e" providerId="ADAL" clId="{E5DEC410-C6B0-4C99-8A50-0FAAAFFEC6E4}" dt="2025-10-01T13:54:28.431" v="84" actId="20577"/>
          <ac:spMkLst>
            <pc:docMk/>
            <pc:sldMk cId="1402902768" sldId="262"/>
            <ac:spMk id="11" creationId="{56B00914-CF84-A57F-271D-A7CECD9B9546}"/>
          </ac:spMkLst>
        </pc:spChg>
      </pc:sldChg>
      <pc:sldChg chg="modSp">
        <pc:chgData name="Sam O'Neill" userId="cb323814-a42a-4cfe-bc74-03f595e56f6e" providerId="ADAL" clId="{E5DEC410-C6B0-4C99-8A50-0FAAAFFEC6E4}" dt="2025-10-01T13:51:22.449" v="42" actId="207"/>
        <pc:sldMkLst>
          <pc:docMk/>
          <pc:sldMk cId="3317125378" sldId="266"/>
        </pc:sldMkLst>
        <pc:spChg chg="mod">
          <ac:chgData name="Sam O'Neill" userId="cb323814-a42a-4cfe-bc74-03f595e56f6e" providerId="ADAL" clId="{E5DEC410-C6B0-4C99-8A50-0FAAAFFEC6E4}" dt="2025-10-01T13:51:22.449" v="42" actId="207"/>
          <ac:spMkLst>
            <pc:docMk/>
            <pc:sldMk cId="3317125378" sldId="266"/>
            <ac:spMk id="4" creationId="{76A814A8-E888-4D6C-B643-B3F94FB369E0}"/>
          </ac:spMkLst>
        </pc:spChg>
      </pc:sldChg>
      <pc:sldChg chg="modSp mod">
        <pc:chgData name="Sam O'Neill" userId="cb323814-a42a-4cfe-bc74-03f595e56f6e" providerId="ADAL" clId="{E5DEC410-C6B0-4C99-8A50-0FAAAFFEC6E4}" dt="2025-10-01T13:49:28.371" v="38"/>
        <pc:sldMkLst>
          <pc:docMk/>
          <pc:sldMk cId="3403934085" sldId="269"/>
        </pc:sldMkLst>
        <pc:spChg chg="mod">
          <ac:chgData name="Sam O'Neill" userId="cb323814-a42a-4cfe-bc74-03f595e56f6e" providerId="ADAL" clId="{E5DEC410-C6B0-4C99-8A50-0FAAAFFEC6E4}" dt="2025-10-01T13:49:28.371" v="38"/>
          <ac:spMkLst>
            <pc:docMk/>
            <pc:sldMk cId="3403934085" sldId="269"/>
            <ac:spMk id="3" creationId="{5198A88B-52B3-469E-A512-B72752EB7862}"/>
          </ac:spMkLst>
        </pc:spChg>
      </pc:sldChg>
      <pc:sldChg chg="modSp mod">
        <pc:chgData name="Sam O'Neill" userId="cb323814-a42a-4cfe-bc74-03f595e56f6e" providerId="ADAL" clId="{E5DEC410-C6B0-4C99-8A50-0FAAAFFEC6E4}" dt="2025-10-01T13:49:28.371" v="38"/>
        <pc:sldMkLst>
          <pc:docMk/>
          <pc:sldMk cId="2910249278" sldId="270"/>
        </pc:sldMkLst>
        <pc:spChg chg="mod">
          <ac:chgData name="Sam O'Neill" userId="cb323814-a42a-4cfe-bc74-03f595e56f6e" providerId="ADAL" clId="{E5DEC410-C6B0-4C99-8A50-0FAAAFFEC6E4}" dt="2025-10-01T13:49:28.371" v="38"/>
          <ac:spMkLst>
            <pc:docMk/>
            <pc:sldMk cId="2910249278" sldId="270"/>
            <ac:spMk id="3" creationId="{5198A88B-52B3-469E-A512-B72752EB7862}"/>
          </ac:spMkLst>
        </pc:spChg>
      </pc:sldChg>
      <pc:sldChg chg="modSp mod">
        <pc:chgData name="Sam O'Neill" userId="cb323814-a42a-4cfe-bc74-03f595e56f6e" providerId="ADAL" clId="{E5DEC410-C6B0-4C99-8A50-0FAAAFFEC6E4}" dt="2025-10-01T13:49:28.371" v="38"/>
        <pc:sldMkLst>
          <pc:docMk/>
          <pc:sldMk cId="544812879" sldId="271"/>
        </pc:sldMkLst>
        <pc:spChg chg="mod">
          <ac:chgData name="Sam O'Neill" userId="cb323814-a42a-4cfe-bc74-03f595e56f6e" providerId="ADAL" clId="{E5DEC410-C6B0-4C99-8A50-0FAAAFFEC6E4}" dt="2025-10-01T13:49:28.371" v="38"/>
          <ac:spMkLst>
            <pc:docMk/>
            <pc:sldMk cId="544812879" sldId="271"/>
            <ac:spMk id="3" creationId="{5198A88B-52B3-469E-A512-B72752EB7862}"/>
          </ac:spMkLst>
        </pc:spChg>
      </pc:sldChg>
      <pc:sldChg chg="modSp mod">
        <pc:chgData name="Sam O'Neill" userId="cb323814-a42a-4cfe-bc74-03f595e56f6e" providerId="ADAL" clId="{E5DEC410-C6B0-4C99-8A50-0FAAAFFEC6E4}" dt="2025-10-01T13:49:28.371" v="38"/>
        <pc:sldMkLst>
          <pc:docMk/>
          <pc:sldMk cId="1843170296" sldId="276"/>
        </pc:sldMkLst>
        <pc:spChg chg="mod">
          <ac:chgData name="Sam O'Neill" userId="cb323814-a42a-4cfe-bc74-03f595e56f6e" providerId="ADAL" clId="{E5DEC410-C6B0-4C99-8A50-0FAAAFFEC6E4}" dt="2025-10-01T13:49:28.371" v="38"/>
          <ac:spMkLst>
            <pc:docMk/>
            <pc:sldMk cId="1843170296" sldId="276"/>
            <ac:spMk id="3" creationId="{5198A88B-52B3-469E-A512-B72752EB7862}"/>
          </ac:spMkLst>
        </pc:spChg>
      </pc:sldChg>
      <pc:sldChg chg="modSp mod">
        <pc:chgData name="Sam O'Neill" userId="cb323814-a42a-4cfe-bc74-03f595e56f6e" providerId="ADAL" clId="{E5DEC410-C6B0-4C99-8A50-0FAAAFFEC6E4}" dt="2025-10-01T13:49:28.371" v="38"/>
        <pc:sldMkLst>
          <pc:docMk/>
          <pc:sldMk cId="163967576" sldId="278"/>
        </pc:sldMkLst>
        <pc:spChg chg="mod">
          <ac:chgData name="Sam O'Neill" userId="cb323814-a42a-4cfe-bc74-03f595e56f6e" providerId="ADAL" clId="{E5DEC410-C6B0-4C99-8A50-0FAAAFFEC6E4}" dt="2025-10-01T13:49:28.371" v="38"/>
          <ac:spMkLst>
            <pc:docMk/>
            <pc:sldMk cId="163967576" sldId="278"/>
            <ac:spMk id="3" creationId="{5198A88B-52B3-469E-A512-B72752EB7862}"/>
          </ac:spMkLst>
        </pc:spChg>
      </pc:sldChg>
      <pc:sldChg chg="modSp mod">
        <pc:chgData name="Sam O'Neill" userId="cb323814-a42a-4cfe-bc74-03f595e56f6e" providerId="ADAL" clId="{E5DEC410-C6B0-4C99-8A50-0FAAAFFEC6E4}" dt="2025-10-01T13:49:28.371" v="38"/>
        <pc:sldMkLst>
          <pc:docMk/>
          <pc:sldMk cId="4287816193" sldId="279"/>
        </pc:sldMkLst>
        <pc:spChg chg="mod">
          <ac:chgData name="Sam O'Neill" userId="cb323814-a42a-4cfe-bc74-03f595e56f6e" providerId="ADAL" clId="{E5DEC410-C6B0-4C99-8A50-0FAAAFFEC6E4}" dt="2025-10-01T13:49:28.371" v="38"/>
          <ac:spMkLst>
            <pc:docMk/>
            <pc:sldMk cId="4287816193" sldId="279"/>
            <ac:spMk id="3" creationId="{5198A88B-52B3-469E-A512-B72752EB7862}"/>
          </ac:spMkLst>
        </pc:spChg>
      </pc:sldChg>
      <pc:sldChg chg="modSp mod">
        <pc:chgData name="Sam O'Neill" userId="cb323814-a42a-4cfe-bc74-03f595e56f6e" providerId="ADAL" clId="{E5DEC410-C6B0-4C99-8A50-0FAAAFFEC6E4}" dt="2025-10-01T13:49:28.371" v="38"/>
        <pc:sldMkLst>
          <pc:docMk/>
          <pc:sldMk cId="949664406" sldId="283"/>
        </pc:sldMkLst>
        <pc:spChg chg="mod">
          <ac:chgData name="Sam O'Neill" userId="cb323814-a42a-4cfe-bc74-03f595e56f6e" providerId="ADAL" clId="{E5DEC410-C6B0-4C99-8A50-0FAAAFFEC6E4}" dt="2025-10-01T13:49:28.371" v="38"/>
          <ac:spMkLst>
            <pc:docMk/>
            <pc:sldMk cId="949664406" sldId="283"/>
            <ac:spMk id="2" creationId="{A3C45432-CA52-4838-B7E4-94F673E2655E}"/>
          </ac:spMkLst>
        </pc:spChg>
        <pc:spChg chg="mod">
          <ac:chgData name="Sam O'Neill" userId="cb323814-a42a-4cfe-bc74-03f595e56f6e" providerId="ADAL" clId="{E5DEC410-C6B0-4C99-8A50-0FAAAFFEC6E4}" dt="2025-10-01T13:49:28.371" v="38"/>
          <ac:spMkLst>
            <pc:docMk/>
            <pc:sldMk cId="949664406" sldId="283"/>
            <ac:spMk id="3" creationId="{C53964C1-0811-4E9A-89E8-A8B1428456F1}"/>
          </ac:spMkLst>
        </pc:spChg>
      </pc:sldChg>
      <pc:sldMasterChg chg="addSp">
        <pc:chgData name="Sam O'Neill" userId="cb323814-a42a-4cfe-bc74-03f595e56f6e" providerId="ADAL" clId="{E5DEC410-C6B0-4C99-8A50-0FAAAFFEC6E4}" dt="2025-10-01T13:49:12.626" v="16"/>
        <pc:sldMasterMkLst>
          <pc:docMk/>
          <pc:sldMasterMk cId="65816811" sldId="2147483660"/>
        </pc:sldMasterMkLst>
        <pc:spChg chg="add">
          <ac:chgData name="Sam O'Neill" userId="cb323814-a42a-4cfe-bc74-03f595e56f6e" providerId="ADAL" clId="{E5DEC410-C6B0-4C99-8A50-0FAAAFFEC6E4}" dt="2025-10-01T13:49:12.626" v="16"/>
          <ac:spMkLst>
            <pc:docMk/>
            <pc:sldMasterMk cId="65816811" sldId="2147483660"/>
            <ac:spMk id="9" creationId="{4B593F88-85BA-FE49-C372-D87D9A8A1096}"/>
          </ac:spMkLst>
        </pc:spChg>
      </pc:sldMasterChg>
      <pc:sldMasterChg chg="addSp">
        <pc:chgData name="Sam O'Neill" userId="cb323814-a42a-4cfe-bc74-03f595e56f6e" providerId="ADAL" clId="{E5DEC410-C6B0-4C99-8A50-0FAAAFFEC6E4}" dt="2025-10-01T13:49:23.337" v="27"/>
        <pc:sldMasterMkLst>
          <pc:docMk/>
          <pc:sldMasterMk cId="2743650069" sldId="2147483660"/>
        </pc:sldMasterMkLst>
        <pc:spChg chg="add">
          <ac:chgData name="Sam O'Neill" userId="cb323814-a42a-4cfe-bc74-03f595e56f6e" providerId="ADAL" clId="{E5DEC410-C6B0-4C99-8A50-0FAAAFFEC6E4}" dt="2025-10-01T13:49:23.337" v="27"/>
          <ac:spMkLst>
            <pc:docMk/>
            <pc:sldMasterMk cId="2743650069" sldId="2147483660"/>
            <ac:spMk id="8" creationId="{8744919B-ECDA-5F2E-8C0C-DEA05B63355C}"/>
          </ac:spMkLst>
        </pc:spChg>
      </pc:sldMaster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ABBAC1-2D9D-438C-84FD-5677FB2015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9D2278A-87EE-4087-BA9C-1A154C61C46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EB11740-48CC-4B20-9618-94656899CD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A039F1-953F-4A39-846E-4A181A4AE2B1}" type="datetimeFigureOut">
              <a:rPr lang="en-GB" smtClean="0"/>
              <a:t>17/10/2026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19E45EF-1488-4E98-8F1B-3F4788AC25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4DB6FCC-0BC2-4AA4-925B-22D3EF2D8E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C2DA03-7716-40DA-A4AB-15144CA6739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3779797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767EFA-FACA-468A-B2A7-2E32FD0B90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802430-43F1-4C28-BE1C-28ED37EE7D6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FFBB0AA-51D3-4839-A908-7015E2EFF7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A039F1-953F-4A39-846E-4A181A4AE2B1}" type="datetimeFigureOut">
              <a:rPr lang="en-GB" smtClean="0"/>
              <a:t>17/10/2026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4DC416D-0726-4084-B6F6-452A521AF9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07677A2-00AB-4338-8691-A71099F2EF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C2DA03-7716-40DA-A4AB-15144CA6739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9139539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A5ED08-8FF7-4847-92F6-6DF83E4A65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EB1DE87-CB76-4E70-AECB-9CBE3F30236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121CDAD-5A24-4E23-A4A4-0BE4EE23C1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A039F1-953F-4A39-846E-4A181A4AE2B1}" type="datetimeFigureOut">
              <a:rPr lang="en-GB" smtClean="0"/>
              <a:t>17/10/2026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E282401-4EE4-4C50-BED8-58196B379C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CB306CF-8C34-4765-AF17-57F5E452AA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C2DA03-7716-40DA-A4AB-15144CA6739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1101172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9B6DC1-2D4C-4500-A124-3A2178B42C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3270328-3EAB-407A-BC9A-67303094D46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6D10CF3-44D5-426B-90EA-C3216942EA6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9F800DC-C93C-49EB-B420-A7C8AD13CA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A039F1-953F-4A39-846E-4A181A4AE2B1}" type="datetimeFigureOut">
              <a:rPr lang="en-GB" smtClean="0"/>
              <a:t>17/10/2026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1842C8C-018B-4C45-BF70-2979A1913F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5E6DF55-225F-4BDE-BA17-DD5E62A2C5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C2DA03-7716-40DA-A4AB-15144CA6739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9936153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5C8F6E-783B-419D-8F7A-1EE4DB2F75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ECFF0B8-F056-4E7E-96D0-CFC881A80F8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CCCB7B8-D30F-432A-A39F-D2824661AA6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7D116FF-A0B3-48D2-A545-15D737D03DD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0F53AA2-3036-4360-B9B2-BFD386DB687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BA0757EF-E8E3-4492-A3C9-A83CE780FB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A039F1-953F-4A39-846E-4A181A4AE2B1}" type="datetimeFigureOut">
              <a:rPr lang="en-GB" smtClean="0"/>
              <a:t>17/10/2026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CE87707-4C6F-4EF0-93C1-82BE22E8A4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E476A2F-BA81-404B-9F96-2E20865747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C2DA03-7716-40DA-A4AB-15144CA6739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0545302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140136-FC6F-49F7-B359-BF7D0864AE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708460E-A6D9-4EA4-8CD9-79B728F7B0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A039F1-953F-4A39-846E-4A181A4AE2B1}" type="datetimeFigureOut">
              <a:rPr lang="en-GB" smtClean="0"/>
              <a:t>17/10/2026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04E9CEA-31CF-495F-BF82-1B4015A103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CEC68A0-EE84-4811-A17B-F2B5C41581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C2DA03-7716-40DA-A4AB-15144CA6739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7132259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E83A0D1-DFE6-4040-807F-A93930F021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A039F1-953F-4A39-846E-4A181A4AE2B1}" type="datetimeFigureOut">
              <a:rPr lang="en-GB" smtClean="0"/>
              <a:t>17/10/2026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85175EF-2BEA-46E1-8408-918366AC73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F215D81-516E-4FBF-B580-FFD158DF60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C2DA03-7716-40DA-A4AB-15144CA6739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0688163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C2555A-2F2B-4172-B1F4-AB4425A72D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D83D13-EE9C-4E69-A844-8F30111F364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A7D11B3-CD25-4C10-90FA-CDFC2010B19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EF23933-0DD6-4845-AC19-36722E8711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A039F1-953F-4A39-846E-4A181A4AE2B1}" type="datetimeFigureOut">
              <a:rPr lang="en-GB" smtClean="0"/>
              <a:t>17/10/2026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16B2963-B911-4CBA-9CE0-BA9B6C0CF7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79A3CC0-592A-49FC-87EC-1F3156F27C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C2DA03-7716-40DA-A4AB-15144CA6739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0811341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C85835-588D-4F39-814A-E404E353B9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0F9445E-A078-4E35-A97B-9EA7C9974A4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4AD55AA-1343-4DA0-A1A1-C8031518BA4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04BE6E0-6DE4-43F8-8D0C-02419D43CC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A039F1-953F-4A39-846E-4A181A4AE2B1}" type="datetimeFigureOut">
              <a:rPr lang="en-GB" smtClean="0"/>
              <a:t>17/10/2026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EBF1EF2-7817-4456-8AE3-85AA5F05D7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E30F326-DBF6-4284-ACAC-626F757942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C2DA03-7716-40DA-A4AB-15144CA6739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7013387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DC0DE9-F1A0-46B8-AFDA-AB87D705A1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74C441D-4127-4ED9-833F-CD2D839F522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503F0E1-708B-4A1D-8674-AF136F1A36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A039F1-953F-4A39-846E-4A181A4AE2B1}" type="datetimeFigureOut">
              <a:rPr lang="en-GB" smtClean="0"/>
              <a:t>17/10/2026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1A81D14-2BA8-4E09-BF3E-21B3C55D36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485FBFF-6587-4941-B27A-D8ACF8D52A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C2DA03-7716-40DA-A4AB-15144CA6739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4290006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5283187-306D-41AF-8D48-1F019C83236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3550706-0F3D-4D07-97D7-5B4C39D95A6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6505F43-656E-4D61-B3A3-E658893D43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A039F1-953F-4A39-846E-4A181A4AE2B1}" type="datetimeFigureOut">
              <a:rPr lang="en-GB" smtClean="0"/>
              <a:t>17/10/2026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7282740-B97C-41EF-A674-99F8FF9917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ACCC395-1B08-44ED-BE5A-AD0032621D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C2DA03-7716-40DA-A4AB-15144CA6739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063072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9A06B44-7335-44F0-B60B-F8039489CD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E8C67D6-82BB-4E0E-8D6F-ECCAFEC5453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2635D0A-85B9-4327-B0DD-1D2A4FC64E9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6A039F1-953F-4A39-846E-4A181A4AE2B1}" type="datetimeFigureOut">
              <a:rPr lang="en-GB" smtClean="0"/>
              <a:t>17/10/2026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CBA259C-4727-433D-9628-60CAD269560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05CC516-E88A-4038-AA89-4BF3F93C3B2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5C2DA03-7716-40DA-A4AB-15144CA67394}" type="slidenum">
              <a:rPr lang="en-GB" smtClean="0"/>
              <a:t>‹#›</a:t>
            </a:fld>
            <a:endParaRPr lang="en-GB"/>
          </a:p>
        </p:txBody>
      </p:sp>
      <p:sp>
        <p:nvSpPr>
          <p:cNvPr id="7" name="MSIPCMContentMarking" descr="{&quot;HashCode&quot;:269651335,&quot;Placement&quot;:&quot;Footer&quot;}">
            <a:extLst>
              <a:ext uri="{FF2B5EF4-FFF2-40B4-BE49-F238E27FC236}">
                <a16:creationId xmlns:a16="http://schemas.microsoft.com/office/drawing/2014/main" id="{64B23A5A-228F-4E95-8C6A-4486B3D720E7}"/>
              </a:ext>
            </a:extLst>
          </p:cNvPr>
          <p:cNvSpPr txBox="1"/>
          <p:nvPr userDrawn="1"/>
        </p:nvSpPr>
        <p:spPr>
          <a:xfrm>
            <a:off x="0" y="6595656"/>
            <a:ext cx="1283967" cy="262344"/>
          </a:xfrm>
          <a:prstGeom prst="rect">
            <a:avLst/>
          </a:prstGeom>
          <a:noFill/>
        </p:spPr>
        <p:txBody>
          <a:bodyPr vert="horz" wrap="square" lIns="0" tIns="0" rIns="0" bIns="0" rtlCol="0" anchor="ctr" anchorCtr="1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GB" sz="1000">
                <a:solidFill>
                  <a:srgbClr val="000000"/>
                </a:solidFill>
                <a:latin typeface="Calibri" panose="020F0502020204030204" pitchFamily="34" charset="0"/>
              </a:rPr>
              <a:t>Sensitivity: Internal</a:t>
            </a:r>
          </a:p>
        </p:txBody>
      </p:sp>
    </p:spTree>
    <p:extLst>
      <p:ext uri="{BB962C8B-B14F-4D97-AF65-F5344CB8AC3E}">
        <p14:creationId xmlns:p14="http://schemas.microsoft.com/office/powerpoint/2010/main" val="323187855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png"/><Relationship Id="rId2" Type="http://schemas.openxmlformats.org/officeDocument/2006/relationships/hyperlink" Target="https://www.desmos.com/calculator/qlrpn3qn0i" TargetMode="Externa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png"/><Relationship Id="rId5" Type="http://schemas.openxmlformats.org/officeDocument/2006/relationships/image" Target="../media/image70.png"/><Relationship Id="rId4" Type="http://schemas.openxmlformats.org/officeDocument/2006/relationships/image" Target="../media/image5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00.png"/><Relationship Id="rId4" Type="http://schemas.openxmlformats.org/officeDocument/2006/relationships/image" Target="../media/image90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10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71.png"/><Relationship Id="rId4" Type="http://schemas.openxmlformats.org/officeDocument/2006/relationships/image" Target="../media/image161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60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9.png"/><Relationship Id="rId4" Type="http://schemas.openxmlformats.org/officeDocument/2006/relationships/image" Target="../media/image180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20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70.png"/><Relationship Id="rId4" Type="http://schemas.openxmlformats.org/officeDocument/2006/relationships/image" Target="../media/image161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50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71.png"/><Relationship Id="rId4" Type="http://schemas.openxmlformats.org/officeDocument/2006/relationships/image" Target="../media/image161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70.png"/><Relationship Id="rId5" Type="http://schemas.openxmlformats.org/officeDocument/2006/relationships/image" Target="../media/image260.png"/><Relationship Id="rId4" Type="http://schemas.openxmlformats.org/officeDocument/2006/relationships/image" Target="../media/image250.png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0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2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33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5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image" Target="../media/image360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9.png"/><Relationship Id="rId4" Type="http://schemas.openxmlformats.org/officeDocument/2006/relationships/image" Target="../media/image38.png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scipy.org/doc/scipy/reference/generated/scipy.optimize.linprog.html" TargetMode="External"/><Relationship Id="rId2" Type="http://schemas.openxmlformats.org/officeDocument/2006/relationships/image" Target="../media/image41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4.png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85F331-FA4C-4E92-A9DC-B75BC327C4A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 dirty="0"/>
              <a:t>Linear Programming 1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8D97D86-8A1E-4C21-88F2-2ADD855AA1D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GB" dirty="0"/>
              <a:t>Dr Sam O’Neill</a:t>
            </a:r>
          </a:p>
        </p:txBody>
      </p:sp>
    </p:spTree>
    <p:extLst>
      <p:ext uri="{BB962C8B-B14F-4D97-AF65-F5344CB8AC3E}">
        <p14:creationId xmlns:p14="http://schemas.microsoft.com/office/powerpoint/2010/main" val="11077590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670DCA-349F-4E07-9481-BFF8779160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Contents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ED27342-B019-4230-BC68-60F4E0ADF16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Introductory Example </a:t>
            </a:r>
          </a:p>
          <a:p>
            <a:r>
              <a:rPr lang="en-GB" dirty="0"/>
              <a:t>Linear Programming Definition</a:t>
            </a:r>
          </a:p>
          <a:p>
            <a:r>
              <a:rPr lang="en-GB" dirty="0"/>
              <a:t>Optimality on vertex</a:t>
            </a:r>
          </a:p>
          <a:p>
            <a:r>
              <a:rPr lang="en-GB" dirty="0"/>
              <a:t>Python Solution using </a:t>
            </a:r>
            <a:r>
              <a:rPr lang="en-GB" dirty="0" err="1">
                <a:latin typeface="Courier New" panose="02070309020205020404" pitchFamily="49" charset="0"/>
                <a:cs typeface="Courier New" panose="02070309020205020404" pitchFamily="49" charset="0"/>
              </a:rPr>
              <a:t>linprog</a:t>
            </a:r>
            <a:endParaRPr lang="en-GB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GB" dirty="0"/>
              <a:t>Simplex Method – Graphical Illustration (Depending on time)</a:t>
            </a:r>
            <a:endParaRPr lang="en-GB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46447711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E593E6-3D2F-4C7E-80B2-F78D636A9E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06293"/>
          </a:xfrm>
        </p:spPr>
        <p:txBody>
          <a:bodyPr/>
          <a:lstStyle/>
          <a:p>
            <a:r>
              <a:rPr lang="en-GB" dirty="0"/>
              <a:t>Introductory Example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198A88B-52B3-469E-A512-B72752EB786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50109"/>
            <a:ext cx="10515600" cy="4726854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GB" dirty="0"/>
              <a:t>A firm manufactures two products (only) at their </a:t>
            </a:r>
            <a:r>
              <a:rPr lang="en-GB" dirty="0" err="1"/>
              <a:t>Beeham</a:t>
            </a:r>
            <a:r>
              <a:rPr lang="en-GB" dirty="0"/>
              <a:t> factory. Both products require the use of the GG74 machine.</a:t>
            </a:r>
          </a:p>
          <a:p>
            <a:endParaRPr lang="en-GB" dirty="0"/>
          </a:p>
          <a:p>
            <a:pPr marL="0" indent="0">
              <a:buNone/>
            </a:pPr>
            <a:r>
              <a:rPr lang="en-GB" dirty="0"/>
              <a:t>Product X requires 3 hours per unit at this machine</a:t>
            </a:r>
          </a:p>
          <a:p>
            <a:pPr marL="0" indent="0">
              <a:buNone/>
            </a:pPr>
            <a:r>
              <a:rPr lang="en-GB" dirty="0"/>
              <a:t>Product Y requires 2 hours per unit at this machine</a:t>
            </a:r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r>
              <a:rPr lang="en-GB" dirty="0"/>
              <a:t>In any week there are 144 hours of time available</a:t>
            </a:r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r>
              <a:rPr lang="en-GB" dirty="0"/>
              <a:t>Each unit of Product X gives a Contribution to Profit of £5, and</a:t>
            </a:r>
          </a:p>
          <a:p>
            <a:pPr marL="0" indent="0">
              <a:buNone/>
            </a:pPr>
            <a:r>
              <a:rPr lang="en-GB" dirty="0"/>
              <a:t>Each unit of Product Y gives a Contribution to Profit of £7.</a:t>
            </a:r>
          </a:p>
          <a:p>
            <a:pPr marL="0" indent="0">
              <a:buNone/>
            </a:pP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7371139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E593E6-3D2F-4C7E-80B2-F78D636A9E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06293"/>
          </a:xfrm>
        </p:spPr>
        <p:txBody>
          <a:bodyPr/>
          <a:lstStyle/>
          <a:p>
            <a:r>
              <a:rPr lang="en-GB" dirty="0"/>
              <a:t>Linear Programming Model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198A88B-52B3-469E-A512-B72752EB786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450109"/>
                <a:ext cx="10515600" cy="4726854"/>
              </a:xfrm>
            </p:spPr>
            <p:txBody>
              <a:bodyPr>
                <a:normAutofit fontScale="92500" lnSpcReduction="20000"/>
              </a:bodyPr>
              <a:lstStyle/>
              <a:p>
                <a:pPr marL="0" indent="0">
                  <a:buNone/>
                </a:pPr>
                <a:r>
                  <a:rPr lang="en-GB" u="sng" dirty="0"/>
                  <a:t>Constraints</a:t>
                </a:r>
              </a:p>
              <a:p>
                <a:pPr marL="0" indent="0">
                  <a:buNone/>
                </a:pPr>
                <a:endParaRPr lang="en-GB" u="sng" dirty="0"/>
              </a:p>
              <a:p>
                <a:pPr marL="0" indent="0">
                  <a:buNone/>
                </a:pPr>
                <a:r>
                  <a:rPr lang="en-GB" sz="2000" u="sng" dirty="0"/>
                  <a:t>Production Constraint</a:t>
                </a:r>
              </a:p>
              <a:p>
                <a:r>
                  <a:rPr lang="en-GB" sz="2000" dirty="0"/>
                  <a:t>Product X requires 3 hours per unit at this machine</a:t>
                </a:r>
              </a:p>
              <a:p>
                <a:r>
                  <a:rPr lang="en-GB" sz="2000" dirty="0"/>
                  <a:t>Product Y requires 2 hours per unit at this machine</a:t>
                </a:r>
              </a:p>
              <a:p>
                <a:r>
                  <a:rPr lang="en-GB" sz="2000" dirty="0"/>
                  <a:t>In any week there are 144 hours of time available</a:t>
                </a:r>
              </a:p>
              <a:p>
                <a:pPr marL="0" indent="0">
                  <a:buNone/>
                </a:pPr>
                <a:endParaRPr lang="en-GB" sz="2000" u="sng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3</m:t>
                      </m:r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+2</m:t>
                      </m:r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≤144</m:t>
                      </m:r>
                    </m:oMath>
                  </m:oMathPara>
                </a14:m>
                <a:endParaRPr lang="en-GB" sz="2000" u="sng" dirty="0"/>
              </a:p>
              <a:p>
                <a:pPr marL="0" indent="0">
                  <a:buNone/>
                </a:pPr>
                <a:r>
                  <a:rPr lang="en-GB" sz="2000" u="sng" dirty="0"/>
                  <a:t>Non-negativity</a:t>
                </a:r>
              </a:p>
              <a:p>
                <a:r>
                  <a:rPr lang="en-GB" sz="2000" dirty="0"/>
                  <a:t>It is not possible to manufacture a negative amount!</a:t>
                </a:r>
              </a:p>
              <a:p>
                <a:endParaRPr lang="en-GB" sz="20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≥0</m:t>
                      </m:r>
                    </m:oMath>
                    <m:oMath xmlns:m="http://schemas.openxmlformats.org/officeDocument/2006/math"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≥0</m:t>
                      </m:r>
                    </m:oMath>
                  </m:oMathPara>
                </a14:m>
                <a:endParaRPr lang="en-GB" b="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198A88B-52B3-469E-A512-B72752EB786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450109"/>
                <a:ext cx="10515600" cy="4726854"/>
              </a:xfrm>
              <a:blipFill>
                <a:blip r:embed="rId2"/>
                <a:stretch>
                  <a:fillRect l="-1043" t="-3226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7106648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E593E6-3D2F-4C7E-80B2-F78D636A9E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06293"/>
          </a:xfrm>
        </p:spPr>
        <p:txBody>
          <a:bodyPr/>
          <a:lstStyle/>
          <a:p>
            <a:r>
              <a:rPr lang="en-GB" dirty="0"/>
              <a:t>Linear Programming Model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198A88B-52B3-469E-A512-B72752EB786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50109"/>
            <a:ext cx="10515600" cy="472685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u="sng" dirty="0"/>
              <a:t>Feasible Region</a:t>
            </a:r>
          </a:p>
          <a:p>
            <a:pPr marL="0" indent="0">
              <a:buNone/>
            </a:pPr>
            <a:endParaRPr lang="en-GB" u="sng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33061F3-EE25-41A1-B07F-232271977D47}"/>
              </a:ext>
            </a:extLst>
          </p:cNvPr>
          <p:cNvSpPr txBox="1"/>
          <p:nvPr/>
        </p:nvSpPr>
        <p:spPr>
          <a:xfrm>
            <a:off x="6246091" y="1678868"/>
            <a:ext cx="5107709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400" dirty="0"/>
              <a:t>Any point within the feasible region is a solution to the system of inequalities.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E68F968E-8943-4A8B-9A31-C309B6C11DE0}"/>
                  </a:ext>
                </a:extLst>
              </p:cNvPr>
              <p:cNvSpPr/>
              <p:nvPr/>
            </p:nvSpPr>
            <p:spPr>
              <a:xfrm>
                <a:off x="6978977" y="2856420"/>
                <a:ext cx="4182359" cy="1200329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GB" sz="2400" i="1" smtClean="0">
                        <a:solidFill>
                          <a:srgbClr val="7030A0"/>
                        </a:solidFill>
                        <a:latin typeface="Cambria Math" panose="02040503050406030204" pitchFamily="18" charset="0"/>
                      </a:rPr>
                      <m:t>3</m:t>
                    </m:r>
                    <m:r>
                      <a:rPr lang="en-GB" sz="2400" i="1" smtClean="0">
                        <a:solidFill>
                          <a:srgbClr val="7030A0"/>
                        </a:solidFill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GB" sz="2400" i="1" smtClean="0">
                        <a:solidFill>
                          <a:srgbClr val="7030A0"/>
                        </a:solidFill>
                        <a:latin typeface="Cambria Math" panose="02040503050406030204" pitchFamily="18" charset="0"/>
                      </a:rPr>
                      <m:t>+2</m:t>
                    </m:r>
                    <m:r>
                      <a:rPr lang="en-GB" sz="2400" i="1" smtClean="0">
                        <a:solidFill>
                          <a:srgbClr val="7030A0"/>
                        </a:solidFill>
                        <a:latin typeface="Cambria Math" panose="02040503050406030204" pitchFamily="18" charset="0"/>
                      </a:rPr>
                      <m:t>𝑦</m:t>
                    </m:r>
                    <m:r>
                      <m:rPr>
                        <m:aln/>
                      </m:rPr>
                      <a:rPr lang="en-GB" sz="2400" i="1">
                        <a:solidFill>
                          <a:srgbClr val="7030A0"/>
                        </a:solidFill>
                        <a:latin typeface="Cambria Math" panose="02040503050406030204" pitchFamily="18" charset="0"/>
                      </a:rPr>
                      <m:t>≤</m:t>
                    </m:r>
                    <m:r>
                      <a:rPr lang="en-GB" sz="2400" i="1">
                        <a:solidFill>
                          <a:srgbClr val="7030A0"/>
                        </a:solidFill>
                        <a:latin typeface="Cambria Math" panose="02040503050406030204" pitchFamily="18" charset="0"/>
                      </a:rPr>
                      <m:t>144</m:t>
                    </m:r>
                  </m:oMath>
                </a14:m>
                <a:r>
                  <a:rPr lang="en-GB" sz="2400" i="1" dirty="0">
                    <a:solidFill>
                      <a:srgbClr val="7030A0"/>
                    </a:solidFill>
                    <a:latin typeface="Cambria Math" panose="02040503050406030204" pitchFamily="18" charset="0"/>
                  </a:rPr>
                  <a:t>       </a:t>
                </a:r>
                <a:r>
                  <a:rPr lang="en-GB" sz="2400" dirty="0">
                    <a:latin typeface="Calibri" panose="020F0502020204030204" pitchFamily="34" charset="0"/>
                    <a:cs typeface="Calibri" panose="020F0502020204030204" pitchFamily="34" charset="0"/>
                  </a:rPr>
                  <a:t>(Constraints)</a:t>
                </a:r>
                <a:endParaRPr lang="en-GB" sz="2400" i="1" dirty="0">
                  <a:solidFill>
                    <a:srgbClr val="7030A0"/>
                  </a:solidFill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GB" sz="2400" i="1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m:rPr>
                          <m:aln/>
                        </m:rPr>
                        <a:rPr lang="en-GB" sz="2400" i="1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≥</m:t>
                      </m:r>
                      <m:r>
                        <a:rPr lang="en-GB" sz="2400" i="1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</m:oMath>
                    <m:oMath xmlns:m="http://schemas.openxmlformats.org/officeDocument/2006/math">
                      <m:r>
                        <a:rPr lang="en-GB" sz="2400" i="1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𝑦</m:t>
                      </m:r>
                      <m:r>
                        <m:rPr>
                          <m:aln/>
                        </m:rPr>
                        <a:rPr lang="en-GB" sz="2400" i="1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≥</m:t>
                      </m:r>
                      <m:r>
                        <a:rPr lang="en-GB" sz="2400" i="1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GB" sz="2400" dirty="0"/>
              </a:p>
            </p:txBody>
          </p:sp>
        </mc:Choice>
        <mc:Fallback xmlns=""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E68F968E-8943-4A8B-9A31-C309B6C11DE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78977" y="2856420"/>
                <a:ext cx="4182359" cy="1200329"/>
              </a:xfrm>
              <a:prstGeom prst="rect">
                <a:avLst/>
              </a:prstGeom>
              <a:blipFill>
                <a:blip r:embed="rId2"/>
                <a:stretch>
                  <a:fillRect l="-437" t="-4082" r="-2187" b="-3571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9" name="Picture 8">
            <a:extLst>
              <a:ext uri="{FF2B5EF4-FFF2-40B4-BE49-F238E27FC236}">
                <a16:creationId xmlns:a16="http://schemas.microsoft.com/office/drawing/2014/main" id="{495539B8-8874-4FB3-9400-51BF0E34DC9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2094367"/>
            <a:ext cx="4182359" cy="4082596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5778C8C0-FC92-C1C1-0E55-A45D8C17C8BF}"/>
              </a:ext>
            </a:extLst>
          </p:cNvPr>
          <p:cNvSpPr txBox="1"/>
          <p:nvPr/>
        </p:nvSpPr>
        <p:spPr>
          <a:xfrm>
            <a:off x="1274324" y="2325199"/>
            <a:ext cx="30970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B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28C7031-9023-47AE-BAAD-C65337F626EC}"/>
              </a:ext>
            </a:extLst>
          </p:cNvPr>
          <p:cNvSpPr txBox="1"/>
          <p:nvPr/>
        </p:nvSpPr>
        <p:spPr>
          <a:xfrm>
            <a:off x="3336587" y="5407891"/>
            <a:ext cx="31771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A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F4C98BA3-91FF-92FA-10DA-2094F4D5D25E}"/>
                  </a:ext>
                </a:extLst>
              </p:cNvPr>
              <p:cNvSpPr txBox="1"/>
              <p:nvPr/>
            </p:nvSpPr>
            <p:spPr>
              <a:xfrm>
                <a:off x="6246091" y="4450401"/>
                <a:ext cx="5107709" cy="230832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GB" sz="2400" dirty="0"/>
                  <a:t>We can find the 3 points of intersection, O, A and B by solving the 3 pairs of simultaneous equations. E.g. for B…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3</m:t>
                      </m:r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+2</m:t>
                      </m:r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m:rPr>
                          <m:aln/>
                        </m:rPr>
                        <a:rPr lang="en-GB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144</m:t>
                      </m:r>
                    </m:oMath>
                    <m:oMath xmlns:m="http://schemas.openxmlformats.org/officeDocument/2006/math"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m:rPr>
                          <m:aln/>
                        </m:rPr>
                        <a:rPr lang="en-GB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GB" sz="2400" b="0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F4C98BA3-91FF-92FA-10DA-2094F4D5D25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46091" y="4450401"/>
                <a:ext cx="5107709" cy="2308324"/>
              </a:xfrm>
              <a:prstGeom prst="rect">
                <a:avLst/>
              </a:prstGeom>
              <a:blipFill>
                <a:blip r:embed="rId4"/>
                <a:stretch>
                  <a:fillRect l="-1909" t="-2111" r="-2625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TextBox 10">
            <a:extLst>
              <a:ext uri="{FF2B5EF4-FFF2-40B4-BE49-F238E27FC236}">
                <a16:creationId xmlns:a16="http://schemas.microsoft.com/office/drawing/2014/main" id="{56B00914-CF84-A57F-271D-A7CECD9B9546}"/>
              </a:ext>
            </a:extLst>
          </p:cNvPr>
          <p:cNvSpPr txBox="1"/>
          <p:nvPr/>
        </p:nvSpPr>
        <p:spPr>
          <a:xfrm>
            <a:off x="1266308" y="5717850"/>
            <a:ext cx="3369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O</a:t>
            </a:r>
          </a:p>
        </p:txBody>
      </p:sp>
    </p:spTree>
    <p:extLst>
      <p:ext uri="{BB962C8B-B14F-4D97-AF65-F5344CB8AC3E}">
        <p14:creationId xmlns:p14="http://schemas.microsoft.com/office/powerpoint/2010/main" val="140290276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E593E6-3D2F-4C7E-80B2-F78D636A9E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06293"/>
          </a:xfrm>
        </p:spPr>
        <p:txBody>
          <a:bodyPr/>
          <a:lstStyle/>
          <a:p>
            <a:r>
              <a:rPr lang="en-GB" dirty="0"/>
              <a:t>Linear Programming Model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198A88B-52B3-469E-A512-B72752EB786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450109"/>
                <a:ext cx="10515600" cy="4726854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GB" u="sng" dirty="0"/>
                  <a:t>Add an Objective</a:t>
                </a:r>
              </a:p>
              <a:p>
                <a:pPr marL="0" indent="0">
                  <a:buNone/>
                </a:pPr>
                <a:endParaRPr lang="en-GB" u="sng" dirty="0"/>
              </a:p>
              <a:p>
                <a:pPr marL="0" indent="0">
                  <a:buNone/>
                </a:pPr>
                <a:r>
                  <a:rPr lang="en-GB" dirty="0"/>
                  <a:t>Maximise the profit</a:t>
                </a:r>
              </a:p>
              <a:p>
                <a:pPr marL="0" indent="0">
                  <a:buNone/>
                </a:pPr>
                <a:endParaRPr lang="en-GB" u="sng" dirty="0"/>
              </a:p>
              <a:p>
                <a:pPr marL="0" indent="0">
                  <a:buNone/>
                </a:pPr>
                <a:r>
                  <a:rPr lang="en-GB" dirty="0"/>
                  <a:t>Each unit of Product X gives a Contribution to Profit of £5, and</a:t>
                </a:r>
              </a:p>
              <a:p>
                <a:pPr marL="0" indent="0">
                  <a:buNone/>
                </a:pPr>
                <a:r>
                  <a:rPr lang="en-GB" dirty="0"/>
                  <a:t>Each unit of Product Y gives a Contribution to Profit of £7.</a:t>
                </a:r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𝑃</m:t>
                      </m:r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=5</m:t>
                      </m:r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+7</m:t>
                      </m:r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𝑦</m:t>
                      </m:r>
                    </m:oMath>
                  </m:oMathPara>
                </a14:m>
                <a:endParaRPr lang="en-GB" b="0" i="1" u="sng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198A88B-52B3-469E-A512-B72752EB786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450109"/>
                <a:ext cx="10515600" cy="4726854"/>
              </a:xfrm>
              <a:blipFill>
                <a:blip r:embed="rId2"/>
                <a:stretch>
                  <a:fillRect l="-1217" t="-2194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0642116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E593E6-3D2F-4C7E-80B2-F78D636A9E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06293"/>
          </a:xfrm>
        </p:spPr>
        <p:txBody>
          <a:bodyPr/>
          <a:lstStyle/>
          <a:p>
            <a:r>
              <a:rPr lang="en-GB" dirty="0"/>
              <a:t>Linear Programming Model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76A814A8-E888-4D6C-B643-B3F94FB369E0}"/>
                  </a:ext>
                </a:extLst>
              </p:cNvPr>
              <p:cNvSpPr txBox="1"/>
              <p:nvPr/>
            </p:nvSpPr>
            <p:spPr>
              <a:xfrm>
                <a:off x="7001164" y="1699491"/>
                <a:ext cx="4655127" cy="369331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GB" dirty="0"/>
                  <a:t>Graphically </a:t>
                </a:r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𝑃</m:t>
                    </m:r>
                    <m:r>
                      <a:rPr lang="en-GB" b="0" i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5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+7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en-GB" dirty="0"/>
                  <a:t> is a straight line.</a:t>
                </a:r>
              </a:p>
              <a:p>
                <a:endParaRPr lang="en-GB" dirty="0"/>
              </a:p>
              <a:p>
                <a:r>
                  <a:rPr lang="en-GB" dirty="0"/>
                  <a:t>e.g. a Profit of </a:t>
                </a:r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𝑃</m:t>
                    </m:r>
                    <m:r>
                      <a:rPr lang="en-GB" b="0" i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200</m:t>
                    </m:r>
                  </m:oMath>
                </a14:m>
                <a:r>
                  <a:rPr lang="en-GB" dirty="0"/>
                  <a:t> is represented by </a:t>
                </a:r>
              </a:p>
              <a:p>
                <a:endParaRPr lang="en-GB" b="0" i="1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5</m:t>
                      </m:r>
                      <m:r>
                        <a:rPr lang="en-GB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+7</m:t>
                      </m:r>
                      <m:r>
                        <a:rPr lang="en-GB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GB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=200</m:t>
                      </m:r>
                    </m:oMath>
                  </m:oMathPara>
                </a14:m>
                <a:endParaRPr lang="en-GB" dirty="0">
                  <a:solidFill>
                    <a:srgbClr val="FF0000"/>
                  </a:solidFill>
                </a:endParaRPr>
              </a:p>
              <a:p>
                <a:endParaRPr lang="en-GB" dirty="0"/>
              </a:p>
              <a:p>
                <a:r>
                  <a:rPr lang="en-GB" dirty="0"/>
                  <a:t>Choose a point </a:t>
                </a:r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GB" dirty="0"/>
                  <a:t> in the feasible region so as to maximise </a:t>
                </a:r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𝑃</m:t>
                    </m:r>
                  </m:oMath>
                </a14:m>
                <a:endParaRPr lang="en-GB" dirty="0"/>
              </a:p>
              <a:p>
                <a:endParaRPr lang="en-GB" dirty="0"/>
              </a:p>
              <a:p>
                <a:r>
                  <a:rPr lang="en-GB" dirty="0"/>
                  <a:t>This is akin to moving the </a:t>
                </a:r>
                <a:r>
                  <a:rPr lang="en-GB" dirty="0">
                    <a:solidFill>
                      <a:srgbClr val="FF0000"/>
                    </a:solidFill>
                  </a:rPr>
                  <a:t>red</a:t>
                </a:r>
                <a:r>
                  <a:rPr lang="en-GB" dirty="0"/>
                  <a:t> profit line away from </a:t>
                </a:r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en-GB" dirty="0"/>
                  <a:t> as far as possible.</a:t>
                </a:r>
              </a:p>
              <a:p>
                <a:endParaRPr lang="en-GB" dirty="0"/>
              </a:p>
              <a:p>
                <a:r>
                  <a:rPr lang="en-GB" dirty="0">
                    <a:hlinkClick r:id="rId2"/>
                  </a:rPr>
                  <a:t>Interactive demo</a:t>
                </a:r>
                <a:endParaRPr lang="en-GB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76A814A8-E888-4D6C-B643-B3F94FB369E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01164" y="1699491"/>
                <a:ext cx="4655127" cy="3693319"/>
              </a:xfrm>
              <a:prstGeom prst="rect">
                <a:avLst/>
              </a:prstGeom>
              <a:blipFill>
                <a:blip r:embed="rId3"/>
                <a:stretch>
                  <a:fillRect l="-1047" t="-990" b="-1650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7" name="Picture 6">
            <a:extLst>
              <a:ext uri="{FF2B5EF4-FFF2-40B4-BE49-F238E27FC236}">
                <a16:creationId xmlns:a16="http://schemas.microsoft.com/office/drawing/2014/main" id="{FC6B4C6C-BC48-4F47-A337-3896608CE89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1187" y="1241977"/>
            <a:ext cx="5133975" cy="520065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4AE6DF81-581B-4134-847E-3564BF0FB3A3}"/>
                  </a:ext>
                </a:extLst>
              </p:cNvPr>
              <p:cNvSpPr/>
              <p:nvPr/>
            </p:nvSpPr>
            <p:spPr>
              <a:xfrm>
                <a:off x="2576579" y="3842302"/>
                <a:ext cx="1720086" cy="36933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i="1" smtClean="0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3</m:t>
                      </m:r>
                      <m:r>
                        <a:rPr lang="en-GB" i="1" smtClean="0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i="1" smtClean="0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+2</m:t>
                      </m:r>
                      <m:r>
                        <a:rPr lang="en-GB" i="1" smtClean="0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GB" i="1" smtClean="0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≤144</m:t>
                      </m:r>
                    </m:oMath>
                  </m:oMathPara>
                </a14:m>
                <a:endParaRPr lang="en-GB" sz="1400" u="sng" dirty="0">
                  <a:solidFill>
                    <a:srgbClr val="7030A0"/>
                  </a:solidFill>
                </a:endParaRPr>
              </a:p>
            </p:txBody>
          </p:sp>
        </mc:Choice>
        <mc:Fallback xmlns=""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4AE6DF81-581B-4134-847E-3564BF0FB3A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76579" y="3842302"/>
                <a:ext cx="1720086" cy="369332"/>
              </a:xfrm>
              <a:prstGeom prst="rect">
                <a:avLst/>
              </a:prstGeom>
              <a:blipFill>
                <a:blip r:embed="rId5"/>
                <a:stretch>
                  <a:fillRect b="-11475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3C89716E-8B72-4BCA-B7C7-C49FB975C097}"/>
                  </a:ext>
                </a:extLst>
              </p:cNvPr>
              <p:cNvSpPr/>
              <p:nvPr/>
            </p:nvSpPr>
            <p:spPr>
              <a:xfrm>
                <a:off x="1724500" y="4992344"/>
                <a:ext cx="1483675" cy="36933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𝑃</m:t>
                      </m:r>
                      <m:r>
                        <a:rPr lang="en-GB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=5</m:t>
                      </m:r>
                      <m:r>
                        <a:rPr lang="en-GB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+7</m:t>
                      </m:r>
                      <m:r>
                        <a:rPr lang="en-GB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𝑦</m:t>
                      </m:r>
                    </m:oMath>
                  </m:oMathPara>
                </a14:m>
                <a:endParaRPr lang="en-GB" i="1" u="sng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3C89716E-8B72-4BCA-B7C7-C49FB975C09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24500" y="4992344"/>
                <a:ext cx="1483675" cy="369332"/>
              </a:xfrm>
              <a:prstGeom prst="rect">
                <a:avLst/>
              </a:prstGeom>
              <a:blipFill>
                <a:blip r:embed="rId6"/>
                <a:stretch>
                  <a:fillRect b="-11475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6457021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E593E6-3D2F-4C7E-80B2-F78D636A9E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06293"/>
          </a:xfrm>
        </p:spPr>
        <p:txBody>
          <a:bodyPr/>
          <a:lstStyle/>
          <a:p>
            <a:r>
              <a:rPr lang="en-GB" dirty="0"/>
              <a:t>Linear Programming Model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76A814A8-E888-4D6C-B643-B3F94FB369E0}"/>
                  </a:ext>
                </a:extLst>
              </p:cNvPr>
              <p:cNvSpPr txBox="1"/>
              <p:nvPr/>
            </p:nvSpPr>
            <p:spPr>
              <a:xfrm>
                <a:off x="6140182" y="1192731"/>
                <a:ext cx="5451322" cy="594226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GB" dirty="0"/>
                  <a:t>At A:	 </a:t>
                </a:r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=48</m:t>
                    </m:r>
                  </m:oMath>
                </a14:m>
                <a:r>
                  <a:rPr lang="en-GB" dirty="0"/>
                  <a:t>, </a:t>
                </a:r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GB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en-GB" dirty="0"/>
                  <a:t>,	</a:t>
                </a:r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𝑃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=240</m:t>
                    </m:r>
                  </m:oMath>
                </a14:m>
                <a:endParaRPr lang="en-GB" b="0" dirty="0"/>
              </a:p>
              <a:p>
                <a:endParaRPr lang="en-GB" dirty="0"/>
              </a:p>
              <a:p>
                <a:r>
                  <a:rPr lang="en-GB" dirty="0"/>
                  <a:t>At B:	 </a:t>
                </a:r>
                <a14:m>
                  <m:oMath xmlns:m="http://schemas.openxmlformats.org/officeDocument/2006/math">
                    <m:r>
                      <a:rPr lang="en-GB" i="1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GB" i="1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en-GB" dirty="0"/>
                  <a:t>, </a:t>
                </a:r>
                <a14:m>
                  <m:oMath xmlns:m="http://schemas.openxmlformats.org/officeDocument/2006/math">
                    <m:r>
                      <a:rPr lang="en-GB" i="1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GB" i="1">
                        <a:latin typeface="Cambria Math" panose="02040503050406030204" pitchFamily="18" charset="0"/>
                      </a:rPr>
                      <m:t>=72</m:t>
                    </m:r>
                  </m:oMath>
                </a14:m>
                <a:r>
                  <a:rPr lang="en-GB" dirty="0"/>
                  <a:t>,	</a:t>
                </a:r>
                <a14:m>
                  <m:oMath xmlns:m="http://schemas.openxmlformats.org/officeDocument/2006/math">
                    <m:r>
                      <a:rPr lang="en-GB" i="1">
                        <a:latin typeface="Cambria Math" panose="02040503050406030204" pitchFamily="18" charset="0"/>
                      </a:rPr>
                      <m:t>𝑃</m:t>
                    </m:r>
                    <m:r>
                      <a:rPr lang="en-GB" i="1">
                        <a:latin typeface="Cambria Math" panose="02040503050406030204" pitchFamily="18" charset="0"/>
                      </a:rPr>
                      <m:t>=504</m:t>
                    </m:r>
                  </m:oMath>
                </a14:m>
                <a:endParaRPr lang="en-GB" dirty="0"/>
              </a:p>
              <a:p>
                <a:endParaRPr lang="en-GB" dirty="0"/>
              </a:p>
              <a:p>
                <a:r>
                  <a:rPr lang="en-GB" dirty="0"/>
                  <a:t>At C:	 </a:t>
                </a:r>
                <a14:m>
                  <m:oMath xmlns:m="http://schemas.openxmlformats.org/officeDocument/2006/math">
                    <m:r>
                      <a:rPr lang="en-GB" i="1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GB" i="1">
                        <a:latin typeface="Cambria Math" panose="02040503050406030204" pitchFamily="18" charset="0"/>
                      </a:rPr>
                      <m:t>=20</m:t>
                    </m:r>
                  </m:oMath>
                </a14:m>
                <a:r>
                  <a:rPr lang="en-GB" dirty="0"/>
                  <a:t>, </a:t>
                </a:r>
                <a14:m>
                  <m:oMath xmlns:m="http://schemas.openxmlformats.org/officeDocument/2006/math">
                    <m:r>
                      <a:rPr lang="en-GB" i="1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GB" i="1">
                        <a:latin typeface="Cambria Math" panose="02040503050406030204" pitchFamily="18" charset="0"/>
                      </a:rPr>
                      <m:t>=42</m:t>
                    </m:r>
                  </m:oMath>
                </a14:m>
                <a:r>
                  <a:rPr lang="en-GB" dirty="0"/>
                  <a:t>,	</a:t>
                </a:r>
                <a14:m>
                  <m:oMath xmlns:m="http://schemas.openxmlformats.org/officeDocument/2006/math">
                    <m:r>
                      <a:rPr lang="en-GB" i="1">
                        <a:latin typeface="Cambria Math" panose="02040503050406030204" pitchFamily="18" charset="0"/>
                      </a:rPr>
                      <m:t>𝑃</m:t>
                    </m:r>
                    <m:r>
                      <a:rPr lang="en-GB" i="1">
                        <a:latin typeface="Cambria Math" panose="02040503050406030204" pitchFamily="18" charset="0"/>
                      </a:rPr>
                      <m:t>=394</m:t>
                    </m:r>
                  </m:oMath>
                </a14:m>
                <a:endParaRPr lang="en-GB" dirty="0"/>
              </a:p>
              <a:p>
                <a:endParaRPr lang="en-GB" dirty="0"/>
              </a:p>
              <a:p>
                <a:r>
                  <a:rPr lang="en-GB" dirty="0"/>
                  <a:t>Because the functions are Linear the </a:t>
                </a:r>
                <a:r>
                  <a:rPr lang="en-GB" b="1" dirty="0"/>
                  <a:t>Profit</a:t>
                </a:r>
                <a:r>
                  <a:rPr lang="en-GB" dirty="0"/>
                  <a:t> rises along AB from A to B.</a:t>
                </a:r>
              </a:p>
              <a:p>
                <a:endParaRPr lang="en-GB" dirty="0"/>
              </a:p>
              <a:p>
                <a:r>
                  <a:rPr lang="en-GB" dirty="0"/>
                  <a:t>Algebraically: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b="0" i="1" smtClean="0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GB" b="0" i="1" smtClean="0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GB" b="0" i="1" smtClean="0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b="0" i="1" smtClean="0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</a:rPr>
                            <m:t>144−3</m:t>
                          </m:r>
                          <m:r>
                            <a:rPr lang="en-GB" b="0" i="1" smtClean="0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num>
                        <m:den>
                          <m:r>
                            <a:rPr lang="en-GB" b="0" i="1" smtClean="0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</m:oMath>
                  </m:oMathPara>
                </a14:m>
                <a:endParaRPr lang="en-GB" dirty="0">
                  <a:solidFill>
                    <a:srgbClr val="7030A0"/>
                  </a:solidFill>
                </a:endParaRPr>
              </a:p>
              <a:p>
                <a:endParaRPr lang="en-GB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𝑃</m:t>
                      </m:r>
                      <m:r>
                        <a:rPr lang="en-GB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=5</m:t>
                      </m:r>
                      <m:r>
                        <a:rPr lang="en-GB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+7</m:t>
                      </m:r>
                      <m:d>
                        <m:dPr>
                          <m:ctrlPr>
                            <a:rPr lang="en-GB" b="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GB" i="1" smtClean="0">
                                  <a:solidFill>
                                    <a:srgbClr val="7030A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GB" i="1">
                                  <a:solidFill>
                                    <a:srgbClr val="7030A0"/>
                                  </a:solidFill>
                                  <a:latin typeface="Cambria Math" panose="02040503050406030204" pitchFamily="18" charset="0"/>
                                </a:rPr>
                                <m:t>144−3</m:t>
                              </m:r>
                              <m:r>
                                <a:rPr lang="en-GB" i="1">
                                  <a:solidFill>
                                    <a:srgbClr val="7030A0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num>
                            <m:den>
                              <m:r>
                                <a:rPr lang="en-GB" i="1">
                                  <a:solidFill>
                                    <a:srgbClr val="7030A0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den>
                          </m:f>
                        </m:e>
                      </m:d>
                    </m:oMath>
                    <m:oMath xmlns:m="http://schemas.openxmlformats.org/officeDocument/2006/math"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=−5.5</m:t>
                      </m:r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+504</m:t>
                      </m:r>
                    </m:oMath>
                  </m:oMathPara>
                </a14:m>
                <a:endParaRPr lang="en-GB" i="1" u="sng" dirty="0"/>
              </a:p>
              <a:p>
                <a:endParaRPr lang="en-GB" i="1" u="sng" dirty="0"/>
              </a:p>
              <a:p>
                <a:r>
                  <a:rPr lang="en-GB" dirty="0"/>
                  <a:t>We are allowed values of </a:t>
                </a:r>
                <a14:m>
                  <m:oMath xmlns:m="http://schemas.openxmlformats.org/officeDocument/2006/math">
                    <m:r>
                      <a:rPr lang="en-GB" b="0" i="0" smtClean="0">
                        <a:latin typeface="Cambria Math" panose="02040503050406030204" pitchFamily="18" charset="0"/>
                      </a:rPr>
                      <m:t>0≤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≤48</m:t>
                    </m:r>
                  </m:oMath>
                </a14:m>
                <a:r>
                  <a:rPr lang="en-GB" dirty="0"/>
                  <a:t>, hence the maximum </a:t>
                </a:r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𝑃</m:t>
                    </m:r>
                  </m:oMath>
                </a14:m>
                <a:r>
                  <a:rPr lang="en-GB" dirty="0"/>
                  <a:t> is at </a:t>
                </a:r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en-GB" dirty="0"/>
                  <a:t>. Point B!</a:t>
                </a:r>
              </a:p>
              <a:p>
                <a:endParaRPr lang="en-GB" dirty="0"/>
              </a:p>
              <a:p>
                <a:endParaRPr lang="en-GB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76A814A8-E888-4D6C-B643-B3F94FB369E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40182" y="1192731"/>
                <a:ext cx="5451322" cy="5942268"/>
              </a:xfrm>
              <a:prstGeom prst="rect">
                <a:avLst/>
              </a:prstGeom>
              <a:blipFill>
                <a:blip r:embed="rId2"/>
                <a:stretch>
                  <a:fillRect l="-895" t="-616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8" name="Picture 7">
            <a:extLst>
              <a:ext uri="{FF2B5EF4-FFF2-40B4-BE49-F238E27FC236}">
                <a16:creationId xmlns:a16="http://schemas.microsoft.com/office/drawing/2014/main" id="{DFB26386-6584-4A5F-B276-32553412847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2159" y="1270552"/>
            <a:ext cx="5210175" cy="514350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88B7901A-018B-4562-9756-7A3D30B14AC7}"/>
                  </a:ext>
                </a:extLst>
              </p:cNvPr>
              <p:cNvSpPr/>
              <p:nvPr/>
            </p:nvSpPr>
            <p:spPr>
              <a:xfrm>
                <a:off x="2576579" y="3842302"/>
                <a:ext cx="1720086" cy="36933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i="1" smtClean="0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3</m:t>
                      </m:r>
                      <m:r>
                        <a:rPr lang="en-GB" i="1" smtClean="0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i="1" smtClean="0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+2</m:t>
                      </m:r>
                      <m:r>
                        <a:rPr lang="en-GB" i="1" smtClean="0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GB" i="1" smtClean="0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≤144</m:t>
                      </m:r>
                    </m:oMath>
                  </m:oMathPara>
                </a14:m>
                <a:endParaRPr lang="en-GB" sz="1400" u="sng" dirty="0">
                  <a:solidFill>
                    <a:srgbClr val="7030A0"/>
                  </a:solidFill>
                </a:endParaRPr>
              </a:p>
            </p:txBody>
          </p:sp>
        </mc:Choice>
        <mc:Fallback xmlns=""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88B7901A-018B-4562-9756-7A3D30B14AC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76579" y="3842302"/>
                <a:ext cx="1720086" cy="369332"/>
              </a:xfrm>
              <a:prstGeom prst="rect">
                <a:avLst/>
              </a:prstGeom>
              <a:blipFill>
                <a:blip r:embed="rId4"/>
                <a:stretch>
                  <a:fillRect b="-11475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AD2DD9C1-EC50-4A92-8C77-1580FD638DBA}"/>
                  </a:ext>
                </a:extLst>
              </p:cNvPr>
              <p:cNvSpPr/>
              <p:nvPr/>
            </p:nvSpPr>
            <p:spPr>
              <a:xfrm>
                <a:off x="1724500" y="4992344"/>
                <a:ext cx="1483675" cy="36933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𝑃</m:t>
                      </m:r>
                      <m:r>
                        <a:rPr lang="en-GB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=5</m:t>
                      </m:r>
                      <m:r>
                        <a:rPr lang="en-GB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+7</m:t>
                      </m:r>
                      <m:r>
                        <a:rPr lang="en-GB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𝑦</m:t>
                      </m:r>
                    </m:oMath>
                  </m:oMathPara>
                </a14:m>
                <a:endParaRPr lang="en-GB" i="1" u="sng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AD2DD9C1-EC50-4A92-8C77-1580FD638DB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24500" y="4992344"/>
                <a:ext cx="1483675" cy="369332"/>
              </a:xfrm>
              <a:prstGeom prst="rect">
                <a:avLst/>
              </a:prstGeom>
              <a:blipFill>
                <a:blip r:embed="rId5"/>
                <a:stretch>
                  <a:fillRect b="-11475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3171253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E593E6-3D2F-4C7E-80B2-F78D636A9E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06293"/>
          </a:xfrm>
        </p:spPr>
        <p:txBody>
          <a:bodyPr/>
          <a:lstStyle/>
          <a:p>
            <a:r>
              <a:rPr lang="en-GB" dirty="0"/>
              <a:t>Linear Programming Model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198A88B-52B3-469E-A512-B72752EB786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450109"/>
                <a:ext cx="10515600" cy="4726854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GB" dirty="0"/>
                  <a:t>Our linear programming model can be written as follows</a:t>
                </a:r>
              </a:p>
              <a:p>
                <a:pPr marL="0" indent="0">
                  <a:buNone/>
                </a:pPr>
                <a:r>
                  <a:rPr lang="en-GB" dirty="0"/>
                  <a:t>		maximise 		</a:t>
                </a:r>
                <a14:m>
                  <m:oMath xmlns:m="http://schemas.openxmlformats.org/officeDocument/2006/math">
                    <m:r>
                      <a:rPr lang="en-GB" b="0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𝑃</m:t>
                    </m:r>
                    <m:r>
                      <a:rPr lang="en-GB" b="0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=5</m:t>
                    </m:r>
                    <m:r>
                      <a:rPr lang="en-GB" b="0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GB" b="0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+7</m:t>
                    </m:r>
                    <m:r>
                      <a:rPr lang="en-GB" b="0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en-GB" b="0" dirty="0">
                    <a:solidFill>
                      <a:srgbClr val="FF0000"/>
                    </a:solidFill>
                  </a:rPr>
                  <a:t> </a:t>
                </a:r>
                <a:r>
                  <a:rPr lang="en-GB" b="0" dirty="0"/>
                  <a:t>         (Objective)</a:t>
                </a:r>
              </a:p>
              <a:p>
                <a:pPr marL="0" indent="0">
                  <a:buNone/>
                </a:pPr>
                <a:r>
                  <a:rPr lang="en-GB" b="0" dirty="0"/>
                  <a:t>		subject to:	</a:t>
                </a:r>
              </a:p>
              <a:p>
                <a:pPr marL="0" indent="0">
                  <a:buNone/>
                </a:pPr>
                <a:r>
                  <a:rPr lang="en-GB" b="0" dirty="0">
                    <a:solidFill>
                      <a:srgbClr val="7030A0"/>
                    </a:solidFill>
                  </a:rPr>
                  <a:t>					</a:t>
                </a:r>
                <a14:m>
                  <m:oMath xmlns:m="http://schemas.openxmlformats.org/officeDocument/2006/math">
                    <m:r>
                      <a:rPr lang="en-GB" b="0" i="1" smtClean="0">
                        <a:solidFill>
                          <a:srgbClr val="7030A0"/>
                        </a:solidFill>
                        <a:latin typeface="Cambria Math" panose="02040503050406030204" pitchFamily="18" charset="0"/>
                      </a:rPr>
                      <m:t>3</m:t>
                    </m:r>
                    <m:r>
                      <a:rPr lang="en-GB" b="0" i="1" smtClean="0">
                        <a:solidFill>
                          <a:srgbClr val="7030A0"/>
                        </a:solidFill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GB" b="0" i="1" smtClean="0">
                        <a:solidFill>
                          <a:srgbClr val="7030A0"/>
                        </a:solidFill>
                        <a:latin typeface="Cambria Math" panose="02040503050406030204" pitchFamily="18" charset="0"/>
                      </a:rPr>
                      <m:t>+2</m:t>
                    </m:r>
                    <m:r>
                      <a:rPr lang="en-GB" b="0" i="1" smtClean="0">
                        <a:solidFill>
                          <a:srgbClr val="7030A0"/>
                        </a:solidFill>
                        <a:latin typeface="Cambria Math" panose="02040503050406030204" pitchFamily="18" charset="0"/>
                      </a:rPr>
                      <m:t>𝑦</m:t>
                    </m:r>
                    <m:r>
                      <m:rPr>
                        <m:aln/>
                      </m:rPr>
                      <a:rPr lang="en-GB" b="0" i="1" smtClean="0">
                        <a:solidFill>
                          <a:srgbClr val="7030A0"/>
                        </a:solidFill>
                        <a:latin typeface="Cambria Math" panose="02040503050406030204" pitchFamily="18" charset="0"/>
                      </a:rPr>
                      <m:t>≤</m:t>
                    </m:r>
                    <m:r>
                      <a:rPr lang="en-GB" b="0" i="1" smtClean="0">
                        <a:solidFill>
                          <a:srgbClr val="7030A0"/>
                        </a:solidFill>
                        <a:latin typeface="Cambria Math" panose="02040503050406030204" pitchFamily="18" charset="0"/>
                      </a:rPr>
                      <m:t>144</m:t>
                    </m:r>
                  </m:oMath>
                </a14:m>
                <a:r>
                  <a:rPr lang="en-GB" b="0" i="1" dirty="0">
                    <a:solidFill>
                      <a:srgbClr val="7030A0"/>
                    </a:solidFill>
                    <a:latin typeface="Cambria Math" panose="02040503050406030204" pitchFamily="18" charset="0"/>
                  </a:rPr>
                  <a:t>       </a:t>
                </a:r>
                <a:r>
                  <a:rPr lang="en-GB" dirty="0">
                    <a:latin typeface="Calibri" panose="020F0502020204030204" pitchFamily="34" charset="0"/>
                    <a:cs typeface="Calibri" panose="020F0502020204030204" pitchFamily="34" charset="0"/>
                  </a:rPr>
                  <a:t>(Constraints)</a:t>
                </a:r>
                <a:br>
                  <a:rPr lang="en-GB" b="0" i="1" dirty="0">
                    <a:solidFill>
                      <a:srgbClr val="7030A0"/>
                    </a:solidFill>
                    <a:latin typeface="Cambria Math" panose="02040503050406030204" pitchFamily="18" charset="0"/>
                  </a:rPr>
                </a:b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b="0" i="1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m:rPr>
                          <m:aln/>
                        </m:rPr>
                        <a:rPr lang="en-GB" b="0" i="1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≥</m:t>
                      </m:r>
                      <m:r>
                        <a:rPr lang="en-GB" b="0" i="1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</m:oMath>
                    <m:oMath xmlns:m="http://schemas.openxmlformats.org/officeDocument/2006/math">
                      <m:r>
                        <a:rPr lang="en-GB" b="0" i="1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𝑦</m:t>
                      </m:r>
                      <m:r>
                        <m:rPr>
                          <m:aln/>
                        </m:rPr>
                        <a:rPr lang="en-GB" b="0" i="1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≥</m:t>
                      </m:r>
                      <m:r>
                        <a:rPr lang="en-GB" b="0" i="1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GB" sz="2000" u="sng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198A88B-52B3-469E-A512-B72752EB786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450109"/>
                <a:ext cx="10515600" cy="4726854"/>
              </a:xfrm>
              <a:blipFill>
                <a:blip r:embed="rId2"/>
                <a:stretch>
                  <a:fillRect l="-1217" t="-2194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4">
            <a:extLst>
              <a:ext uri="{FF2B5EF4-FFF2-40B4-BE49-F238E27FC236}">
                <a16:creationId xmlns:a16="http://schemas.microsoft.com/office/drawing/2014/main" id="{4FF93827-FBA7-4A44-B014-BFA6209991A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2599" y="3055192"/>
            <a:ext cx="3317744" cy="33608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2642564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E593E6-3D2F-4C7E-80B2-F78D636A9E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06293"/>
          </a:xfrm>
        </p:spPr>
        <p:txBody>
          <a:bodyPr/>
          <a:lstStyle/>
          <a:p>
            <a:r>
              <a:rPr lang="en-GB" dirty="0"/>
              <a:t>Observations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198A88B-52B3-469E-A512-B72752EB786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50109"/>
            <a:ext cx="10515600" cy="4726854"/>
          </a:xfrm>
        </p:spPr>
        <p:txBody>
          <a:bodyPr>
            <a:normAutofit/>
          </a:bodyPr>
          <a:lstStyle/>
          <a:p>
            <a:r>
              <a:rPr lang="en-GB" b="0" dirty="0"/>
              <a:t>We had 1 constraint and 2 variables. </a:t>
            </a:r>
          </a:p>
          <a:p>
            <a:pPr lvl="1"/>
            <a:r>
              <a:rPr lang="en-GB" dirty="0"/>
              <a:t>The optimal solution had one variable set to 0…</a:t>
            </a:r>
          </a:p>
          <a:p>
            <a:pPr lvl="1"/>
            <a:endParaRPr lang="en-GB" dirty="0"/>
          </a:p>
          <a:p>
            <a:r>
              <a:rPr lang="en-GB" dirty="0"/>
              <a:t>The solution was at a vertex (corner of the feasible region)</a:t>
            </a:r>
          </a:p>
          <a:p>
            <a:endParaRPr lang="en-GB" dirty="0"/>
          </a:p>
          <a:p>
            <a:r>
              <a:rPr lang="en-GB" dirty="0"/>
              <a:t>Intuitively we are moving the objective function (linear equation) over the feasible region until we exit.</a:t>
            </a:r>
          </a:p>
          <a:p>
            <a:endParaRPr lang="en-GB" b="0" dirty="0"/>
          </a:p>
        </p:txBody>
      </p:sp>
      <p:pic>
        <p:nvPicPr>
          <p:cNvPr id="1026" name="Picture 2" descr="Image result for linear programming 3d plane feasible region">
            <a:extLst>
              <a:ext uri="{FF2B5EF4-FFF2-40B4-BE49-F238E27FC236}">
                <a16:creationId xmlns:a16="http://schemas.microsoft.com/office/drawing/2014/main" id="{94840CCC-94AA-4B6B-A539-96059BED5FB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16200000">
            <a:off x="7089612" y="4233811"/>
            <a:ext cx="2542500" cy="24748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7452805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E593E6-3D2F-4C7E-80B2-F78D636A9E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06293"/>
          </a:xfrm>
        </p:spPr>
        <p:txBody>
          <a:bodyPr/>
          <a:lstStyle/>
          <a:p>
            <a:r>
              <a:rPr lang="en-GB" dirty="0"/>
              <a:t>Is it a suitable solution?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198A88B-52B3-469E-A512-B72752EB786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450109"/>
                <a:ext cx="10515600" cy="4726854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GB" dirty="0"/>
                  <a:t>QUESTION:	Is this solution acceptable/workable for this Factory?</a:t>
                </a:r>
              </a:p>
              <a:p>
                <a:endParaRPr lang="en-GB" dirty="0"/>
              </a:p>
              <a:p>
                <a:pPr marL="0" indent="0">
                  <a:buNone/>
                </a:pPr>
                <a:r>
                  <a:rPr lang="en-GB" dirty="0"/>
                  <a:t>If not revisit the formulation. </a:t>
                </a:r>
              </a:p>
              <a:p>
                <a:endParaRPr lang="en-GB" dirty="0"/>
              </a:p>
              <a:p>
                <a:pPr marL="0" indent="0">
                  <a:buNone/>
                </a:pPr>
                <a:r>
                  <a:rPr lang="en-GB" dirty="0"/>
                  <a:t>For example, should the number of </a:t>
                </a:r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GB" dirty="0"/>
                  <a:t> produced be related to the number of </a:t>
                </a:r>
                <a14:m>
                  <m:oMath xmlns:m="http://schemas.openxmlformats.org/officeDocument/2006/math">
                    <m:r>
                      <a:rPr lang="en-GB" b="0" i="1" dirty="0" smtClean="0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en-GB" dirty="0"/>
                  <a:t> produced?</a:t>
                </a:r>
              </a:p>
              <a:p>
                <a:endParaRPr lang="en-GB" dirty="0"/>
              </a:p>
              <a:p>
                <a:pPr marL="0" indent="0">
                  <a:buNone/>
                </a:pPr>
                <a:r>
                  <a:rPr lang="en-GB" dirty="0"/>
                  <a:t>(Chairs </a:t>
                </a:r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GB" dirty="0"/>
                  <a:t> and Tables </a:t>
                </a:r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en-GB" dirty="0"/>
                  <a:t>) – Perhaps through experience the manager knows that tables will not sell on their own.</a:t>
                </a:r>
              </a:p>
              <a:p>
                <a:pPr marL="0" indent="0">
                  <a:buNone/>
                </a:pPr>
                <a:endParaRPr lang="en-GB" b="0" i="1" u="sng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198A88B-52B3-469E-A512-B72752EB786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450109"/>
                <a:ext cx="10515600" cy="4726854"/>
              </a:xfrm>
              <a:blipFill>
                <a:blip r:embed="rId2"/>
                <a:stretch>
                  <a:fillRect l="-1217" t="-2194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138553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E593E6-3D2F-4C7E-80B2-F78D636A9E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06293"/>
          </a:xfrm>
        </p:spPr>
        <p:txBody>
          <a:bodyPr/>
          <a:lstStyle/>
          <a:p>
            <a:r>
              <a:rPr lang="en-GB" dirty="0"/>
              <a:t>Is it a suitable solution?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198A88B-52B3-469E-A512-B72752EB786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450109"/>
                <a:ext cx="4648200" cy="4726854"/>
              </a:xfrm>
            </p:spPr>
            <p:txBody>
              <a:bodyPr>
                <a:normAutofit fontScale="70000" lnSpcReduction="20000"/>
              </a:bodyPr>
              <a:lstStyle/>
              <a:p>
                <a:pPr marL="0" indent="0">
                  <a:buNone/>
                </a:pPr>
                <a:r>
                  <a:rPr lang="en-GB" dirty="0"/>
                  <a:t>Introduce the constraint</a:t>
                </a:r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b="0" i="1" smtClean="0">
                          <a:solidFill>
                            <a:schemeClr val="accent2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b="0" i="1" smtClean="0">
                          <a:solidFill>
                            <a:schemeClr val="accent2"/>
                          </a:solidFill>
                          <a:latin typeface="Cambria Math" panose="02040503050406030204" pitchFamily="18" charset="0"/>
                        </a:rPr>
                        <m:t>≥4</m:t>
                      </m:r>
                      <m:r>
                        <a:rPr lang="en-GB" b="0" i="1" smtClean="0">
                          <a:solidFill>
                            <a:schemeClr val="accent2"/>
                          </a:solidFill>
                          <a:latin typeface="Cambria Math" panose="02040503050406030204" pitchFamily="18" charset="0"/>
                        </a:rPr>
                        <m:t>𝑦</m:t>
                      </m:r>
                    </m:oMath>
                  </m:oMathPara>
                </a14:m>
                <a:endParaRPr lang="en-GB" dirty="0">
                  <a:solidFill>
                    <a:schemeClr val="accent2"/>
                  </a:solidFill>
                </a:endParaRPr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:r>
                  <a:rPr lang="en-GB" dirty="0"/>
                  <a:t>i.e. make at least 4 chairs for each table</a:t>
                </a:r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:r>
                  <a:rPr lang="en-GB" dirty="0"/>
                  <a:t>Our profit </a:t>
                </a:r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𝑃</m:t>
                    </m:r>
                  </m:oMath>
                </a14:m>
                <a:r>
                  <a:rPr lang="en-GB" dirty="0"/>
                  <a:t> will now be maximised at B.</a:t>
                </a:r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d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41.14,10.29</m:t>
                          </m:r>
                        </m:e>
                      </m:d>
                    </m:oMath>
                  </m:oMathPara>
                </a14:m>
                <a:endParaRPr lang="en-GB" b="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𝑃</m:t>
                      </m:r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=£277.71</m:t>
                      </m:r>
                    </m:oMath>
                  </m:oMathPara>
                </a14:m>
                <a:endParaRPr lang="en-GB" b="0" dirty="0"/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:r>
                  <a:rPr lang="en-GB" dirty="0"/>
                  <a:t>Note: We now have 2 binding constraints and the 2 variables are both non-zero (i.e. used)</a:t>
                </a:r>
              </a:p>
              <a:p>
                <a:pPr marL="0" indent="0">
                  <a:buNone/>
                </a:pPr>
                <a:endParaRPr lang="en-GB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198A88B-52B3-469E-A512-B72752EB786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450109"/>
                <a:ext cx="4648200" cy="4726854"/>
              </a:xfrm>
              <a:blipFill>
                <a:blip r:embed="rId2"/>
                <a:stretch>
                  <a:fillRect l="-1444" t="-2452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3">
            <a:extLst>
              <a:ext uri="{FF2B5EF4-FFF2-40B4-BE49-F238E27FC236}">
                <a16:creationId xmlns:a16="http://schemas.microsoft.com/office/drawing/2014/main" id="{CDEAF5B8-CE06-4EDB-804B-BEEF53EBFA6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2103" y="1071418"/>
            <a:ext cx="5191125" cy="521970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6C2799E9-B5AB-49F8-AD30-F9DC0AA4644F}"/>
                  </a:ext>
                </a:extLst>
              </p:cNvPr>
              <p:cNvSpPr/>
              <p:nvPr/>
            </p:nvSpPr>
            <p:spPr>
              <a:xfrm>
                <a:off x="7978138" y="3311936"/>
                <a:ext cx="1720086" cy="36933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i="1" smtClean="0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3</m:t>
                      </m:r>
                      <m:r>
                        <a:rPr lang="en-GB" i="1" smtClean="0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i="1" smtClean="0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+2</m:t>
                      </m:r>
                      <m:r>
                        <a:rPr lang="en-GB" i="1" smtClean="0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GB" i="1" smtClean="0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≤144</m:t>
                      </m:r>
                    </m:oMath>
                  </m:oMathPara>
                </a14:m>
                <a:endParaRPr lang="en-GB" sz="1400" u="sng" dirty="0">
                  <a:solidFill>
                    <a:srgbClr val="7030A0"/>
                  </a:solidFill>
                </a:endParaRPr>
              </a:p>
            </p:txBody>
          </p:sp>
        </mc:Choice>
        <mc:Fallback xmlns=""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6C2799E9-B5AB-49F8-AD30-F9DC0AA4644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78138" y="3311936"/>
                <a:ext cx="1720086" cy="369332"/>
              </a:xfrm>
              <a:prstGeom prst="rect">
                <a:avLst/>
              </a:prstGeom>
              <a:blipFill>
                <a:blip r:embed="rId4"/>
                <a:stretch>
                  <a:fillRect b="-11475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F6DAD27D-7569-4A12-AE4D-0402A701ED66}"/>
                  </a:ext>
                </a:extLst>
              </p:cNvPr>
              <p:cNvSpPr/>
              <p:nvPr/>
            </p:nvSpPr>
            <p:spPr>
              <a:xfrm>
                <a:off x="10527874" y="4251039"/>
                <a:ext cx="931409" cy="36933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i="1">
                          <a:solidFill>
                            <a:schemeClr val="accent2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i="1">
                          <a:solidFill>
                            <a:schemeClr val="accent2"/>
                          </a:solidFill>
                          <a:latin typeface="Cambria Math" panose="02040503050406030204" pitchFamily="18" charset="0"/>
                        </a:rPr>
                        <m:t>≥4</m:t>
                      </m:r>
                      <m:r>
                        <a:rPr lang="en-GB" i="1">
                          <a:solidFill>
                            <a:schemeClr val="accent2"/>
                          </a:solidFill>
                          <a:latin typeface="Cambria Math" panose="02040503050406030204" pitchFamily="18" charset="0"/>
                        </a:rPr>
                        <m:t>𝑦</m:t>
                      </m:r>
                    </m:oMath>
                  </m:oMathPara>
                </a14:m>
                <a:endParaRPr lang="en-GB" dirty="0">
                  <a:solidFill>
                    <a:schemeClr val="accent2"/>
                  </a:solidFill>
                </a:endParaRPr>
              </a:p>
            </p:txBody>
          </p:sp>
        </mc:Choice>
        <mc:Fallback xmlns=""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F6DAD27D-7569-4A12-AE4D-0402A701ED6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527874" y="4251039"/>
                <a:ext cx="931409" cy="369332"/>
              </a:xfrm>
              <a:prstGeom prst="rect">
                <a:avLst/>
              </a:prstGeom>
              <a:blipFill>
                <a:blip r:embed="rId5"/>
                <a:stretch>
                  <a:fillRect b="-11475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4039340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6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E593E6-3D2F-4C7E-80B2-F78D636A9E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06293"/>
          </a:xfrm>
        </p:spPr>
        <p:txBody>
          <a:bodyPr/>
          <a:lstStyle/>
          <a:p>
            <a:r>
              <a:rPr lang="en-GB" dirty="0"/>
              <a:t>Linear Programming Model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198A88B-52B3-469E-A512-B72752EB786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450109"/>
                <a:ext cx="10515600" cy="4726854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GB" dirty="0"/>
                  <a:t>Our linear programming model can be written as follows</a:t>
                </a:r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:r>
                  <a:rPr lang="en-GB" dirty="0"/>
                  <a:t>maximise 		</a:t>
                </a:r>
                <a14:m>
                  <m:oMath xmlns:m="http://schemas.openxmlformats.org/officeDocument/2006/math">
                    <m:r>
                      <a:rPr lang="en-GB" b="0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𝑃</m:t>
                    </m:r>
                    <m:r>
                      <a:rPr lang="en-GB" b="0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=5</m:t>
                    </m:r>
                    <m:r>
                      <a:rPr lang="en-GB" b="0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GB" b="0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+7</m:t>
                    </m:r>
                    <m:r>
                      <a:rPr lang="en-GB" b="0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endParaRPr lang="en-GB" b="0" dirty="0"/>
              </a:p>
              <a:p>
                <a:pPr marL="0" indent="0">
                  <a:buNone/>
                </a:pPr>
                <a:r>
                  <a:rPr lang="en-GB" b="0" dirty="0"/>
                  <a:t>subject to:	</a:t>
                </a:r>
              </a:p>
              <a:p>
                <a:pPr marL="0" indent="0">
                  <a:buNone/>
                </a:pPr>
                <a:r>
                  <a:rPr lang="en-GB" dirty="0">
                    <a:solidFill>
                      <a:srgbClr val="7030A0"/>
                    </a:solidFill>
                  </a:rPr>
                  <a:t>			</a:t>
                </a:r>
                <a14:m>
                  <m:oMath xmlns:m="http://schemas.openxmlformats.org/officeDocument/2006/math">
                    <m:r>
                      <a:rPr lang="en-GB" b="0" i="1" smtClean="0">
                        <a:solidFill>
                          <a:srgbClr val="7030A0"/>
                        </a:solidFill>
                        <a:latin typeface="Cambria Math" panose="02040503050406030204" pitchFamily="18" charset="0"/>
                      </a:rPr>
                      <m:t>3</m:t>
                    </m:r>
                    <m:r>
                      <a:rPr lang="en-GB" b="0" i="1" smtClean="0">
                        <a:solidFill>
                          <a:srgbClr val="7030A0"/>
                        </a:solidFill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GB" b="0" i="1" smtClean="0">
                        <a:solidFill>
                          <a:srgbClr val="7030A0"/>
                        </a:solidFill>
                        <a:latin typeface="Cambria Math" panose="02040503050406030204" pitchFamily="18" charset="0"/>
                      </a:rPr>
                      <m:t>+2</m:t>
                    </m:r>
                    <m:r>
                      <a:rPr lang="en-GB" b="0" i="1" smtClean="0">
                        <a:solidFill>
                          <a:srgbClr val="7030A0"/>
                        </a:solidFill>
                        <a:latin typeface="Cambria Math" panose="02040503050406030204" pitchFamily="18" charset="0"/>
                      </a:rPr>
                      <m:t>𝑦</m:t>
                    </m:r>
                    <m:r>
                      <m:rPr>
                        <m:aln/>
                      </m:rPr>
                      <a:rPr lang="en-GB" b="0" i="1" smtClean="0">
                        <a:solidFill>
                          <a:srgbClr val="7030A0"/>
                        </a:solidFill>
                        <a:latin typeface="Cambria Math" panose="02040503050406030204" pitchFamily="18" charset="0"/>
                      </a:rPr>
                      <m:t>≤</m:t>
                    </m:r>
                    <m:r>
                      <a:rPr lang="en-GB" b="0" i="1" smtClean="0">
                        <a:solidFill>
                          <a:srgbClr val="7030A0"/>
                        </a:solidFill>
                        <a:latin typeface="Cambria Math" panose="02040503050406030204" pitchFamily="18" charset="0"/>
                      </a:rPr>
                      <m:t>144</m:t>
                    </m:r>
                  </m:oMath>
                </a14:m>
                <a:r>
                  <a:rPr lang="en-GB" b="0" i="1" dirty="0">
                    <a:solidFill>
                      <a:srgbClr val="7030A0"/>
                    </a:solidFill>
                    <a:latin typeface="Cambria Math" panose="02040503050406030204" pitchFamily="18" charset="0"/>
                  </a:rPr>
                  <a:t>    </a:t>
                </a:r>
                <a:r>
                  <a:rPr lang="en-GB" b="0" dirty="0">
                    <a:solidFill>
                      <a:srgbClr val="7030A0"/>
                    </a:solidFill>
                    <a:latin typeface="Calibri" panose="020F0502020204030204" pitchFamily="34" charset="0"/>
                    <a:cs typeface="Calibri" panose="020F0502020204030204" pitchFamily="34" charset="0"/>
                  </a:rPr>
                  <a:t>(C1)</a:t>
                </a:r>
                <a:br>
                  <a:rPr lang="en-GB" b="0" i="1" dirty="0">
                    <a:solidFill>
                      <a:srgbClr val="7030A0"/>
                    </a:solidFill>
                    <a:latin typeface="Cambria Math" panose="02040503050406030204" pitchFamily="18" charset="0"/>
                  </a:rPr>
                </a:br>
                <a:r>
                  <a:rPr lang="en-GB" b="0" i="1" dirty="0">
                    <a:solidFill>
                      <a:srgbClr val="7030A0"/>
                    </a:solidFill>
                    <a:latin typeface="Cambria Math" panose="02040503050406030204" pitchFamily="18" charset="0"/>
                  </a:rPr>
                  <a:t>				  </a:t>
                </a:r>
                <a14:m>
                  <m:oMath xmlns:m="http://schemas.openxmlformats.org/officeDocument/2006/math">
                    <m:r>
                      <a:rPr lang="en-GB" b="0" i="1" smtClean="0">
                        <a:solidFill>
                          <a:schemeClr val="accent2"/>
                        </a:solidFill>
                        <a:latin typeface="Cambria Math" panose="02040503050406030204" pitchFamily="18" charset="0"/>
                      </a:rPr>
                      <m:t>𝑥</m:t>
                    </m:r>
                    <m:r>
                      <m:rPr>
                        <m:aln/>
                      </m:rPr>
                      <a:rPr lang="en-GB" b="0" i="1" smtClean="0">
                        <a:solidFill>
                          <a:schemeClr val="accent2"/>
                        </a:solidFill>
                        <a:latin typeface="Cambria Math" panose="02040503050406030204" pitchFamily="18" charset="0"/>
                      </a:rPr>
                      <m:t>≥</m:t>
                    </m:r>
                    <m:r>
                      <a:rPr lang="en-GB" b="0" i="1" smtClean="0">
                        <a:solidFill>
                          <a:schemeClr val="accent2"/>
                        </a:solidFill>
                        <a:latin typeface="Cambria Math" panose="02040503050406030204" pitchFamily="18" charset="0"/>
                      </a:rPr>
                      <m:t>4</m:t>
                    </m:r>
                    <m:r>
                      <a:rPr lang="en-GB" b="0" i="1" smtClean="0">
                        <a:solidFill>
                          <a:schemeClr val="accent2"/>
                        </a:solidFill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en-GB" b="0" i="1" dirty="0">
                    <a:solidFill>
                      <a:srgbClr val="7030A0"/>
                    </a:solidFill>
                    <a:latin typeface="Cambria Math" panose="02040503050406030204" pitchFamily="18" charset="0"/>
                  </a:rPr>
                  <a:t>      </a:t>
                </a:r>
                <a:r>
                  <a:rPr lang="en-GB" b="0" dirty="0">
                    <a:solidFill>
                      <a:schemeClr val="accent2"/>
                    </a:solidFill>
                    <a:latin typeface="Calibri" panose="020F0502020204030204" pitchFamily="34" charset="0"/>
                    <a:cs typeface="Calibri" panose="020F0502020204030204" pitchFamily="34" charset="0"/>
                  </a:rPr>
                  <a:t>(C2)</a:t>
                </a:r>
                <a:endParaRPr lang="en-GB" i="1" dirty="0">
                  <a:solidFill>
                    <a:srgbClr val="7030A0"/>
                  </a:solidFill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r>
                  <a:rPr lang="en-GB" b="0" i="1" dirty="0">
                    <a:solidFill>
                      <a:srgbClr val="7030A0"/>
                    </a:solidFill>
                    <a:latin typeface="Cambria Math" panose="02040503050406030204" pitchFamily="18" charset="0"/>
                  </a:rPr>
                  <a:t>				  </a:t>
                </a:r>
                <a14:m>
                  <m:oMath xmlns:m="http://schemas.openxmlformats.org/officeDocument/2006/math">
                    <m:r>
                      <a:rPr lang="en-GB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𝑥</m:t>
                    </m:r>
                    <m:r>
                      <m:rPr>
                        <m:aln/>
                      </m:rPr>
                      <a:rPr lang="en-GB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≥</m:t>
                    </m:r>
                    <m:r>
                      <a:rPr lang="en-GB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br>
                  <a:rPr lang="en-GB" b="0" i="1" dirty="0">
                    <a:solidFill>
                      <a:schemeClr val="accent1"/>
                    </a:solidFill>
                    <a:latin typeface="Cambria Math" panose="02040503050406030204" pitchFamily="18" charset="0"/>
                  </a:rPr>
                </a:br>
                <a:r>
                  <a:rPr lang="en-GB" b="0" i="1" dirty="0">
                    <a:solidFill>
                      <a:schemeClr val="accent1"/>
                    </a:solidFill>
                    <a:latin typeface="Cambria Math" panose="02040503050406030204" pitchFamily="18" charset="0"/>
                  </a:rPr>
                  <a:t>				  </a:t>
                </a:r>
                <a14:m>
                  <m:oMath xmlns:m="http://schemas.openxmlformats.org/officeDocument/2006/math">
                    <m:r>
                      <a:rPr lang="en-GB" b="0" i="1" smtClean="0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𝑦</m:t>
                    </m:r>
                    <m:r>
                      <m:rPr>
                        <m:aln/>
                      </m:rPr>
                      <a:rPr lang="en-GB" b="0" i="1" smtClean="0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≥</m:t>
                    </m:r>
                    <m:r>
                      <a:rPr lang="en-GB" b="0" i="1" smtClean="0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endParaRPr lang="en-GB" sz="2000" u="sng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198A88B-52B3-469E-A512-B72752EB786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450109"/>
                <a:ext cx="10515600" cy="4726854"/>
              </a:xfrm>
              <a:blipFill>
                <a:blip r:embed="rId2"/>
                <a:stretch>
                  <a:fillRect l="-1217" t="-2194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Picture 5">
            <a:extLst>
              <a:ext uri="{FF2B5EF4-FFF2-40B4-BE49-F238E27FC236}">
                <a16:creationId xmlns:a16="http://schemas.microsoft.com/office/drawing/2014/main" id="{98FA7403-1380-4581-AF6F-CBE721F7F29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33527" y="2390107"/>
            <a:ext cx="3766125" cy="3786856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F66419CF-2662-4058-AE78-8CB171B5F0E5}"/>
                  </a:ext>
                </a:extLst>
              </p:cNvPr>
              <p:cNvSpPr/>
              <p:nvPr/>
            </p:nvSpPr>
            <p:spPr>
              <a:xfrm>
                <a:off x="8930246" y="3813536"/>
                <a:ext cx="1720086" cy="36933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i="1" smtClean="0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3</m:t>
                      </m:r>
                      <m:r>
                        <a:rPr lang="en-GB" i="1" smtClean="0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i="1" smtClean="0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+2</m:t>
                      </m:r>
                      <m:r>
                        <a:rPr lang="en-GB" i="1" smtClean="0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GB" i="1" smtClean="0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≤144</m:t>
                      </m:r>
                    </m:oMath>
                  </m:oMathPara>
                </a14:m>
                <a:endParaRPr lang="en-GB" sz="1400" u="sng" dirty="0">
                  <a:solidFill>
                    <a:srgbClr val="7030A0"/>
                  </a:solidFill>
                </a:endParaRPr>
              </a:p>
            </p:txBody>
          </p:sp>
        </mc:Choice>
        <mc:Fallback xmlns=""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F66419CF-2662-4058-AE78-8CB171B5F0E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30246" y="3813536"/>
                <a:ext cx="1720086" cy="369332"/>
              </a:xfrm>
              <a:prstGeom prst="rect">
                <a:avLst/>
              </a:prstGeom>
              <a:blipFill>
                <a:blip r:embed="rId4"/>
                <a:stretch>
                  <a:fillRect b="-13333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8E72B60A-52F1-4C7F-B137-3EA8E8DB66AA}"/>
                  </a:ext>
                </a:extLst>
              </p:cNvPr>
              <p:cNvSpPr/>
              <p:nvPr/>
            </p:nvSpPr>
            <p:spPr>
              <a:xfrm>
                <a:off x="10744690" y="4618684"/>
                <a:ext cx="931409" cy="36933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i="1">
                          <a:solidFill>
                            <a:schemeClr val="accent2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i="1">
                          <a:solidFill>
                            <a:schemeClr val="accent2"/>
                          </a:solidFill>
                          <a:latin typeface="Cambria Math" panose="02040503050406030204" pitchFamily="18" charset="0"/>
                        </a:rPr>
                        <m:t>≥4</m:t>
                      </m:r>
                      <m:r>
                        <a:rPr lang="en-GB" i="1">
                          <a:solidFill>
                            <a:schemeClr val="accent2"/>
                          </a:solidFill>
                          <a:latin typeface="Cambria Math" panose="02040503050406030204" pitchFamily="18" charset="0"/>
                        </a:rPr>
                        <m:t>𝑦</m:t>
                      </m:r>
                    </m:oMath>
                  </m:oMathPara>
                </a14:m>
                <a:endParaRPr lang="en-GB" dirty="0">
                  <a:solidFill>
                    <a:schemeClr val="accent2"/>
                  </a:solidFill>
                </a:endParaRPr>
              </a:p>
            </p:txBody>
          </p:sp>
        </mc:Choice>
        <mc:Fallback xmlns=""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8E72B60A-52F1-4C7F-B137-3EA8E8DB66A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744690" y="4618684"/>
                <a:ext cx="931409" cy="369332"/>
              </a:xfrm>
              <a:prstGeom prst="rect">
                <a:avLst/>
              </a:prstGeom>
              <a:blipFill>
                <a:blip r:embed="rId5"/>
                <a:stretch>
                  <a:fillRect b="-13333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67426104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E593E6-3D2F-4C7E-80B2-F78D636A9E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06293"/>
          </a:xfrm>
        </p:spPr>
        <p:txBody>
          <a:bodyPr/>
          <a:lstStyle/>
          <a:p>
            <a:r>
              <a:rPr lang="en-GB" dirty="0"/>
              <a:t>Binding Constraints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198A88B-52B3-469E-A512-B72752EB786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450109"/>
                <a:ext cx="4648200" cy="4726854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GB" dirty="0"/>
                  <a:t>At </a:t>
                </a:r>
                <a:r>
                  <a:rPr lang="en-GB" b="1" dirty="0"/>
                  <a:t>A</a:t>
                </a:r>
                <a:r>
                  <a:rPr lang="en-GB" dirty="0"/>
                  <a:t>, </a:t>
                </a:r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=48</m:t>
                    </m:r>
                  </m:oMath>
                </a14:m>
                <a:r>
                  <a:rPr lang="en-GB" dirty="0"/>
                  <a:t>, </a:t>
                </a:r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endParaRPr lang="en-GB" dirty="0"/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i="1" smtClean="0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3</m:t>
                      </m:r>
                      <m:r>
                        <a:rPr lang="en-GB" i="1" smtClean="0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i="1" smtClean="0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+2</m:t>
                      </m:r>
                      <m:r>
                        <a:rPr lang="en-GB" i="1" smtClean="0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GB" b="0" i="1" smtClean="0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=144</m:t>
                      </m:r>
                    </m:oMath>
                  </m:oMathPara>
                </a14:m>
                <a:endParaRPr lang="en-GB" b="0" dirty="0">
                  <a:solidFill>
                    <a:srgbClr val="7030A0"/>
                  </a:solidFill>
                </a:endParaRPr>
              </a:p>
              <a:p>
                <a:pPr marL="0" indent="0">
                  <a:buNone/>
                </a:pPr>
                <a:endParaRPr lang="en-GB" b="0" dirty="0">
                  <a:solidFill>
                    <a:schemeClr val="tx1"/>
                  </a:solidFill>
                </a:endParaRPr>
              </a:p>
              <a:p>
                <a:pPr marL="0" indent="0">
                  <a:buNone/>
                </a:pPr>
                <a:r>
                  <a:rPr lang="en-GB" dirty="0">
                    <a:solidFill>
                      <a:schemeClr val="tx1"/>
                    </a:solidFill>
                  </a:rPr>
                  <a:t>Thus constraint </a:t>
                </a:r>
                <a:r>
                  <a:rPr lang="en-GB" dirty="0">
                    <a:solidFill>
                      <a:srgbClr val="7030A0"/>
                    </a:solidFill>
                  </a:rPr>
                  <a:t>(C1)</a:t>
                </a:r>
                <a:r>
                  <a:rPr lang="en-GB" dirty="0">
                    <a:solidFill>
                      <a:schemeClr val="tx1"/>
                    </a:solidFill>
                  </a:rPr>
                  <a:t> is binding</a:t>
                </a:r>
              </a:p>
              <a:p>
                <a:pPr marL="0" indent="0">
                  <a:buNone/>
                </a:pPr>
                <a:endParaRPr lang="en-GB" dirty="0">
                  <a:solidFill>
                    <a:schemeClr val="tx1"/>
                  </a:solidFill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b="0" i="1" smtClean="0">
                          <a:solidFill>
                            <a:schemeClr val="accent2"/>
                          </a:solidFill>
                          <a:latin typeface="Cambria Math" panose="02040503050406030204" pitchFamily="18" charset="0"/>
                        </a:rPr>
                        <m:t>48≥4⋅0</m:t>
                      </m:r>
                    </m:oMath>
                  </m:oMathPara>
                </a14:m>
                <a:endParaRPr lang="en-GB" dirty="0">
                  <a:solidFill>
                    <a:schemeClr val="accent2"/>
                  </a:solidFill>
                </a:endParaRPr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:r>
                  <a:rPr lang="en-GB" dirty="0"/>
                  <a:t>And constraint </a:t>
                </a:r>
                <a:r>
                  <a:rPr lang="en-GB" dirty="0">
                    <a:solidFill>
                      <a:schemeClr val="accent2"/>
                    </a:solidFill>
                  </a:rPr>
                  <a:t>(C2)</a:t>
                </a:r>
                <a:r>
                  <a:rPr lang="en-GB" dirty="0"/>
                  <a:t> is not binding</a:t>
                </a:r>
                <a:endParaRPr lang="en-GB" dirty="0">
                  <a:solidFill>
                    <a:schemeClr val="tx1"/>
                  </a:solidFill>
                </a:endParaRPr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:endParaRPr lang="en-GB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198A88B-52B3-469E-A512-B72752EB786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450109"/>
                <a:ext cx="4648200" cy="4726854"/>
              </a:xfrm>
              <a:blipFill>
                <a:blip r:embed="rId2"/>
                <a:stretch>
                  <a:fillRect l="-2756" t="-2194" b="-3097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3">
            <a:extLst>
              <a:ext uri="{FF2B5EF4-FFF2-40B4-BE49-F238E27FC236}">
                <a16:creationId xmlns:a16="http://schemas.microsoft.com/office/drawing/2014/main" id="{C90B2404-EF5F-4E7E-A589-C460D579E90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05602" y="1071418"/>
            <a:ext cx="5191125" cy="521970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C2C9539E-4A3A-4074-9746-834B24F57C46}"/>
                  </a:ext>
                </a:extLst>
              </p:cNvPr>
              <p:cNvSpPr/>
              <p:nvPr/>
            </p:nvSpPr>
            <p:spPr>
              <a:xfrm>
                <a:off x="7978138" y="3311936"/>
                <a:ext cx="1720086" cy="36933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i="1" smtClean="0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3</m:t>
                      </m:r>
                      <m:r>
                        <a:rPr lang="en-GB" i="1" smtClean="0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i="1" smtClean="0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+2</m:t>
                      </m:r>
                      <m:r>
                        <a:rPr lang="en-GB" i="1" smtClean="0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GB" i="1" smtClean="0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≤144</m:t>
                      </m:r>
                    </m:oMath>
                  </m:oMathPara>
                </a14:m>
                <a:endParaRPr lang="en-GB" sz="1400" u="sng" dirty="0">
                  <a:solidFill>
                    <a:srgbClr val="7030A0"/>
                  </a:solidFill>
                </a:endParaRPr>
              </a:p>
            </p:txBody>
          </p:sp>
        </mc:Choice>
        <mc:Fallback xmlns=""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C2C9539E-4A3A-4074-9746-834B24F57C4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78138" y="3311936"/>
                <a:ext cx="1720086" cy="369332"/>
              </a:xfrm>
              <a:prstGeom prst="rect">
                <a:avLst/>
              </a:prstGeom>
              <a:blipFill>
                <a:blip r:embed="rId4"/>
                <a:stretch>
                  <a:fillRect b="-11475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933F84F1-36F8-43D9-A2D5-4C0EB86D552B}"/>
                  </a:ext>
                </a:extLst>
              </p:cNvPr>
              <p:cNvSpPr/>
              <p:nvPr/>
            </p:nvSpPr>
            <p:spPr>
              <a:xfrm>
                <a:off x="10527874" y="4251039"/>
                <a:ext cx="931409" cy="36933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i="1">
                          <a:solidFill>
                            <a:schemeClr val="accent2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i="1">
                          <a:solidFill>
                            <a:schemeClr val="accent2"/>
                          </a:solidFill>
                          <a:latin typeface="Cambria Math" panose="02040503050406030204" pitchFamily="18" charset="0"/>
                        </a:rPr>
                        <m:t>≥4</m:t>
                      </m:r>
                      <m:r>
                        <a:rPr lang="en-GB" i="1">
                          <a:solidFill>
                            <a:schemeClr val="accent2"/>
                          </a:solidFill>
                          <a:latin typeface="Cambria Math" panose="02040503050406030204" pitchFamily="18" charset="0"/>
                        </a:rPr>
                        <m:t>𝑦</m:t>
                      </m:r>
                    </m:oMath>
                  </m:oMathPara>
                </a14:m>
                <a:endParaRPr lang="en-GB" dirty="0">
                  <a:solidFill>
                    <a:schemeClr val="accent2"/>
                  </a:solidFill>
                </a:endParaRPr>
              </a:p>
            </p:txBody>
          </p:sp>
        </mc:Choice>
        <mc:Fallback xmlns=""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933F84F1-36F8-43D9-A2D5-4C0EB86D552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527874" y="4251039"/>
                <a:ext cx="931409" cy="369332"/>
              </a:xfrm>
              <a:prstGeom prst="rect">
                <a:avLst/>
              </a:prstGeom>
              <a:blipFill>
                <a:blip r:embed="rId5"/>
                <a:stretch>
                  <a:fillRect b="-11475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177696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E593E6-3D2F-4C7E-80B2-F78D636A9E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06293"/>
          </a:xfrm>
        </p:spPr>
        <p:txBody>
          <a:bodyPr/>
          <a:lstStyle/>
          <a:p>
            <a:r>
              <a:rPr lang="en-GB" dirty="0"/>
              <a:t>Binding Constraints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198A88B-52B3-469E-A512-B72752EB786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450109"/>
                <a:ext cx="4648200" cy="4726854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GB" dirty="0"/>
                  <a:t>At </a:t>
                </a:r>
                <a:r>
                  <a:rPr lang="en-GB" b="1" dirty="0"/>
                  <a:t>B</a:t>
                </a:r>
                <a:r>
                  <a:rPr lang="en-GB" dirty="0"/>
                  <a:t>, </a:t>
                </a:r>
                <a14:m>
                  <m:oMath xmlns:m="http://schemas.openxmlformats.org/officeDocument/2006/math">
                    <m:r>
                      <a:rPr lang="en-GB" i="1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GB" i="1">
                        <a:latin typeface="Cambria Math" panose="02040503050406030204" pitchFamily="18" charset="0"/>
                      </a:rPr>
                      <m:t>=41.14</m:t>
                    </m:r>
                  </m:oMath>
                </a14:m>
                <a:r>
                  <a:rPr lang="en-GB" dirty="0"/>
                  <a:t>, </a:t>
                </a:r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=10.29</m:t>
                    </m:r>
                  </m:oMath>
                </a14:m>
                <a:endParaRPr lang="en-GB" dirty="0"/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i="1" smtClean="0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3</m:t>
                      </m:r>
                      <m:r>
                        <a:rPr lang="en-GB" i="1" smtClean="0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i="1" smtClean="0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+2</m:t>
                      </m:r>
                      <m:r>
                        <a:rPr lang="en-GB" i="1" smtClean="0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GB" b="0" i="1" smtClean="0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=144</m:t>
                      </m:r>
                    </m:oMath>
                  </m:oMathPara>
                </a14:m>
                <a:endParaRPr lang="en-GB" b="0" dirty="0">
                  <a:solidFill>
                    <a:srgbClr val="7030A0"/>
                  </a:solidFill>
                </a:endParaRPr>
              </a:p>
              <a:p>
                <a:pPr marL="0" indent="0">
                  <a:buNone/>
                </a:pPr>
                <a:endParaRPr lang="en-GB" b="0" dirty="0">
                  <a:solidFill>
                    <a:schemeClr val="tx1"/>
                  </a:solidFill>
                </a:endParaRPr>
              </a:p>
              <a:p>
                <a:pPr marL="0" indent="0">
                  <a:buNone/>
                </a:pPr>
                <a:r>
                  <a:rPr lang="en-GB" dirty="0">
                    <a:solidFill>
                      <a:schemeClr val="tx1"/>
                    </a:solidFill>
                  </a:rPr>
                  <a:t>Thus constraint </a:t>
                </a:r>
                <a:r>
                  <a:rPr lang="en-GB" dirty="0">
                    <a:solidFill>
                      <a:srgbClr val="7030A0"/>
                    </a:solidFill>
                  </a:rPr>
                  <a:t>(C1) </a:t>
                </a:r>
                <a:r>
                  <a:rPr lang="en-GB" dirty="0">
                    <a:solidFill>
                      <a:schemeClr val="tx1"/>
                    </a:solidFill>
                  </a:rPr>
                  <a:t>is binding</a:t>
                </a:r>
              </a:p>
              <a:p>
                <a:pPr marL="0" indent="0">
                  <a:buNone/>
                </a:pPr>
                <a:endParaRPr lang="en-GB" dirty="0">
                  <a:solidFill>
                    <a:schemeClr val="tx1"/>
                  </a:solidFill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i="1" smtClean="0">
                          <a:solidFill>
                            <a:schemeClr val="accent2"/>
                          </a:solidFill>
                          <a:latin typeface="Cambria Math" panose="02040503050406030204" pitchFamily="18" charset="0"/>
                        </a:rPr>
                        <m:t>41.14</m:t>
                      </m:r>
                      <m:r>
                        <a:rPr lang="en-GB" b="0" i="1" smtClean="0">
                          <a:solidFill>
                            <a:schemeClr val="accent2"/>
                          </a:solidFill>
                          <a:latin typeface="Cambria Math" panose="02040503050406030204" pitchFamily="18" charset="0"/>
                        </a:rPr>
                        <m:t>≈4⋅10.29</m:t>
                      </m:r>
                    </m:oMath>
                  </m:oMathPara>
                </a14:m>
                <a:endParaRPr lang="en-GB" dirty="0">
                  <a:solidFill>
                    <a:schemeClr val="accent2"/>
                  </a:solidFill>
                </a:endParaRPr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:r>
                  <a:rPr lang="en-GB" dirty="0"/>
                  <a:t>And constraint </a:t>
                </a:r>
                <a:r>
                  <a:rPr lang="en-GB" dirty="0">
                    <a:solidFill>
                      <a:schemeClr val="accent2"/>
                    </a:solidFill>
                  </a:rPr>
                  <a:t>(C2)</a:t>
                </a:r>
                <a:r>
                  <a:rPr lang="en-GB" dirty="0"/>
                  <a:t> is also binding</a:t>
                </a:r>
                <a:endParaRPr lang="en-GB" dirty="0">
                  <a:solidFill>
                    <a:schemeClr val="tx1"/>
                  </a:solidFill>
                </a:endParaRPr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:endParaRPr lang="en-GB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198A88B-52B3-469E-A512-B72752EB786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450109"/>
                <a:ext cx="4648200" cy="4726854"/>
              </a:xfrm>
              <a:blipFill>
                <a:blip r:embed="rId2"/>
                <a:stretch>
                  <a:fillRect l="-2756" t="-2194" b="-3097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Picture 5">
            <a:extLst>
              <a:ext uri="{FF2B5EF4-FFF2-40B4-BE49-F238E27FC236}">
                <a16:creationId xmlns:a16="http://schemas.microsoft.com/office/drawing/2014/main" id="{5D2A9FAD-CAE5-4070-9561-5A6A372DD7B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05602" y="1071418"/>
            <a:ext cx="5191125" cy="521970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74944DA1-F682-42F6-82A9-10D11983C0C5}"/>
                  </a:ext>
                </a:extLst>
              </p:cNvPr>
              <p:cNvSpPr/>
              <p:nvPr/>
            </p:nvSpPr>
            <p:spPr>
              <a:xfrm>
                <a:off x="7978138" y="3311936"/>
                <a:ext cx="1720086" cy="36933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i="1" smtClean="0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3</m:t>
                      </m:r>
                      <m:r>
                        <a:rPr lang="en-GB" i="1" smtClean="0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i="1" smtClean="0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+2</m:t>
                      </m:r>
                      <m:r>
                        <a:rPr lang="en-GB" i="1" smtClean="0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GB" i="1" smtClean="0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≤144</m:t>
                      </m:r>
                    </m:oMath>
                  </m:oMathPara>
                </a14:m>
                <a:endParaRPr lang="en-GB" sz="1400" u="sng" dirty="0">
                  <a:solidFill>
                    <a:srgbClr val="7030A0"/>
                  </a:solidFill>
                </a:endParaRPr>
              </a:p>
            </p:txBody>
          </p:sp>
        </mc:Choice>
        <mc:Fallback xmlns=""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74944DA1-F682-42F6-82A9-10D11983C0C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78138" y="3311936"/>
                <a:ext cx="1720086" cy="369332"/>
              </a:xfrm>
              <a:prstGeom prst="rect">
                <a:avLst/>
              </a:prstGeom>
              <a:blipFill>
                <a:blip r:embed="rId4"/>
                <a:stretch>
                  <a:fillRect b="-11475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53CF1C62-1E27-40B4-942D-C6A223564B6D}"/>
                  </a:ext>
                </a:extLst>
              </p:cNvPr>
              <p:cNvSpPr/>
              <p:nvPr/>
            </p:nvSpPr>
            <p:spPr>
              <a:xfrm>
                <a:off x="10527874" y="4251039"/>
                <a:ext cx="931409" cy="36933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i="1">
                          <a:solidFill>
                            <a:schemeClr val="accent2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i="1">
                          <a:solidFill>
                            <a:schemeClr val="accent2"/>
                          </a:solidFill>
                          <a:latin typeface="Cambria Math" panose="02040503050406030204" pitchFamily="18" charset="0"/>
                        </a:rPr>
                        <m:t>≥4</m:t>
                      </m:r>
                      <m:r>
                        <a:rPr lang="en-GB" i="1">
                          <a:solidFill>
                            <a:schemeClr val="accent2"/>
                          </a:solidFill>
                          <a:latin typeface="Cambria Math" panose="02040503050406030204" pitchFamily="18" charset="0"/>
                        </a:rPr>
                        <m:t>𝑦</m:t>
                      </m:r>
                    </m:oMath>
                  </m:oMathPara>
                </a14:m>
                <a:endParaRPr lang="en-GB" dirty="0">
                  <a:solidFill>
                    <a:schemeClr val="accent2"/>
                  </a:solidFill>
                </a:endParaRPr>
              </a:p>
            </p:txBody>
          </p:sp>
        </mc:Choice>
        <mc:Fallback xmlns=""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53CF1C62-1E27-40B4-942D-C6A223564B6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527874" y="4251039"/>
                <a:ext cx="931409" cy="369332"/>
              </a:xfrm>
              <a:prstGeom prst="rect">
                <a:avLst/>
              </a:prstGeom>
              <a:blipFill>
                <a:blip r:embed="rId5"/>
                <a:stretch>
                  <a:fillRect b="-11475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2167225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E593E6-3D2F-4C7E-80B2-F78D636A9E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06293"/>
          </a:xfrm>
        </p:spPr>
        <p:txBody>
          <a:bodyPr/>
          <a:lstStyle/>
          <a:p>
            <a:r>
              <a:rPr lang="en-GB" dirty="0"/>
              <a:t>Infeasible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198A88B-52B3-469E-A512-B72752EB786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422400"/>
                <a:ext cx="5553364" cy="4726854"/>
              </a:xfrm>
            </p:spPr>
            <p:txBody>
              <a:bodyPr>
                <a:normAutofit fontScale="62500" lnSpcReduction="20000"/>
              </a:bodyPr>
              <a:lstStyle/>
              <a:p>
                <a:pPr marL="0" indent="0">
                  <a:buNone/>
                </a:pPr>
                <a:r>
                  <a:rPr lang="en-GB" dirty="0"/>
                  <a:t>What about if the manager demands making 60 of product </a:t>
                </a:r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GB" dirty="0">
                    <a:solidFill>
                      <a:schemeClr val="accent2"/>
                    </a:solidFill>
                  </a:rPr>
                  <a:t> </a:t>
                </a:r>
                <a:r>
                  <a:rPr lang="en-GB" dirty="0"/>
                  <a:t>a week?</a:t>
                </a:r>
              </a:p>
              <a:p>
                <a:pPr marL="0" indent="0">
                  <a:buNone/>
                </a:pPr>
                <a:endParaRPr lang="en-GB" dirty="0">
                  <a:solidFill>
                    <a:schemeClr val="accent2"/>
                  </a:solidFill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b="0" i="1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b="0" i="1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≥60</m:t>
                      </m:r>
                    </m:oMath>
                  </m:oMathPara>
                </a14:m>
                <a:endParaRPr lang="en-GB" dirty="0">
                  <a:solidFill>
                    <a:schemeClr val="accent2"/>
                  </a:solidFill>
                </a:endParaRPr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:r>
                  <a:rPr lang="en-GB" dirty="0"/>
                  <a:t>We can’t simultaneously satisfy</a:t>
                </a:r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i="1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3</m:t>
                      </m:r>
                      <m:r>
                        <a:rPr lang="en-GB" i="1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i="1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+2</m:t>
                      </m:r>
                      <m:r>
                        <a:rPr lang="en-GB" i="1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𝑦</m:t>
                      </m:r>
                      <m:r>
                        <m:rPr>
                          <m:aln/>
                        </m:rPr>
                        <a:rPr lang="en-GB" i="1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≤</m:t>
                      </m:r>
                      <m:r>
                        <a:rPr lang="en-GB" i="1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144</m:t>
                      </m:r>
                    </m:oMath>
                    <m:oMath xmlns:m="http://schemas.openxmlformats.org/officeDocument/2006/math">
                      <m:r>
                        <a:rPr lang="en-GB" i="1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m:rPr>
                          <m:aln/>
                        </m:rPr>
                        <a:rPr lang="en-GB" i="1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≥</m:t>
                      </m:r>
                      <m:r>
                        <a:rPr lang="en-GB" b="0" i="1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60</m:t>
                      </m:r>
                    </m:oMath>
                  </m:oMathPara>
                </a14:m>
                <a:endParaRPr lang="en-GB" b="0" i="1" dirty="0">
                  <a:solidFill>
                    <a:schemeClr val="accent1"/>
                  </a:solidFill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endParaRPr lang="en-GB" b="0" i="1" dirty="0">
                  <a:solidFill>
                    <a:schemeClr val="accent1"/>
                  </a:solidFill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r>
                  <a:rPr lang="en-GB" dirty="0">
                    <a:solidFill>
                      <a:srgbClr val="7030A0"/>
                    </a:solidFill>
                  </a:rPr>
                  <a:t>i.e. </a:t>
                </a:r>
                <a14:m>
                  <m:oMath xmlns:m="http://schemas.openxmlformats.org/officeDocument/2006/math">
                    <m:r>
                      <a:rPr lang="en-GB" i="1">
                        <a:solidFill>
                          <a:srgbClr val="7030A0"/>
                        </a:solidFill>
                        <a:latin typeface="Cambria Math" panose="02040503050406030204" pitchFamily="18" charset="0"/>
                      </a:rPr>
                      <m:t>3</m:t>
                    </m:r>
                    <m:r>
                      <a:rPr lang="en-GB" b="0" i="1" smtClean="0">
                        <a:solidFill>
                          <a:srgbClr val="7030A0"/>
                        </a:solidFill>
                        <a:latin typeface="Cambria Math" panose="02040503050406030204" pitchFamily="18" charset="0"/>
                      </a:rPr>
                      <m:t>⋅60=180&gt;144</m:t>
                    </m:r>
                  </m:oMath>
                </a14:m>
                <a:endParaRPr lang="en-GB" b="1" dirty="0">
                  <a:solidFill>
                    <a:schemeClr val="accent2"/>
                  </a:solidFill>
                </a:endParaRPr>
              </a:p>
              <a:p>
                <a:pPr marL="0" indent="0">
                  <a:buNone/>
                </a:pPr>
                <a:endParaRPr lang="en-GB" b="1" dirty="0">
                  <a:solidFill>
                    <a:schemeClr val="accent2"/>
                  </a:solidFill>
                </a:endParaRPr>
              </a:p>
              <a:p>
                <a:pPr marL="0" indent="0">
                  <a:buNone/>
                </a:pPr>
                <a:r>
                  <a:rPr lang="en-GB" dirty="0"/>
                  <a:t>This is known as an </a:t>
                </a:r>
                <a:r>
                  <a:rPr lang="en-GB" u="sng" dirty="0"/>
                  <a:t>infeasible</a:t>
                </a:r>
                <a:r>
                  <a:rPr lang="en-GB" dirty="0"/>
                  <a:t> problem, there is no feasible region!</a:t>
                </a:r>
              </a:p>
              <a:p>
                <a:pPr marL="0" indent="0">
                  <a:buNone/>
                </a:pPr>
                <a:endParaRPr lang="en-GB" dirty="0">
                  <a:solidFill>
                    <a:schemeClr val="accent2"/>
                  </a:solidFill>
                </a:endParaRPr>
              </a:p>
              <a:p>
                <a:pPr marL="0" indent="0">
                  <a:buNone/>
                </a:pPr>
                <a:r>
                  <a:rPr lang="en-GB" dirty="0"/>
                  <a:t>Constraints are inconsistent</a:t>
                </a:r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:endParaRPr lang="en-GB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198A88B-52B3-469E-A512-B72752EB786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422400"/>
                <a:ext cx="5553364" cy="4726854"/>
              </a:xfrm>
              <a:blipFill>
                <a:blip r:embed="rId2"/>
                <a:stretch>
                  <a:fillRect l="-989" t="-2062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3">
            <a:extLst>
              <a:ext uri="{FF2B5EF4-FFF2-40B4-BE49-F238E27FC236}">
                <a16:creationId xmlns:a16="http://schemas.microsoft.com/office/drawing/2014/main" id="{57AA871A-9FBB-42EC-9222-731EA985A53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25573" y="1118553"/>
            <a:ext cx="5162550" cy="52006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448128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E593E6-3D2F-4C7E-80B2-F78D636A9E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06293"/>
          </a:xfrm>
        </p:spPr>
        <p:txBody>
          <a:bodyPr/>
          <a:lstStyle/>
          <a:p>
            <a:r>
              <a:rPr lang="en-GB" dirty="0"/>
              <a:t>Unbounded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198A88B-52B3-469E-A512-B72752EB786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450109"/>
                <a:ext cx="4648200" cy="4726854"/>
              </a:xfrm>
            </p:spPr>
            <p:txBody>
              <a:bodyPr>
                <a:normAutofit fontScale="85000" lnSpcReduction="10000"/>
              </a:bodyPr>
              <a:lstStyle/>
              <a:p>
                <a:pPr marL="0" indent="0">
                  <a:buNone/>
                </a:pPr>
                <a:r>
                  <a:rPr lang="en-GB" dirty="0"/>
                  <a:t>What about if we remove both binding constraints</a:t>
                </a:r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i="1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3</m:t>
                      </m:r>
                      <m:r>
                        <a:rPr lang="en-GB" i="1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i="1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+2</m:t>
                      </m:r>
                      <m:r>
                        <a:rPr lang="en-GB" i="1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𝑦</m:t>
                      </m:r>
                      <m:r>
                        <m:rPr>
                          <m:aln/>
                        </m:rPr>
                        <a:rPr lang="en-GB" i="1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≤</m:t>
                      </m:r>
                      <m:r>
                        <a:rPr lang="en-GB" i="1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144</m:t>
                      </m:r>
                    </m:oMath>
                  </m:oMathPara>
                </a14:m>
                <a:endParaRPr lang="en-GB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i="1">
                          <a:solidFill>
                            <a:schemeClr val="accent2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i="1">
                          <a:solidFill>
                            <a:schemeClr val="accent2"/>
                          </a:solidFill>
                          <a:latin typeface="Cambria Math" panose="02040503050406030204" pitchFamily="18" charset="0"/>
                        </a:rPr>
                        <m:t>≥4</m:t>
                      </m:r>
                      <m:r>
                        <a:rPr lang="en-GB" i="1">
                          <a:solidFill>
                            <a:schemeClr val="accent2"/>
                          </a:solidFill>
                          <a:latin typeface="Cambria Math" panose="02040503050406030204" pitchFamily="18" charset="0"/>
                        </a:rPr>
                        <m:t>𝑦</m:t>
                      </m:r>
                    </m:oMath>
                  </m:oMathPara>
                </a14:m>
                <a:endParaRPr lang="en-GB" dirty="0">
                  <a:solidFill>
                    <a:schemeClr val="accent2"/>
                  </a:solidFill>
                </a:endParaRPr>
              </a:p>
              <a:p>
                <a:pPr marL="0" indent="0">
                  <a:buNone/>
                </a:pPr>
                <a:endParaRPr lang="en-GB" dirty="0">
                  <a:solidFill>
                    <a:schemeClr val="accent2"/>
                  </a:solidFill>
                </a:endParaRPr>
              </a:p>
              <a:p>
                <a:pPr marL="0" indent="0">
                  <a:buNone/>
                </a:pPr>
                <a:r>
                  <a:rPr lang="en-GB" dirty="0"/>
                  <a:t>Our profit line </a:t>
                </a:r>
                <a14:m>
                  <m:oMath xmlns:m="http://schemas.openxmlformats.org/officeDocument/2006/math">
                    <m:r>
                      <a:rPr lang="en-GB" i="1" dirty="0">
                        <a:latin typeface="Cambria Math" panose="02040503050406030204" pitchFamily="18" charset="0"/>
                      </a:rPr>
                      <m:t>𝑃</m:t>
                    </m:r>
                    <m:r>
                      <a:rPr lang="en-GB" i="1" dirty="0">
                        <a:latin typeface="Cambria Math" panose="02040503050406030204" pitchFamily="18" charset="0"/>
                      </a:rPr>
                      <m:t>=5</m:t>
                    </m:r>
                    <m:r>
                      <a:rPr lang="en-GB" i="1" dirty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GB" i="1" dirty="0">
                        <a:latin typeface="Cambria Math" panose="02040503050406030204" pitchFamily="18" charset="0"/>
                      </a:rPr>
                      <m:t>+7</m:t>
                    </m:r>
                    <m:r>
                      <a:rPr lang="en-GB" i="1" dirty="0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en-GB" dirty="0"/>
                  <a:t> is now free to move to an unlimited profit (grey feasible region).</a:t>
                </a:r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:r>
                  <a:rPr lang="en-GB" dirty="0"/>
                  <a:t>This is known as an </a:t>
                </a:r>
                <a:r>
                  <a:rPr lang="en-GB" u="sng" dirty="0"/>
                  <a:t>unbounded</a:t>
                </a:r>
                <a:r>
                  <a:rPr lang="en-GB" dirty="0"/>
                  <a:t> problem, there is no restriction on the objective</a:t>
                </a:r>
              </a:p>
              <a:p>
                <a:pPr marL="0" indent="0">
                  <a:buNone/>
                </a:pPr>
                <a:endParaRPr lang="en-GB" b="1" dirty="0">
                  <a:solidFill>
                    <a:schemeClr val="accent2"/>
                  </a:solidFill>
                </a:endParaRPr>
              </a:p>
              <a:p>
                <a:pPr marL="0" indent="0">
                  <a:buNone/>
                </a:pPr>
                <a:endParaRPr lang="en-GB" dirty="0">
                  <a:solidFill>
                    <a:schemeClr val="accent2"/>
                  </a:solidFill>
                </a:endParaRPr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:endParaRPr lang="en-GB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198A88B-52B3-469E-A512-B72752EB786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450109"/>
                <a:ext cx="4648200" cy="4726854"/>
              </a:xfrm>
              <a:blipFill>
                <a:blip r:embed="rId2"/>
                <a:stretch>
                  <a:fillRect l="-2100" t="-2452" r="-262" b="-516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Picture 5">
            <a:extLst>
              <a:ext uri="{FF2B5EF4-FFF2-40B4-BE49-F238E27FC236}">
                <a16:creationId xmlns:a16="http://schemas.microsoft.com/office/drawing/2014/main" id="{0CA7192C-6F9B-4D10-9010-B5CAD840150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0" y="781050"/>
            <a:ext cx="5295900" cy="5295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102492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E593E6-3D2F-4C7E-80B2-F78D636A9E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06293"/>
          </a:xfrm>
        </p:spPr>
        <p:txBody>
          <a:bodyPr/>
          <a:lstStyle/>
          <a:p>
            <a:r>
              <a:rPr lang="en-GB" dirty="0"/>
              <a:t>Infinite Solutions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198A88B-52B3-469E-A512-B72752EB786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450109"/>
                <a:ext cx="4648200" cy="4726854"/>
              </a:xfrm>
            </p:spPr>
            <p:txBody>
              <a:bodyPr>
                <a:normAutofit fontScale="85000" lnSpcReduction="20000"/>
              </a:bodyPr>
              <a:lstStyle/>
              <a:p>
                <a:pPr marL="0" indent="0">
                  <a:buNone/>
                </a:pPr>
                <a:r>
                  <a:rPr lang="en-GB" dirty="0"/>
                  <a:t>If our objective is parallel</a:t>
                </a:r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:r>
                  <a:rPr lang="en-GB" dirty="0"/>
                  <a:t>maximise 	</a:t>
                </a:r>
                <a14:m>
                  <m:oMath xmlns:m="http://schemas.openxmlformats.org/officeDocument/2006/math">
                    <m:r>
                      <a:rPr lang="en-GB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𝑃</m:t>
                    </m:r>
                    <m:r>
                      <a:rPr lang="en-GB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=6</m:t>
                    </m:r>
                    <m:r>
                      <a:rPr lang="en-GB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GB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+4</m:t>
                    </m:r>
                    <m:r>
                      <a:rPr lang="en-GB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endParaRPr lang="en-GB" dirty="0"/>
              </a:p>
              <a:p>
                <a:pPr marL="0" indent="0">
                  <a:buNone/>
                </a:pPr>
                <a:r>
                  <a:rPr lang="en-GB" dirty="0"/>
                  <a:t>subject to:	</a:t>
                </a:r>
              </a:p>
              <a:p>
                <a:pPr marL="0" indent="0">
                  <a:buNone/>
                </a:pPr>
                <a:r>
                  <a:rPr lang="en-GB" dirty="0">
                    <a:solidFill>
                      <a:srgbClr val="7030A0"/>
                    </a:solidFill>
                  </a:rPr>
                  <a:t>						</a:t>
                </a:r>
                <a14:m>
                  <m:oMath xmlns:m="http://schemas.openxmlformats.org/officeDocument/2006/math">
                    <m:r>
                      <a:rPr lang="en-GB" i="1">
                        <a:solidFill>
                          <a:srgbClr val="7030A0"/>
                        </a:solidFill>
                        <a:latin typeface="Cambria Math" panose="02040503050406030204" pitchFamily="18" charset="0"/>
                      </a:rPr>
                      <m:t>3</m:t>
                    </m:r>
                    <m:r>
                      <a:rPr lang="en-GB" i="1">
                        <a:solidFill>
                          <a:srgbClr val="7030A0"/>
                        </a:solidFill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GB" i="1">
                        <a:solidFill>
                          <a:srgbClr val="7030A0"/>
                        </a:solidFill>
                        <a:latin typeface="Cambria Math" panose="02040503050406030204" pitchFamily="18" charset="0"/>
                      </a:rPr>
                      <m:t>+2</m:t>
                    </m:r>
                    <m:r>
                      <a:rPr lang="en-GB" i="1">
                        <a:solidFill>
                          <a:srgbClr val="7030A0"/>
                        </a:solidFill>
                        <a:latin typeface="Cambria Math" panose="02040503050406030204" pitchFamily="18" charset="0"/>
                      </a:rPr>
                      <m:t>𝑦</m:t>
                    </m:r>
                    <m:r>
                      <m:rPr>
                        <m:aln/>
                      </m:rPr>
                      <a:rPr lang="en-GB" i="1">
                        <a:solidFill>
                          <a:srgbClr val="7030A0"/>
                        </a:solidFill>
                        <a:latin typeface="Cambria Math" panose="02040503050406030204" pitchFamily="18" charset="0"/>
                      </a:rPr>
                      <m:t>≤</m:t>
                    </m:r>
                    <m:r>
                      <a:rPr lang="en-GB" i="1">
                        <a:solidFill>
                          <a:srgbClr val="7030A0"/>
                        </a:solidFill>
                        <a:latin typeface="Cambria Math" panose="02040503050406030204" pitchFamily="18" charset="0"/>
                      </a:rPr>
                      <m:t>144</m:t>
                    </m:r>
                  </m:oMath>
                </a14:m>
                <a:br>
                  <a:rPr lang="en-GB" i="1" dirty="0">
                    <a:solidFill>
                      <a:srgbClr val="7030A0"/>
                    </a:solidFill>
                    <a:latin typeface="Cambria Math" panose="02040503050406030204" pitchFamily="18" charset="0"/>
                  </a:rPr>
                </a:br>
                <a:r>
                  <a:rPr lang="en-GB" i="1" dirty="0">
                    <a:solidFill>
                      <a:srgbClr val="7030A0"/>
                    </a:solidFill>
                    <a:latin typeface="Cambria Math" panose="02040503050406030204" pitchFamily="18" charset="0"/>
                  </a:rPr>
                  <a:t>		  	</a:t>
                </a:r>
                <a14:m>
                  <m:oMath xmlns:m="http://schemas.openxmlformats.org/officeDocument/2006/math">
                    <m:r>
                      <a:rPr lang="en-GB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GB" i="1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𝑥</m:t>
                    </m:r>
                    <m:r>
                      <m:rPr>
                        <m:aln/>
                      </m:rPr>
                      <a:rPr lang="en-GB" i="1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≥</m:t>
                    </m:r>
                    <m:r>
                      <a:rPr lang="en-GB" i="1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br>
                  <a:rPr lang="en-GB" i="1" dirty="0">
                    <a:solidFill>
                      <a:schemeClr val="accent1"/>
                    </a:solidFill>
                    <a:latin typeface="Cambria Math" panose="02040503050406030204" pitchFamily="18" charset="0"/>
                  </a:rPr>
                </a:br>
                <a:r>
                  <a:rPr lang="en-GB" i="1" dirty="0">
                    <a:solidFill>
                      <a:schemeClr val="accent1"/>
                    </a:solidFill>
                    <a:latin typeface="Cambria Math" panose="02040503050406030204" pitchFamily="18" charset="0"/>
                  </a:rPr>
                  <a:t>			 </a:t>
                </a:r>
                <a14:m>
                  <m:oMath xmlns:m="http://schemas.openxmlformats.org/officeDocument/2006/math">
                    <m:r>
                      <a:rPr lang="en-GB" i="1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𝑦</m:t>
                    </m:r>
                    <m:r>
                      <m:rPr>
                        <m:aln/>
                      </m:rPr>
                      <a:rPr lang="en-GB" i="1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≥</m:t>
                    </m:r>
                    <m:r>
                      <a:rPr lang="en-GB" i="1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endParaRPr lang="en-GB" sz="2000" u="sng" dirty="0"/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:r>
                  <a:rPr lang="en-GB" dirty="0"/>
                  <a:t>Optimal solution anywhere on the line </a:t>
                </a:r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3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+2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=144</m:t>
                    </m:r>
                  </m:oMath>
                </a14:m>
                <a:r>
                  <a:rPr lang="en-GB" b="0" dirty="0"/>
                  <a:t> from (0, 72) to (48, 0). Thus </a:t>
                </a:r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𝑃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=288</m:t>
                    </m:r>
                  </m:oMath>
                </a14:m>
                <a:endParaRPr lang="en-GB" b="0" dirty="0"/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:r>
                  <a:rPr lang="en-GB" dirty="0"/>
                  <a:t>Note that it still has an optimal solution at a vertex!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198A88B-52B3-469E-A512-B72752EB786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450109"/>
                <a:ext cx="4648200" cy="4726854"/>
              </a:xfrm>
              <a:blipFill>
                <a:blip r:embed="rId2"/>
                <a:stretch>
                  <a:fillRect l="-2100" t="-2968" b="-2581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Picture 5">
            <a:extLst>
              <a:ext uri="{FF2B5EF4-FFF2-40B4-BE49-F238E27FC236}">
                <a16:creationId xmlns:a16="http://schemas.microsoft.com/office/drawing/2014/main" id="{6CB4E71B-8CC6-4D62-AAF7-6665249CD18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0" y="1004888"/>
            <a:ext cx="5724525" cy="5172075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FDD91F48-07F7-46DB-A7A5-439088C6D2CE}"/>
                  </a:ext>
                </a:extLst>
              </p:cNvPr>
              <p:cNvSpPr/>
              <p:nvPr/>
            </p:nvSpPr>
            <p:spPr>
              <a:xfrm>
                <a:off x="6597094" y="4988292"/>
                <a:ext cx="1720086" cy="36933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6</m:t>
                      </m:r>
                      <m:r>
                        <a:rPr lang="en-GB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+4</m:t>
                      </m:r>
                      <m:r>
                        <a:rPr lang="en-GB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GB" b="0" i="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=100</m:t>
                      </m:r>
                    </m:oMath>
                  </m:oMathPara>
                </a14:m>
                <a:endParaRPr lang="en-GB" dirty="0"/>
              </a:p>
            </p:txBody>
          </p:sp>
        </mc:Choice>
        <mc:Fallback xmlns=""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FDD91F48-07F7-46DB-A7A5-439088C6D2C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97094" y="4988292"/>
                <a:ext cx="1720086" cy="369332"/>
              </a:xfrm>
              <a:prstGeom prst="rect">
                <a:avLst/>
              </a:prstGeom>
              <a:blipFill>
                <a:blip r:embed="rId4"/>
                <a:stretch>
                  <a:fillRect b="-11475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7788D00A-C703-4107-B81B-D8022062A093}"/>
                  </a:ext>
                </a:extLst>
              </p:cNvPr>
              <p:cNvSpPr/>
              <p:nvPr/>
            </p:nvSpPr>
            <p:spPr>
              <a:xfrm>
                <a:off x="6787201" y="3590925"/>
                <a:ext cx="1720086" cy="36933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6</m:t>
                      </m:r>
                      <m:r>
                        <a:rPr lang="en-GB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+4</m:t>
                      </m:r>
                      <m:r>
                        <a:rPr lang="en-GB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GB" b="0" i="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=200</m:t>
                      </m:r>
                    </m:oMath>
                  </m:oMathPara>
                </a14:m>
                <a:endParaRPr lang="en-GB" dirty="0"/>
              </a:p>
            </p:txBody>
          </p:sp>
        </mc:Choice>
        <mc:Fallback xmlns=""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7788D00A-C703-4107-B81B-D8022062A09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87201" y="3590925"/>
                <a:ext cx="1720086" cy="369332"/>
              </a:xfrm>
              <a:prstGeom prst="rect">
                <a:avLst/>
              </a:prstGeom>
              <a:blipFill>
                <a:blip r:embed="rId5"/>
                <a:stretch>
                  <a:fillRect b="-11475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CC37D992-504C-4201-A734-4AB11DEBB34C}"/>
                  </a:ext>
                </a:extLst>
              </p:cNvPr>
              <p:cNvSpPr/>
              <p:nvPr/>
            </p:nvSpPr>
            <p:spPr>
              <a:xfrm>
                <a:off x="7647244" y="2707576"/>
                <a:ext cx="1720086" cy="36933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6</m:t>
                      </m:r>
                      <m:r>
                        <a:rPr lang="en-GB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+4</m:t>
                      </m:r>
                      <m:r>
                        <a:rPr lang="en-GB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GB" b="0" i="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=288</m:t>
                      </m:r>
                    </m:oMath>
                  </m:oMathPara>
                </a14:m>
                <a:endParaRPr lang="en-GB" dirty="0"/>
              </a:p>
            </p:txBody>
          </p:sp>
        </mc:Choice>
        <mc:Fallback xmlns=""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CC37D992-504C-4201-A734-4AB11DEBB34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47244" y="2707576"/>
                <a:ext cx="1720086" cy="369332"/>
              </a:xfrm>
              <a:prstGeom prst="rect">
                <a:avLst/>
              </a:prstGeom>
              <a:blipFill>
                <a:blip r:embed="rId6"/>
                <a:stretch>
                  <a:fillRect b="-11475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84317029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7" grpId="0" animBg="1"/>
      <p:bldP spid="8" grpId="0" animBg="1"/>
      <p:bldP spid="9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E593E6-3D2F-4C7E-80B2-F78D636A9E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06293"/>
          </a:xfrm>
        </p:spPr>
        <p:txBody>
          <a:bodyPr/>
          <a:lstStyle/>
          <a:p>
            <a:r>
              <a:rPr lang="en-GB" dirty="0"/>
              <a:t>Optimality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198A88B-52B3-469E-A512-B72752EB786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50109"/>
            <a:ext cx="10515600" cy="472685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dirty="0"/>
              <a:t>An optimal solution always lies on the boundary of the feasible region: at a vertex, or along a whole edge (infinitely many solutions).</a:t>
            </a:r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r>
              <a:rPr lang="en-GB" dirty="0"/>
              <a:t>If an optimal solution exists, one is always at a vertex. The vertices are known as </a:t>
            </a:r>
            <a:r>
              <a:rPr lang="en-GB" u="sng" dirty="0"/>
              <a:t>Basic Feasible Solutions</a:t>
            </a:r>
            <a:r>
              <a:rPr lang="en-GB" dirty="0"/>
              <a:t>.</a:t>
            </a:r>
          </a:p>
          <a:p>
            <a:pPr marL="0" indent="0">
              <a:buNone/>
            </a:pPr>
            <a:endParaRPr lang="en-GB" u="sng" dirty="0"/>
          </a:p>
          <a:p>
            <a:pPr marL="0" indent="0">
              <a:buNone/>
            </a:pPr>
            <a:r>
              <a:rPr lang="en-GB" dirty="0"/>
              <a:t>A </a:t>
            </a:r>
            <a:r>
              <a:rPr lang="en-GB" u="sng" dirty="0"/>
              <a:t>Basic Feasible Solution (BFS)</a:t>
            </a:r>
            <a:r>
              <a:rPr lang="en-GB" dirty="0"/>
              <a:t> is the intersection of a number of boundaries.</a:t>
            </a:r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296972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E593E6-3D2F-4C7E-80B2-F78D636A9E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06293"/>
          </a:xfrm>
        </p:spPr>
        <p:txBody>
          <a:bodyPr/>
          <a:lstStyle/>
          <a:p>
            <a:r>
              <a:rPr lang="en-GB" dirty="0"/>
              <a:t>Graphical illustration of 3 variables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198A88B-52B3-469E-A512-B72752EB786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450109"/>
                <a:ext cx="10515600" cy="4726854"/>
              </a:xfrm>
            </p:spPr>
            <p:txBody>
              <a:bodyPr>
                <a:normAutofit fontScale="77500" lnSpcReduction="20000"/>
              </a:bodyPr>
              <a:lstStyle/>
              <a:p>
                <a:pPr marL="0" indent="0">
                  <a:buNone/>
                </a:pPr>
                <a:r>
                  <a:rPr lang="en-GB" dirty="0"/>
                  <a:t>Intersection of different planes with a cube</a:t>
                </a:r>
              </a:p>
              <a:p>
                <a:pPr marL="0" indent="0">
                  <a:buNone/>
                </a:pPr>
                <a:r>
                  <a:rPr lang="en-GB" dirty="0"/>
                  <a:t>e.g.</a:t>
                </a:r>
              </a:p>
              <a:p>
                <a:pPr marL="0" indent="0">
                  <a:buNone/>
                </a:pPr>
                <a:r>
                  <a:rPr lang="en-GB" dirty="0"/>
                  <a:t>minimise	 </a:t>
                </a:r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𝑃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+3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𝑧</m:t>
                    </m:r>
                  </m:oMath>
                </a14:m>
                <a:endParaRPr lang="en-GB" dirty="0"/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:r>
                  <a:rPr lang="en-GB" dirty="0"/>
                  <a:t>subject to:	</a:t>
                </a:r>
              </a:p>
              <a:p>
                <a:pPr marL="0" indent="0">
                  <a:buNone/>
                </a:pPr>
                <a:r>
                  <a:rPr lang="en-GB" b="0" dirty="0"/>
                  <a:t>		</a:t>
                </a:r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≤</m:t>
                    </m:r>
                    <m:r>
                      <a:rPr lang="en-GB" b="0" i="0" smtClean="0"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endParaRPr lang="en-GB" b="0" dirty="0"/>
              </a:p>
              <a:p>
                <a:pPr marL="0" indent="0">
                  <a:buNone/>
                </a:pPr>
                <a:r>
                  <a:rPr lang="en-GB" b="0" dirty="0"/>
                  <a:t>		</a:t>
                </a:r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GB" i="1">
                        <a:latin typeface="Cambria Math" panose="02040503050406030204" pitchFamily="18" charset="0"/>
                      </a:rPr>
                      <m:t>≤</m:t>
                    </m:r>
                    <m:r>
                      <a:rPr lang="en-GB"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endParaRPr lang="en-GB" b="0" dirty="0"/>
              </a:p>
              <a:p>
                <a:pPr marL="0" indent="0">
                  <a:buNone/>
                </a:pPr>
                <a:r>
                  <a:rPr lang="en-GB" b="0" dirty="0"/>
                  <a:t>		</a:t>
                </a:r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𝑧</m:t>
                    </m:r>
                    <m:r>
                      <a:rPr lang="en-GB" i="1">
                        <a:latin typeface="Cambria Math" panose="02040503050406030204" pitchFamily="18" charset="0"/>
                      </a:rPr>
                      <m:t>≤</m:t>
                    </m:r>
                    <m:r>
                      <a:rPr lang="en-GB"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endParaRPr lang="en-GB" dirty="0"/>
              </a:p>
              <a:p>
                <a:pPr marL="0" indent="0">
                  <a:buNone/>
                </a:pPr>
                <a:r>
                  <a:rPr lang="en-GB" dirty="0"/>
                  <a:t>		</a:t>
                </a:r>
                <a14:m>
                  <m:oMath xmlns:m="http://schemas.openxmlformats.org/officeDocument/2006/math">
                    <m:r>
                      <a:rPr lang="en-GB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≥0</m:t>
                    </m:r>
                  </m:oMath>
                </a14:m>
                <a:endParaRPr lang="en-GB" dirty="0"/>
              </a:p>
              <a:p>
                <a:pPr marL="0" indent="0">
                  <a:buNone/>
                </a:pPr>
                <a:r>
                  <a:rPr lang="en-GB" dirty="0"/>
                  <a:t>		</a:t>
                </a:r>
                <a14:m>
                  <m:oMath xmlns:m="http://schemas.openxmlformats.org/officeDocument/2006/math">
                    <m:r>
                      <a:rPr lang="en-GB" i="1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≥0</m:t>
                    </m:r>
                  </m:oMath>
                </a14:m>
                <a:endParaRPr lang="en-GB" dirty="0"/>
              </a:p>
              <a:p>
                <a:pPr marL="0" indent="0">
                  <a:buNone/>
                </a:pPr>
                <a:r>
                  <a:rPr lang="en-GB" dirty="0"/>
                  <a:t>		</a:t>
                </a:r>
                <a14:m>
                  <m:oMath xmlns:m="http://schemas.openxmlformats.org/officeDocument/2006/math">
                    <m:r>
                      <a:rPr lang="en-GB" i="1">
                        <a:latin typeface="Cambria Math" panose="02040503050406030204" pitchFamily="18" charset="0"/>
                      </a:rPr>
                      <m:t>𝑧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≥</m:t>
                    </m:r>
                    <m:r>
                      <a:rPr lang="en-GB" b="0" i="0" smtClean="0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endParaRPr lang="en-GB" dirty="0"/>
              </a:p>
              <a:p>
                <a:pPr marL="0" indent="0">
                  <a:buNone/>
                </a:pPr>
                <a:endParaRPr lang="en-GB" b="0" dirty="0"/>
              </a:p>
              <a:p>
                <a:pPr marL="0" indent="0">
                  <a:buNone/>
                </a:pPr>
                <a:r>
                  <a:rPr lang="en-GB" b="0" dirty="0"/>
                  <a:t>Each corner of the cube is a BFS.</a:t>
                </a:r>
              </a:p>
              <a:p>
                <a:pPr marL="0" indent="0">
                  <a:buNone/>
                </a:pPr>
                <a:endParaRPr lang="en-GB" b="0" dirty="0"/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:endParaRPr lang="en-GB" b="0" dirty="0"/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:endParaRPr lang="en-GB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198A88B-52B3-469E-A512-B72752EB786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450109"/>
                <a:ext cx="10515600" cy="4726854"/>
              </a:xfrm>
              <a:blipFill>
                <a:blip r:embed="rId2"/>
                <a:stretch>
                  <a:fillRect l="-754" t="-2710" b="-1677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3">
            <a:extLst>
              <a:ext uri="{FF2B5EF4-FFF2-40B4-BE49-F238E27FC236}">
                <a16:creationId xmlns:a16="http://schemas.microsoft.com/office/drawing/2014/main" id="{9101A0DB-03FC-436E-85C9-C076B4E0BD7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47284" y="2137429"/>
            <a:ext cx="3867150" cy="36766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396757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E593E6-3D2F-4C7E-80B2-F78D636A9E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06293"/>
          </a:xfrm>
        </p:spPr>
        <p:txBody>
          <a:bodyPr/>
          <a:lstStyle/>
          <a:p>
            <a:r>
              <a:rPr lang="en-GB" dirty="0"/>
              <a:t>Canonical Form (Matrices)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198A88B-52B3-469E-A512-B72752EB786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450110"/>
                <a:ext cx="3941190" cy="2405454"/>
              </a:xfrm>
              <a:ln w="28575">
                <a:solidFill>
                  <a:schemeClr val="tx1"/>
                </a:solidFill>
              </a:ln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GB" sz="2000" dirty="0"/>
                  <a:t>Our linear programming model</a:t>
                </a:r>
              </a:p>
              <a:p>
                <a:pPr marL="0" indent="0">
                  <a:buNone/>
                </a:pPr>
                <a:r>
                  <a:rPr lang="en-GB" sz="2000" dirty="0"/>
                  <a:t>maximise      </a:t>
                </a:r>
                <a14:m>
                  <m:oMath xmlns:m="http://schemas.openxmlformats.org/officeDocument/2006/math">
                    <m:r>
                      <a:rPr lang="en-GB" sz="2000" b="0" i="1" dirty="0" smtClean="0">
                        <a:latin typeface="Cambria Math" panose="02040503050406030204" pitchFamily="18" charset="0"/>
                      </a:rPr>
                      <m:t>5</m:t>
                    </m:r>
                    <m:r>
                      <a:rPr lang="en-GB" sz="2000" b="0" i="1" dirty="0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GB" sz="2000" b="0" i="1" dirty="0" smtClean="0">
                        <a:latin typeface="Cambria Math" panose="02040503050406030204" pitchFamily="18" charset="0"/>
                      </a:rPr>
                      <m:t>+7</m:t>
                    </m:r>
                    <m:r>
                      <a:rPr lang="en-GB" sz="2000" b="0" i="1" dirty="0" smtClean="0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endParaRPr lang="en-GB" sz="2000" b="0" dirty="0"/>
              </a:p>
              <a:p>
                <a:pPr marL="0" indent="0">
                  <a:buNone/>
                </a:pPr>
                <a:r>
                  <a:rPr lang="en-GB" sz="2000" b="0" dirty="0"/>
                  <a:t>subject to:	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000" b="0" i="1" smtClean="0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3</m:t>
                      </m:r>
                      <m:r>
                        <a:rPr lang="en-GB" sz="2000" b="0" i="1" smtClean="0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sz="2000" b="0" i="1" smtClean="0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+2</m:t>
                      </m:r>
                      <m:r>
                        <a:rPr lang="en-GB" sz="2000" b="0" i="1" smtClean="0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𝑦</m:t>
                      </m:r>
                      <m:r>
                        <m:rPr>
                          <m:aln/>
                        </m:rPr>
                        <a:rPr lang="en-GB" sz="2000" b="0" i="1" smtClean="0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≤</m:t>
                      </m:r>
                      <m:r>
                        <a:rPr lang="en-GB" sz="2000" b="0" i="1" smtClean="0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144</m:t>
                      </m:r>
                    </m:oMath>
                    <m:oMath xmlns:m="http://schemas.openxmlformats.org/officeDocument/2006/math">
                      <m:r>
                        <a:rPr lang="en-GB" sz="2000" b="0" i="1" smtClean="0">
                          <a:solidFill>
                            <a:schemeClr val="accent2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m:rPr>
                          <m:aln/>
                        </m:rPr>
                        <a:rPr lang="en-GB" sz="2000" b="0" i="1" smtClean="0">
                          <a:solidFill>
                            <a:schemeClr val="accent2"/>
                          </a:solidFill>
                          <a:latin typeface="Cambria Math" panose="02040503050406030204" pitchFamily="18" charset="0"/>
                        </a:rPr>
                        <m:t>≥</m:t>
                      </m:r>
                      <m:r>
                        <a:rPr lang="en-GB" sz="2000" b="0" i="1" smtClean="0">
                          <a:solidFill>
                            <a:schemeClr val="accent2"/>
                          </a:solidFill>
                          <a:latin typeface="Cambria Math" panose="02040503050406030204" pitchFamily="18" charset="0"/>
                        </a:rPr>
                        <m:t>4</m:t>
                      </m:r>
                      <m:r>
                        <a:rPr lang="en-GB" sz="2000" b="0" i="1" smtClean="0">
                          <a:solidFill>
                            <a:schemeClr val="accent2"/>
                          </a:solidFill>
                          <a:latin typeface="Cambria Math" panose="02040503050406030204" pitchFamily="18" charset="0"/>
                        </a:rPr>
                        <m:t>𝑦</m:t>
                      </m:r>
                    </m:oMath>
                    <m:oMath xmlns:m="http://schemas.openxmlformats.org/officeDocument/2006/math">
                      <m:r>
                        <a:rPr lang="en-GB" sz="2000" b="0" i="1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m:rPr>
                          <m:aln/>
                        </m:rPr>
                        <a:rPr lang="en-GB" sz="2000" b="0" i="1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≥</m:t>
                      </m:r>
                      <m:r>
                        <a:rPr lang="en-GB" sz="2000" b="0" i="1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</m:oMath>
                    <m:oMath xmlns:m="http://schemas.openxmlformats.org/officeDocument/2006/math">
                      <m:r>
                        <a:rPr lang="en-GB" sz="2000" b="0" i="1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𝑦</m:t>
                      </m:r>
                      <m:r>
                        <m:rPr>
                          <m:aln/>
                        </m:rPr>
                        <a:rPr lang="en-GB" sz="2000" b="0" i="1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≥</m:t>
                      </m:r>
                      <m:r>
                        <a:rPr lang="en-GB" sz="2000" b="0" i="1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GB" sz="1600" u="sng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198A88B-52B3-469E-A512-B72752EB786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450110"/>
                <a:ext cx="3941190" cy="2405454"/>
              </a:xfrm>
              <a:blipFill>
                <a:blip r:embed="rId2"/>
                <a:stretch>
                  <a:fillRect l="-1382" t="-2256"/>
                </a:stretch>
              </a:blipFill>
              <a:ln w="28575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Content Placeholder 2">
                <a:extLst>
                  <a:ext uri="{FF2B5EF4-FFF2-40B4-BE49-F238E27FC236}">
                    <a16:creationId xmlns:a16="http://schemas.microsoft.com/office/drawing/2014/main" id="{03AA5A98-CCB6-4776-BF55-D518B17469EA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6946769" y="1487817"/>
                <a:ext cx="4289982" cy="2330039"/>
              </a:xfrm>
              <a:prstGeom prst="rect">
                <a:avLst/>
              </a:prstGeom>
              <a:ln w="28575">
                <a:solidFill>
                  <a:schemeClr val="tx1"/>
                </a:solidFill>
              </a:ln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 panose="020B0604020202020204" pitchFamily="34" charset="0"/>
                  <a:buNone/>
                </a:pPr>
                <a:r>
                  <a:rPr lang="en-GB" sz="2000" dirty="0"/>
                  <a:t>maximise      </a:t>
                </a:r>
                <a14:m>
                  <m:oMath xmlns:m="http://schemas.openxmlformats.org/officeDocument/2006/math">
                    <m:r>
                      <a:rPr lang="en-GB" sz="2000" i="1" dirty="0" smtClean="0">
                        <a:latin typeface="Cambria Math" panose="02040503050406030204" pitchFamily="18" charset="0"/>
                      </a:rPr>
                      <m:t>5</m:t>
                    </m:r>
                    <m:r>
                      <a:rPr lang="en-GB" sz="2000" i="1" dirty="0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GB" sz="2000" i="1" dirty="0" smtClean="0">
                        <a:latin typeface="Cambria Math" panose="02040503050406030204" pitchFamily="18" charset="0"/>
                      </a:rPr>
                      <m:t>+7</m:t>
                    </m:r>
                    <m:r>
                      <a:rPr lang="en-GB" sz="2000" i="1" dirty="0" smtClean="0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endParaRPr lang="en-GB" sz="2000" dirty="0"/>
              </a:p>
              <a:p>
                <a:pPr marL="0" indent="0">
                  <a:buFont typeface="Arial" panose="020B0604020202020204" pitchFamily="34" charset="0"/>
                  <a:buNone/>
                </a:pPr>
                <a:r>
                  <a:rPr lang="en-GB" sz="2000" dirty="0"/>
                  <a:t>subject to:	</a:t>
                </a:r>
              </a:p>
              <a:p>
                <a:pPr marL="0" indent="0"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000" i="1" smtClean="0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3</m:t>
                      </m:r>
                      <m:r>
                        <a:rPr lang="en-GB" sz="2000" i="1" smtClean="0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sz="2000" i="1" smtClean="0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+2</m:t>
                      </m:r>
                      <m:r>
                        <a:rPr lang="en-GB" sz="2000" i="1" smtClean="0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𝑦</m:t>
                      </m:r>
                      <m:r>
                        <m:rPr>
                          <m:aln/>
                        </m:rPr>
                        <a:rPr lang="en-GB" sz="2000" i="1" smtClean="0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≤</m:t>
                      </m:r>
                      <m:r>
                        <a:rPr lang="en-GB" sz="2000" i="1" smtClean="0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144</m:t>
                      </m:r>
                    </m:oMath>
                    <m:oMath xmlns:m="http://schemas.openxmlformats.org/officeDocument/2006/math">
                      <m:r>
                        <a:rPr lang="en-GB" sz="2000" b="0" i="1" smtClean="0">
                          <a:solidFill>
                            <a:schemeClr val="accent2"/>
                          </a:solidFill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GB" sz="2000" i="1" smtClean="0">
                          <a:solidFill>
                            <a:schemeClr val="accent2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sz="2000" b="0" i="1" smtClean="0">
                          <a:solidFill>
                            <a:schemeClr val="accent2"/>
                          </a:solidFill>
                          <a:latin typeface="Cambria Math" panose="02040503050406030204" pitchFamily="18" charset="0"/>
                        </a:rPr>
                        <m:t>+4</m:t>
                      </m:r>
                      <m:r>
                        <a:rPr lang="en-GB" sz="2000" b="0" i="1" smtClean="0">
                          <a:solidFill>
                            <a:schemeClr val="accent2"/>
                          </a:solidFill>
                          <a:latin typeface="Cambria Math" panose="02040503050406030204" pitchFamily="18" charset="0"/>
                        </a:rPr>
                        <m:t>𝑦</m:t>
                      </m:r>
                      <m:r>
                        <m:rPr>
                          <m:aln/>
                        </m:rPr>
                        <a:rPr lang="en-GB" sz="2000" b="0" i="1" smtClean="0">
                          <a:solidFill>
                            <a:schemeClr val="accent2"/>
                          </a:solidFill>
                          <a:latin typeface="Cambria Math" panose="02040503050406030204" pitchFamily="18" charset="0"/>
                        </a:rPr>
                        <m:t>≤</m:t>
                      </m:r>
                      <m:r>
                        <a:rPr lang="en-GB" sz="2000" b="0" i="1" smtClean="0">
                          <a:solidFill>
                            <a:schemeClr val="accent2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GB" sz="2000" i="1" dirty="0">
                  <a:solidFill>
                    <a:schemeClr val="accent2"/>
                  </a:solidFill>
                  <a:latin typeface="Cambria Math" panose="02040503050406030204" pitchFamily="18" charset="0"/>
                </a:endParaRPr>
              </a:p>
              <a:p>
                <a:pPr marL="0" indent="0">
                  <a:buFont typeface="Arial" panose="020B0604020202020204" pitchFamily="34" charset="0"/>
                  <a:buNone/>
                </a:pPr>
                <a:r>
                  <a:rPr lang="en-GB" sz="2000" dirty="0"/>
                  <a:t>and</a:t>
                </a:r>
                <a:br>
                  <a:rPr lang="en-GB" sz="2000" i="1" dirty="0">
                    <a:solidFill>
                      <a:schemeClr val="accent2"/>
                    </a:solidFill>
                    <a:latin typeface="Cambria Math" panose="02040503050406030204" pitchFamily="18" charset="0"/>
                  </a:rPr>
                </a:br>
                <a:r>
                  <a:rPr lang="en-GB" sz="2000" i="1" dirty="0">
                    <a:solidFill>
                      <a:schemeClr val="accent2"/>
                    </a:solidFill>
                    <a:latin typeface="Cambria Math" panose="02040503050406030204" pitchFamily="18" charset="0"/>
                  </a:rPr>
                  <a:t> 		     </a:t>
                </a:r>
                <a14:m>
                  <m:oMath xmlns:m="http://schemas.openxmlformats.org/officeDocument/2006/math">
                    <m:r>
                      <a:rPr lang="en-GB" sz="200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𝑥</m:t>
                    </m:r>
                    <m:r>
                      <m:rPr>
                        <m:aln/>
                      </m:rPr>
                      <a:rPr lang="en-GB" sz="200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≥</m:t>
                    </m:r>
                    <m:r>
                      <a:rPr lang="en-GB" sz="200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br>
                  <a:rPr lang="en-GB" sz="2000" i="1" dirty="0">
                    <a:solidFill>
                      <a:schemeClr val="accent1"/>
                    </a:solidFill>
                    <a:latin typeface="Cambria Math" panose="02040503050406030204" pitchFamily="18" charset="0"/>
                  </a:rPr>
                </a:br>
                <a:r>
                  <a:rPr lang="en-GB" sz="2000" i="1" dirty="0">
                    <a:solidFill>
                      <a:schemeClr val="accent1"/>
                    </a:solidFill>
                    <a:latin typeface="Cambria Math" panose="02040503050406030204" pitchFamily="18" charset="0"/>
                  </a:rPr>
                  <a:t> 		     </a:t>
                </a:r>
                <a14:m>
                  <m:oMath xmlns:m="http://schemas.openxmlformats.org/officeDocument/2006/math">
                    <m:r>
                      <a:rPr lang="en-GB" sz="2000" i="1" smtClean="0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𝑦</m:t>
                    </m:r>
                    <m:r>
                      <m:rPr>
                        <m:aln/>
                      </m:rPr>
                      <a:rPr lang="en-GB" sz="2000" i="1" smtClean="0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≥</m:t>
                    </m:r>
                    <m:r>
                      <a:rPr lang="en-GB" sz="2000" i="1" smtClean="0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endParaRPr lang="en-GB" sz="1600" u="sng" dirty="0"/>
              </a:p>
            </p:txBody>
          </p:sp>
        </mc:Choice>
        <mc:Fallback xmlns="">
          <p:sp>
            <p:nvSpPr>
              <p:cNvPr id="6" name="Content Placeholder 2">
                <a:extLst>
                  <a:ext uri="{FF2B5EF4-FFF2-40B4-BE49-F238E27FC236}">
                    <a16:creationId xmlns:a16="http://schemas.microsoft.com/office/drawing/2014/main" id="{03AA5A98-CCB6-4776-BF55-D518B17469E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46769" y="1487817"/>
                <a:ext cx="4289982" cy="2330039"/>
              </a:xfrm>
              <a:prstGeom prst="rect">
                <a:avLst/>
              </a:prstGeom>
              <a:blipFill>
                <a:blip r:embed="rId3"/>
                <a:stretch>
                  <a:fillRect l="-1271" t="-2067"/>
                </a:stretch>
              </a:blipFill>
              <a:ln w="28575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Content Placeholder 2">
                <a:extLst>
                  <a:ext uri="{FF2B5EF4-FFF2-40B4-BE49-F238E27FC236}">
                    <a16:creationId xmlns:a16="http://schemas.microsoft.com/office/drawing/2014/main" id="{F0A442F2-8CDD-41B3-A473-0D23A68EB622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3828461" y="4317476"/>
                <a:ext cx="4535078" cy="2330039"/>
              </a:xfrm>
              <a:prstGeom prst="rect">
                <a:avLst/>
              </a:prstGeom>
              <a:ln w="28575">
                <a:solidFill>
                  <a:schemeClr val="tx1"/>
                </a:solidFill>
              </a:ln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 panose="020B0604020202020204" pitchFamily="34" charset="0"/>
                  <a:buNone/>
                </a:pPr>
                <a:r>
                  <a:rPr lang="en-GB" sz="2000" dirty="0">
                    <a:solidFill>
                      <a:schemeClr val="tx1"/>
                    </a:solidFill>
                  </a:rPr>
                  <a:t>maximise      </a:t>
                </a:r>
                <a14:m>
                  <m:oMath xmlns:m="http://schemas.openxmlformats.org/officeDocument/2006/math">
                    <m:m>
                      <m:mPr>
                        <m:mcs>
                          <m:mc>
                            <m:mcPr>
                              <m:count m:val="2"/>
                              <m:mcJc m:val="center"/>
                            </m:mcPr>
                          </m:mc>
                        </m:mcs>
                        <m:ctrlPr>
                          <a:rPr lang="en-GB" sz="200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mPr>
                      <m:mr>
                        <m:e>
                          <m:r>
                            <m:rPr>
                              <m:brk m:alnAt="7"/>
                            </m:rPr>
                            <a:rPr lang="en-GB" sz="2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[</m:t>
                          </m:r>
                          <m:r>
                            <a:rPr lang="en-GB" sz="2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5</m:t>
                          </m:r>
                        </m:e>
                        <m:e>
                          <m:r>
                            <a:rPr lang="en-GB" sz="2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7]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lang="en-GB" sz="2000" b="0" i="1" dirty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1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en-GB" sz="2000" b="0" i="1" dirty="0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en-GB" sz="2000" b="0" i="1" dirty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</m:mr>
                                <m:mr>
                                  <m:e>
                                    <m:r>
                                      <a:rPr lang="en-GB" sz="2000" b="0" i="1" dirty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𝑦</m:t>
                                    </m:r>
                                  </m:e>
                                </m:mr>
                              </m:m>
                            </m:e>
                          </m:d>
                        </m:e>
                      </m:mr>
                    </m:m>
                  </m:oMath>
                </a14:m>
                <a:endParaRPr lang="en-GB" sz="2000" dirty="0">
                  <a:solidFill>
                    <a:schemeClr val="tx1"/>
                  </a:solidFill>
                </a:endParaRPr>
              </a:p>
              <a:p>
                <a:pPr marL="0" indent="0">
                  <a:buFont typeface="Arial" panose="020B0604020202020204" pitchFamily="34" charset="0"/>
                  <a:buNone/>
                </a:pPr>
                <a:r>
                  <a:rPr lang="en-GB" sz="2000" dirty="0">
                    <a:solidFill>
                      <a:schemeClr val="tx1"/>
                    </a:solidFill>
                  </a:rPr>
                  <a:t>subject to:	</a:t>
                </a:r>
              </a:p>
              <a:p>
                <a:pPr marL="0" indent="0"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["/>
                          <m:endChr m:val="]"/>
                          <m:ctrlPr>
                            <a:rPr lang="en-GB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GB" sz="200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GB" sz="20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3</m:t>
                                </m:r>
                              </m:e>
                              <m:e>
                                <m:r>
                                  <a:rPr lang="en-GB" sz="20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e>
                            </m:mr>
                            <m:mr>
                              <m:e>
                                <m:r>
                                  <a:rPr lang="en-GB" sz="20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−1</m:t>
                                </m:r>
                              </m:e>
                              <m:e>
                                <m:r>
                                  <a:rPr lang="en-GB" sz="20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4</m:t>
                                </m:r>
                              </m:e>
                            </m:mr>
                          </m:m>
                        </m:e>
                      </m:d>
                      <m:d>
                        <m:dPr>
                          <m:begChr m:val="["/>
                          <m:endChr m:val="]"/>
                          <m:ctrlPr>
                            <a:rPr lang="en-GB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GB" sz="200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GB" sz="20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</m:mr>
                            <m:mr>
                              <m:e>
                                <m:r>
                                  <a:rPr lang="en-GB" sz="20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</m:mr>
                          </m:m>
                        </m:e>
                      </m:d>
                      <m:r>
                        <a:rPr lang="en-GB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≤</m:t>
                      </m:r>
                      <m:d>
                        <m:dPr>
                          <m:begChr m:val="["/>
                          <m:endChr m:val="]"/>
                          <m:ctrlPr>
                            <a:rPr lang="en-GB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GB" sz="20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GB" sz="20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  <m:r>
                                  <a:rPr lang="en-GB" sz="20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44</m:t>
                                </m:r>
                              </m:e>
                            </m:mr>
                            <m:mr>
                              <m:e>
                                <m:r>
                                  <a:rPr lang="en-GB" sz="20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GB" sz="2000" i="1" dirty="0">
                  <a:solidFill>
                    <a:schemeClr val="tx1"/>
                  </a:solidFill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r>
                  <a:rPr lang="en-GB" sz="2000" dirty="0">
                    <a:solidFill>
                      <a:schemeClr val="tx1"/>
                    </a:solidFill>
                  </a:rPr>
                  <a:t>and</a:t>
                </a:r>
                <a:br>
                  <a:rPr lang="en-GB" sz="2000" i="1" dirty="0">
                    <a:solidFill>
                      <a:schemeClr val="tx1"/>
                    </a:solidFill>
                    <a:latin typeface="Cambria Math" panose="02040503050406030204" pitchFamily="18" charset="0"/>
                  </a:rPr>
                </a:br>
                <a:r>
                  <a:rPr lang="en-GB" sz="2000" i="1" dirty="0">
                    <a:solidFill>
                      <a:schemeClr val="tx1"/>
                    </a:solidFill>
                    <a:latin typeface="Cambria Math" panose="02040503050406030204" pitchFamily="18" charset="0"/>
                  </a:rPr>
                  <a:t> 		 </a:t>
                </a:r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en-GB" sz="2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1"/>
                                  <m:mcJc m:val="center"/>
                                </m:mcPr>
                              </m:mc>
                            </m:mcs>
                            <m:ctrlPr>
                              <a:rPr lang="en-GB" sz="20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r>
                                <m:rPr>
                                  <m:brk m:alnAt="7"/>
                                </m:rPr>
                                <a:rPr lang="en-GB" sz="20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mr>
                          <m:mr>
                            <m:e>
                              <m:r>
                                <a:rPr lang="en-GB" sz="20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mr>
                        </m:m>
                      </m:e>
                    </m:d>
                    <m:r>
                      <a:rPr lang="en-GB" sz="20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≥</m:t>
                    </m:r>
                    <m:d>
                      <m:dPr>
                        <m:begChr m:val="["/>
                        <m:endChr m:val="]"/>
                        <m:ctrlPr>
                          <a:rPr lang="en-GB" sz="2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1"/>
                                  <m:mcJc m:val="center"/>
                                </m:mcPr>
                              </m:mc>
                            </m:mcs>
                            <m:ctrlPr>
                              <a:rPr lang="en-GB" sz="20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r>
                                <m:rPr>
                                  <m:brk m:alnAt="7"/>
                                </m:rPr>
                                <a:rPr lang="en-GB" sz="20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</m:mr>
                          <m:mr>
                            <m:e>
                              <m:r>
                                <a:rPr lang="en-GB" sz="20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</m:mr>
                        </m:m>
                      </m:e>
                    </m:d>
                  </m:oMath>
                </a14:m>
                <a:endParaRPr lang="en-GB" sz="1600" u="sng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7" name="Content Placeholder 2">
                <a:extLst>
                  <a:ext uri="{FF2B5EF4-FFF2-40B4-BE49-F238E27FC236}">
                    <a16:creationId xmlns:a16="http://schemas.microsoft.com/office/drawing/2014/main" id="{F0A442F2-8CDD-41B3-A473-0D23A68EB62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28461" y="4317476"/>
                <a:ext cx="4535078" cy="2330039"/>
              </a:xfrm>
              <a:prstGeom prst="rect">
                <a:avLst/>
              </a:prstGeom>
              <a:blipFill>
                <a:blip r:embed="rId4"/>
                <a:stretch>
                  <a:fillRect l="-1068"/>
                </a:stretch>
              </a:blipFill>
              <a:ln w="28575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D911DFFC-CC29-41D8-BD58-58F01D35B36E}"/>
              </a:ext>
            </a:extLst>
          </p:cNvPr>
          <p:cNvCxnSpPr>
            <a:cxnSpLocks/>
            <a:stCxn id="3" idx="3"/>
            <a:endCxn id="6" idx="1"/>
          </p:cNvCxnSpPr>
          <p:nvPr/>
        </p:nvCxnSpPr>
        <p:spPr>
          <a:xfrm>
            <a:off x="4779390" y="2652837"/>
            <a:ext cx="2167379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Connector: Elbow 9">
            <a:extLst>
              <a:ext uri="{FF2B5EF4-FFF2-40B4-BE49-F238E27FC236}">
                <a16:creationId xmlns:a16="http://schemas.microsoft.com/office/drawing/2014/main" id="{BA634743-B38E-4A5C-935B-06A45A5F3A23}"/>
              </a:ext>
            </a:extLst>
          </p:cNvPr>
          <p:cNvCxnSpPr>
            <a:cxnSpLocks/>
            <a:stCxn id="6" idx="2"/>
            <a:endCxn id="7" idx="0"/>
          </p:cNvCxnSpPr>
          <p:nvPr/>
        </p:nvCxnSpPr>
        <p:spPr>
          <a:xfrm rot="5400000">
            <a:off x="7344070" y="2569786"/>
            <a:ext cx="499620" cy="2995760"/>
          </a:xfrm>
          <a:prstGeom prst="bentConnector3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878161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6" grpId="0" animBg="1"/>
      <p:bldP spid="7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E593E6-3D2F-4C7E-80B2-F78D636A9E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06293"/>
          </a:xfrm>
        </p:spPr>
        <p:txBody>
          <a:bodyPr/>
          <a:lstStyle/>
          <a:p>
            <a:r>
              <a:rPr lang="en-GB" dirty="0"/>
              <a:t>Canonical Form (Matrices)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198A88B-52B3-469E-A512-B72752EB786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450109"/>
                <a:ext cx="10515600" cy="2292332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GB" dirty="0"/>
                  <a:t>Let</a:t>
                </a:r>
              </a:p>
              <a:p>
                <a:pPr marL="0" indent="0">
                  <a:buNone/>
                </a:pPr>
                <a:r>
                  <a:rPr lang="en-GB" dirty="0"/>
                  <a:t> </a:t>
                </a:r>
                <a14:m>
                  <m:oMath xmlns:m="http://schemas.openxmlformats.org/officeDocument/2006/math">
                    <m:r>
                      <a:rPr lang="en-GB" b="1" i="1" smtClean="0">
                        <a:latin typeface="Cambria Math" panose="02040503050406030204" pitchFamily="18" charset="0"/>
                      </a:rPr>
                      <m:t>𝒄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en-GB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1"/>
                                  <m:mcJc m:val="center"/>
                                </m:mcPr>
                              </m:mc>
                            </m:mcs>
                            <m:ctrlPr>
                              <a:rPr lang="en-GB" i="1" dirty="0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r>
                                <m:rPr>
                                  <m:brk m:alnAt="7"/>
                                </m:rPr>
                                <a:rPr lang="en-GB" b="0" i="1" dirty="0" smtClean="0">
                                  <a:latin typeface="Cambria Math" panose="02040503050406030204" pitchFamily="18" charset="0"/>
                                </a:rPr>
                                <m:t>5</m:t>
                              </m:r>
                            </m:e>
                          </m:mr>
                          <m:mr>
                            <m:e>
                              <m:r>
                                <a:rPr lang="en-GB" b="0" i="1" dirty="0" smtClean="0">
                                  <a:latin typeface="Cambria Math" panose="02040503050406030204" pitchFamily="18" charset="0"/>
                                </a:rPr>
                                <m:t>7</m:t>
                              </m:r>
                            </m:e>
                          </m:mr>
                        </m:m>
                      </m:e>
                    </m:d>
                    <m:r>
                      <a:rPr lang="en-GB" b="0" i="0" smtClean="0">
                        <a:latin typeface="Cambria Math" panose="02040503050406030204" pitchFamily="18" charset="0"/>
                      </a:rPr>
                      <m:t>,        </m:t>
                    </m:r>
                    <m:r>
                      <a:rPr lang="en-GB" b="1" i="1" dirty="0">
                        <a:latin typeface="Cambria Math" panose="02040503050406030204" pitchFamily="18" charset="0"/>
                      </a:rPr>
                      <m:t>𝒙</m:t>
                    </m:r>
                    <m:r>
                      <a:rPr lang="en-GB" i="1" dirty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en-GB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1"/>
                                  <m:mcJc m:val="center"/>
                                </m:mcPr>
                              </m:mc>
                            </m:mcs>
                            <m:ctrlPr>
                              <a:rPr lang="en-GB" i="1" dirty="0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sSub>
                                <m:sSubPr>
                                  <m:ctrlPr>
                                    <a:rPr lang="en-GB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brk m:alnAt="7"/>
                                    </m:rPr>
                                    <a:rPr lang="en-GB" i="1" dirty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m:rPr>
                                      <m:brk m:alnAt="7"/>
                                    </m:rPr>
                                    <a:rPr lang="en-GB" b="0" i="1" dirty="0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</m:mr>
                          <m:mr>
                            <m:e>
                              <m:sSub>
                                <m:sSubPr>
                                  <m:ctrlPr>
                                    <a:rPr lang="en-GB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GB" b="0" i="1" dirty="0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GB" b="0" i="1" dirty="0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e>
                          </m:mr>
                        </m:m>
                      </m:e>
                    </m:d>
                    <m:r>
                      <a:rPr lang="en-GB" b="0" i="1" dirty="0" smtClean="0">
                        <a:latin typeface="Cambria Math" panose="02040503050406030204" pitchFamily="18" charset="0"/>
                      </a:rPr>
                      <m:t>,        </m:t>
                    </m:r>
                    <m:r>
                      <a:rPr lang="en-GB" b="1" i="1" smtClean="0">
                        <a:latin typeface="Cambria Math" panose="02040503050406030204" pitchFamily="18" charset="0"/>
                      </a:rPr>
                      <m:t>𝑨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en-GB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2"/>
                                  <m:mcJc m:val="center"/>
                                </m:mcPr>
                              </m:mc>
                            </m:mcs>
                            <m:ctrlPr>
                              <a:rPr lang="en-GB" i="1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r>
                                <m:rPr>
                                  <m:brk m:alnAt="7"/>
                                </m:rPr>
                                <a:rPr lang="en-GB" i="1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e>
                            <m:e>
                              <m:r>
                                <a:rPr lang="en-GB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</m:mr>
                          <m:mr>
                            <m:e>
                              <m:r>
                                <a:rPr lang="en-GB" i="1"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e>
                            <m:e>
                              <m:r>
                                <a:rPr lang="en-GB" i="1"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e>
                          </m:mr>
                        </m:m>
                      </m:e>
                    </m:d>
                    <m:r>
                      <a:rPr lang="en-GB" b="0" i="1" smtClean="0">
                        <a:latin typeface="Cambria Math" panose="02040503050406030204" pitchFamily="18" charset="0"/>
                      </a:rPr>
                      <m:t>,         </m:t>
                    </m:r>
                    <m:r>
                      <a:rPr lang="en-GB" b="1" i="1" smtClean="0">
                        <a:latin typeface="Cambria Math" panose="02040503050406030204" pitchFamily="18" charset="0"/>
                      </a:rPr>
                      <m:t>𝒃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en-GB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1"/>
                                  <m:mcJc m:val="center"/>
                                </m:mcPr>
                              </m:mc>
                            </m:mcs>
                            <m:ctrlPr>
                              <a:rPr lang="en-GB" i="1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r>
                                <m:rPr>
                                  <m:brk m:alnAt="7"/>
                                </m:rPr>
                                <a:rPr lang="en-GB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  <m:r>
                                <a:rPr lang="en-GB" i="1">
                                  <a:latin typeface="Cambria Math" panose="02040503050406030204" pitchFamily="18" charset="0"/>
                                </a:rPr>
                                <m:t>44</m:t>
                              </m:r>
                            </m:e>
                          </m:mr>
                          <m:mr>
                            <m:e>
                              <m:r>
                                <a:rPr lang="en-GB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</m:mr>
                        </m:m>
                      </m:e>
                    </m:d>
                  </m:oMath>
                </a14:m>
                <a:endParaRPr lang="en-GB" dirty="0"/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:endParaRPr lang="en-GB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198A88B-52B3-469E-A512-B72752EB786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450109"/>
                <a:ext cx="10515600" cy="2292332"/>
              </a:xfrm>
              <a:blipFill>
                <a:blip r:embed="rId2"/>
                <a:stretch>
                  <a:fillRect l="-1217" t="-4521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8A982067-A33F-49C4-BEE1-9D201D43ED4F}"/>
                  </a:ext>
                </a:extLst>
              </p:cNvPr>
              <p:cNvSpPr/>
              <p:nvPr/>
            </p:nvSpPr>
            <p:spPr>
              <a:xfrm>
                <a:off x="1201918" y="3339840"/>
                <a:ext cx="5077905" cy="2742482"/>
              </a:xfrm>
              <a:prstGeom prst="rect">
                <a:avLst/>
              </a:prstGeom>
              <a:ln w="28575"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/>
              <a:p>
                <a:r>
                  <a:rPr lang="en-GB" sz="2400" dirty="0"/>
                  <a:t>maximise      </a:t>
                </a:r>
                <a14:m>
                  <m:oMath xmlns:m="http://schemas.openxmlformats.org/officeDocument/2006/math">
                    <m:m>
                      <m:mPr>
                        <m:mcs>
                          <m:mc>
                            <m:mcPr>
                              <m:count m:val="2"/>
                              <m:mcJc m:val="center"/>
                            </m:mcPr>
                          </m:mc>
                        </m:mcs>
                        <m:ctrlPr>
                          <a:rPr lang="en-GB" sz="2400" i="1" dirty="0">
                            <a:latin typeface="Cambria Math" panose="02040503050406030204" pitchFamily="18" charset="0"/>
                          </a:rPr>
                        </m:ctrlPr>
                      </m:mPr>
                      <m:mr>
                        <m:e>
                          <m:r>
                            <m:rPr>
                              <m:brk m:alnAt="7"/>
                            </m:rPr>
                            <a:rPr lang="en-GB" sz="2400" i="1" dirty="0">
                              <a:latin typeface="Cambria Math" panose="02040503050406030204" pitchFamily="18" charset="0"/>
                            </a:rPr>
                            <m:t>[</m:t>
                          </m:r>
                          <m:r>
                            <a:rPr lang="en-GB" sz="2400" i="1" dirty="0">
                              <a:latin typeface="Cambria Math" panose="02040503050406030204" pitchFamily="18" charset="0"/>
                            </a:rPr>
                            <m:t>5</m:t>
                          </m:r>
                        </m:e>
                        <m:e>
                          <m:r>
                            <a:rPr lang="en-GB" sz="2400" i="1" dirty="0">
                              <a:latin typeface="Cambria Math" panose="02040503050406030204" pitchFamily="18" charset="0"/>
                            </a:rPr>
                            <m:t>7]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lang="en-GB" sz="2400" i="1" dirty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1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en-GB" sz="24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sSub>
                                      <m:sSubPr>
                                        <m:ctrlPr>
                                          <a:rPr lang="en-GB" sz="2400" b="0" i="1" dirty="0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m:rPr>
                                            <m:brk m:alnAt="7"/>
                                          </m:rPr>
                                          <a:rPr lang="en-GB" sz="2400" i="1" dirty="0">
                                            <a:latin typeface="Cambria Math" panose="02040503050406030204" pitchFamily="18" charset="0"/>
                                          </a:rPr>
                                          <m:t>𝑥</m:t>
                                        </m:r>
                                      </m:e>
                                      <m:sub>
                                        <m:r>
                                          <m:rPr>
                                            <m:brk m:alnAt="7"/>
                                          </m:rPr>
                                          <a:rPr lang="en-GB" sz="2400" b="0" i="1" dirty="0" smtClean="0">
                                            <a:latin typeface="Cambria Math" panose="02040503050406030204" pitchFamily="18" charset="0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</m:e>
                                </m:mr>
                                <m:mr>
                                  <m:e>
                                    <m:sSub>
                                      <m:sSubPr>
                                        <m:ctrlPr>
                                          <a:rPr lang="en-GB" sz="2400" b="0" i="1" dirty="0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GB" sz="2400" b="0" i="1" dirty="0" smtClean="0">
                                            <a:latin typeface="Cambria Math" panose="02040503050406030204" pitchFamily="18" charset="0"/>
                                          </a:rPr>
                                          <m:t>𝑥</m:t>
                                        </m:r>
                                      </m:e>
                                      <m:sub>
                                        <m:r>
                                          <a:rPr lang="en-GB" sz="2400" b="0" i="1" dirty="0" smtClean="0"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b>
                                    </m:sSub>
                                  </m:e>
                                </m:mr>
                              </m:m>
                            </m:e>
                          </m:d>
                        </m:e>
                      </m:mr>
                    </m:m>
                  </m:oMath>
                </a14:m>
                <a:endParaRPr lang="en-GB" sz="2400" dirty="0"/>
              </a:p>
              <a:p>
                <a:r>
                  <a:rPr lang="en-GB" sz="2400" dirty="0"/>
                  <a:t>subject to:	</a:t>
                </a:r>
              </a:p>
              <a:p>
                <a:r>
                  <a:rPr lang="en-GB" sz="2400" dirty="0"/>
                  <a:t>                     </a:t>
                </a:r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en-GB" sz="240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2"/>
                                  <m:mcJc m:val="center"/>
                                </m:mcPr>
                              </m:mc>
                            </m:mcs>
                            <m:ctrlPr>
                              <a:rPr lang="en-GB" sz="2400" i="1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r>
                                <m:rPr>
                                  <m:brk m:alnAt="7"/>
                                </m:rPr>
                                <a:rPr lang="en-GB" sz="2400" i="1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e>
                            <m:e>
                              <m:r>
                                <a:rPr lang="en-GB" sz="24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</m:mr>
                          <m:mr>
                            <m:e>
                              <m:r>
                                <a:rPr lang="en-GB" sz="2400" i="1"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e>
                            <m:e>
                              <m:r>
                                <a:rPr lang="en-GB" sz="2400" i="1"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e>
                          </m:mr>
                        </m:m>
                      </m:e>
                    </m:d>
                    <m:d>
                      <m:dPr>
                        <m:begChr m:val="["/>
                        <m:endChr m:val="]"/>
                        <m:ctrlPr>
                          <a:rPr lang="en-GB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1"/>
                                  <m:mcJc m:val="center"/>
                                </m:mcPr>
                              </m:mc>
                            </m:mcs>
                            <m:ctrlPr>
                              <a:rPr lang="en-GB" sz="2400" i="1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sSub>
                                <m:sSubPr>
                                  <m:ctrlPr>
                                    <a:rPr lang="en-GB" sz="2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GB" sz="2400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GB" sz="2400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</m:mr>
                          <m:mr>
                            <m:e>
                              <m:sSub>
                                <m:sSubPr>
                                  <m:ctrlPr>
                                    <a:rPr lang="en-GB" sz="2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GB" sz="2400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GB" sz="2400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e>
                          </m:mr>
                        </m:m>
                      </m:e>
                    </m:d>
                    <m:r>
                      <a:rPr lang="en-GB" sz="2400" i="1">
                        <a:latin typeface="Cambria Math" panose="02040503050406030204" pitchFamily="18" charset="0"/>
                      </a:rPr>
                      <m:t>≤</m:t>
                    </m:r>
                    <m:d>
                      <m:dPr>
                        <m:begChr m:val="["/>
                        <m:endChr m:val="]"/>
                        <m:ctrlPr>
                          <a:rPr lang="en-GB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1"/>
                                  <m:mcJc m:val="center"/>
                                </m:mcPr>
                              </m:mc>
                            </m:mcs>
                            <m:ctrlPr>
                              <a:rPr lang="en-GB" sz="2400" i="1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r>
                                <m:rPr>
                                  <m:brk m:alnAt="7"/>
                                </m:rPr>
                                <a:rPr lang="en-GB" sz="24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  <m:r>
                                <a:rPr lang="en-GB" sz="2400" b="0" i="1" smtClean="0">
                                  <a:latin typeface="Cambria Math" panose="02040503050406030204" pitchFamily="18" charset="0"/>
                                </a:rPr>
                                <m:t>44</m:t>
                              </m:r>
                            </m:e>
                          </m:mr>
                          <m:mr>
                            <m:e>
                              <m:r>
                                <a:rPr lang="en-GB" sz="240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</m:mr>
                        </m:m>
                      </m:e>
                    </m:d>
                  </m:oMath>
                </a14:m>
                <a:endParaRPr lang="en-GB" sz="2400" i="1" dirty="0">
                  <a:latin typeface="Cambria Math" panose="02040503050406030204" pitchFamily="18" charset="0"/>
                </a:endParaRPr>
              </a:p>
              <a:p>
                <a:r>
                  <a:rPr lang="en-GB" sz="2400" dirty="0"/>
                  <a:t>and</a:t>
                </a:r>
                <a:br>
                  <a:rPr lang="en-GB" sz="2400" i="1" dirty="0">
                    <a:latin typeface="Cambria Math" panose="02040503050406030204" pitchFamily="18" charset="0"/>
                  </a:rPr>
                </a:br>
                <a:r>
                  <a:rPr lang="en-GB" sz="2400" i="1" dirty="0">
                    <a:latin typeface="Cambria Math" panose="02040503050406030204" pitchFamily="18" charset="0"/>
                  </a:rPr>
                  <a:t> 		      </a:t>
                </a:r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en-GB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1"/>
                                  <m:mcJc m:val="center"/>
                                </m:mcPr>
                              </m:mc>
                            </m:mcs>
                            <m:ctrlPr>
                              <a:rPr lang="en-GB" sz="2400" i="1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sSub>
                                <m:sSubPr>
                                  <m:ctrlPr>
                                    <a:rPr lang="en-GB" sz="2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brk m:alnAt="7"/>
                                    </m:rPr>
                                    <a:rPr lang="en-GB" sz="24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m:rPr>
                                      <m:brk m:alnAt="7"/>
                                    </m:rPr>
                                    <a:rPr lang="en-GB" sz="2400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</m:mr>
                          <m:mr>
                            <m:e>
                              <m:sSub>
                                <m:sSubPr>
                                  <m:ctrlPr>
                                    <a:rPr lang="en-GB" sz="2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GB" sz="2400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GB" sz="2400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e>
                          </m:mr>
                        </m:m>
                      </m:e>
                    </m:d>
                    <m:r>
                      <a:rPr lang="en-GB" sz="2400" i="1">
                        <a:latin typeface="Cambria Math" panose="02040503050406030204" pitchFamily="18" charset="0"/>
                      </a:rPr>
                      <m:t>≥</m:t>
                    </m:r>
                    <m:d>
                      <m:dPr>
                        <m:begChr m:val="["/>
                        <m:endChr m:val="]"/>
                        <m:ctrlPr>
                          <a:rPr lang="en-GB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1"/>
                                  <m:mcJc m:val="center"/>
                                </m:mcPr>
                              </m:mc>
                            </m:mcs>
                            <m:ctrlPr>
                              <a:rPr lang="en-GB" sz="2400" i="1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r>
                                <m:rPr>
                                  <m:brk m:alnAt="7"/>
                                </m:rPr>
                                <a:rPr lang="en-GB" sz="240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</m:mr>
                          <m:mr>
                            <m:e>
                              <m:r>
                                <a:rPr lang="en-GB" sz="240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</m:mr>
                        </m:m>
                      </m:e>
                    </m:d>
                  </m:oMath>
                </a14:m>
                <a:endParaRPr lang="en-GB" sz="2400" dirty="0"/>
              </a:p>
            </p:txBody>
          </p:sp>
        </mc:Choice>
        <mc:Fallback xmlns=""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8A982067-A33F-49C4-BEE1-9D201D43ED4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01918" y="3339840"/>
                <a:ext cx="5077905" cy="2742482"/>
              </a:xfrm>
              <a:prstGeom prst="rect">
                <a:avLst/>
              </a:prstGeom>
              <a:blipFill>
                <a:blip r:embed="rId3"/>
                <a:stretch>
                  <a:fillRect l="-1551"/>
                </a:stretch>
              </a:blipFill>
              <a:ln w="28575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E295AB58-BE45-4FE7-83C0-F81F19BA4A1E}"/>
                  </a:ext>
                </a:extLst>
              </p:cNvPr>
              <p:cNvSpPr/>
              <p:nvPr/>
            </p:nvSpPr>
            <p:spPr>
              <a:xfrm>
                <a:off x="7359977" y="3742441"/>
                <a:ext cx="3993823" cy="1945533"/>
              </a:xfrm>
              <a:prstGeom prst="rect">
                <a:avLst/>
              </a:prstGeom>
              <a:solidFill>
                <a:schemeClr val="accent5"/>
              </a:solidFill>
              <a:ln w="19050"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/>
              <a:p>
                <a:r>
                  <a:rPr lang="en-GB" sz="2400" u="sng" dirty="0"/>
                  <a:t>Canonical Form</a:t>
                </a:r>
              </a:p>
              <a:p>
                <a:endParaRPr lang="en-GB" sz="2400" dirty="0"/>
              </a:p>
              <a:p>
                <a:r>
                  <a:rPr lang="en-GB" sz="2400" dirty="0"/>
                  <a:t>maximise    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GB" sz="2400" b="1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GB" sz="2400" b="1" i="1" smtClean="0">
                            <a:latin typeface="Cambria Math" panose="02040503050406030204" pitchFamily="18" charset="0"/>
                          </a:rPr>
                          <m:t>𝒄</m:t>
                        </m:r>
                      </m:e>
                      <m:sup>
                        <m:r>
                          <a:rPr lang="en-GB" sz="2400" b="1" i="1" smtClean="0">
                            <a:latin typeface="Cambria Math" panose="02040503050406030204" pitchFamily="18" charset="0"/>
                          </a:rPr>
                          <m:t>𝑻</m:t>
                        </m:r>
                      </m:sup>
                    </m:sSup>
                    <m:r>
                      <a:rPr lang="en-GB" sz="2400" b="1" i="1" smtClean="0">
                        <a:latin typeface="Cambria Math" panose="02040503050406030204" pitchFamily="18" charset="0"/>
                      </a:rPr>
                      <m:t>𝒙</m:t>
                    </m:r>
                  </m:oMath>
                </a14:m>
                <a:endParaRPr lang="en-GB" sz="2400" b="1" dirty="0"/>
              </a:p>
              <a:p>
                <a:r>
                  <a:rPr lang="en-GB" sz="2400" dirty="0"/>
                  <a:t>subject to:  </a:t>
                </a:r>
                <a:r>
                  <a:rPr lang="en-GB" sz="2400" b="1" dirty="0"/>
                  <a:t> </a:t>
                </a:r>
                <a14:m>
                  <m:oMath xmlns:m="http://schemas.openxmlformats.org/officeDocument/2006/math">
                    <m:r>
                      <a:rPr lang="en-GB" sz="2400" b="1" i="1" smtClean="0">
                        <a:latin typeface="Cambria Math" panose="02040503050406030204" pitchFamily="18" charset="0"/>
                      </a:rPr>
                      <m:t>𝑨𝒙</m:t>
                    </m:r>
                    <m:r>
                      <a:rPr lang="en-GB" sz="2400" i="1">
                        <a:latin typeface="Cambria Math" panose="02040503050406030204" pitchFamily="18" charset="0"/>
                      </a:rPr>
                      <m:t>≤</m:t>
                    </m:r>
                    <m:r>
                      <a:rPr lang="en-GB" sz="2400" b="1" i="1" smtClean="0">
                        <a:latin typeface="Cambria Math" panose="02040503050406030204" pitchFamily="18" charset="0"/>
                      </a:rPr>
                      <m:t>𝒃</m:t>
                    </m:r>
                  </m:oMath>
                </a14:m>
                <a:endParaRPr lang="en-GB" sz="2400" b="1" i="1" dirty="0">
                  <a:latin typeface="Cambria Math" panose="02040503050406030204" pitchFamily="18" charset="0"/>
                </a:endParaRPr>
              </a:p>
              <a:p>
                <a:r>
                  <a:rPr lang="en-GB" sz="2400" dirty="0"/>
                  <a:t>and </a:t>
                </a:r>
                <a:r>
                  <a:rPr lang="en-GB" sz="2400" i="1" dirty="0">
                    <a:latin typeface="Cambria Math" panose="02040503050406030204" pitchFamily="18" charset="0"/>
                  </a:rPr>
                  <a:t> 	         </a:t>
                </a:r>
                <a14:m>
                  <m:oMath xmlns:m="http://schemas.openxmlformats.org/officeDocument/2006/math">
                    <m:r>
                      <a:rPr lang="en-GB" sz="2400" b="1" i="1" smtClean="0">
                        <a:latin typeface="Cambria Math" panose="02040503050406030204" pitchFamily="18" charset="0"/>
                      </a:rPr>
                      <m:t>𝒙</m:t>
                    </m:r>
                    <m:r>
                      <a:rPr lang="en-GB" sz="2400" b="1" i="1">
                        <a:latin typeface="Cambria Math" panose="02040503050406030204" pitchFamily="18" charset="0"/>
                      </a:rPr>
                      <m:t>≥</m:t>
                    </m:r>
                    <m:r>
                      <a:rPr lang="en-GB" sz="2400" b="1" i="1" smtClean="0">
                        <a:latin typeface="Cambria Math" panose="02040503050406030204" pitchFamily="18" charset="0"/>
                      </a:rPr>
                      <m:t>𝟎</m:t>
                    </m:r>
                  </m:oMath>
                </a14:m>
                <a:endParaRPr lang="en-GB" sz="2400" b="1" dirty="0"/>
              </a:p>
            </p:txBody>
          </p:sp>
        </mc:Choice>
        <mc:Fallback xmlns=""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E295AB58-BE45-4FE7-83C0-F81F19BA4A1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59977" y="3742441"/>
                <a:ext cx="3993823" cy="1945533"/>
              </a:xfrm>
              <a:prstGeom prst="rect">
                <a:avLst/>
              </a:prstGeom>
              <a:blipFill>
                <a:blip r:embed="rId4"/>
                <a:stretch>
                  <a:fillRect l="-2124" t="-2174" b="-5590"/>
                </a:stretch>
              </a:blipFill>
              <a:ln w="1905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B76568B1-9B39-4168-9990-3809EAF6109F}"/>
              </a:ext>
            </a:extLst>
          </p:cNvPr>
          <p:cNvCxnSpPr>
            <a:cxnSpLocks/>
            <a:stCxn id="4" idx="3"/>
            <a:endCxn id="5" idx="1"/>
          </p:cNvCxnSpPr>
          <p:nvPr/>
        </p:nvCxnSpPr>
        <p:spPr>
          <a:xfrm>
            <a:off x="6279823" y="4711081"/>
            <a:ext cx="1080154" cy="4127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012262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4" grpId="0" animBg="1"/>
      <p:bldP spid="5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E593E6-3D2F-4C7E-80B2-F78D636A9E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06293"/>
          </a:xfrm>
        </p:spPr>
        <p:txBody>
          <a:bodyPr/>
          <a:lstStyle/>
          <a:p>
            <a:r>
              <a:rPr lang="en-GB" dirty="0"/>
              <a:t>In general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198A88B-52B3-469E-A512-B72752EB786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450109"/>
                <a:ext cx="10515600" cy="1849272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GB" dirty="0"/>
                  <a:t>Let</a:t>
                </a:r>
              </a:p>
              <a:p>
                <a:pPr marL="0" indent="0">
                  <a:buNone/>
                </a:pPr>
                <a:r>
                  <a:rPr lang="en-GB" dirty="0"/>
                  <a:t> </a:t>
                </a:r>
                <a14:m>
                  <m:oMath xmlns:m="http://schemas.openxmlformats.org/officeDocument/2006/math">
                    <m:r>
                      <a:rPr lang="en-GB" sz="2400" b="1" i="1" smtClean="0">
                        <a:latin typeface="Cambria Math" panose="02040503050406030204" pitchFamily="18" charset="0"/>
                      </a:rPr>
                      <m:t>𝒄</m:t>
                    </m:r>
                    <m:r>
                      <a:rPr lang="en-GB" sz="2400" b="0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en-GB" sz="24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1"/>
                                  <m:mcJc m:val="center"/>
                                </m:mcPr>
                              </m:mc>
                            </m:mcs>
                            <m:ctrlPr>
                              <a:rPr lang="en-GB" sz="2400" i="1" dirty="0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sSub>
                                <m:sSubPr>
                                  <m:ctrlPr>
                                    <a:rPr lang="en-GB" sz="2400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GB" sz="2400" b="0" i="1" dirty="0" smtClean="0">
                                      <a:latin typeface="Cambria Math" panose="02040503050406030204" pitchFamily="18" charset="0"/>
                                    </a:rPr>
                                    <m:t>𝑐</m:t>
                                  </m:r>
                                </m:e>
                                <m:sub>
                                  <m:r>
                                    <a:rPr lang="en-GB" sz="2400" b="0" i="1" dirty="0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</m:mr>
                          <m:mr>
                            <m:e>
                              <m:eqArr>
                                <m:eqArrPr>
                                  <m:ctrlPr>
                                    <a:rPr lang="en-GB" sz="240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eqArrPr>
                                <m:e>
                                  <m:r>
                                    <a:rPr lang="en-GB" sz="2400" i="1" dirty="0" smtClean="0">
                                      <a:latin typeface="Cambria Math" panose="02040503050406030204" pitchFamily="18" charset="0"/>
                                    </a:rPr>
                                    <m:t>⋮</m:t>
                                  </m:r>
                                </m:e>
                                <m:e>
                                  <m:sSub>
                                    <m:sSubPr>
                                      <m:ctrlPr>
                                        <a:rPr lang="en-GB" sz="2400" b="0" i="1" dirty="0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GB" sz="2400" b="0" i="1" dirty="0" smtClean="0">
                                          <a:latin typeface="Cambria Math" panose="02040503050406030204" pitchFamily="18" charset="0"/>
                                        </a:rPr>
                                        <m:t>𝑐</m:t>
                                      </m:r>
                                    </m:e>
                                    <m:sub>
                                      <m:r>
                                        <a:rPr lang="en-GB" sz="2400" b="0" i="1" dirty="0" smtClean="0">
                                          <a:latin typeface="Cambria Math" panose="02040503050406030204" pitchFamily="18" charset="0"/>
                                        </a:rPr>
                                        <m:t>𝑛</m:t>
                                      </m:r>
                                    </m:sub>
                                  </m:sSub>
                                </m:e>
                              </m:eqArr>
                            </m:e>
                          </m:mr>
                        </m:m>
                      </m:e>
                    </m:d>
                    <m:r>
                      <a:rPr lang="en-GB" sz="2400" b="0" i="0" smtClean="0">
                        <a:latin typeface="Cambria Math" panose="02040503050406030204" pitchFamily="18" charset="0"/>
                      </a:rPr>
                      <m:t>,        </m:t>
                    </m:r>
                    <m:r>
                      <a:rPr lang="en-GB" sz="2400" b="1" i="1" dirty="0">
                        <a:latin typeface="Cambria Math" panose="02040503050406030204" pitchFamily="18" charset="0"/>
                      </a:rPr>
                      <m:t>𝒙</m:t>
                    </m:r>
                    <m:r>
                      <a:rPr lang="en-GB" sz="2400" i="1" dirty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en-GB" sz="24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1"/>
                                  <m:mcJc m:val="center"/>
                                </m:mcPr>
                              </m:mc>
                            </m:mcs>
                            <m:ctrlPr>
                              <a:rPr lang="en-GB" sz="2400" i="1" dirty="0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sSub>
                                <m:sSubPr>
                                  <m:ctrlPr>
                                    <a:rPr lang="en-GB" sz="2400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GB" sz="2400" b="0" i="1" dirty="0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GB" sz="2400" b="0" i="1" dirty="0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</m:mr>
                          <m:mr>
                            <m:e>
                              <m:eqArr>
                                <m:eqArrPr>
                                  <m:ctrlPr>
                                    <a:rPr lang="en-GB" sz="24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eqArrPr>
                                <m:e>
                                  <m:r>
                                    <a:rPr lang="en-GB" sz="2400" i="1" dirty="0">
                                      <a:latin typeface="Cambria Math" panose="02040503050406030204" pitchFamily="18" charset="0"/>
                                    </a:rPr>
                                    <m:t>⋮</m:t>
                                  </m:r>
                                </m:e>
                                <m:e>
                                  <m:sSub>
                                    <m:sSubPr>
                                      <m:ctrlPr>
                                        <a:rPr lang="en-GB" sz="24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GB" sz="2400" b="0" i="1" dirty="0" smtClean="0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en-GB" sz="2400" b="0" i="1" dirty="0" smtClean="0">
                                          <a:latin typeface="Cambria Math" panose="02040503050406030204" pitchFamily="18" charset="0"/>
                                        </a:rPr>
                                        <m:t>𝑛</m:t>
                                      </m:r>
                                    </m:sub>
                                  </m:sSub>
                                </m:e>
                              </m:eqArr>
                            </m:e>
                          </m:mr>
                        </m:m>
                      </m:e>
                    </m:d>
                    <m:r>
                      <a:rPr lang="en-GB" sz="2400" b="0" i="1" dirty="0" smtClean="0">
                        <a:latin typeface="Cambria Math" panose="02040503050406030204" pitchFamily="18" charset="0"/>
                      </a:rPr>
                      <m:t>,        </m:t>
                    </m:r>
                    <m:r>
                      <a:rPr lang="en-GB" sz="2400" b="1" i="1" smtClean="0">
                        <a:latin typeface="Cambria Math" panose="02040503050406030204" pitchFamily="18" charset="0"/>
                      </a:rPr>
                      <m:t>𝑨</m:t>
                    </m:r>
                    <m:r>
                      <a:rPr lang="en-GB" sz="2400" b="0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en-GB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3"/>
                                  <m:mcJc m:val="center"/>
                                </m:mcPr>
                              </m:mc>
                            </m:mcs>
                            <m:ctrlPr>
                              <a:rPr lang="en-GB" sz="2400" i="1" smtClean="0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sSub>
                                <m:sSubPr>
                                  <m:ctrlPr>
                                    <a:rPr lang="en-GB" sz="2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brk m:alnAt="7"/>
                                    </m:rPr>
                                    <a:rPr lang="en-GB" sz="2400" b="0" i="1" smtClean="0"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  <m:sub>
                                  <m:r>
                                    <m:rPr>
                                      <m:brk m:alnAt="7"/>
                                    </m:rPr>
                                    <a:rPr lang="en-GB" sz="2400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  <m:r>
                                    <a:rPr lang="en-GB" sz="2400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  <m:e>
                              <m:r>
                                <a:rPr lang="en-GB" sz="2400" i="1" smtClean="0">
                                  <a:latin typeface="Cambria Math" panose="02040503050406030204" pitchFamily="18" charset="0"/>
                                </a:rPr>
                                <m:t>…</m:t>
                              </m:r>
                            </m:e>
                            <m:e>
                              <m:sSub>
                                <m:sSubPr>
                                  <m:ctrlPr>
                                    <a:rPr lang="en-GB" sz="2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GB" sz="2400" b="0" i="1" smtClean="0"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  <m:sub>
                                  <m:r>
                                    <a:rPr lang="en-GB" sz="2400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  <m:r>
                                    <a:rPr lang="en-GB" sz="2400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</m:e>
                          </m:mr>
                          <m:mr>
                            <m:e>
                              <m:r>
                                <a:rPr lang="en-GB" sz="2400" i="1" smtClean="0">
                                  <a:latin typeface="Cambria Math" panose="02040503050406030204" pitchFamily="18" charset="0"/>
                                </a:rPr>
                                <m:t>⋮</m:t>
                              </m:r>
                            </m:e>
                            <m:e>
                              <m:r>
                                <a:rPr lang="en-GB" sz="2400" i="1" smtClean="0">
                                  <a:latin typeface="Cambria Math" panose="02040503050406030204" pitchFamily="18" charset="0"/>
                                </a:rPr>
                                <m:t>⋱</m:t>
                              </m:r>
                            </m:e>
                            <m:e>
                              <m:r>
                                <a:rPr lang="en-GB" sz="2400" i="1" smtClean="0">
                                  <a:latin typeface="Cambria Math" panose="02040503050406030204" pitchFamily="18" charset="0"/>
                                </a:rPr>
                                <m:t>⋮</m:t>
                              </m:r>
                            </m:e>
                          </m:mr>
                          <m:mr>
                            <m:e>
                              <m:sSub>
                                <m:sSubPr>
                                  <m:ctrlPr>
                                    <a:rPr lang="en-GB" sz="2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GB" sz="2400" b="0" i="1" smtClean="0"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  <m:sub>
                                  <m:r>
                                    <a:rPr lang="en-GB" sz="2400" b="0" i="1" smtClean="0"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  <m:r>
                                    <a:rPr lang="en-GB" sz="2400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  <m:e>
                              <m:r>
                                <a:rPr lang="en-GB" sz="2400" i="1" smtClean="0">
                                  <a:latin typeface="Cambria Math" panose="02040503050406030204" pitchFamily="18" charset="0"/>
                                </a:rPr>
                                <m:t>…</m:t>
                              </m:r>
                            </m:e>
                            <m:e>
                              <m:sSub>
                                <m:sSubPr>
                                  <m:ctrlPr>
                                    <a:rPr lang="en-GB" sz="2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GB" sz="2400" b="0" i="1" smtClean="0"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  <m:sub>
                                  <m:r>
                                    <a:rPr lang="en-GB" sz="2400" b="0" i="1" smtClean="0">
                                      <a:latin typeface="Cambria Math" panose="02040503050406030204" pitchFamily="18" charset="0"/>
                                    </a:rPr>
                                    <m:t>𝑚𝑛</m:t>
                                  </m:r>
                                </m:sub>
                              </m:sSub>
                            </m:e>
                          </m:mr>
                        </m:m>
                      </m:e>
                    </m:d>
                    <m:r>
                      <a:rPr lang="en-GB" sz="2400" b="0" i="1" smtClean="0">
                        <a:latin typeface="Cambria Math" panose="02040503050406030204" pitchFamily="18" charset="0"/>
                      </a:rPr>
                      <m:t>,         </m:t>
                    </m:r>
                    <m:r>
                      <a:rPr lang="en-GB" sz="2400" b="1" i="1" smtClean="0">
                        <a:latin typeface="Cambria Math" panose="02040503050406030204" pitchFamily="18" charset="0"/>
                      </a:rPr>
                      <m:t>𝒃</m:t>
                    </m:r>
                    <m:r>
                      <a:rPr lang="en-GB" sz="2400" b="0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en-GB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1"/>
                                  <m:mcJc m:val="center"/>
                                </m:mcPr>
                              </m:mc>
                            </m:mcs>
                            <m:ctrlPr>
                              <a:rPr lang="en-GB" sz="2400" i="1" dirty="0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sSub>
                                <m:sSubPr>
                                  <m:ctrlPr>
                                    <a:rPr lang="en-GB" sz="24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GB" sz="2400" b="0" i="1" dirty="0" smtClean="0">
                                      <a:latin typeface="Cambria Math" panose="02040503050406030204" pitchFamily="18" charset="0"/>
                                    </a:rPr>
                                    <m:t>𝑏</m:t>
                                  </m:r>
                                </m:e>
                                <m:sub>
                                  <m:r>
                                    <a:rPr lang="en-GB" sz="2400" i="1" dirty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</m:mr>
                          <m:mr>
                            <m:e>
                              <m:eqArr>
                                <m:eqArrPr>
                                  <m:ctrlPr>
                                    <a:rPr lang="en-GB" sz="24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eqArrPr>
                                <m:e>
                                  <m:r>
                                    <a:rPr lang="en-GB" sz="2400" i="1" dirty="0">
                                      <a:latin typeface="Cambria Math" panose="02040503050406030204" pitchFamily="18" charset="0"/>
                                    </a:rPr>
                                    <m:t>⋮</m:t>
                                  </m:r>
                                </m:e>
                                <m:e>
                                  <m:sSub>
                                    <m:sSubPr>
                                      <m:ctrlPr>
                                        <a:rPr lang="en-GB" sz="24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GB" sz="2400" b="0" i="1" dirty="0" smtClean="0">
                                          <a:latin typeface="Cambria Math" panose="02040503050406030204" pitchFamily="18" charset="0"/>
                                        </a:rPr>
                                        <m:t>𝑏</m:t>
                                      </m:r>
                                    </m:e>
                                    <m:sub>
                                      <m:r>
                                        <a:rPr lang="en-GB" sz="2400" b="0" i="1" dirty="0" smtClean="0">
                                          <a:latin typeface="Cambria Math" panose="02040503050406030204" pitchFamily="18" charset="0"/>
                                        </a:rPr>
                                        <m:t>𝑚</m:t>
                                      </m:r>
                                    </m:sub>
                                  </m:sSub>
                                </m:e>
                              </m:eqArr>
                            </m:e>
                          </m:mr>
                        </m:m>
                      </m:e>
                    </m:d>
                  </m:oMath>
                </a14:m>
                <a:endParaRPr lang="en-GB" dirty="0"/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:endParaRPr lang="en-GB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198A88B-52B3-469E-A512-B72752EB786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450109"/>
                <a:ext cx="10515600" cy="1849272"/>
              </a:xfrm>
              <a:blipFill>
                <a:blip r:embed="rId2"/>
                <a:stretch>
                  <a:fillRect l="-1217" t="-5611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E295AB58-BE45-4FE7-83C0-F81F19BA4A1E}"/>
                  </a:ext>
                </a:extLst>
              </p:cNvPr>
              <p:cNvSpPr/>
              <p:nvPr/>
            </p:nvSpPr>
            <p:spPr>
              <a:xfrm>
                <a:off x="972532" y="3678072"/>
                <a:ext cx="3993823" cy="1945533"/>
              </a:xfrm>
              <a:prstGeom prst="rect">
                <a:avLst/>
              </a:prstGeom>
              <a:solidFill>
                <a:schemeClr val="accent5"/>
              </a:solidFill>
              <a:ln w="19050"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/>
              <a:p>
                <a:r>
                  <a:rPr lang="en-GB" sz="2400" u="sng" dirty="0"/>
                  <a:t>Canonical Form</a:t>
                </a:r>
              </a:p>
              <a:p>
                <a:endParaRPr lang="en-GB" sz="2400" dirty="0"/>
              </a:p>
              <a:p>
                <a:r>
                  <a:rPr lang="en-GB" sz="2400" dirty="0"/>
                  <a:t>maximise    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GB" sz="2400" b="1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GB" sz="2400" b="1" i="1" smtClean="0">
                            <a:latin typeface="Cambria Math" panose="02040503050406030204" pitchFamily="18" charset="0"/>
                          </a:rPr>
                          <m:t>𝒄</m:t>
                        </m:r>
                      </m:e>
                      <m:sup>
                        <m:r>
                          <a:rPr lang="en-GB" sz="2400" b="1" i="1" smtClean="0">
                            <a:latin typeface="Cambria Math" panose="02040503050406030204" pitchFamily="18" charset="0"/>
                          </a:rPr>
                          <m:t>𝑻</m:t>
                        </m:r>
                      </m:sup>
                    </m:sSup>
                    <m:r>
                      <a:rPr lang="en-GB" sz="2400" b="1" i="1" smtClean="0">
                        <a:latin typeface="Cambria Math" panose="02040503050406030204" pitchFamily="18" charset="0"/>
                      </a:rPr>
                      <m:t>𝒙</m:t>
                    </m:r>
                  </m:oMath>
                </a14:m>
                <a:endParaRPr lang="en-GB" sz="2400" b="1" dirty="0"/>
              </a:p>
              <a:p>
                <a:r>
                  <a:rPr lang="en-GB" sz="2400" dirty="0"/>
                  <a:t>subject to:  </a:t>
                </a:r>
                <a:r>
                  <a:rPr lang="en-GB" sz="2400" b="1" dirty="0"/>
                  <a:t> </a:t>
                </a:r>
                <a14:m>
                  <m:oMath xmlns:m="http://schemas.openxmlformats.org/officeDocument/2006/math">
                    <m:r>
                      <a:rPr lang="en-GB" sz="2400" b="1" i="1" smtClean="0">
                        <a:latin typeface="Cambria Math" panose="02040503050406030204" pitchFamily="18" charset="0"/>
                      </a:rPr>
                      <m:t>𝑨𝒙</m:t>
                    </m:r>
                    <m:r>
                      <a:rPr lang="en-GB" sz="2400" i="1">
                        <a:latin typeface="Cambria Math" panose="02040503050406030204" pitchFamily="18" charset="0"/>
                      </a:rPr>
                      <m:t>≤</m:t>
                    </m:r>
                    <m:r>
                      <a:rPr lang="en-GB" sz="2400" b="1" i="1" smtClean="0">
                        <a:latin typeface="Cambria Math" panose="02040503050406030204" pitchFamily="18" charset="0"/>
                      </a:rPr>
                      <m:t>𝒃</m:t>
                    </m:r>
                  </m:oMath>
                </a14:m>
                <a:endParaRPr lang="en-GB" sz="2400" b="1" i="1" dirty="0">
                  <a:latin typeface="Cambria Math" panose="02040503050406030204" pitchFamily="18" charset="0"/>
                </a:endParaRPr>
              </a:p>
              <a:p>
                <a:r>
                  <a:rPr lang="en-GB" sz="2400" dirty="0"/>
                  <a:t>and </a:t>
                </a:r>
                <a:r>
                  <a:rPr lang="en-GB" sz="2400" i="1" dirty="0">
                    <a:latin typeface="Cambria Math" panose="02040503050406030204" pitchFamily="18" charset="0"/>
                  </a:rPr>
                  <a:t> 	         </a:t>
                </a:r>
                <a14:m>
                  <m:oMath xmlns:m="http://schemas.openxmlformats.org/officeDocument/2006/math">
                    <m:r>
                      <a:rPr lang="en-GB" sz="2400" b="1" i="1" smtClean="0">
                        <a:latin typeface="Cambria Math" panose="02040503050406030204" pitchFamily="18" charset="0"/>
                      </a:rPr>
                      <m:t>𝒙</m:t>
                    </m:r>
                    <m:r>
                      <a:rPr lang="en-GB" sz="2400" b="1" i="1">
                        <a:latin typeface="Cambria Math" panose="02040503050406030204" pitchFamily="18" charset="0"/>
                      </a:rPr>
                      <m:t>≥</m:t>
                    </m:r>
                    <m:r>
                      <a:rPr lang="en-GB" sz="2400" b="1" i="1" smtClean="0">
                        <a:latin typeface="Cambria Math" panose="02040503050406030204" pitchFamily="18" charset="0"/>
                      </a:rPr>
                      <m:t>𝟎</m:t>
                    </m:r>
                  </m:oMath>
                </a14:m>
                <a:endParaRPr lang="en-GB" sz="2400" b="1" dirty="0"/>
              </a:p>
            </p:txBody>
          </p:sp>
        </mc:Choice>
        <mc:Fallback xmlns=""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E295AB58-BE45-4FE7-83C0-F81F19BA4A1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2532" y="3678072"/>
                <a:ext cx="3993823" cy="1945533"/>
              </a:xfrm>
              <a:prstGeom prst="rect">
                <a:avLst/>
              </a:prstGeom>
              <a:blipFill>
                <a:blip r:embed="rId3"/>
                <a:stretch>
                  <a:fillRect l="-2280" t="-2167" b="-5263"/>
                </a:stretch>
              </a:blipFill>
              <a:ln w="1905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A3079657-1406-4D46-8C21-B0283FB687E2}"/>
                  </a:ext>
                </a:extLst>
              </p:cNvPr>
              <p:cNvSpPr/>
              <p:nvPr/>
            </p:nvSpPr>
            <p:spPr>
              <a:xfrm>
                <a:off x="6275895" y="3429000"/>
                <a:ext cx="5077905" cy="2855141"/>
              </a:xfrm>
              <a:prstGeom prst="rect">
                <a:avLst/>
              </a:prstGeom>
              <a:ln w="28575"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/>
              <a:p>
                <a:r>
                  <a:rPr lang="en-GB" sz="2000" dirty="0" err="1"/>
                  <a:t>e.g</a:t>
                </a:r>
                <a:endParaRPr lang="en-GB" sz="2000" dirty="0"/>
              </a:p>
              <a:p>
                <a:r>
                  <a:rPr lang="en-GB" sz="2000" dirty="0"/>
                  <a:t>maximise      </a:t>
                </a:r>
                <a14:m>
                  <m:oMath xmlns:m="http://schemas.openxmlformats.org/officeDocument/2006/math">
                    <m:m>
                      <m:mPr>
                        <m:mcs>
                          <m:mc>
                            <m:mcPr>
                              <m:count m:val="2"/>
                              <m:mcJc m:val="center"/>
                            </m:mcPr>
                          </m:mc>
                        </m:mcs>
                        <m:ctrlPr>
                          <a:rPr lang="en-GB" sz="2000" i="1" dirty="0">
                            <a:latin typeface="Cambria Math" panose="02040503050406030204" pitchFamily="18" charset="0"/>
                          </a:rPr>
                        </m:ctrlPr>
                      </m:mPr>
                      <m:mr>
                        <m:e>
                          <m:r>
                            <m:rPr>
                              <m:brk m:alnAt="7"/>
                            </m:rPr>
                            <a:rPr lang="en-GB" sz="2000" i="1" dirty="0">
                              <a:latin typeface="Cambria Math" panose="02040503050406030204" pitchFamily="18" charset="0"/>
                            </a:rPr>
                            <m:t>[</m:t>
                          </m:r>
                          <m:r>
                            <a:rPr lang="en-GB" sz="2000" i="1" dirty="0">
                              <a:latin typeface="Cambria Math" panose="02040503050406030204" pitchFamily="18" charset="0"/>
                            </a:rPr>
                            <m:t>5</m:t>
                          </m:r>
                        </m:e>
                        <m:e>
                          <m:r>
                            <a:rPr lang="en-GB" sz="2000" i="1" dirty="0">
                              <a:latin typeface="Cambria Math" panose="02040503050406030204" pitchFamily="18" charset="0"/>
                            </a:rPr>
                            <m:t>7]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lang="en-GB" sz="2000" i="1" dirty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1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en-GB" sz="20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sSub>
                                      <m:sSubPr>
                                        <m:ctrlPr>
                                          <a:rPr lang="en-GB" sz="2000" b="0" i="1" dirty="0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m:rPr>
                                            <m:brk m:alnAt="7"/>
                                          </m:rPr>
                                          <a:rPr lang="en-GB" sz="2000" i="1" dirty="0">
                                            <a:latin typeface="Cambria Math" panose="02040503050406030204" pitchFamily="18" charset="0"/>
                                          </a:rPr>
                                          <m:t>𝑥</m:t>
                                        </m:r>
                                      </m:e>
                                      <m:sub>
                                        <m:r>
                                          <m:rPr>
                                            <m:brk m:alnAt="7"/>
                                          </m:rPr>
                                          <a:rPr lang="en-GB" sz="2000" b="0" i="1" dirty="0" smtClean="0">
                                            <a:latin typeface="Cambria Math" panose="02040503050406030204" pitchFamily="18" charset="0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</m:e>
                                </m:mr>
                                <m:mr>
                                  <m:e>
                                    <m:sSub>
                                      <m:sSubPr>
                                        <m:ctrlPr>
                                          <a:rPr lang="en-GB" sz="2000" b="0" i="1" dirty="0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GB" sz="2000" b="0" i="1" dirty="0" smtClean="0">
                                            <a:latin typeface="Cambria Math" panose="02040503050406030204" pitchFamily="18" charset="0"/>
                                          </a:rPr>
                                          <m:t>𝑥</m:t>
                                        </m:r>
                                      </m:e>
                                      <m:sub>
                                        <m:r>
                                          <a:rPr lang="en-GB" sz="2000" b="0" i="1" dirty="0" smtClean="0"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b>
                                    </m:sSub>
                                  </m:e>
                                </m:mr>
                              </m:m>
                            </m:e>
                          </m:d>
                        </m:e>
                      </m:mr>
                    </m:m>
                  </m:oMath>
                </a14:m>
                <a:endParaRPr lang="en-GB" sz="2000" dirty="0"/>
              </a:p>
              <a:p>
                <a:r>
                  <a:rPr lang="en-GB" sz="2000" dirty="0"/>
                  <a:t>subject to:	</a:t>
                </a:r>
              </a:p>
              <a:p>
                <a:r>
                  <a:rPr lang="en-GB" sz="2000" dirty="0"/>
                  <a:t>                     </a:t>
                </a:r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en-GB" sz="200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2"/>
                                  <m:mcJc m:val="center"/>
                                </m:mcPr>
                              </m:mc>
                            </m:mcs>
                            <m:ctrlPr>
                              <a:rPr lang="en-GB" sz="2000" i="1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r>
                                <m:rPr>
                                  <m:brk m:alnAt="7"/>
                                </m:rPr>
                                <a:rPr lang="en-GB" sz="2000" i="1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e>
                            <m:e>
                              <m:r>
                                <a:rPr lang="en-GB" sz="20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</m:mr>
                          <m:mr>
                            <m:e>
                              <m:r>
                                <a:rPr lang="en-GB" sz="2000" i="1"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e>
                            <m:e>
                              <m:r>
                                <a:rPr lang="en-GB" sz="2000" i="1"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e>
                          </m:mr>
                          <m:mr>
                            <m:e>
                              <m:r>
                                <a:rPr lang="en-GB" sz="20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  <m:e>
                              <m:r>
                                <a:rPr lang="en-GB" sz="2000" b="0" i="1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e>
                          </m:mr>
                        </m:m>
                      </m:e>
                    </m:d>
                    <m:d>
                      <m:dPr>
                        <m:begChr m:val="["/>
                        <m:endChr m:val="]"/>
                        <m:ctrlPr>
                          <a:rPr lang="en-GB" sz="20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1"/>
                                  <m:mcJc m:val="center"/>
                                </m:mcPr>
                              </m:mc>
                            </m:mcs>
                            <m:ctrlPr>
                              <a:rPr lang="en-GB" sz="2000" i="1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sSub>
                                <m:sSubPr>
                                  <m:ctrlPr>
                                    <a:rPr lang="en-GB" sz="20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GB" sz="2000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GB" sz="2000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</m:mr>
                          <m:mr>
                            <m:e>
                              <m:sSub>
                                <m:sSubPr>
                                  <m:ctrlPr>
                                    <a:rPr lang="en-GB" sz="20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GB" sz="2000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GB" sz="2000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e>
                          </m:mr>
                        </m:m>
                      </m:e>
                    </m:d>
                    <m:r>
                      <a:rPr lang="en-GB" sz="2000" i="1">
                        <a:latin typeface="Cambria Math" panose="02040503050406030204" pitchFamily="18" charset="0"/>
                      </a:rPr>
                      <m:t>≤</m:t>
                    </m:r>
                    <m:d>
                      <m:dPr>
                        <m:begChr m:val="["/>
                        <m:endChr m:val="]"/>
                        <m:ctrlPr>
                          <a:rPr lang="en-GB" sz="20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1"/>
                                  <m:mcJc m:val="center"/>
                                </m:mcPr>
                              </m:mc>
                            </m:mcs>
                            <m:ctrlPr>
                              <a:rPr lang="en-GB" sz="2000" b="0" i="1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r>
                                <m:rPr>
                                  <m:brk m:alnAt="7"/>
                                </m:rPr>
                                <a:rPr lang="en-GB" sz="20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  <m:r>
                                <a:rPr lang="en-GB" sz="2000" b="0" i="1" smtClean="0">
                                  <a:latin typeface="Cambria Math" panose="02040503050406030204" pitchFamily="18" charset="0"/>
                                </a:rPr>
                                <m:t>44</m:t>
                              </m:r>
                            </m:e>
                          </m:mr>
                          <m:mr>
                            <m:e>
                              <m:r>
                                <a:rPr lang="en-GB" sz="200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</m:mr>
                          <m:mr>
                            <m:e>
                              <m:r>
                                <a:rPr lang="en-GB" sz="2000" b="0" i="1" smtClean="0">
                                  <a:latin typeface="Cambria Math" panose="02040503050406030204" pitchFamily="18" charset="0"/>
                                </a:rPr>
                                <m:t>100</m:t>
                              </m:r>
                            </m:e>
                          </m:mr>
                        </m:m>
                      </m:e>
                    </m:d>
                  </m:oMath>
                </a14:m>
                <a:endParaRPr lang="en-GB" sz="2000" i="1" dirty="0">
                  <a:latin typeface="Cambria Math" panose="02040503050406030204" pitchFamily="18" charset="0"/>
                </a:endParaRPr>
              </a:p>
              <a:p>
                <a:r>
                  <a:rPr lang="en-GB" sz="2000" dirty="0"/>
                  <a:t>and</a:t>
                </a:r>
                <a:br>
                  <a:rPr lang="en-GB" sz="2000" i="1" dirty="0">
                    <a:latin typeface="Cambria Math" panose="02040503050406030204" pitchFamily="18" charset="0"/>
                  </a:rPr>
                </a:br>
                <a:r>
                  <a:rPr lang="en-GB" sz="2000" i="1" dirty="0">
                    <a:latin typeface="Cambria Math" panose="02040503050406030204" pitchFamily="18" charset="0"/>
                  </a:rPr>
                  <a:t> 		      </a:t>
                </a:r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en-GB" sz="20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1"/>
                                  <m:mcJc m:val="center"/>
                                </m:mcPr>
                              </m:mc>
                            </m:mcs>
                            <m:ctrlPr>
                              <a:rPr lang="en-GB" sz="2000" i="1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sSub>
                                <m:sSubPr>
                                  <m:ctrlPr>
                                    <a:rPr lang="en-GB" sz="20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brk m:alnAt="7"/>
                                    </m:rPr>
                                    <a:rPr lang="en-GB" sz="20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m:rPr>
                                      <m:brk m:alnAt="7"/>
                                    </m:rPr>
                                    <a:rPr lang="en-GB" sz="2000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</m:mr>
                          <m:mr>
                            <m:e>
                              <m:sSub>
                                <m:sSubPr>
                                  <m:ctrlPr>
                                    <a:rPr lang="en-GB" sz="20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GB" sz="2000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GB" sz="2000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e>
                          </m:mr>
                        </m:m>
                      </m:e>
                    </m:d>
                    <m:r>
                      <a:rPr lang="en-GB" sz="2000" i="1">
                        <a:latin typeface="Cambria Math" panose="02040503050406030204" pitchFamily="18" charset="0"/>
                      </a:rPr>
                      <m:t>≥</m:t>
                    </m:r>
                    <m:d>
                      <m:dPr>
                        <m:begChr m:val="["/>
                        <m:endChr m:val="]"/>
                        <m:ctrlPr>
                          <a:rPr lang="en-GB" sz="20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1"/>
                                  <m:mcJc m:val="center"/>
                                </m:mcPr>
                              </m:mc>
                            </m:mcs>
                            <m:ctrlPr>
                              <a:rPr lang="en-GB" sz="2000" i="1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r>
                                <m:rPr>
                                  <m:brk m:alnAt="7"/>
                                </m:rPr>
                                <a:rPr lang="en-GB" sz="200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</m:mr>
                          <m:mr>
                            <m:e>
                              <m:r>
                                <a:rPr lang="en-GB" sz="200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</m:mr>
                        </m:m>
                      </m:e>
                    </m:d>
                  </m:oMath>
                </a14:m>
                <a:endParaRPr lang="en-GB" sz="2000" dirty="0"/>
              </a:p>
            </p:txBody>
          </p:sp>
        </mc:Choice>
        <mc:Fallback xmlns=""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A3079657-1406-4D46-8C21-B0283FB687E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75895" y="3429000"/>
                <a:ext cx="5077905" cy="2855141"/>
              </a:xfrm>
              <a:prstGeom prst="rect">
                <a:avLst/>
              </a:prstGeom>
              <a:blipFill>
                <a:blip r:embed="rId4"/>
                <a:stretch>
                  <a:fillRect l="-1074" t="-846"/>
                </a:stretch>
              </a:blipFill>
              <a:ln w="28575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9543D8E0-2182-42AC-A2FC-D9E4D7BCD546}"/>
                  </a:ext>
                </a:extLst>
              </p:cNvPr>
              <p:cNvSpPr txBox="1"/>
              <p:nvPr/>
            </p:nvSpPr>
            <p:spPr>
              <a:xfrm>
                <a:off x="524117" y="6022531"/>
                <a:ext cx="5391989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GB" sz="2800" dirty="0"/>
                  <a:t>What are </a:t>
                </a:r>
                <a14:m>
                  <m:oMath xmlns:m="http://schemas.openxmlformats.org/officeDocument/2006/math">
                    <m:r>
                      <a:rPr lang="en-GB" sz="2800" b="0" i="1" smtClean="0"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en-GB" sz="2800" dirty="0"/>
                  <a:t> and </a:t>
                </a:r>
                <a14:m>
                  <m:oMath xmlns:m="http://schemas.openxmlformats.org/officeDocument/2006/math">
                    <m:r>
                      <a:rPr lang="en-GB" sz="2800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GB" sz="2800" dirty="0"/>
                  <a:t> for the example?</a:t>
                </a: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9543D8E0-2182-42AC-A2FC-D9E4D7BCD54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4117" y="6022531"/>
                <a:ext cx="5391989" cy="523220"/>
              </a:xfrm>
              <a:prstGeom prst="rect">
                <a:avLst/>
              </a:prstGeom>
              <a:blipFill>
                <a:blip r:embed="rId5"/>
                <a:stretch>
                  <a:fillRect l="-2376" t="-11628" r="-1244" b="-32558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1621262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5" grpId="0" animBg="1"/>
      <p:bldP spid="6" grpId="0" animBg="1"/>
      <p:bldP spid="7" grpId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C45432-CA52-4838-B7E4-94F673E265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Maximum and minimum equivalence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53964C1-0811-4E9A-89E8-A8B1428456F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85000" lnSpcReduction="20000"/>
              </a:bodyPr>
              <a:lstStyle/>
              <a:p>
                <a:pPr marL="0" indent="0">
                  <a:buNone/>
                </a:pPr>
                <a:r>
                  <a:rPr lang="en-GB" dirty="0"/>
                  <a:t>maximise    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GB" b="1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GB" b="1" i="1">
                            <a:latin typeface="Cambria Math" panose="02040503050406030204" pitchFamily="18" charset="0"/>
                          </a:rPr>
                          <m:t>𝒄</m:t>
                        </m:r>
                      </m:e>
                      <m:sup>
                        <m:r>
                          <a:rPr lang="en-GB" b="1" i="1">
                            <a:latin typeface="Cambria Math" panose="02040503050406030204" pitchFamily="18" charset="0"/>
                          </a:rPr>
                          <m:t>𝑻</m:t>
                        </m:r>
                      </m:sup>
                    </m:sSup>
                    <m:r>
                      <a:rPr lang="en-GB" b="1" i="1">
                        <a:latin typeface="Cambria Math" panose="02040503050406030204" pitchFamily="18" charset="0"/>
                      </a:rPr>
                      <m:t>𝒙</m:t>
                    </m:r>
                  </m:oMath>
                </a14:m>
                <a:endParaRPr lang="en-GB" b="1" dirty="0"/>
              </a:p>
              <a:p>
                <a:pPr marL="0" indent="0">
                  <a:buNone/>
                </a:pPr>
                <a:r>
                  <a:rPr lang="en-GB" dirty="0"/>
                  <a:t>subject to:  </a:t>
                </a:r>
                <a:r>
                  <a:rPr lang="en-GB" b="1" dirty="0"/>
                  <a:t> </a:t>
                </a:r>
                <a14:m>
                  <m:oMath xmlns:m="http://schemas.openxmlformats.org/officeDocument/2006/math">
                    <m:r>
                      <a:rPr lang="en-GB" b="1" i="1">
                        <a:latin typeface="Cambria Math" panose="02040503050406030204" pitchFamily="18" charset="0"/>
                      </a:rPr>
                      <m:t>𝑨𝒙</m:t>
                    </m:r>
                    <m:r>
                      <a:rPr lang="en-GB" i="1">
                        <a:latin typeface="Cambria Math" panose="02040503050406030204" pitchFamily="18" charset="0"/>
                      </a:rPr>
                      <m:t>≤</m:t>
                    </m:r>
                    <m:r>
                      <a:rPr lang="en-GB" b="1" i="1">
                        <a:latin typeface="Cambria Math" panose="02040503050406030204" pitchFamily="18" charset="0"/>
                      </a:rPr>
                      <m:t>𝒃</m:t>
                    </m:r>
                  </m:oMath>
                </a14:m>
                <a:endParaRPr lang="en-GB" b="1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r>
                  <a:rPr lang="en-GB" dirty="0"/>
                  <a:t>and </a:t>
                </a:r>
                <a:r>
                  <a:rPr lang="en-GB" i="1" dirty="0">
                    <a:latin typeface="Cambria Math" panose="02040503050406030204" pitchFamily="18" charset="0"/>
                  </a:rPr>
                  <a:t> 	         </a:t>
                </a:r>
                <a14:m>
                  <m:oMath xmlns:m="http://schemas.openxmlformats.org/officeDocument/2006/math">
                    <m:r>
                      <a:rPr lang="en-GB" b="1" i="1">
                        <a:latin typeface="Cambria Math" panose="02040503050406030204" pitchFamily="18" charset="0"/>
                      </a:rPr>
                      <m:t>𝒙</m:t>
                    </m:r>
                    <m:r>
                      <a:rPr lang="en-GB" b="1" i="1">
                        <a:latin typeface="Cambria Math" panose="02040503050406030204" pitchFamily="18" charset="0"/>
                      </a:rPr>
                      <m:t>≥</m:t>
                    </m:r>
                    <m:r>
                      <a:rPr lang="en-GB" b="1" i="1">
                        <a:latin typeface="Cambria Math" panose="02040503050406030204" pitchFamily="18" charset="0"/>
                      </a:rPr>
                      <m:t>𝟎</m:t>
                    </m:r>
                  </m:oMath>
                </a14:m>
                <a:endParaRPr lang="en-GB" b="1" dirty="0"/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:r>
                  <a:rPr lang="en-GB" dirty="0"/>
                  <a:t>Is equivalent to…</a:t>
                </a:r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:r>
                  <a:rPr lang="en-GB" dirty="0"/>
                  <a:t>minimise     -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GB" b="1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GB" b="1" i="1">
                            <a:latin typeface="Cambria Math" panose="02040503050406030204" pitchFamily="18" charset="0"/>
                          </a:rPr>
                          <m:t>𝒄</m:t>
                        </m:r>
                      </m:e>
                      <m:sup>
                        <m:r>
                          <a:rPr lang="en-GB" b="1" i="1">
                            <a:latin typeface="Cambria Math" panose="02040503050406030204" pitchFamily="18" charset="0"/>
                          </a:rPr>
                          <m:t>𝑻</m:t>
                        </m:r>
                      </m:sup>
                    </m:sSup>
                    <m:r>
                      <a:rPr lang="en-GB" b="1" i="1">
                        <a:latin typeface="Cambria Math" panose="02040503050406030204" pitchFamily="18" charset="0"/>
                      </a:rPr>
                      <m:t>𝒙</m:t>
                    </m:r>
                  </m:oMath>
                </a14:m>
                <a:endParaRPr lang="en-GB" b="1" dirty="0"/>
              </a:p>
              <a:p>
                <a:pPr marL="0" indent="0">
                  <a:buNone/>
                </a:pPr>
                <a:r>
                  <a:rPr lang="en-GB" dirty="0"/>
                  <a:t>subject to:  </a:t>
                </a:r>
                <a:r>
                  <a:rPr lang="en-GB" b="1" dirty="0"/>
                  <a:t> </a:t>
                </a:r>
                <a14:m>
                  <m:oMath xmlns:m="http://schemas.openxmlformats.org/officeDocument/2006/math">
                    <m:r>
                      <a:rPr lang="en-GB" b="1" i="1">
                        <a:latin typeface="Cambria Math" panose="02040503050406030204" pitchFamily="18" charset="0"/>
                      </a:rPr>
                      <m:t>𝑨𝒙</m:t>
                    </m:r>
                    <m:r>
                      <a:rPr lang="en-GB" i="1">
                        <a:latin typeface="Cambria Math" panose="02040503050406030204" pitchFamily="18" charset="0"/>
                      </a:rPr>
                      <m:t>≤</m:t>
                    </m:r>
                    <m:r>
                      <a:rPr lang="en-GB" b="1" i="1">
                        <a:latin typeface="Cambria Math" panose="02040503050406030204" pitchFamily="18" charset="0"/>
                      </a:rPr>
                      <m:t>𝒃</m:t>
                    </m:r>
                  </m:oMath>
                </a14:m>
                <a:endParaRPr lang="en-GB" b="1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r>
                  <a:rPr lang="en-GB" dirty="0"/>
                  <a:t>and </a:t>
                </a:r>
                <a:r>
                  <a:rPr lang="en-GB" i="1" dirty="0">
                    <a:latin typeface="Cambria Math" panose="02040503050406030204" pitchFamily="18" charset="0"/>
                  </a:rPr>
                  <a:t> 	         </a:t>
                </a:r>
                <a14:m>
                  <m:oMath xmlns:m="http://schemas.openxmlformats.org/officeDocument/2006/math">
                    <m:r>
                      <a:rPr lang="en-GB" b="1" i="1">
                        <a:latin typeface="Cambria Math" panose="02040503050406030204" pitchFamily="18" charset="0"/>
                      </a:rPr>
                      <m:t>𝒙</m:t>
                    </m:r>
                    <m:r>
                      <a:rPr lang="en-GB" b="1" i="1">
                        <a:latin typeface="Cambria Math" panose="02040503050406030204" pitchFamily="18" charset="0"/>
                      </a:rPr>
                      <m:t>≥</m:t>
                    </m:r>
                    <m:r>
                      <a:rPr lang="en-GB" b="1" i="1">
                        <a:latin typeface="Cambria Math" panose="02040503050406030204" pitchFamily="18" charset="0"/>
                      </a:rPr>
                      <m:t>𝟎</m:t>
                    </m:r>
                  </m:oMath>
                </a14:m>
                <a:endParaRPr lang="en-GB" b="1" dirty="0"/>
              </a:p>
              <a:p>
                <a:pPr marL="0" indent="0">
                  <a:buNone/>
                </a:pPr>
                <a:endParaRPr lang="en-GB" b="1" dirty="0"/>
              </a:p>
              <a:p>
                <a:pPr marL="0" indent="0">
                  <a:buNone/>
                </a:pPr>
                <a:r>
                  <a:rPr lang="en-GB" b="1" dirty="0"/>
                  <a:t>Additional homework, why?</a:t>
                </a:r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:endParaRPr lang="en-GB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53964C1-0811-4E9A-89E8-A8B1428456F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28" t="-3221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9496644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E593E6-3D2F-4C7E-80B2-F78D636A9E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06293"/>
          </a:xfrm>
        </p:spPr>
        <p:txBody>
          <a:bodyPr/>
          <a:lstStyle/>
          <a:p>
            <a:r>
              <a:rPr lang="en-GB" dirty="0"/>
              <a:t>Solution via Python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8A982067-A33F-49C4-BEE1-9D201D43ED4F}"/>
                  </a:ext>
                </a:extLst>
              </p:cNvPr>
              <p:cNvSpPr/>
              <p:nvPr/>
            </p:nvSpPr>
            <p:spPr>
              <a:xfrm>
                <a:off x="838200" y="1432295"/>
                <a:ext cx="5077905" cy="2251963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r>
                  <a:rPr lang="en-GB" sz="2000" dirty="0"/>
                  <a:t>maximise      </a:t>
                </a:r>
                <a14:m>
                  <m:oMath xmlns:m="http://schemas.openxmlformats.org/officeDocument/2006/math">
                    <m:m>
                      <m:mPr>
                        <m:mcs>
                          <m:mc>
                            <m:mcPr>
                              <m:count m:val="2"/>
                              <m:mcJc m:val="center"/>
                            </m:mcPr>
                          </m:mc>
                        </m:mcs>
                        <m:ctrlPr>
                          <a:rPr lang="en-GB" sz="2000" i="1" dirty="0">
                            <a:latin typeface="Cambria Math" panose="02040503050406030204" pitchFamily="18" charset="0"/>
                          </a:rPr>
                        </m:ctrlPr>
                      </m:mPr>
                      <m:mr>
                        <m:e>
                          <m:r>
                            <m:rPr>
                              <m:brk m:alnAt="7"/>
                            </m:rPr>
                            <a:rPr lang="en-GB" sz="2000" i="1" dirty="0">
                              <a:latin typeface="Cambria Math" panose="02040503050406030204" pitchFamily="18" charset="0"/>
                            </a:rPr>
                            <m:t>[</m:t>
                          </m:r>
                          <m:r>
                            <a:rPr lang="en-GB" sz="2000" i="1" dirty="0">
                              <a:latin typeface="Cambria Math" panose="02040503050406030204" pitchFamily="18" charset="0"/>
                            </a:rPr>
                            <m:t>5</m:t>
                          </m:r>
                        </m:e>
                        <m:e>
                          <m:r>
                            <a:rPr lang="en-GB" sz="2000" i="1" dirty="0">
                              <a:latin typeface="Cambria Math" panose="02040503050406030204" pitchFamily="18" charset="0"/>
                            </a:rPr>
                            <m:t>7]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lang="en-GB" sz="2000" i="1" dirty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1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en-GB" sz="20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en-GB" sz="2000" i="1" dirty="0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</m:mr>
                                <m:mr>
                                  <m:e>
                                    <m:r>
                                      <a:rPr lang="en-GB" sz="2000" i="1" dirty="0">
                                        <a:latin typeface="Cambria Math" panose="02040503050406030204" pitchFamily="18" charset="0"/>
                                      </a:rPr>
                                      <m:t>𝑦</m:t>
                                    </m:r>
                                  </m:e>
                                </m:mr>
                              </m:m>
                            </m:e>
                          </m:d>
                        </m:e>
                      </m:mr>
                    </m:m>
                  </m:oMath>
                </a14:m>
                <a:endParaRPr lang="en-GB" sz="2000" dirty="0"/>
              </a:p>
              <a:p>
                <a:r>
                  <a:rPr lang="en-GB" sz="2000" dirty="0"/>
                  <a:t>subject to:	</a:t>
                </a:r>
              </a:p>
              <a:p>
                <a:r>
                  <a:rPr lang="en-GB" sz="2000" dirty="0"/>
                  <a:t>                     </a:t>
                </a:r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en-GB" sz="200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2"/>
                                  <m:mcJc m:val="center"/>
                                </m:mcPr>
                              </m:mc>
                            </m:mcs>
                            <m:ctrlPr>
                              <a:rPr lang="en-GB" sz="2000" i="1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r>
                                <m:rPr>
                                  <m:brk m:alnAt="7"/>
                                </m:rPr>
                                <a:rPr lang="en-GB" sz="2000" i="1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e>
                            <m:e>
                              <m:r>
                                <a:rPr lang="en-GB" sz="20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</m:mr>
                          <m:mr>
                            <m:e>
                              <m:r>
                                <a:rPr lang="en-GB" sz="2000" i="1"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e>
                            <m:e>
                              <m:r>
                                <a:rPr lang="en-GB" sz="2000" i="1"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e>
                          </m:mr>
                        </m:m>
                      </m:e>
                    </m:d>
                    <m:d>
                      <m:dPr>
                        <m:begChr m:val="["/>
                        <m:endChr m:val="]"/>
                        <m:ctrlPr>
                          <a:rPr lang="en-GB" sz="20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1"/>
                                  <m:mcJc m:val="center"/>
                                </m:mcPr>
                              </m:mc>
                            </m:mcs>
                            <m:ctrlPr>
                              <a:rPr lang="en-GB" sz="2000" i="1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r>
                                <m:rPr>
                                  <m:brk m:alnAt="7"/>
                                </m:rPr>
                                <a:rPr lang="en-GB" sz="20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mr>
                          <m:mr>
                            <m:e>
                              <m:r>
                                <a:rPr lang="en-GB" sz="2000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mr>
                        </m:m>
                      </m:e>
                    </m:d>
                    <m:r>
                      <a:rPr lang="en-GB" sz="2000" i="1">
                        <a:latin typeface="Cambria Math" panose="02040503050406030204" pitchFamily="18" charset="0"/>
                      </a:rPr>
                      <m:t>≤</m:t>
                    </m:r>
                    <m:d>
                      <m:dPr>
                        <m:begChr m:val="["/>
                        <m:endChr m:val="]"/>
                        <m:ctrlPr>
                          <a:rPr lang="en-GB" sz="20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1"/>
                                  <m:mcJc m:val="center"/>
                                </m:mcPr>
                              </m:mc>
                            </m:mcs>
                            <m:ctrlPr>
                              <a:rPr lang="en-GB" sz="2000" i="1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r>
                                <m:rPr>
                                  <m:brk m:alnAt="7"/>
                                </m:rPr>
                                <a:rPr lang="en-GB" sz="20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  <m:r>
                                <a:rPr lang="en-GB" sz="2000" b="0" i="1" smtClean="0">
                                  <a:latin typeface="Cambria Math" panose="02040503050406030204" pitchFamily="18" charset="0"/>
                                </a:rPr>
                                <m:t>44</m:t>
                              </m:r>
                            </m:e>
                          </m:mr>
                          <m:mr>
                            <m:e>
                              <m:r>
                                <a:rPr lang="en-GB" sz="200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</m:mr>
                        </m:m>
                      </m:e>
                    </m:d>
                  </m:oMath>
                </a14:m>
                <a:endParaRPr lang="en-GB" sz="2000" i="1" dirty="0">
                  <a:latin typeface="Cambria Math" panose="02040503050406030204" pitchFamily="18" charset="0"/>
                </a:endParaRPr>
              </a:p>
              <a:p>
                <a:r>
                  <a:rPr lang="en-GB" sz="2000" dirty="0"/>
                  <a:t>and</a:t>
                </a:r>
                <a:br>
                  <a:rPr lang="en-GB" sz="2000" i="1" dirty="0">
                    <a:latin typeface="Cambria Math" panose="02040503050406030204" pitchFamily="18" charset="0"/>
                  </a:rPr>
                </a:br>
                <a:r>
                  <a:rPr lang="en-GB" sz="2000" i="1" dirty="0">
                    <a:latin typeface="Cambria Math" panose="02040503050406030204" pitchFamily="18" charset="0"/>
                  </a:rPr>
                  <a:t> 		      </a:t>
                </a:r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en-GB" sz="20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1"/>
                                  <m:mcJc m:val="center"/>
                                </m:mcPr>
                              </m:mc>
                            </m:mcs>
                            <m:ctrlPr>
                              <a:rPr lang="en-GB" sz="2000" i="1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r>
                                <m:rPr>
                                  <m:brk m:alnAt="7"/>
                                </m:rPr>
                                <a:rPr lang="en-GB" sz="20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mr>
                          <m:mr>
                            <m:e>
                              <m:r>
                                <a:rPr lang="en-GB" sz="2000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mr>
                        </m:m>
                      </m:e>
                    </m:d>
                    <m:r>
                      <a:rPr lang="en-GB" sz="2000" i="1">
                        <a:latin typeface="Cambria Math" panose="02040503050406030204" pitchFamily="18" charset="0"/>
                      </a:rPr>
                      <m:t>≥</m:t>
                    </m:r>
                    <m:d>
                      <m:dPr>
                        <m:begChr m:val="["/>
                        <m:endChr m:val="]"/>
                        <m:ctrlPr>
                          <a:rPr lang="en-GB" sz="20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1"/>
                                  <m:mcJc m:val="center"/>
                                </m:mcPr>
                              </m:mc>
                            </m:mcs>
                            <m:ctrlPr>
                              <a:rPr lang="en-GB" sz="2000" i="1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r>
                                <m:rPr>
                                  <m:brk m:alnAt="7"/>
                                </m:rPr>
                                <a:rPr lang="en-GB" sz="200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</m:mr>
                          <m:mr>
                            <m:e>
                              <m:r>
                                <a:rPr lang="en-GB" sz="200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</m:mr>
                        </m:m>
                      </m:e>
                    </m:d>
                  </m:oMath>
                </a14:m>
                <a:endParaRPr lang="en-GB" sz="2000" dirty="0"/>
              </a:p>
            </p:txBody>
          </p:sp>
        </mc:Choice>
        <mc:Fallback xmlns=""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8A982067-A33F-49C4-BEE1-9D201D43ED4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1432295"/>
                <a:ext cx="5077905" cy="2251963"/>
              </a:xfrm>
              <a:prstGeom prst="rect">
                <a:avLst/>
              </a:prstGeom>
              <a:blipFill>
                <a:blip r:embed="rId2"/>
                <a:stretch>
                  <a:fillRect l="-1322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Rectangle 7">
            <a:extLst>
              <a:ext uri="{FF2B5EF4-FFF2-40B4-BE49-F238E27FC236}">
                <a16:creationId xmlns:a16="http://schemas.microsoft.com/office/drawing/2014/main" id="{F900E18A-BC3F-4B7A-9993-BFF3EDFF913E}"/>
              </a:ext>
            </a:extLst>
          </p:cNvPr>
          <p:cNvSpPr/>
          <p:nvPr/>
        </p:nvSpPr>
        <p:spPr>
          <a:xfrm>
            <a:off x="838200" y="4045134"/>
            <a:ext cx="4101445" cy="224676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GB" sz="2000" dirty="0"/>
              <a:t>We are maximising.</a:t>
            </a:r>
          </a:p>
          <a:p>
            <a:endParaRPr lang="en-GB" sz="2000" dirty="0"/>
          </a:p>
          <a:p>
            <a:r>
              <a:rPr lang="en-GB" sz="2000" dirty="0"/>
              <a:t>The Python function </a:t>
            </a:r>
            <a:r>
              <a:rPr lang="en-GB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linprog</a:t>
            </a:r>
            <a:r>
              <a:rPr lang="en-GB" sz="2000" dirty="0"/>
              <a:t> minimises!</a:t>
            </a:r>
          </a:p>
          <a:p>
            <a:endParaRPr lang="en-GB" sz="2000" dirty="0"/>
          </a:p>
          <a:p>
            <a:r>
              <a:rPr lang="en-GB" sz="2000" dirty="0"/>
              <a:t>Notice that in the Python code we set c = [-5, -7]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149776F-AC13-E673-CF20-04030882DF97}"/>
              </a:ext>
            </a:extLst>
          </p:cNvPr>
          <p:cNvSpPr txBox="1"/>
          <p:nvPr/>
        </p:nvSpPr>
        <p:spPr>
          <a:xfrm>
            <a:off x="5580944" y="5425705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dirty="0" err="1">
                <a:hlinkClick r:id="rId3"/>
              </a:rPr>
              <a:t>scipy.optimize.linprog</a:t>
            </a:r>
            <a:r>
              <a:rPr lang="en-GB" dirty="0">
                <a:hlinkClick r:id="rId3"/>
              </a:rPr>
              <a:t> — SciPy documentation</a:t>
            </a:r>
            <a:endParaRPr lang="en-GB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685E9F1-C29A-5D8A-E9FE-A3ED823CC59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27327" y="1383056"/>
            <a:ext cx="6257421" cy="36181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374347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8" grpId="0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53964C1-0811-4E9A-89E8-A8B1428456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04594"/>
            <a:ext cx="10515600" cy="477236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dirty="0"/>
              <a:t>We will use a friendlier way to express this next week, however it is important to:</a:t>
            </a:r>
          </a:p>
          <a:p>
            <a:pPr marL="0" indent="0">
              <a:buNone/>
            </a:pPr>
            <a:endParaRPr lang="en-GB" dirty="0"/>
          </a:p>
          <a:p>
            <a:r>
              <a:rPr lang="en-GB" dirty="0"/>
              <a:t>get to understand the canonical form</a:t>
            </a:r>
          </a:p>
          <a:p>
            <a:r>
              <a:rPr lang="en-GB" dirty="0"/>
              <a:t>think about this in terms of Linear Algebra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A2368C2C-C056-4209-AAAF-72C1EE32763F}"/>
              </a:ext>
            </a:extLst>
          </p:cNvPr>
          <p:cNvSpPr txBox="1">
            <a:spLocks/>
          </p:cNvSpPr>
          <p:nvPr/>
        </p:nvSpPr>
        <p:spPr>
          <a:xfrm>
            <a:off x="838200" y="365125"/>
            <a:ext cx="10515600" cy="70629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GB" dirty="0"/>
              <a:t>Solution via Python</a:t>
            </a:r>
          </a:p>
        </p:txBody>
      </p:sp>
    </p:spTree>
    <p:extLst>
      <p:ext uri="{BB962C8B-B14F-4D97-AF65-F5344CB8AC3E}">
        <p14:creationId xmlns:p14="http://schemas.microsoft.com/office/powerpoint/2010/main" val="253941675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766B3FC4-29EE-4095-A109-72328DF7F4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06293"/>
          </a:xfrm>
        </p:spPr>
        <p:txBody>
          <a:bodyPr/>
          <a:lstStyle/>
          <a:p>
            <a:r>
              <a:rPr lang="en-GB" dirty="0"/>
              <a:t>Tutorial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53964C1-0811-4E9A-89E8-A8B1428456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51728"/>
            <a:ext cx="10515600" cy="4725235"/>
          </a:xfrm>
        </p:spPr>
        <p:txBody>
          <a:bodyPr>
            <a:normAutofit/>
          </a:bodyPr>
          <a:lstStyle/>
          <a:p>
            <a:r>
              <a:rPr lang="en-GB" dirty="0"/>
              <a:t>Solve a linear program with Python</a:t>
            </a:r>
          </a:p>
          <a:p>
            <a:r>
              <a:rPr lang="en-GB" dirty="0"/>
              <a:t>Solve a linear program with Excel</a:t>
            </a:r>
          </a:p>
          <a:p>
            <a:r>
              <a:rPr lang="en-GB" dirty="0"/>
              <a:t>Model a simple LP problem and solve</a:t>
            </a:r>
          </a:p>
          <a:p>
            <a:r>
              <a:rPr lang="en-GB" dirty="0"/>
              <a:t>Model a more complicated LP, we will start the beginning of the next lecture with a discussion about this.</a:t>
            </a:r>
          </a:p>
        </p:txBody>
      </p:sp>
    </p:spTree>
    <p:extLst>
      <p:ext uri="{BB962C8B-B14F-4D97-AF65-F5344CB8AC3E}">
        <p14:creationId xmlns:p14="http://schemas.microsoft.com/office/powerpoint/2010/main" val="18874291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51A328A96253EC468854895DB51C3CA9" ma:contentTypeVersion="12" ma:contentTypeDescription="Create a new document." ma:contentTypeScope="" ma:versionID="70ca04a2727be2bcabd6e8d4d48cd64c">
  <xsd:schema xmlns:xsd="http://www.w3.org/2001/XMLSchema" xmlns:xs="http://www.w3.org/2001/XMLSchema" xmlns:p="http://schemas.microsoft.com/office/2006/metadata/properties" xmlns:ns2="606370cc-c8d9-4222-8a4e-3c320f1e3034" xmlns:ns3="bf6b85bd-8a7e-4854-be4d-0780382295a8" targetNamespace="http://schemas.microsoft.com/office/2006/metadata/properties" ma:root="true" ma:fieldsID="153e2816b688b383ad24b8974a641912" ns2:_="" ns3:_="">
    <xsd:import namespace="606370cc-c8d9-4222-8a4e-3c320f1e3034"/>
    <xsd:import namespace="bf6b85bd-8a7e-4854-be4d-0780382295a8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AutoTags" minOccurs="0"/>
                <xsd:element ref="ns2:MediaServiceOCR" minOccurs="0"/>
                <xsd:element ref="ns3:SharedWithUsers" minOccurs="0"/>
                <xsd:element ref="ns3:SharedWithDetails" minOccurs="0"/>
                <xsd:element ref="ns2:MediaServiceDateTaken" minOccurs="0"/>
                <xsd:element ref="ns2:MediaServiceGenerationTime" minOccurs="0"/>
                <xsd:element ref="ns2:MediaServiceEventHashCode" minOccurs="0"/>
                <xsd:element ref="ns2:MediaServiceAutoKeyPoints" minOccurs="0"/>
                <xsd:element ref="ns2:MediaServiceKeyPoints" minOccurs="0"/>
                <xsd:element ref="ns2:MediaServiceLocatio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606370cc-c8d9-4222-8a4e-3c320f1e3034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description="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description="" ma:hidden="true" ma:internalName="MediaServiceFastMetadata" ma:readOnly="true">
      <xsd:simpleType>
        <xsd:restriction base="dms:Note"/>
      </xsd:simpleType>
    </xsd:element>
    <xsd:element name="MediaServiceAutoTags" ma:index="10" nillable="true" ma:displayName="MediaServiceAutoTags" ma:internalName="MediaServiceAutoTags" ma:readOnly="true">
      <xsd:simpleType>
        <xsd:restriction base="dms:Text"/>
      </xsd:simpleType>
    </xsd:element>
    <xsd:element name="MediaServiceOCR" ma:index="11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MediaServiceDateTaken" ma:index="14" nillable="true" ma:displayName="MediaServiceDateTaken" ma:hidden="true" ma:internalName="MediaServiceDateTaken" ma:readOnly="true">
      <xsd:simpleType>
        <xsd:restriction base="dms:Text"/>
      </xsd:simpleType>
    </xsd:element>
    <xsd:element name="MediaServiceGenerationTime" ma:index="15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6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AutoKeyPoints" ma:index="17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8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Location" ma:index="19" nillable="true" ma:displayName="Location" ma:internalName="MediaServiceLocation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bf6b85bd-8a7e-4854-be4d-0780382295a8" elementFormDefault="qualified">
    <xsd:import namespace="http://schemas.microsoft.com/office/2006/documentManagement/types"/>
    <xsd:import namespace="http://schemas.microsoft.com/office/infopath/2007/PartnerControls"/>
    <xsd:element name="SharedWithUsers" ma:index="12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3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04F617A9-2F13-49FD-8864-10646A7CE044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606370cc-c8d9-4222-8a4e-3c320f1e3034"/>
    <ds:schemaRef ds:uri="bf6b85bd-8a7e-4854-be4d-0780382295a8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3B587AB4-D8C9-43A3-B80F-6729B49465FB}">
  <ds:schemaRefs>
    <ds:schemaRef ds:uri="http://purl.org/dc/elements/1.1/"/>
    <ds:schemaRef ds:uri="http://schemas.microsoft.com/office/2006/metadata/properties"/>
    <ds:schemaRef ds:uri="http://purl.org/dc/terms/"/>
    <ds:schemaRef ds:uri="http://schemas.openxmlformats.org/package/2006/metadata/core-properties"/>
    <ds:schemaRef ds:uri="http://schemas.microsoft.com/office/2006/documentManagement/types"/>
    <ds:schemaRef ds:uri="606370cc-c8d9-4222-8a4e-3c320f1e3034"/>
    <ds:schemaRef ds:uri="http://schemas.microsoft.com/office/infopath/2007/PartnerControls"/>
    <ds:schemaRef ds:uri="bf6b85bd-8a7e-4854-be4d-0780382295a8"/>
    <ds:schemaRef ds:uri="http://www.w3.org/XML/1998/namespace"/>
    <ds:schemaRef ds:uri="http://purl.org/dc/dcmitype/"/>
  </ds:schemaRefs>
</ds:datastoreItem>
</file>

<file path=customXml/itemProps3.xml><?xml version="1.0" encoding="utf-8"?>
<ds:datastoreItem xmlns:ds="http://schemas.openxmlformats.org/officeDocument/2006/customXml" ds:itemID="{E49AC1EE-B6B3-4625-9CB8-D61F060C41FF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0</TotalTime>
  <Words>1707</Words>
  <Application>Microsoft Office PowerPoint</Application>
  <PresentationFormat>Widescreen</PresentationFormat>
  <Paragraphs>284</Paragraphs>
  <Slides>27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3" baseType="lpstr">
      <vt:lpstr>Calibri</vt:lpstr>
      <vt:lpstr>Arial</vt:lpstr>
      <vt:lpstr>Calibri Light</vt:lpstr>
      <vt:lpstr>Cambria Math</vt:lpstr>
      <vt:lpstr>Courier New</vt:lpstr>
      <vt:lpstr>Office Theme</vt:lpstr>
      <vt:lpstr>Linear Programming 1</vt:lpstr>
      <vt:lpstr>Contents</vt:lpstr>
      <vt:lpstr>Introductory Example</vt:lpstr>
      <vt:lpstr>Linear Programming Model</vt:lpstr>
      <vt:lpstr>Linear Programming Model</vt:lpstr>
      <vt:lpstr>Linear Programming Model</vt:lpstr>
      <vt:lpstr>Linear Programming Model</vt:lpstr>
      <vt:lpstr>Linear Programming Model</vt:lpstr>
      <vt:lpstr>Linear Programming Model</vt:lpstr>
      <vt:lpstr>Observations</vt:lpstr>
      <vt:lpstr>Is it a suitable solution?</vt:lpstr>
      <vt:lpstr>Is it a suitable solution?</vt:lpstr>
      <vt:lpstr>Linear Programming Model</vt:lpstr>
      <vt:lpstr>Binding Constraints</vt:lpstr>
      <vt:lpstr>Binding Constraints</vt:lpstr>
      <vt:lpstr>Infeasible</vt:lpstr>
      <vt:lpstr>Unbounded</vt:lpstr>
      <vt:lpstr>Infinite Solutions</vt:lpstr>
      <vt:lpstr>Optimality</vt:lpstr>
      <vt:lpstr>Graphical illustration of 3 variables</vt:lpstr>
      <vt:lpstr>Canonical Form (Matrices)</vt:lpstr>
      <vt:lpstr>Canonical Form (Matrices)</vt:lpstr>
      <vt:lpstr>In general</vt:lpstr>
      <vt:lpstr>Maximum and minimum equivalence</vt:lpstr>
      <vt:lpstr>Solution via Python</vt:lpstr>
      <vt:lpstr>PowerPoint Presentation</vt:lpstr>
      <vt:lpstr>Tutorial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Linear Programming 1</dc:title>
  <dc:creator>Sam O'Neill</dc:creator>
  <cp:lastModifiedBy>Christos Tsallis</cp:lastModifiedBy>
  <cp:revision>3</cp:revision>
  <dcterms:created xsi:type="dcterms:W3CDTF">2019-10-08T20:55:29Z</dcterms:created>
  <dcterms:modified xsi:type="dcterms:W3CDTF">2026-10-17T12:57:06Z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0x01010051A328A96253EC468854895DB51C3CA9</vt:lpwstr>
  </property>
  <property fmtid="{D5CDD505-2E9C-101B-9397-08002B2CF9AE}" pid="3" name="MSIP_Label_b47d098f-2640-4837-b575-e0be04df0525_Enabled">
    <vt:lpwstr>True</vt:lpwstr>
  </property>
  <property fmtid="{D5CDD505-2E9C-101B-9397-08002B2CF9AE}" pid="4" name="MSIP_Label_b47d098f-2640-4837-b575-e0be04df0525_SiteId">
    <vt:lpwstr>98f1bb3a-5efa-4782-88ba-bd897db60e62</vt:lpwstr>
  </property>
  <property fmtid="{D5CDD505-2E9C-101B-9397-08002B2CF9AE}" pid="5" name="MSIP_Label_b47d098f-2640-4837-b575-e0be04df0525_Owner">
    <vt:lpwstr>TCSR529@derby.ac.uk</vt:lpwstr>
  </property>
  <property fmtid="{D5CDD505-2E9C-101B-9397-08002B2CF9AE}" pid="6" name="MSIP_Label_b47d098f-2640-4837-b575-e0be04df0525_SetDate">
    <vt:lpwstr>2019-10-09T12:50:04.3095525Z</vt:lpwstr>
  </property>
  <property fmtid="{D5CDD505-2E9C-101B-9397-08002B2CF9AE}" pid="7" name="MSIP_Label_b47d098f-2640-4837-b575-e0be04df0525_Name">
    <vt:lpwstr>Internal</vt:lpwstr>
  </property>
  <property fmtid="{D5CDD505-2E9C-101B-9397-08002B2CF9AE}" pid="8" name="MSIP_Label_b47d098f-2640-4837-b575-e0be04df0525_Application">
    <vt:lpwstr>Microsoft Azure Information Protection</vt:lpwstr>
  </property>
  <property fmtid="{D5CDD505-2E9C-101B-9397-08002B2CF9AE}" pid="9" name="MSIP_Label_b47d098f-2640-4837-b575-e0be04df0525_Extended_MSFT_Method">
    <vt:lpwstr>Automatic</vt:lpwstr>
  </property>
  <property fmtid="{D5CDD505-2E9C-101B-9397-08002B2CF9AE}" pid="10" name="MSIP_Label_501a0944-9d81-4c75-b857-2ec7863455b7_Enabled">
    <vt:lpwstr>True</vt:lpwstr>
  </property>
  <property fmtid="{D5CDD505-2E9C-101B-9397-08002B2CF9AE}" pid="11" name="MSIP_Label_501a0944-9d81-4c75-b857-2ec7863455b7_SiteId">
    <vt:lpwstr>98f1bb3a-5efa-4782-88ba-bd897db60e62</vt:lpwstr>
  </property>
  <property fmtid="{D5CDD505-2E9C-101B-9397-08002B2CF9AE}" pid="12" name="MSIP_Label_501a0944-9d81-4c75-b857-2ec7863455b7_Owner">
    <vt:lpwstr>TCSR529@derby.ac.uk</vt:lpwstr>
  </property>
  <property fmtid="{D5CDD505-2E9C-101B-9397-08002B2CF9AE}" pid="13" name="MSIP_Label_501a0944-9d81-4c75-b857-2ec7863455b7_SetDate">
    <vt:lpwstr>2019-10-09T12:50:04.3095525Z</vt:lpwstr>
  </property>
  <property fmtid="{D5CDD505-2E9C-101B-9397-08002B2CF9AE}" pid="14" name="MSIP_Label_501a0944-9d81-4c75-b857-2ec7863455b7_Name">
    <vt:lpwstr>Internal with visible marking</vt:lpwstr>
  </property>
  <property fmtid="{D5CDD505-2E9C-101B-9397-08002B2CF9AE}" pid="15" name="MSIP_Label_501a0944-9d81-4c75-b857-2ec7863455b7_Application">
    <vt:lpwstr>Microsoft Azure Information Protection</vt:lpwstr>
  </property>
  <property fmtid="{D5CDD505-2E9C-101B-9397-08002B2CF9AE}" pid="16" name="MSIP_Label_501a0944-9d81-4c75-b857-2ec7863455b7_Parent">
    <vt:lpwstr>b47d098f-2640-4837-b575-e0be04df0525</vt:lpwstr>
  </property>
  <property fmtid="{D5CDD505-2E9C-101B-9397-08002B2CF9AE}" pid="17" name="MSIP_Label_501a0944-9d81-4c75-b857-2ec7863455b7_Extended_MSFT_Method">
    <vt:lpwstr>Automatic</vt:lpwstr>
  </property>
  <property fmtid="{D5CDD505-2E9C-101B-9397-08002B2CF9AE}" pid="18" name="Sensitivity">
    <vt:lpwstr>Internal Internal with visible marking</vt:lpwstr>
  </property>
</Properties>
</file>
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1" r:id="rId7"/>
    <p:sldId id="263" r:id="rId8"/>
    <p:sldId id="262" r:id="rId9"/>
    <p:sldId id="284" r:id="rId10"/>
    <p:sldId id="288" r:id="rId11"/>
    <p:sldId id="272" r:id="rId12"/>
    <p:sldId id="286" r:id="rId13"/>
    <p:sldId id="283" r:id="rId14"/>
    <p:sldId id="289" r:id="rId15"/>
    <p:sldId id="264" r:id="rId16"/>
    <p:sldId id="266" r:id="rId17"/>
    <p:sldId id="265" r:id="rId18"/>
    <p:sldId id="290" r:id="rId19"/>
    <p:sldId id="267" r:id="rId20"/>
    <p:sldId id="297" r:id="rId21"/>
    <p:sldId id="291" r:id="rId22"/>
    <p:sldId id="294" r:id="rId23"/>
    <p:sldId id="298" r:id="rId24"/>
    <p:sldId id="292" r:id="rId25"/>
    <p:sldId id="293" r:id="rId26"/>
    <p:sldId id="295" r:id="rId27"/>
    <p:sldId id="296" r:id="rId28"/>
    <p:sldId id="268" r:id="rId29"/>
    <p:sldId id="299" r:id="rId30"/>
    <p:sldId id="269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Consolas" panose="020B0609020204030204" pitchFamily="49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7C1801-34CC-44BE-907A-809961D8A055}" v="5" dt="2024-10-18T11:50:06.1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Mathematical Programming:</a:t>
            </a:r>
            <a:br>
              <a:rPr lang="en-GB" dirty="0"/>
            </a:br>
            <a:r>
              <a:rPr lang="en-GB" sz="4800" dirty="0"/>
              <a:t>Modelling and Some Issues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Closed Feasible Region (less than or equal to)</a:t>
            </a:r>
          </a:p>
          <a:p>
            <a:r>
              <a:rPr lang="en-GB" dirty="0"/>
              <a:t>Summation via Matrix Operations</a:t>
            </a:r>
          </a:p>
          <a:p>
            <a:r>
              <a:rPr lang="en-GB" dirty="0"/>
              <a:t>Chocolate Box Problem</a:t>
            </a:r>
          </a:p>
          <a:p>
            <a:r>
              <a:rPr lang="en-GB" dirty="0"/>
              <a:t>Interpretation/Opinion/Preference</a:t>
            </a:r>
          </a:p>
          <a:p>
            <a:r>
              <a:rPr lang="en-GB" dirty="0"/>
              <a:t>Extending the Model</a:t>
            </a:r>
          </a:p>
          <a:p>
            <a:r>
              <a:rPr lang="en-GB" dirty="0"/>
              <a:t>Additional Modelling Tips</a:t>
            </a:r>
          </a:p>
        </p:txBody>
      </p:sp>
    </p:spTree>
    <p:extLst>
      <p:ext uri="{BB962C8B-B14F-4D97-AF65-F5344CB8AC3E}">
        <p14:creationId xmlns:p14="http://schemas.microsoft.com/office/powerpoint/2010/main" val="24644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Less than or equal 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Note that when we use inequality constraints we must 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you use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GB" dirty="0"/>
                  <a:t> then the feasible set is not closed.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Consider: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maximise 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What is the maximum?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043" t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82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Constraints via Matrix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758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Expressions in </a:t>
            </a:r>
            <a:r>
              <a:rPr lang="en-GB" dirty="0" err="1"/>
              <a:t>Pyomo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15000" y="1469159"/>
                <a:ext cx="6148836" cy="472685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e.g.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15000" y="1469159"/>
                <a:ext cx="6148836" cy="4726854"/>
              </a:xfrm>
              <a:blipFill>
                <a:blip r:embed="rId2"/>
                <a:stretch>
                  <a:fillRect l="-1091" t="-2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5FAA485-04B2-743A-46F0-3573DB100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64" y="2152584"/>
            <a:ext cx="4803425" cy="711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293333-9335-75E5-222A-FB9188C4A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64" y="3029663"/>
            <a:ext cx="3622561" cy="399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DED2F0-64CF-66F3-43F8-B69B31C7E20F}"/>
              </a:ext>
            </a:extLst>
          </p:cNvPr>
          <p:cNvSpPr txBox="1"/>
          <p:nvPr/>
        </p:nvSpPr>
        <p:spPr>
          <a:xfrm>
            <a:off x="245037" y="3832586"/>
            <a:ext cx="35649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Define either manually or using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sum</a:t>
            </a:r>
          </a:p>
          <a:p>
            <a:endParaRPr lang="en-GB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r>
              <a:rPr lang="en-GB" dirty="0"/>
              <a:t>Both print out the following: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07BCBA-F835-EC80-D978-639FCA7D5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767" y="5079634"/>
            <a:ext cx="2391109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94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Constraints in </a:t>
            </a:r>
            <a:r>
              <a:rPr lang="en-GB" dirty="0" err="1"/>
              <a:t>Pyomo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If we have the following constraint.</a:t>
                </a: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+16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can implement that in Python directly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245B507B-A076-8FFE-97F9-3A9FC50DE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819" y="4033539"/>
            <a:ext cx="8326012" cy="16861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12DAEFD-D372-B7E8-5226-0E615A28B62F}"/>
              </a:ext>
            </a:extLst>
          </p:cNvPr>
          <p:cNvSpPr txBox="1"/>
          <p:nvPr/>
        </p:nvSpPr>
        <p:spPr>
          <a:xfrm>
            <a:off x="1930400" y="611214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5BE8E-EE27-5A90-FC6B-5D6AC1822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086" y="6071442"/>
            <a:ext cx="7378745" cy="55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054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≥100</m:t>
                    </m:r>
                  </m:oMath>
                </a14:m>
                <a:r>
                  <a:rPr lang="en-GB" sz="2400" b="0" dirty="0"/>
                  <a:t>      		(Vitamin A Constraint)</a:t>
                </a:r>
              </a:p>
              <a:p>
                <a:pPr marL="0" indent="0">
                  <a:buNone/>
                </a:pP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		(Vitamin B Constraint)</a:t>
                </a:r>
              </a:p>
              <a:p>
                <a:pPr marL="0" indent="0">
                  <a:buNone/>
                </a:pP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≥20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				(Vitamin C Constraint)</a:t>
                </a:r>
              </a:p>
              <a:p>
                <a:pPr marL="0" indent="0">
                  <a:buNone/>
                </a:pP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	(Vitamin D Constraint)</a:t>
                </a:r>
              </a:p>
              <a:p>
                <a:pPr marL="0" indent="0">
                  <a:buNone/>
                </a:pP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+20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+40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≤300</m:t>
                    </m:r>
                  </m:oMath>
                </a14:m>
                <a:r>
                  <a:rPr lang="en-GB" sz="2400" dirty="0"/>
                  <a:t>					(Fat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and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sz="2400" dirty="0"/>
                  <a:t>						(Non-negativity)</a:t>
                </a:r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 t="-2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88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4C5D-53C3-41DC-A767-2311F2FA99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C37A-0728-4DE4-A29E-581530393892}"/>
              </a:ext>
            </a:extLst>
          </p:cNvPr>
          <p:cNvGraphicFramePr>
            <a:graphicFrameLocks noGrp="1"/>
          </p:cNvGraphicFramePr>
          <p:nvPr/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 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/>
              <p:nvPr/>
            </p:nvSpPr>
            <p:spPr>
              <a:xfrm>
                <a:off x="838200" y="4119238"/>
                <a:ext cx="3504421" cy="2400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Number of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GB" dirty="0"/>
                  <a:t> - Amount of vitamin A in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GB" dirty="0"/>
                  <a:t> - Amount of vitamin B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GB" dirty="0"/>
                  <a:t> - Amount of vitamin C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GB" dirty="0"/>
                  <a:t> - Amount of vitamin D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Amount of fat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of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Attractiveness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19238"/>
                <a:ext cx="3504421" cy="2400978"/>
              </a:xfrm>
              <a:prstGeom prst="rect">
                <a:avLst/>
              </a:prstGeom>
              <a:blipFill>
                <a:blip r:embed="rId2"/>
                <a:stretch>
                  <a:fillRect l="-523" t="-1523" b="-2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/>
              <p:nvPr/>
            </p:nvSpPr>
            <p:spPr>
              <a:xfrm>
                <a:off x="7808651" y="2643431"/>
                <a:ext cx="3945384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≤30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651" y="2643431"/>
                <a:ext cx="3945384" cy="4091120"/>
              </a:xfrm>
              <a:prstGeom prst="rect">
                <a:avLst/>
              </a:prstGeom>
              <a:blipFill>
                <a:blip r:embed="rId3"/>
                <a:stretch>
                  <a:fillRect l="-464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47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7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5a Solution in </a:t>
            </a:r>
            <a:r>
              <a:rPr lang="en-GB" dirty="0" err="1"/>
              <a:t>Pyomo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A3A4E-5808-4522-BBE0-0C8C32D58229}"/>
                  </a:ext>
                </a:extLst>
              </p:cNvPr>
              <p:cNvSpPr txBox="1"/>
              <p:nvPr/>
            </p:nvSpPr>
            <p:spPr>
              <a:xfrm>
                <a:off x="901823" y="1498850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A3A4E-5808-4522-BBE0-0C8C32D58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23" y="1498850"/>
                <a:ext cx="3394969" cy="4091120"/>
              </a:xfrm>
              <a:prstGeom prst="rect">
                <a:avLst/>
              </a:prstGeom>
              <a:blipFill>
                <a:blip r:embed="rId2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7C45020-5C87-906B-25A7-1E9B60C24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135" y="1261918"/>
            <a:ext cx="6547042" cy="491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21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Chocolate Box Tutorial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32F5AB10-1833-4E95-8B3A-BAC9AB3AC7B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06429259"/>
                  </p:ext>
                </p:extLst>
              </p:nvPr>
            </p:nvGraphicFramePr>
            <p:xfrm>
              <a:off x="1055571" y="1266104"/>
              <a:ext cx="6305810" cy="320357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19666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824981">
                      <a:extLst>
                        <a:ext uri="{9D8B030D-6E8A-4147-A177-3AD203B41FA5}">
                          <a16:colId xmlns:a16="http://schemas.microsoft.com/office/drawing/2014/main" val="2852883290"/>
                        </a:ext>
                      </a:extLst>
                    </a:gridCol>
                    <a:gridCol w="979054">
                      <a:extLst>
                        <a:ext uri="{9D8B030D-6E8A-4147-A177-3AD203B41FA5}">
                          <a16:colId xmlns:a16="http://schemas.microsoft.com/office/drawing/2014/main" val="3333967318"/>
                        </a:ext>
                      </a:extLst>
                    </a:gridCol>
                    <a:gridCol w="1099127">
                      <a:extLst>
                        <a:ext uri="{9D8B030D-6E8A-4147-A177-3AD203B41FA5}">
                          <a16:colId xmlns:a16="http://schemas.microsoft.com/office/drawing/2014/main" val="2912826492"/>
                        </a:ext>
                      </a:extLst>
                    </a:gridCol>
                    <a:gridCol w="960582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422400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Fat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Calories –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Weight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1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Popularity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11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24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Caramel softie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16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22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7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12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6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60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40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13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14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90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17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18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-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145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19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Grape bunch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-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32F5AB10-1833-4E95-8B3A-BAC9AB3AC7B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06429259"/>
                  </p:ext>
                </p:extLst>
              </p:nvPr>
            </p:nvGraphicFramePr>
            <p:xfrm>
              <a:off x="1055571" y="1266104"/>
              <a:ext cx="6305810" cy="320357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19666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824981">
                      <a:extLst>
                        <a:ext uri="{9D8B030D-6E8A-4147-A177-3AD203B41FA5}">
                          <a16:colId xmlns:a16="http://schemas.microsoft.com/office/drawing/2014/main" val="2852883290"/>
                        </a:ext>
                      </a:extLst>
                    </a:gridCol>
                    <a:gridCol w="979054">
                      <a:extLst>
                        <a:ext uri="{9D8B030D-6E8A-4147-A177-3AD203B41FA5}">
                          <a16:colId xmlns:a16="http://schemas.microsoft.com/office/drawing/2014/main" val="3333967318"/>
                        </a:ext>
                      </a:extLst>
                    </a:gridCol>
                    <a:gridCol w="1099127">
                      <a:extLst>
                        <a:ext uri="{9D8B030D-6E8A-4147-A177-3AD203B41FA5}">
                          <a16:colId xmlns:a16="http://schemas.microsoft.com/office/drawing/2014/main" val="2912826492"/>
                        </a:ext>
                      </a:extLst>
                    </a:gridCol>
                    <a:gridCol w="960582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422400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99" t="-21212" r="-522156" b="-15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3529" t="-21212" r="-541176" b="-15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90000" t="-21212" r="-360000" b="-15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56354" t="-21212" r="-218232" b="-15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408228" t="-21212" r="-150000" b="-15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44635" t="-21212" r="-1717" b="-1524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24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Caramel softie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16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22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7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12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6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60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40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13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14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90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17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18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-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145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8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19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Grape bunch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-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120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1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1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F7FFC64B-AE4E-413B-8AE3-FA221B5490DC}"/>
              </a:ext>
            </a:extLst>
          </p:cNvPr>
          <p:cNvSpPr/>
          <p:nvPr/>
        </p:nvSpPr>
        <p:spPr>
          <a:xfrm>
            <a:off x="1055571" y="4664367"/>
            <a:ext cx="6096000" cy="15610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selection chosen must weigh more than 320g</a:t>
            </a: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fat content by weight must be less than 45% of the total weight of the selection.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Calorific value of the selection must be less than 2850 calories.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98F8110-C34C-478A-AB46-59DC109D567F}"/>
                  </a:ext>
                </a:extLst>
              </p:cNvPr>
              <p:cNvSpPr/>
              <p:nvPr/>
            </p:nvSpPr>
            <p:spPr>
              <a:xfrm>
                <a:off x="7151570" y="1076759"/>
                <a:ext cx="5338618" cy="39327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u="sng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Minimise the cost of the selection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sz="105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minimise	</a:t>
                </a: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subject to: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≥320</m:t>
                        </m:r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≤2850</m:t>
                        </m:r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≤0.45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≥0,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98F8110-C34C-478A-AB46-59DC109D56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570" y="1076759"/>
                <a:ext cx="5338618" cy="3932743"/>
              </a:xfrm>
              <a:prstGeom prst="rect">
                <a:avLst/>
              </a:prstGeom>
              <a:blipFill>
                <a:blip r:embed="rId3"/>
                <a:stretch>
                  <a:fillRect t="-7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EC3CA98-480E-4A78-91F1-8C94A3073F79}"/>
                  </a:ext>
                </a:extLst>
              </p:cNvPr>
              <p:cNvSpPr/>
              <p:nvPr/>
            </p:nvSpPr>
            <p:spPr>
              <a:xfrm>
                <a:off x="7151570" y="5001017"/>
                <a:ext cx="6096000" cy="175823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u="sng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the popularity of the selection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sz="105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Replace the objective function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	</a:t>
                </a: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EC3CA98-480E-4A78-91F1-8C94A3073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570" y="5001017"/>
                <a:ext cx="6096000" cy="1758238"/>
              </a:xfrm>
              <a:prstGeom prst="rect">
                <a:avLst/>
              </a:prstGeom>
              <a:blipFill>
                <a:blip r:embed="rId4"/>
                <a:stretch>
                  <a:fillRect t="-1384" b="-366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837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Chocolate Box Tutorial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3D75FC8-C5EB-488E-97E8-BC6DD678E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1067452"/>
                  </p:ext>
                </p:extLst>
              </p:nvPr>
            </p:nvGraphicFramePr>
            <p:xfrm>
              <a:off x="1020792" y="1302326"/>
              <a:ext cx="3809826" cy="325278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Minimise Cost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Maximise Popularity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Caramel softie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9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Grape bunch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Objective Value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268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365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283799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3D75FC8-C5EB-488E-97E8-BC6DD678E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1067452"/>
                  </p:ext>
                </p:extLst>
              </p:nvPr>
            </p:nvGraphicFramePr>
            <p:xfrm>
              <a:off x="1020792" y="1302326"/>
              <a:ext cx="3809826" cy="325278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35" t="-21212" r="-236898" b="-15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Minimise Cost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Maximise Popularity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Caramel softie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9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Grape bunch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Objective Value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268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365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283799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93E58D8-A138-4BF4-A797-5A2A3BBF3FD8}"/>
              </a:ext>
            </a:extLst>
          </p:cNvPr>
          <p:cNvSpPr txBox="1"/>
          <p:nvPr/>
        </p:nvSpPr>
        <p:spPr>
          <a:xfrm>
            <a:off x="5708073" y="1560945"/>
            <a:ext cx="4954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What do we think to these selections?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2E6C63-B107-448D-8A70-3C24E4D54A48}"/>
              </a:ext>
            </a:extLst>
          </p:cNvPr>
          <p:cNvSpPr txBox="1"/>
          <p:nvPr/>
        </p:nvSpPr>
        <p:spPr>
          <a:xfrm>
            <a:off x="5754255" y="2940265"/>
            <a:ext cx="55418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/>
              <a:t>Issues</a:t>
            </a:r>
          </a:p>
          <a:p>
            <a:endParaRPr lang="en-GB" sz="24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Variety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Weight of maximising popularity is 635g. Nearly double the minimum weight of 320g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What if we care about both cost and popularity?</a:t>
            </a:r>
          </a:p>
        </p:txBody>
      </p:sp>
    </p:spTree>
    <p:extLst>
      <p:ext uri="{BB962C8B-B14F-4D97-AF65-F5344CB8AC3E}">
        <p14:creationId xmlns:p14="http://schemas.microsoft.com/office/powerpoint/2010/main" val="228584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Your interpretation of the </a:t>
            </a:r>
            <a:r>
              <a:rPr lang="en-GB" u="sng" dirty="0"/>
              <a:t>problem</a:t>
            </a:r>
            <a:r>
              <a:rPr lang="en-GB" dirty="0"/>
              <a:t> is important!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If you miss something in the model it can lead to answers that don’t make sense in the real world.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Your interpretation of the </a:t>
            </a:r>
            <a:r>
              <a:rPr lang="en-GB" u="sng" dirty="0"/>
              <a:t>solution</a:t>
            </a:r>
            <a:r>
              <a:rPr lang="en-GB" dirty="0"/>
              <a:t> is important!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Often the answers point out the issues in your model.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Thus, modelling is an iterative process, you should keep improving your model to better reflect reality where possible.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Better models lead to better predictions and decisions!		</a:t>
            </a:r>
          </a:p>
        </p:txBody>
      </p:sp>
    </p:spTree>
    <p:extLst>
      <p:ext uri="{BB962C8B-B14F-4D97-AF65-F5344CB8AC3E}">
        <p14:creationId xmlns:p14="http://schemas.microsoft.com/office/powerpoint/2010/main" val="186094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Opinion and Preference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Your opinion and preferences matter!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Perhaps you/business really needs to save money, so you decide minimising cost is important.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Maybe you aren’t a fan of variety and would prefer a smaller selection, or the selection chooses your favourite chocolate. Be aware of personal bias!</a:t>
            </a:r>
          </a:p>
        </p:txBody>
      </p:sp>
    </p:spTree>
    <p:extLst>
      <p:ext uri="{BB962C8B-B14F-4D97-AF65-F5344CB8AC3E}">
        <p14:creationId xmlns:p14="http://schemas.microsoft.com/office/powerpoint/2010/main" val="83195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Sometimes there is more to the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Let’s revisit the previous comment.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Perhaps you/business really needs to save money, so you decide minimising cost is important.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if this leads to a substandard product and this fails to sell. In this case you haven’t necessarily saved money, but lost it!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Modelling well, whether it be Linear Programming, Simulation, Optimisation is hard!</a:t>
            </a:r>
          </a:p>
        </p:txBody>
      </p:sp>
    </p:spTree>
    <p:extLst>
      <p:ext uri="{BB962C8B-B14F-4D97-AF65-F5344CB8AC3E}">
        <p14:creationId xmlns:p14="http://schemas.microsoft.com/office/powerpoint/2010/main" val="305979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Extending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Back to the chocolate box!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will deal with variety in the next session, we can force the selection to pick every item a number of times and certain combinations of items.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An obvious extension to our model is to put a cap on weight. e.g. 1.5 times the minimum.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≥320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≤1.5∗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320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754" t="-27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D7FCF0A-6935-40E8-9913-0AFAEA99C147}"/>
              </a:ext>
            </a:extLst>
          </p:cNvPr>
          <p:cNvSpPr txBox="1"/>
          <p:nvPr/>
        </p:nvSpPr>
        <p:spPr>
          <a:xfrm>
            <a:off x="6465454" y="214745"/>
            <a:ext cx="5541818" cy="23698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u="sng" dirty="0"/>
              <a:t>Issues</a:t>
            </a:r>
          </a:p>
          <a:p>
            <a:endParaRPr lang="en-GB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Variety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Weight of maximising popularity is 635g. Nearly double the minimum weight of 320g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What if we care about both cost and popularity?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3248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Chocolate Box Tutorial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3D75FC8-C5EB-488E-97E8-BC6DD678E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1154354"/>
                  </p:ext>
                </p:extLst>
              </p:nvPr>
            </p:nvGraphicFramePr>
            <p:xfrm>
              <a:off x="6811992" y="1902618"/>
              <a:ext cx="3809826" cy="305276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Minimise Cost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Maximise Popularity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Caramel softie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9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30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Grape bunch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3D75FC8-C5EB-488E-97E8-BC6DD678E5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1154354"/>
                  </p:ext>
                </p:extLst>
              </p:nvPr>
            </p:nvGraphicFramePr>
            <p:xfrm>
              <a:off x="6811992" y="1902618"/>
              <a:ext cx="3809826" cy="305276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35" t="-21212" r="-236898" b="-14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Minimise Cost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Maximise Popularity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Caramel softie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9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30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Grape bunch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BCA5E33-C722-430F-B098-4BDEE307AC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3268198"/>
                  </p:ext>
                </p:extLst>
              </p:nvPr>
            </p:nvGraphicFramePr>
            <p:xfrm>
              <a:off x="1076210" y="1902618"/>
              <a:ext cx="3809826" cy="305276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1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1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Minimise Cost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Maximise Popularity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Caramel softie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9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50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10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0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</a:rPr>
                            <a:t>Grape bunch</a:t>
                          </a:r>
                          <a:endParaRPr lang="en-GB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BCA5E33-C722-430F-B098-4BDEE307AC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3268198"/>
                  </p:ext>
                </p:extLst>
              </p:nvPr>
            </p:nvGraphicFramePr>
            <p:xfrm>
              <a:off x="1076210" y="1902618"/>
              <a:ext cx="3809826" cy="305276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38383">
                      <a:extLst>
                        <a:ext uri="{9D8B030D-6E8A-4147-A177-3AD203B41FA5}">
                          <a16:colId xmlns:a16="http://schemas.microsoft.com/office/drawing/2014/main" val="1015170701"/>
                        </a:ext>
                      </a:extLst>
                    </a:gridCol>
                    <a:gridCol w="1256145">
                      <a:extLst>
                        <a:ext uri="{9D8B030D-6E8A-4147-A177-3AD203B41FA5}">
                          <a16:colId xmlns:a16="http://schemas.microsoft.com/office/drawing/2014/main" val="3906809112"/>
                        </a:ext>
                      </a:extLst>
                    </a:gridCol>
                    <a:gridCol w="1415298">
                      <a:extLst>
                        <a:ext uri="{9D8B030D-6E8A-4147-A177-3AD203B41FA5}">
                          <a16:colId xmlns:a16="http://schemas.microsoft.com/office/drawing/2014/main" val="1010701382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35" t="-21212" r="-236898" b="-14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Minimise Cost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Maximise Popularity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4136696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Buttery butterscotch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440508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Caramel softie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9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712588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Orange dream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5093537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Coconut Ice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4505058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Lemon sorbet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218383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Lime sherbet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50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80003165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Strawberry surprise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91882721"/>
                      </a:ext>
                    </a:extLst>
                  </a:tr>
                  <a:tr h="3508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Raspberry mousse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02037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Ginger toffee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10386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Rose-water posy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10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0467743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Walnut whirl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0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794579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</a:rPr>
                            <a:t>Grape bunch</a:t>
                          </a:r>
                          <a:endParaRPr lang="en-GB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1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872405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650157B-3A61-4F86-B0AA-DBAE870F91E8}"/>
              </a:ext>
            </a:extLst>
          </p:cNvPr>
          <p:cNvSpPr txBox="1"/>
          <p:nvPr/>
        </p:nvSpPr>
        <p:spPr>
          <a:xfrm>
            <a:off x="2187156" y="1431637"/>
            <a:ext cx="1587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 Weight Cap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08E6C3-617B-4F8C-A67F-E3599DE78D05}"/>
              </a:ext>
            </a:extLst>
          </p:cNvPr>
          <p:cNvSpPr txBox="1"/>
          <p:nvPr/>
        </p:nvSpPr>
        <p:spPr>
          <a:xfrm>
            <a:off x="7829963" y="1431637"/>
            <a:ext cx="1773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With Weight Cap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36EE9F-0741-495E-900D-1BD843C7DF67}"/>
              </a:ext>
            </a:extLst>
          </p:cNvPr>
          <p:cNvSpPr txBox="1"/>
          <p:nvPr/>
        </p:nvSpPr>
        <p:spPr>
          <a:xfrm>
            <a:off x="2640051" y="5241697"/>
            <a:ext cx="476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Why hasn’t it effected the Minimise Cost Model?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A346AA-227F-488E-8EF9-81F309E6E20B}"/>
              </a:ext>
            </a:extLst>
          </p:cNvPr>
          <p:cNvSpPr txBox="1"/>
          <p:nvPr/>
        </p:nvSpPr>
        <p:spPr>
          <a:xfrm>
            <a:off x="2640051" y="5971248"/>
            <a:ext cx="7083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Because the weight of the optimal solution was already less than the cap!</a:t>
            </a:r>
          </a:p>
        </p:txBody>
      </p:sp>
    </p:spTree>
    <p:extLst>
      <p:ext uri="{BB962C8B-B14F-4D97-AF65-F5344CB8AC3E}">
        <p14:creationId xmlns:p14="http://schemas.microsoft.com/office/powerpoint/2010/main" val="97612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Extending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How to deal with both cost and popularity?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Ideas?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Combine the objectives</a:t>
            </a:r>
          </a:p>
          <a:p>
            <a:pPr lvl="1"/>
            <a:r>
              <a:rPr lang="en-GB" dirty="0"/>
              <a:t>Ratio</a:t>
            </a:r>
          </a:p>
          <a:p>
            <a:pPr lvl="1"/>
            <a:r>
              <a:rPr lang="en-GB" dirty="0"/>
              <a:t>Weighted Objective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FCF0A-6935-40E8-9913-0AFAEA99C147}"/>
              </a:ext>
            </a:extLst>
          </p:cNvPr>
          <p:cNvSpPr txBox="1"/>
          <p:nvPr/>
        </p:nvSpPr>
        <p:spPr>
          <a:xfrm>
            <a:off x="6465454" y="214745"/>
            <a:ext cx="5541818" cy="200054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u="sng" dirty="0"/>
              <a:t>Issues</a:t>
            </a:r>
            <a:endParaRPr lang="en-GB" sz="2000" u="sng" dirty="0"/>
          </a:p>
          <a:p>
            <a:endParaRPr lang="en-GB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Variety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Weight of maximising popularity is 635g. Nearly double the minimum weight of 320g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What if we care about both cost and popularity?</a:t>
            </a:r>
          </a:p>
        </p:txBody>
      </p:sp>
    </p:spTree>
    <p:extLst>
      <p:ext uri="{BB962C8B-B14F-4D97-AF65-F5344CB8AC3E}">
        <p14:creationId xmlns:p14="http://schemas.microsoft.com/office/powerpoint/2010/main" val="306182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Ratio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4">
                <a:extLst>
                  <a:ext uri="{FF2B5EF4-FFF2-40B4-BE49-F238E27FC236}">
                    <a16:creationId xmlns:a16="http://schemas.microsoft.com/office/drawing/2014/main" id="{7AC61F5A-C4E9-49D1-AFD0-CCA0D98641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78959662"/>
                  </p:ext>
                </p:extLst>
              </p:nvPr>
            </p:nvGraphicFramePr>
            <p:xfrm>
              <a:off x="630382" y="1929821"/>
              <a:ext cx="4640117" cy="336397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48733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755106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118139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  <a:gridCol w="1118139">
                      <a:extLst>
                        <a:ext uri="{9D8B030D-6E8A-4147-A177-3AD203B41FA5}">
                          <a16:colId xmlns:a16="http://schemas.microsoft.com/office/drawing/2014/main" val="3122250304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Popularity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14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1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Buttery butterscotch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Caramel softie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Orange dream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Coconut Ice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Lemon sorbet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0.384615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Lime sherbet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0.461538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Strawberry surprise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0.4375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Raspberry mousse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Ginger toffee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Rose-water posy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Walnut whirl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0.444444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Grape bunch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4">
                <a:extLst>
                  <a:ext uri="{FF2B5EF4-FFF2-40B4-BE49-F238E27FC236}">
                    <a16:creationId xmlns:a16="http://schemas.microsoft.com/office/drawing/2014/main" id="{7AC61F5A-C4E9-49D1-AFD0-CCA0D98641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78959662"/>
                  </p:ext>
                </p:extLst>
              </p:nvPr>
            </p:nvGraphicFramePr>
            <p:xfrm>
              <a:off x="630382" y="1929821"/>
              <a:ext cx="4640117" cy="336397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48733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755106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118139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  <a:gridCol w="1118139">
                      <a:extLst>
                        <a:ext uri="{9D8B030D-6E8A-4147-A177-3AD203B41FA5}">
                          <a16:colId xmlns:a16="http://schemas.microsoft.com/office/drawing/2014/main" val="3122250304"/>
                        </a:ext>
                      </a:extLst>
                    </a:gridCol>
                  </a:tblGrid>
                  <a:tr h="46577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69" t="-7792" r="-182657" b="-6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19355" t="-7792" r="-299194" b="-6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16393" t="-7792" r="-102732" b="-6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14674" t="-7792" r="-2174" b="-6402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4464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Buttery butterscotch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Caramel softie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Orange dream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Coconut Ice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Lemon sorbet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0.384615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Lime sherbet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0.461538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Strawberry surprise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0.4375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Raspberry mousse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Ginger toffee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Rose-water posy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Walnut whirl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0.444444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Grape bunch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F31310D-71F2-4561-AD34-D748BBB0CFD2}"/>
                  </a:ext>
                </a:extLst>
              </p:cNvPr>
              <p:cNvSpPr/>
              <p:nvPr/>
            </p:nvSpPr>
            <p:spPr>
              <a:xfrm>
                <a:off x="5135418" y="1266104"/>
                <a:ext cx="6096000" cy="469141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u="sng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the popularity per unit cost of the selection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sz="105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	</a:t>
                </a: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subject to: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≥320</m:t>
                        </m:r>
                      </m:e>
                    </m:nary>
                  </m:oMath>
                </a14:m>
                <a:b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dirty="0"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	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≤1.5∗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320</m:t>
                          </m:r>
                        </m:e>
                      </m:nary>
                    </m:oMath>
                  </m:oMathPara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≤2850</m:t>
                        </m:r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≤0.45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≥0,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F31310D-71F2-4561-AD34-D748BBB0C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418" y="1266104"/>
                <a:ext cx="6096000" cy="4691412"/>
              </a:xfrm>
              <a:prstGeom prst="rect">
                <a:avLst/>
              </a:prstGeom>
              <a:blipFill>
                <a:blip r:embed="rId3"/>
                <a:stretch>
                  <a:fillRect t="-650" r="-8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85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Result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541659-818D-4F6D-B59E-6EBBCC48E5A6}"/>
              </a:ext>
            </a:extLst>
          </p:cNvPr>
          <p:cNvSpPr txBox="1"/>
          <p:nvPr/>
        </p:nvSpPr>
        <p:spPr>
          <a:xfrm>
            <a:off x="1112982" y="5090991"/>
            <a:ext cx="53726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u="sng" dirty="0"/>
              <a:t>Issue:</a:t>
            </a:r>
          </a:p>
          <a:p>
            <a:endParaRPr lang="en-GB" sz="2000" dirty="0"/>
          </a:p>
          <a:p>
            <a:r>
              <a:rPr lang="en-GB" sz="2000" dirty="0"/>
              <a:t>What if we care more about popularity than cost?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7755F89-ADC3-41DA-B765-0B8FF7EB4C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3576044"/>
                  </p:ext>
                </p:extLst>
              </p:nvPr>
            </p:nvGraphicFramePr>
            <p:xfrm>
              <a:off x="1112982" y="1259177"/>
              <a:ext cx="9669318" cy="333292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83605">
                      <a:extLst>
                        <a:ext uri="{9D8B030D-6E8A-4147-A177-3AD203B41FA5}">
                          <a16:colId xmlns:a16="http://schemas.microsoft.com/office/drawing/2014/main" val="1166563622"/>
                        </a:ext>
                      </a:extLst>
                    </a:gridCol>
                    <a:gridCol w="950552">
                      <a:extLst>
                        <a:ext uri="{9D8B030D-6E8A-4147-A177-3AD203B41FA5}">
                          <a16:colId xmlns:a16="http://schemas.microsoft.com/office/drawing/2014/main" val="991946617"/>
                        </a:ext>
                      </a:extLst>
                    </a:gridCol>
                    <a:gridCol w="1095552">
                      <a:extLst>
                        <a:ext uri="{9D8B030D-6E8A-4147-A177-3AD203B41FA5}">
                          <a16:colId xmlns:a16="http://schemas.microsoft.com/office/drawing/2014/main" val="1860964451"/>
                        </a:ext>
                      </a:extLst>
                    </a:gridCol>
                    <a:gridCol w="1299625">
                      <a:extLst>
                        <a:ext uri="{9D8B030D-6E8A-4147-A177-3AD203B41FA5}">
                          <a16:colId xmlns:a16="http://schemas.microsoft.com/office/drawing/2014/main" val="4019313540"/>
                        </a:ext>
                      </a:extLst>
                    </a:gridCol>
                    <a:gridCol w="1106293">
                      <a:extLst>
                        <a:ext uri="{9D8B030D-6E8A-4147-A177-3AD203B41FA5}">
                          <a16:colId xmlns:a16="http://schemas.microsoft.com/office/drawing/2014/main" val="3251180012"/>
                        </a:ext>
                      </a:extLst>
                    </a:gridCol>
                    <a:gridCol w="1374810">
                      <a:extLst>
                        <a:ext uri="{9D8B030D-6E8A-4147-A177-3AD203B41FA5}">
                          <a16:colId xmlns:a16="http://schemas.microsoft.com/office/drawing/2014/main" val="2518883640"/>
                        </a:ext>
                      </a:extLst>
                    </a:gridCol>
                    <a:gridCol w="827034">
                      <a:extLst>
                        <a:ext uri="{9D8B030D-6E8A-4147-A177-3AD203B41FA5}">
                          <a16:colId xmlns:a16="http://schemas.microsoft.com/office/drawing/2014/main" val="2585060013"/>
                        </a:ext>
                      </a:extLst>
                    </a:gridCol>
                    <a:gridCol w="1331847">
                      <a:extLst>
                        <a:ext uri="{9D8B030D-6E8A-4147-A177-3AD203B41FA5}">
                          <a16:colId xmlns:a16="http://schemas.microsoft.com/office/drawing/2014/main" val="2396961448"/>
                        </a:ext>
                      </a:extLst>
                    </a:gridCol>
                  </a:tblGrid>
                  <a:tr h="597332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Fat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Calories –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Weight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Cost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Popularity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1400" i="1" u="none" strike="noStrike" dirty="0" err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i="1" u="none" strike="noStrike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GB" sz="1400" i="1" u="none" strike="noStrike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mbria Math" panose="02040503050406030204" pitchFamily="18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Maximise </a:t>
                          </a:r>
                        </a:p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GB" sz="1400" i="1" u="none" strike="noStrike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sz="1400" i="1" u="none" strike="noStrike" dirty="0" err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i="1" u="none" strike="noStrike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GB" sz="1400" i="1" u="none" strike="noStrike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GB" sz="1400" i="1" u="none" strike="noStrike" dirty="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6217326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04670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259676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369315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8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24756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Lemon sorbet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0.384615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1398216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40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0.461538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32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559150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0.4375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84844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462128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638467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8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732596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0.444444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9518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Grape bunch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59529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7755F89-ADC3-41DA-B765-0B8FF7EB4C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3576044"/>
                  </p:ext>
                </p:extLst>
              </p:nvPr>
            </p:nvGraphicFramePr>
            <p:xfrm>
              <a:off x="1112982" y="1259177"/>
              <a:ext cx="9669318" cy="333292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83605">
                      <a:extLst>
                        <a:ext uri="{9D8B030D-6E8A-4147-A177-3AD203B41FA5}">
                          <a16:colId xmlns:a16="http://schemas.microsoft.com/office/drawing/2014/main" val="1166563622"/>
                        </a:ext>
                      </a:extLst>
                    </a:gridCol>
                    <a:gridCol w="950552">
                      <a:extLst>
                        <a:ext uri="{9D8B030D-6E8A-4147-A177-3AD203B41FA5}">
                          <a16:colId xmlns:a16="http://schemas.microsoft.com/office/drawing/2014/main" val="991946617"/>
                        </a:ext>
                      </a:extLst>
                    </a:gridCol>
                    <a:gridCol w="1095552">
                      <a:extLst>
                        <a:ext uri="{9D8B030D-6E8A-4147-A177-3AD203B41FA5}">
                          <a16:colId xmlns:a16="http://schemas.microsoft.com/office/drawing/2014/main" val="1860964451"/>
                        </a:ext>
                      </a:extLst>
                    </a:gridCol>
                    <a:gridCol w="1299625">
                      <a:extLst>
                        <a:ext uri="{9D8B030D-6E8A-4147-A177-3AD203B41FA5}">
                          <a16:colId xmlns:a16="http://schemas.microsoft.com/office/drawing/2014/main" val="4019313540"/>
                        </a:ext>
                      </a:extLst>
                    </a:gridCol>
                    <a:gridCol w="1106293">
                      <a:extLst>
                        <a:ext uri="{9D8B030D-6E8A-4147-A177-3AD203B41FA5}">
                          <a16:colId xmlns:a16="http://schemas.microsoft.com/office/drawing/2014/main" val="3251180012"/>
                        </a:ext>
                      </a:extLst>
                    </a:gridCol>
                    <a:gridCol w="1374810">
                      <a:extLst>
                        <a:ext uri="{9D8B030D-6E8A-4147-A177-3AD203B41FA5}">
                          <a16:colId xmlns:a16="http://schemas.microsoft.com/office/drawing/2014/main" val="2518883640"/>
                        </a:ext>
                      </a:extLst>
                    </a:gridCol>
                    <a:gridCol w="827034">
                      <a:extLst>
                        <a:ext uri="{9D8B030D-6E8A-4147-A177-3AD203B41FA5}">
                          <a16:colId xmlns:a16="http://schemas.microsoft.com/office/drawing/2014/main" val="2585060013"/>
                        </a:ext>
                      </a:extLst>
                    </a:gridCol>
                    <a:gridCol w="1331847">
                      <a:extLst>
                        <a:ext uri="{9D8B030D-6E8A-4147-A177-3AD203B41FA5}">
                          <a16:colId xmlns:a16="http://schemas.microsoft.com/office/drawing/2014/main" val="2396961448"/>
                        </a:ext>
                      </a:extLst>
                    </a:gridCol>
                  </a:tblGrid>
                  <a:tr h="6583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362" t="-6481" r="-476449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177564" t="-6481" r="-742949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240556" t="-6481" r="-543889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287793" t="-6481" r="-359624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453846" t="-6481" r="-320879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446018" t="-6481" r="-158407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914074" t="-6481" r="-165185" b="-423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2"/>
                          <a:stretch>
                            <a:fillRect l="-625114" t="-6481" r="-1826" b="-423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621732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6046704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0.833333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25967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3693153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8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24756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Lemon sorbet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0.384615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139821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40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0.461538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32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5591504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0.4375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84844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4621280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0.666667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6384677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8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7325961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4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0.444444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951809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Grape bunch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4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59529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0552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Weighted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9F8257E-2356-459D-95E6-53349021EB3D}"/>
                  </a:ext>
                </a:extLst>
              </p:cNvPr>
              <p:cNvSpPr/>
              <p:nvPr/>
            </p:nvSpPr>
            <p:spPr>
              <a:xfrm>
                <a:off x="6002727" y="365125"/>
                <a:ext cx="4847161" cy="64649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u="sng" dirty="0"/>
                  <a:t>Combine objectives:</a:t>
                </a: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/>
                  <a:t> and </a:t>
                </a: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minimise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We know that:</a:t>
                </a: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minimise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(maximise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So:</a:t>
                </a: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/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However, this gives an equal preference to both.</a:t>
                </a: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u="sng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Weighted objective</a:t>
                </a:r>
              </a:p>
              <a:p>
                <a:endParaRPr lang="en-GB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(−</m:t>
                    </m:r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GB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𝛼</m:t>
                    </m:r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For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40/60</m:t>
                    </m:r>
                  </m:oMath>
                </a14:m>
                <a:r>
                  <a:rPr lang="en-GB" dirty="0"/>
                  <a:t> split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9F8257E-2356-459D-95E6-53349021EB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727" y="365125"/>
                <a:ext cx="4847161" cy="6464911"/>
              </a:xfrm>
              <a:prstGeom prst="rect">
                <a:avLst/>
              </a:prstGeom>
              <a:blipFill>
                <a:blip r:embed="rId2"/>
                <a:stretch>
                  <a:fillRect l="-1132" t="-566" r="-10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4">
                <a:extLst>
                  <a:ext uri="{FF2B5EF4-FFF2-40B4-BE49-F238E27FC236}">
                    <a16:creationId xmlns:a16="http://schemas.microsoft.com/office/drawing/2014/main" id="{7AC61F5A-C4E9-49D1-AFD0-CCA0D98641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5729753"/>
                  </p:ext>
                </p:extLst>
              </p:nvPr>
            </p:nvGraphicFramePr>
            <p:xfrm>
              <a:off x="546100" y="1266104"/>
              <a:ext cx="3912121" cy="333133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72338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1104410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635373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2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2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Popularity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200" b="0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2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12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2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Buttery butterscotch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Caramel softie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Orange dream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Coconut Ice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Lemon sorbet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Lime sherbet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Strawberry surprise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Raspberry mousse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Ginger toffee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Rose-water posy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Walnut whirl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Grape bunch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4">
                <a:extLst>
                  <a:ext uri="{FF2B5EF4-FFF2-40B4-BE49-F238E27FC236}">
                    <a16:creationId xmlns:a16="http://schemas.microsoft.com/office/drawing/2014/main" id="{7AC61F5A-C4E9-49D1-AFD0-CCA0D986411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5729753"/>
                  </p:ext>
                </p:extLst>
              </p:nvPr>
            </p:nvGraphicFramePr>
            <p:xfrm>
              <a:off x="546100" y="1266104"/>
              <a:ext cx="3912121" cy="333133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72338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1104410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635373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</a:tblGrid>
                  <a:tr h="2000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18" t="-15152" r="-235233" b="-16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7182" t="-15152" r="-150829" b="-16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39405" t="-15152" r="-1487" b="-160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3827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Buttery butterscotch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Caramel softie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Orange dream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Coconut Ice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Lemon sorbet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Lime sherbet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3827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Strawberry surprise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3827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Raspberry mousse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Ginger toffee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38277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Rose-water posy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Walnut whirl</a:t>
                          </a:r>
                          <a:endParaRPr lang="en-GB" sz="12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en-GB" sz="1200" b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Grape bunch</a:t>
                          </a:r>
                          <a:endParaRPr lang="en-GB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200" b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n-GB" sz="1200" b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F2BBFA7-B795-4556-8178-AF6BCDEB0DC2}"/>
              </a:ext>
            </a:extLst>
          </p:cNvPr>
          <p:cNvSpPr txBox="1"/>
          <p:nvPr/>
        </p:nvSpPr>
        <p:spPr>
          <a:xfrm>
            <a:off x="434650" y="4853232"/>
            <a:ext cx="46444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Issue</a:t>
            </a:r>
          </a:p>
          <a:p>
            <a:endParaRPr lang="en-GB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Cost and Popularity may be of a different scale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What if cost was in thousands of pounds?</a:t>
            </a:r>
          </a:p>
        </p:txBody>
      </p:sp>
    </p:spTree>
    <p:extLst>
      <p:ext uri="{BB962C8B-B14F-4D97-AF65-F5344CB8AC3E}">
        <p14:creationId xmlns:p14="http://schemas.microsoft.com/office/powerpoint/2010/main" val="322394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Normalised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Content Placeholder 4">
                <a:extLst>
                  <a:ext uri="{FF2B5EF4-FFF2-40B4-BE49-F238E27FC236}">
                    <a16:creationId xmlns:a16="http://schemas.microsoft.com/office/drawing/2014/main" id="{8C3CF3EB-2ED5-4D5F-A055-EA622217482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36042025"/>
                  </p:ext>
                </p:extLst>
              </p:nvPr>
            </p:nvGraphicFramePr>
            <p:xfrm>
              <a:off x="345210" y="1495868"/>
              <a:ext cx="6095999" cy="386626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95826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936274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154395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  <a:gridCol w="2109504">
                      <a:extLst>
                        <a:ext uri="{9D8B030D-6E8A-4147-A177-3AD203B41FA5}">
                          <a16:colId xmlns:a16="http://schemas.microsoft.com/office/drawing/2014/main" val="4032966885"/>
                        </a:ext>
                      </a:extLst>
                    </a:gridCol>
                  </a:tblGrid>
                  <a:tr h="65667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- </a:t>
                          </a:r>
                          <a:endParaRPr lang="en-GB" sz="1400" b="0" i="1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Popularity – 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GB" sz="1400" b="1" i="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Buttery butterscotch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Caramel softie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Orange dream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Coconut Ice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Lemon sorbet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Lime sherbet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Strawberry surprise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Raspberry mousse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Ginger toffee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Rose-water posy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Walnut whirl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0653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Grape bunch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Content Placeholder 4">
                <a:extLst>
                  <a:ext uri="{FF2B5EF4-FFF2-40B4-BE49-F238E27FC236}">
                    <a16:creationId xmlns:a16="http://schemas.microsoft.com/office/drawing/2014/main" id="{8C3CF3EB-2ED5-4D5F-A055-EA622217482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36042025"/>
                  </p:ext>
                </p:extLst>
              </p:nvPr>
            </p:nvGraphicFramePr>
            <p:xfrm>
              <a:off x="345210" y="1495868"/>
              <a:ext cx="6095999" cy="386626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95826">
                      <a:extLst>
                        <a:ext uri="{9D8B030D-6E8A-4147-A177-3AD203B41FA5}">
                          <a16:colId xmlns:a16="http://schemas.microsoft.com/office/drawing/2014/main" val="2602940957"/>
                        </a:ext>
                      </a:extLst>
                    </a:gridCol>
                    <a:gridCol w="936274">
                      <a:extLst>
                        <a:ext uri="{9D8B030D-6E8A-4147-A177-3AD203B41FA5}">
                          <a16:colId xmlns:a16="http://schemas.microsoft.com/office/drawing/2014/main" val="2947240050"/>
                        </a:ext>
                      </a:extLst>
                    </a:gridCol>
                    <a:gridCol w="1154395">
                      <a:extLst>
                        <a:ext uri="{9D8B030D-6E8A-4147-A177-3AD203B41FA5}">
                          <a16:colId xmlns:a16="http://schemas.microsoft.com/office/drawing/2014/main" val="921487208"/>
                        </a:ext>
                      </a:extLst>
                    </a:gridCol>
                    <a:gridCol w="2109504">
                      <a:extLst>
                        <a:ext uri="{9D8B030D-6E8A-4147-A177-3AD203B41FA5}">
                          <a16:colId xmlns:a16="http://schemas.microsoft.com/office/drawing/2014/main" val="4032966885"/>
                        </a:ext>
                      </a:extLst>
                    </a:gridCol>
                  </a:tblGrid>
                  <a:tr h="7735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22" t="-6299" r="-223151" b="-414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2597" t="-6299" r="-350649" b="-414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45263" t="-6299" r="-184211" b="-414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89595" t="-6299" r="-1156" b="-4141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4153482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Buttery butterscotch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4114274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Caramel softie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748491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Orange dream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599508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Coconut Ice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2314052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Lemon sorbet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04692767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Lime sherbet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192925892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Strawberry surprise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84526713"/>
                      </a:ext>
                    </a:extLst>
                  </a:tr>
                  <a:tr h="36224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Raspberry mousse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858910209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Ginger toffee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0.75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7252724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Rose-water posy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1218035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>
                              <a:effectLst/>
                            </a:rPr>
                            <a:t>Walnut whirl</a:t>
                          </a:r>
                          <a:endParaRPr lang="en-GB" sz="14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9693438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dirty="0">
                              <a:effectLst/>
                            </a:rPr>
                            <a:t>Grape bunch</a:t>
                          </a:r>
                          <a:endParaRPr lang="en-GB" sz="14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0.4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-0.6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9323533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820B3C7-C533-41BD-B85C-415CD62CBD9D}"/>
                  </a:ext>
                </a:extLst>
              </p:cNvPr>
              <p:cNvSpPr/>
              <p:nvPr/>
            </p:nvSpPr>
            <p:spPr>
              <a:xfrm>
                <a:off x="5948218" y="1010600"/>
                <a:ext cx="6096000" cy="505657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u="sng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Maximise the normalised weighted objective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sz="105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	maximise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</m:d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b="0" i="0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{</m:t>
                                  </m:r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}</m:t>
                                  </m:r>
                                </m:e>
                              </m:func>
                            </m:den>
                          </m:f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𝛼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{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}</m:t>
                                  </m:r>
                                </m:e>
                              </m:func>
                            </m:den>
                          </m:f>
                        </m:e>
                      </m:nary>
                    </m:oMath>
                  </m:oMathPara>
                </a14:m>
                <a:endParaRPr lang="en-GB" dirty="0"/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subject to: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≥320</m:t>
                        </m:r>
                      </m:e>
                    </m:nary>
                  </m:oMath>
                </a14:m>
                <a:b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≤1.5∗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320</m:t>
                        </m:r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≤2850</m:t>
                        </m:r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≤0.45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b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≥0,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i="1" dirty="0"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ℤ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 ∀</m:t>
                    </m:r>
                    <m:r>
                      <a:rPr lang="en-GB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820B3C7-C533-41BD-B85C-415CD62CBD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218" y="1010600"/>
                <a:ext cx="6096000" cy="5056577"/>
              </a:xfrm>
              <a:prstGeom prst="rect">
                <a:avLst/>
              </a:prstGeom>
              <a:blipFill>
                <a:blip r:embed="rId3"/>
                <a:stretch>
                  <a:fillRect t="-6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17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E593E6-3D2F-4C7E-80B2-F78D636A9E0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706293"/>
              </a:xfrm>
            </p:spPr>
            <p:txBody>
              <a:bodyPr/>
              <a:lstStyle/>
              <a:p>
                <a:r>
                  <a:rPr lang="en-GB" dirty="0"/>
                  <a:t>Result - Equal Preference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3E593E6-3D2F-4C7E-80B2-F78D636A9E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706293"/>
              </a:xfrm>
              <a:blipFill>
                <a:blip r:embed="rId2"/>
                <a:stretch>
                  <a:fillRect l="-2377" t="-26724" b="-40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C116D50-E823-4C86-8723-8B3CFBA897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0788631"/>
                  </p:ext>
                </p:extLst>
              </p:nvPr>
            </p:nvGraphicFramePr>
            <p:xfrm>
              <a:off x="749300" y="1187624"/>
              <a:ext cx="10922000" cy="369997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29367">
                      <a:extLst>
                        <a:ext uri="{9D8B030D-6E8A-4147-A177-3AD203B41FA5}">
                          <a16:colId xmlns:a16="http://schemas.microsoft.com/office/drawing/2014/main" val="161726583"/>
                        </a:ext>
                      </a:extLst>
                    </a:gridCol>
                    <a:gridCol w="975662">
                      <a:extLst>
                        <a:ext uri="{9D8B030D-6E8A-4147-A177-3AD203B41FA5}">
                          <a16:colId xmlns:a16="http://schemas.microsoft.com/office/drawing/2014/main" val="2781967631"/>
                        </a:ext>
                      </a:extLst>
                    </a:gridCol>
                    <a:gridCol w="1165374">
                      <a:extLst>
                        <a:ext uri="{9D8B030D-6E8A-4147-A177-3AD203B41FA5}">
                          <a16:colId xmlns:a16="http://schemas.microsoft.com/office/drawing/2014/main" val="3976736123"/>
                        </a:ext>
                      </a:extLst>
                    </a:gridCol>
                    <a:gridCol w="1463494">
                      <a:extLst>
                        <a:ext uri="{9D8B030D-6E8A-4147-A177-3AD203B41FA5}">
                          <a16:colId xmlns:a16="http://schemas.microsoft.com/office/drawing/2014/main" val="774794915"/>
                        </a:ext>
                      </a:extLst>
                    </a:gridCol>
                    <a:gridCol w="1029866">
                      <a:extLst>
                        <a:ext uri="{9D8B030D-6E8A-4147-A177-3AD203B41FA5}">
                          <a16:colId xmlns:a16="http://schemas.microsoft.com/office/drawing/2014/main" val="337924380"/>
                        </a:ext>
                      </a:extLst>
                    </a:gridCol>
                    <a:gridCol w="1422841">
                      <a:extLst>
                        <a:ext uri="{9D8B030D-6E8A-4147-A177-3AD203B41FA5}">
                          <a16:colId xmlns:a16="http://schemas.microsoft.com/office/drawing/2014/main" val="1873823968"/>
                        </a:ext>
                      </a:extLst>
                    </a:gridCol>
                    <a:gridCol w="1676496">
                      <a:extLst>
                        <a:ext uri="{9D8B030D-6E8A-4147-A177-3AD203B41FA5}">
                          <a16:colId xmlns:a16="http://schemas.microsoft.com/office/drawing/2014/main" val="4000470708"/>
                        </a:ext>
                      </a:extLst>
                    </a:gridCol>
                    <a:gridCol w="1358900">
                      <a:extLst>
                        <a:ext uri="{9D8B030D-6E8A-4147-A177-3AD203B41FA5}">
                          <a16:colId xmlns:a16="http://schemas.microsoft.com/office/drawing/2014/main" val="1184954335"/>
                        </a:ext>
                      </a:extLst>
                    </a:gridCol>
                  </a:tblGrid>
                  <a:tr h="918494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Fat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Calories –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Weight (g)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- </a:t>
                          </a:r>
                          <a:endParaRPr lang="en-GB" sz="1400" b="0" i="1" dirty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400" b="1" dirty="0">
                              <a:solidFill>
                                <a:schemeClr val="bg1"/>
                              </a:solidFill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Popularity – 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𝑷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GB" sz="1400" b="1" i="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GB" sz="1400" b="0" i="1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sz="1400" b="0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400" b="1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GB" sz="1400" b="1" i="1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GB" sz="1400" b="0" i="0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max</m:t>
                                            </m:r>
                                          </m:e>
                                          <m:lim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{</m:t>
                                        </m:r>
                                        <m:sSub>
                                          <m:sSubPr>
                                            <m:ctrlP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GB" sz="14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GB" sz="1400" b="0" i="1" smtClean="0">
                                            <a:solidFill>
                                              <a:schemeClr val="bg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}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solidFill>
                              <a:schemeClr val="bg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Maximise </a:t>
                          </a:r>
                        </a:p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Weighted </a:t>
                          </a:r>
                        </a:p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Objective 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755755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24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2530514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8757147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80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4595827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12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0.9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24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747272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Lemon sorbet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0223770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40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0.65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5882195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8881443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0.8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2072549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0.25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644273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-0.2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6894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7495979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Grape bunch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90401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C116D50-E823-4C86-8723-8B3CFBA897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0788631"/>
                  </p:ext>
                </p:extLst>
              </p:nvPr>
            </p:nvGraphicFramePr>
            <p:xfrm>
              <a:off x="749300" y="1187624"/>
              <a:ext cx="10922000" cy="369997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29367">
                      <a:extLst>
                        <a:ext uri="{9D8B030D-6E8A-4147-A177-3AD203B41FA5}">
                          <a16:colId xmlns:a16="http://schemas.microsoft.com/office/drawing/2014/main" val="161726583"/>
                        </a:ext>
                      </a:extLst>
                    </a:gridCol>
                    <a:gridCol w="975662">
                      <a:extLst>
                        <a:ext uri="{9D8B030D-6E8A-4147-A177-3AD203B41FA5}">
                          <a16:colId xmlns:a16="http://schemas.microsoft.com/office/drawing/2014/main" val="2781967631"/>
                        </a:ext>
                      </a:extLst>
                    </a:gridCol>
                    <a:gridCol w="1165374">
                      <a:extLst>
                        <a:ext uri="{9D8B030D-6E8A-4147-A177-3AD203B41FA5}">
                          <a16:colId xmlns:a16="http://schemas.microsoft.com/office/drawing/2014/main" val="3976736123"/>
                        </a:ext>
                      </a:extLst>
                    </a:gridCol>
                    <a:gridCol w="1463494">
                      <a:extLst>
                        <a:ext uri="{9D8B030D-6E8A-4147-A177-3AD203B41FA5}">
                          <a16:colId xmlns:a16="http://schemas.microsoft.com/office/drawing/2014/main" val="774794915"/>
                        </a:ext>
                      </a:extLst>
                    </a:gridCol>
                    <a:gridCol w="1029866">
                      <a:extLst>
                        <a:ext uri="{9D8B030D-6E8A-4147-A177-3AD203B41FA5}">
                          <a16:colId xmlns:a16="http://schemas.microsoft.com/office/drawing/2014/main" val="337924380"/>
                        </a:ext>
                      </a:extLst>
                    </a:gridCol>
                    <a:gridCol w="1422841">
                      <a:extLst>
                        <a:ext uri="{9D8B030D-6E8A-4147-A177-3AD203B41FA5}">
                          <a16:colId xmlns:a16="http://schemas.microsoft.com/office/drawing/2014/main" val="1873823968"/>
                        </a:ext>
                      </a:extLst>
                    </a:gridCol>
                    <a:gridCol w="1676496">
                      <a:extLst>
                        <a:ext uri="{9D8B030D-6E8A-4147-A177-3AD203B41FA5}">
                          <a16:colId xmlns:a16="http://schemas.microsoft.com/office/drawing/2014/main" val="4000470708"/>
                        </a:ext>
                      </a:extLst>
                    </a:gridCol>
                    <a:gridCol w="1358900">
                      <a:extLst>
                        <a:ext uri="{9D8B030D-6E8A-4147-A177-3AD203B41FA5}">
                          <a16:colId xmlns:a16="http://schemas.microsoft.com/office/drawing/2014/main" val="1184954335"/>
                        </a:ext>
                      </a:extLst>
                    </a:gridCol>
                  </a:tblGrid>
                  <a:tr h="9184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333" t="-662" r="-499000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88125" t="-662" r="-835625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40104" t="-662" r="-596354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72083" t="-662" r="-377083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28402" t="-662" r="-435503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53846" t="-662" r="-214530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71273" t="-662" r="-82545" b="-313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Maximise </a:t>
                          </a:r>
                        </a:p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Weighted </a:t>
                          </a:r>
                        </a:p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Objective 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755755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24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2530514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8757147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80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4595827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12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0.9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24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747272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Lemon sorbet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60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0223770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40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0.65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5882195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8881443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17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0.8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2072549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0.75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0.25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644273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145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-0.2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11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6894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-0.1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7495979"/>
                      </a:ext>
                    </a:extLst>
                  </a:tr>
                  <a:tr h="23179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Grape bunch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120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15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0.4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-0.6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90401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F6C4959-26AF-45A2-B503-41C219EDB5BA}"/>
              </a:ext>
            </a:extLst>
          </p:cNvPr>
          <p:cNvSpPr txBox="1"/>
          <p:nvPr/>
        </p:nvSpPr>
        <p:spPr>
          <a:xfrm>
            <a:off x="749300" y="5003804"/>
            <a:ext cx="274241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u="sng" dirty="0"/>
              <a:t>Selection has:</a:t>
            </a:r>
          </a:p>
          <a:p>
            <a:endParaRPr lang="en-GB" sz="20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 total weight of 376g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2795 kcals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168g fat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5435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Results for all capped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6C4959-26AF-45A2-B503-41C219EDB5BA}"/>
                  </a:ext>
                </a:extLst>
              </p:cNvPr>
              <p:cNvSpPr txBox="1"/>
              <p:nvPr/>
            </p:nvSpPr>
            <p:spPr>
              <a:xfrm>
                <a:off x="2679394" y="4922117"/>
                <a:ext cx="6236579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/>
                  <a:t>Completely different solutions for the first 3 columns!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Values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≳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0.59</m:t>
                    </m:r>
                  </m:oMath>
                </a14:m>
                <a:r>
                  <a:rPr lang="en-GB" sz="2000" dirty="0"/>
                  <a:t> return the Minimise cost model</a:t>
                </a:r>
              </a:p>
              <a:p>
                <a:r>
                  <a:rPr lang="en-GB" sz="2000" dirty="0"/>
                  <a:t>Values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≲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0.</m:t>
                    </m:r>
                  </m:oMath>
                </a14:m>
                <a:r>
                  <a:rPr lang="en-GB" sz="2000" dirty="0"/>
                  <a:t>17  return the Maximise popularity model</a:t>
                </a:r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6C4959-26AF-45A2-B503-41C219EDB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394" y="4922117"/>
                <a:ext cx="6236579" cy="1631216"/>
              </a:xfrm>
              <a:prstGeom prst="rect">
                <a:avLst/>
              </a:prstGeom>
              <a:blipFill>
                <a:blip r:embed="rId2"/>
                <a:stretch>
                  <a:fillRect l="-1075" t="-1866" r="-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7E84431-07D1-4C28-B623-5BEBD30AD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371595"/>
                  </p:ext>
                </p:extLst>
              </p:nvPr>
            </p:nvGraphicFramePr>
            <p:xfrm>
              <a:off x="789708" y="1230573"/>
              <a:ext cx="10741891" cy="353238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515988">
                      <a:extLst>
                        <a:ext uri="{9D8B030D-6E8A-4147-A177-3AD203B41FA5}">
                          <a16:colId xmlns:a16="http://schemas.microsoft.com/office/drawing/2014/main" val="3331787569"/>
                        </a:ext>
                      </a:extLst>
                    </a:gridCol>
                    <a:gridCol w="1034246">
                      <a:extLst>
                        <a:ext uri="{9D8B030D-6E8A-4147-A177-3AD203B41FA5}">
                          <a16:colId xmlns:a16="http://schemas.microsoft.com/office/drawing/2014/main" val="3353037812"/>
                        </a:ext>
                      </a:extLst>
                    </a:gridCol>
                    <a:gridCol w="1353992">
                      <a:extLst>
                        <a:ext uri="{9D8B030D-6E8A-4147-A177-3AD203B41FA5}">
                          <a16:colId xmlns:a16="http://schemas.microsoft.com/office/drawing/2014/main" val="862760607"/>
                        </a:ext>
                      </a:extLst>
                    </a:gridCol>
                    <a:gridCol w="1059166">
                      <a:extLst>
                        <a:ext uri="{9D8B030D-6E8A-4147-A177-3AD203B41FA5}">
                          <a16:colId xmlns:a16="http://schemas.microsoft.com/office/drawing/2014/main" val="1308545185"/>
                        </a:ext>
                      </a:extLst>
                    </a:gridCol>
                    <a:gridCol w="1909948">
                      <a:extLst>
                        <a:ext uri="{9D8B030D-6E8A-4147-A177-3AD203B41FA5}">
                          <a16:colId xmlns:a16="http://schemas.microsoft.com/office/drawing/2014/main" val="2250044517"/>
                        </a:ext>
                      </a:extLst>
                    </a:gridCol>
                    <a:gridCol w="1943947">
                      <a:extLst>
                        <a:ext uri="{9D8B030D-6E8A-4147-A177-3AD203B41FA5}">
                          <a16:colId xmlns:a16="http://schemas.microsoft.com/office/drawing/2014/main" val="2349390410"/>
                        </a:ext>
                      </a:extLst>
                    </a:gridCol>
                    <a:gridCol w="1924604">
                      <a:extLst>
                        <a:ext uri="{9D8B030D-6E8A-4147-A177-3AD203B41FA5}">
                          <a16:colId xmlns:a16="http://schemas.microsoft.com/office/drawing/2014/main" val="3532617229"/>
                        </a:ext>
                      </a:extLst>
                    </a:gridCol>
                  </a:tblGrid>
                  <a:tr h="644409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Candy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400" i="1" u="none" strike="noStrike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Minimise Cost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Popularity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Maximise</a:t>
                          </a:r>
                        </a:p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400" b="1" i="1" u="none" strike="noStrike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𝑷</m:t>
                                      </m:r>
                                    </m:e>
                                    <m:sub>
                                      <m: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𝑪</m:t>
                                      </m:r>
                                    </m:e>
                                    <m:sub>
                                      <m:r>
                                        <a:rPr lang="en-GB" sz="1400" b="1" i="1" u="none" strike="noStrike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Weighted Objective (Equal) 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Weighted Objective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GB" sz="140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 = 0.59 </m:t>
                              </m:r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Weighted Objective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GB" sz="140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 = 0.17</m:t>
                              </m:r>
                            </m:oMath>
                          </a14:m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701603950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98385856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92978926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4169727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24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3818410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Lemon sorbet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0697134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32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26941556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86376874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7623158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5395311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11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544606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2341076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Grape bunch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5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507304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7E84431-07D1-4C28-B623-5BEBD30ADB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371595"/>
                  </p:ext>
                </p:extLst>
              </p:nvPr>
            </p:nvGraphicFramePr>
            <p:xfrm>
              <a:off x="789708" y="1230573"/>
              <a:ext cx="10741891" cy="353238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515988">
                      <a:extLst>
                        <a:ext uri="{9D8B030D-6E8A-4147-A177-3AD203B41FA5}">
                          <a16:colId xmlns:a16="http://schemas.microsoft.com/office/drawing/2014/main" val="3331787569"/>
                        </a:ext>
                      </a:extLst>
                    </a:gridCol>
                    <a:gridCol w="1034246">
                      <a:extLst>
                        <a:ext uri="{9D8B030D-6E8A-4147-A177-3AD203B41FA5}">
                          <a16:colId xmlns:a16="http://schemas.microsoft.com/office/drawing/2014/main" val="3353037812"/>
                        </a:ext>
                      </a:extLst>
                    </a:gridCol>
                    <a:gridCol w="1353992">
                      <a:extLst>
                        <a:ext uri="{9D8B030D-6E8A-4147-A177-3AD203B41FA5}">
                          <a16:colId xmlns:a16="http://schemas.microsoft.com/office/drawing/2014/main" val="862760607"/>
                        </a:ext>
                      </a:extLst>
                    </a:gridCol>
                    <a:gridCol w="1059166">
                      <a:extLst>
                        <a:ext uri="{9D8B030D-6E8A-4147-A177-3AD203B41FA5}">
                          <a16:colId xmlns:a16="http://schemas.microsoft.com/office/drawing/2014/main" val="1308545185"/>
                        </a:ext>
                      </a:extLst>
                    </a:gridCol>
                    <a:gridCol w="1909948">
                      <a:extLst>
                        <a:ext uri="{9D8B030D-6E8A-4147-A177-3AD203B41FA5}">
                          <a16:colId xmlns:a16="http://schemas.microsoft.com/office/drawing/2014/main" val="2250044517"/>
                        </a:ext>
                      </a:extLst>
                    </a:gridCol>
                    <a:gridCol w="1943947">
                      <a:extLst>
                        <a:ext uri="{9D8B030D-6E8A-4147-A177-3AD203B41FA5}">
                          <a16:colId xmlns:a16="http://schemas.microsoft.com/office/drawing/2014/main" val="2349390410"/>
                        </a:ext>
                      </a:extLst>
                    </a:gridCol>
                    <a:gridCol w="1924604">
                      <a:extLst>
                        <a:ext uri="{9D8B030D-6E8A-4147-A177-3AD203B41FA5}">
                          <a16:colId xmlns:a16="http://schemas.microsoft.com/office/drawing/2014/main" val="3532617229"/>
                        </a:ext>
                      </a:extLst>
                    </a:gridCol>
                  </a:tblGrid>
                  <a:tr h="6444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402" t="-943" r="-609639" b="-46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Minimise Cost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Popularity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368966" t="-943" r="-547126" b="-46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Maximise Weighted Objective (Equal) 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353918" t="-943" r="-100313" b="-46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458228" t="-943" r="-1266" b="-464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603950"/>
                      </a:ext>
                    </a:extLst>
                  </a:tr>
                  <a:tr h="43624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Buttery butterscotch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9838585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Caramel softie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9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9297892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Orange dream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41697270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Coconut Ice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24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3818410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Lemon sorbet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06971344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Lime sherbet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32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2694155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Strawberry surprise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863768742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Raspberry mousse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7623158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Ginger toffee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53953113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Rose-water posy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8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11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10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65446060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Walnut whirl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2341076"/>
                      </a:ext>
                    </a:extLst>
                  </a:tr>
                  <a:tr h="222885"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Grape bunch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5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u="none" strike="noStrike" dirty="0">
                              <a:effectLst/>
                            </a:rPr>
                            <a:t>0</a:t>
                          </a:r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0</a:t>
                          </a:r>
                          <a:endParaRPr lang="en-GB" sz="1400" b="1" i="0" u="none" strike="noStrike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>
                              <a:effectLst/>
                            </a:rPr>
                            <a:t>3</a:t>
                          </a:r>
                          <a:endParaRPr lang="en-GB" sz="14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GB" sz="1400" u="none" strike="noStrike" dirty="0">
                              <a:effectLst/>
                            </a:rPr>
                            <a:t>5</a:t>
                          </a:r>
                          <a:endParaRPr lang="en-GB" sz="14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507304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823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Solve the Linear Program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Solve the Linear Program first, Integer Program second.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An optimal solution for the LP model may exist on an integer solution. i.e. you might just get lucky!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 that case you don’t need to solve the Integer Program (can be slow to solve for large models)</a:t>
            </a:r>
          </a:p>
        </p:txBody>
      </p:sp>
    </p:spTree>
    <p:extLst>
      <p:ext uri="{BB962C8B-B14F-4D97-AF65-F5344CB8AC3E}">
        <p14:creationId xmlns:p14="http://schemas.microsoft.com/office/powerpoint/2010/main" val="387421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Modelling a Linear Program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Write down what you know!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Identify the variables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Identify the objective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Identify the constraints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Are the constraints and objective linear?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Use appropriate notation. </a:t>
                </a:r>
              </a:p>
              <a:p>
                <a:pPr lvl="1"/>
                <a:r>
                  <a:rPr lang="en-GB" dirty="0"/>
                  <a:t>e.g. label vitamin A content of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Are the variables Real or Integer?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Formulate the Model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2 and 3 are not always obvious. E.g. conflicting preferences, opinions, etc..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101" t="-34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36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Additional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Model a Scaled/Simpler Problem</a:t>
            </a:r>
          </a:p>
          <a:p>
            <a:pPr lvl="1"/>
            <a:r>
              <a:rPr lang="en-GB" dirty="0"/>
              <a:t>It is easier to spot errors</a:t>
            </a:r>
          </a:p>
          <a:p>
            <a:pPr marL="0" indent="0">
              <a:buNone/>
            </a:pPr>
            <a:r>
              <a:rPr lang="en-GB" dirty="0"/>
              <a:t>Do you have test data?</a:t>
            </a:r>
          </a:p>
          <a:p>
            <a:pPr lvl="1"/>
            <a:r>
              <a:rPr lang="en-GB" dirty="0"/>
              <a:t>What if you already make a given profit and your model does worse?</a:t>
            </a:r>
          </a:p>
          <a:p>
            <a:pPr marL="0" indent="0">
              <a:buNone/>
            </a:pPr>
            <a:r>
              <a:rPr lang="en-GB" dirty="0"/>
              <a:t>Under Modelling</a:t>
            </a:r>
          </a:p>
          <a:p>
            <a:pPr lvl="1"/>
            <a:r>
              <a:rPr lang="en-GB" dirty="0"/>
              <a:t>Your model misses important features/constraints</a:t>
            </a:r>
          </a:p>
          <a:p>
            <a:pPr marL="0" indent="0">
              <a:buNone/>
            </a:pPr>
            <a:r>
              <a:rPr lang="en-GB" dirty="0"/>
              <a:t>Over Modelling</a:t>
            </a:r>
          </a:p>
          <a:p>
            <a:pPr lvl="1"/>
            <a:r>
              <a:rPr lang="en-GB" dirty="0"/>
              <a:t>Just like we extended, sometimes our models can be too restrictive</a:t>
            </a:r>
          </a:p>
          <a:p>
            <a:pPr lvl="1"/>
            <a:r>
              <a:rPr lang="en-GB" dirty="0"/>
              <a:t>We can also end up including redundant features/constraints</a:t>
            </a:r>
          </a:p>
          <a:p>
            <a:pPr lvl="1"/>
            <a:r>
              <a:rPr lang="en-GB" dirty="0"/>
              <a:t>We can also end up with conflicting constraints – Infeasible</a:t>
            </a:r>
          </a:p>
          <a:p>
            <a:pPr lvl="2"/>
            <a:r>
              <a:rPr lang="en-GB" dirty="0"/>
              <a:t>Sales wants more than can be produced</a:t>
            </a:r>
          </a:p>
          <a:p>
            <a:pPr lvl="1"/>
            <a:r>
              <a:rPr lang="en-GB" dirty="0"/>
              <a:t>Sometimes an expert knows best</a:t>
            </a:r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dirty="0"/>
              <a:t>Please have a read of the R.E.D Woolsey articles. They are both insightful and amusing.</a:t>
            </a:r>
          </a:p>
          <a:p>
            <a:pPr lvl="1"/>
            <a:r>
              <a:rPr lang="en-GB" dirty="0"/>
              <a:t>We will go over the Inflexible Steel Company in another session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277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587AB4-D8C9-43A3-B80F-6729B49465FB}">
  <ds:schemaRefs>
    <ds:schemaRef ds:uri="http://schemas.openxmlformats.org/package/2006/metadata/core-properties"/>
    <ds:schemaRef ds:uri="http://purl.org/dc/dcmitype/"/>
    <ds:schemaRef ds:uri="606370cc-c8d9-4222-8a4e-3c320f1e3034"/>
    <ds:schemaRef ds:uri="http://schemas.microsoft.com/office/infopath/2007/PartnerControls"/>
    <ds:schemaRef ds:uri="http://purl.org/dc/elements/1.1/"/>
    <ds:schemaRef ds:uri="http://schemas.microsoft.com/office/2006/metadata/properties"/>
    <ds:schemaRef ds:uri="bf6b85bd-8a7e-4854-be4d-0780382295a8"/>
    <ds:schemaRef ds:uri="http://schemas.microsoft.com/office/2006/documentManagement/types"/>
    <ds:schemaRef ds:uri="http://purl.org/dc/terms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D02246-543A-419F-B66B-7D4682A009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2608</TotalTime>
  <Words>2561</Words>
  <Application>Microsoft Office PowerPoint</Application>
  <PresentationFormat>Widescreen</PresentationFormat>
  <Paragraphs>1033</Paragraphs>
  <Slides>27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Cambria Math</vt:lpstr>
      <vt:lpstr>Calibri Light</vt:lpstr>
      <vt:lpstr>Symbol</vt:lpstr>
      <vt:lpstr>Consolas</vt:lpstr>
      <vt:lpstr>Arial</vt:lpstr>
      <vt:lpstr>Calibri</vt:lpstr>
      <vt:lpstr>Office Theme</vt:lpstr>
      <vt:lpstr>Mathematical Programming: Modelling and Some Issues</vt:lpstr>
      <vt:lpstr>Contents</vt:lpstr>
      <vt:lpstr>Blank Slide</vt:lpstr>
      <vt:lpstr>Less than or equal to</vt:lpstr>
      <vt:lpstr>Constraints via Matrix Operations</vt:lpstr>
      <vt:lpstr>Linear Expressions in Pyomo</vt:lpstr>
      <vt:lpstr>Linear Constraints in Pyomo</vt:lpstr>
      <vt:lpstr>Diet Problem (Tutorial Question 5a)</vt:lpstr>
      <vt:lpstr>Diet Problem (Tutorial Question 5a)</vt:lpstr>
      <vt:lpstr>5a Solution in Pyomo</vt:lpstr>
      <vt:lpstr>Chocolate Box Tutorial Question</vt:lpstr>
      <vt:lpstr>Chocolate Box Tutorial Results</vt:lpstr>
      <vt:lpstr>Interpretation</vt:lpstr>
      <vt:lpstr>Opinion and Preference</vt:lpstr>
      <vt:lpstr>Sometimes there is more to the story</vt:lpstr>
      <vt:lpstr>Extending the Model</vt:lpstr>
      <vt:lpstr>Chocolate Box Tutorial Results</vt:lpstr>
      <vt:lpstr>Extending the Model</vt:lpstr>
      <vt:lpstr>Ratio Objective</vt:lpstr>
      <vt:lpstr>Result</vt:lpstr>
      <vt:lpstr>Weighted Objective</vt:lpstr>
      <vt:lpstr>Normalised Data</vt:lpstr>
      <vt:lpstr>Result - Equal Preference α=0.5</vt:lpstr>
      <vt:lpstr>Results for all capped models</vt:lpstr>
      <vt:lpstr>Solve the Linear Program First</vt:lpstr>
      <vt:lpstr>Modelling a Linear Program</vt:lpstr>
      <vt:lpstr>Additional Tips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2</cp:revision>
  <dcterms:created xsi:type="dcterms:W3CDTF">2019-10-08T20:55:29Z</dcterms:created>
  <dcterms:modified xsi:type="dcterms:W3CDTF">2024-10-18T12:07:06Z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
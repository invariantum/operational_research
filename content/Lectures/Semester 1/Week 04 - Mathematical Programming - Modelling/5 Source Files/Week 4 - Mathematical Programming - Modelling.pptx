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63" r:id="rId8"/>
    <p:sldId id="262" r:id="rId9"/>
    <p:sldId id="284" r:id="rId10"/>
    <p:sldId id="288" r:id="rId11"/>
    <p:sldId id="272" r:id="rId12"/>
    <p:sldId id="286" r:id="rId13"/>
    <p:sldId id="283" r:id="rId14"/>
    <p:sldId id="289" r:id="rId15"/>
    <p:sldId id="264" r:id="rId16"/>
    <p:sldId id="266" r:id="rId17"/>
    <p:sldId id="265" r:id="rId18"/>
    <p:sldId id="290" r:id="rId19"/>
    <p:sldId id="267" r:id="rId20"/>
    <p:sldId id="297" r:id="rId21"/>
    <p:sldId id="291" r:id="rId22"/>
    <p:sldId id="294" r:id="rId23"/>
    <p:sldId id="298" r:id="rId24"/>
    <p:sldId id="292" r:id="rId25"/>
    <p:sldId id="293" r:id="rId26"/>
    <p:sldId id="295" r:id="rId27"/>
    <p:sldId id="296" r:id="rId28"/>
    <p:sldId id="268" r:id="rId29"/>
    <p:sldId id="299" r:id="rId30"/>
    <p:sldId id="26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C1801-34CC-44BE-907A-809961D8A055}" v="5" dt="2024-10-18T11:50:06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Mathematical Programming:</a:t>
            </a:r>
            <a:br>
              <a:rPr lang="en-GB" dirty="0"/>
            </a:br>
            <a:r>
              <a:rPr lang="en-GB" sz="4800" dirty="0"/>
              <a:t>Modelling and Some Issues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Closed Feasible Region (less than or equal to)</a:t>
            </a:r>
          </a:p>
          <a:p>
            <a:r>
              <a:rPr lang="en-GB" dirty="0"/>
              <a:t>Summation via Matrix Operations</a:t>
            </a:r>
          </a:p>
          <a:p>
            <a:r>
              <a:rPr lang="en-GB" dirty="0"/>
              <a:t>Chocolate Box Problem</a:t>
            </a:r>
          </a:p>
          <a:p>
            <a:r>
              <a:rPr lang="en-GB" dirty="0"/>
              <a:t>Interpretation/Opinion/Preference</a:t>
            </a:r>
          </a:p>
          <a:p>
            <a:r>
              <a:rPr lang="en-GB" dirty="0"/>
              <a:t>Extending the Model</a:t>
            </a:r>
          </a:p>
          <a:p>
            <a:r>
              <a:rPr lang="en-GB" dirty="0"/>
              <a:t>Additional Modelling Tips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Less than or equal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Note that when we use inequality constraints we must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use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dirty="0"/>
                  <a:t> then the feasible set is not closed.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 the maximum?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Constraints via Matrix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75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Expressions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e.g.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  <a:blipFill>
                <a:blip r:embed="rId2"/>
                <a:stretch>
                  <a:fillRect l="-1091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5FAA485-04B2-743A-46F0-3573DB10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64" y="2152584"/>
            <a:ext cx="4803425" cy="711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293333-9335-75E5-222A-FB9188C4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64" y="3029663"/>
            <a:ext cx="3622561" cy="399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ED2F0-64CF-66F3-43F8-B69B31C7E20F}"/>
              </a:ext>
            </a:extLst>
          </p:cNvPr>
          <p:cNvSpPr txBox="1"/>
          <p:nvPr/>
        </p:nvSpPr>
        <p:spPr>
          <a:xfrm>
            <a:off x="245037" y="3832586"/>
            <a:ext cx="3564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Define either manually or using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sum</a:t>
            </a:r>
          </a:p>
          <a:p>
            <a:endParaRPr lang="en-GB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Both print out the following: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07BCBA-F835-EC80-D978-639FCA7D5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67" y="5079634"/>
            <a:ext cx="239110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9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Constraints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we have the following constraint.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implement that in Python directly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45B507B-A076-8FFE-97F9-3A9FC50DE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19" y="4033539"/>
            <a:ext cx="8326012" cy="16861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2DAEFD-D372-B7E8-5226-0E615A28B62F}"/>
              </a:ext>
            </a:extLst>
          </p:cNvPr>
          <p:cNvSpPr txBox="1"/>
          <p:nvPr/>
        </p:nvSpPr>
        <p:spPr>
          <a:xfrm>
            <a:off x="1930400" y="61121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5BE8E-EE27-5A90-FC6B-5D6AC1822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086" y="6071442"/>
            <a:ext cx="7378745" cy="5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5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8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blipFill>
                <a:blip r:embed="rId2"/>
                <a:stretch>
                  <a:fillRect l="-523" t="-1523" b="-2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47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Q6a Solution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7C45020-5C87-906B-25A7-1E9B60C2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135" y="1261918"/>
            <a:ext cx="6547042" cy="491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99" t="-21212" r="-52215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3529" t="-21212" r="-54117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000" t="-21212" r="-36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6354" t="-21212" r="-218232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08228" t="-21212" r="-15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44635" t="-21212" r="-1717" b="-15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7FFC64B-AE4E-413B-8AE3-FA221B5490DC}"/>
              </a:ext>
            </a:extLst>
          </p:cNvPr>
          <p:cNvSpPr/>
          <p:nvPr/>
        </p:nvSpPr>
        <p:spPr>
          <a:xfrm>
            <a:off x="1055571" y="4664367"/>
            <a:ext cx="6096000" cy="15610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selection chosen must weigh at least 320g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fat content by weight must be at most 45% of the total weight of the selection.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Calorific value of the selection must be at most 2850 calories.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/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the cost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  <a:blipFill>
                <a:blip r:embed="rId3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/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popularity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Replace the objective function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  <a:blipFill>
                <a:blip r:embed="rId4"/>
                <a:stretch>
                  <a:fillRect t="-1384" b="-36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37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5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93E58D8-A138-4BF4-A797-5A2A3BBF3FD8}"/>
              </a:ext>
            </a:extLst>
          </p:cNvPr>
          <p:cNvSpPr txBox="1"/>
          <p:nvPr/>
        </p:nvSpPr>
        <p:spPr>
          <a:xfrm>
            <a:off x="5708073" y="1560945"/>
            <a:ext cx="495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What do we think to these selections?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E6C63-B107-448D-8A70-3C24E4D54A48}"/>
              </a:ext>
            </a:extLst>
          </p:cNvPr>
          <p:cNvSpPr txBox="1"/>
          <p:nvPr/>
        </p:nvSpPr>
        <p:spPr>
          <a:xfrm>
            <a:off x="5754255" y="2940265"/>
            <a:ext cx="55418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22858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problem</a:t>
            </a:r>
            <a:r>
              <a:rPr lang="en-GB" dirty="0"/>
              <a:t> is important!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miss something in the model it can lead to answers that don’t make sense in the real world.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solution</a:t>
            </a:r>
            <a:r>
              <a:rPr lang="en-GB" dirty="0"/>
              <a:t> is important!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the answers point out the issues in your model.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Thus, modelling is an iterative process, you should keep improving your model to better reflect reality where possible.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Better models lead to better predictions and decisions!		</a:t>
            </a:r>
          </a:p>
        </p:txBody>
      </p:sp>
    </p:spTree>
    <p:extLst>
      <p:ext uri="{BB962C8B-B14F-4D97-AF65-F5344CB8AC3E}">
        <p14:creationId xmlns:p14="http://schemas.microsoft.com/office/powerpoint/2010/main" val="18609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Opinion and Preference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Your opinion and preferences matter!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Maybe you aren’t a fan of variety and would prefer a smaller selection, or the selection chooses your favourite chocolate. Be aware of personal bias!</a:t>
            </a:r>
          </a:p>
        </p:txBody>
      </p:sp>
    </p:spTree>
    <p:extLst>
      <p:ext uri="{BB962C8B-B14F-4D97-AF65-F5344CB8AC3E}">
        <p14:creationId xmlns:p14="http://schemas.microsoft.com/office/powerpoint/2010/main" val="8319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Sometimes there is more to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Let’s revisit the previous comment.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if this leads to a substandard product and this fails to sell. In this case you haven’t necessarily saved money, but lost it!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Modelling well, whether it be Linear Programming, Simulation, Optimisation is hard!</a:t>
            </a:r>
          </a:p>
        </p:txBody>
      </p:sp>
    </p:spTree>
    <p:extLst>
      <p:ext uri="{BB962C8B-B14F-4D97-AF65-F5344CB8AC3E}">
        <p14:creationId xmlns:p14="http://schemas.microsoft.com/office/powerpoint/2010/main" val="305979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Back to the chocolate box!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deal with variety in the next session, we can force the selection to pick every item a number of times and certain combinations of items.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 obvious extension to our model is to put a cap on weight. e.g. 1.5 times the minimum.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3698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3248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30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30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50157B-3A61-4F86-B0AA-DBAE870F91E8}"/>
              </a:ext>
            </a:extLst>
          </p:cNvPr>
          <p:cNvSpPr txBox="1"/>
          <p:nvPr/>
        </p:nvSpPr>
        <p:spPr>
          <a:xfrm>
            <a:off x="2187156" y="1431637"/>
            <a:ext cx="158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 Weight Cap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8E6C3-617B-4F8C-A67F-E3599DE78D05}"/>
              </a:ext>
            </a:extLst>
          </p:cNvPr>
          <p:cNvSpPr txBox="1"/>
          <p:nvPr/>
        </p:nvSpPr>
        <p:spPr>
          <a:xfrm>
            <a:off x="7829963" y="1431637"/>
            <a:ext cx="177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Weight Cap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6EE9F-0741-495E-900D-1BD843C7DF67}"/>
              </a:ext>
            </a:extLst>
          </p:cNvPr>
          <p:cNvSpPr txBox="1"/>
          <p:nvPr/>
        </p:nvSpPr>
        <p:spPr>
          <a:xfrm>
            <a:off x="2640051" y="5241697"/>
            <a:ext cx="476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Why hasn’t it affected the Minimise Cost Model?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346AA-227F-488E-8EF9-81F309E6E20B}"/>
              </a:ext>
            </a:extLst>
          </p:cNvPr>
          <p:cNvSpPr txBox="1"/>
          <p:nvPr/>
        </p:nvSpPr>
        <p:spPr>
          <a:xfrm>
            <a:off x="2640051" y="5971248"/>
            <a:ext cx="708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Because the weight of the optimal solution was already less than the cap!</a:t>
            </a:r>
          </a:p>
        </p:txBody>
      </p:sp>
    </p:spTree>
    <p:extLst>
      <p:ext uri="{BB962C8B-B14F-4D97-AF65-F5344CB8AC3E}">
        <p14:creationId xmlns:p14="http://schemas.microsoft.com/office/powerpoint/2010/main" val="97612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to deal with both cost and popularity?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Ideas?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Combine the objectives</a:t>
            </a:r>
          </a:p>
          <a:p>
            <a:pPr lvl="1"/>
            <a:r>
              <a:rPr lang="en-GB" dirty="0"/>
              <a:t>Ratio</a:t>
            </a:r>
          </a:p>
          <a:p>
            <a:pPr lvl="1"/>
            <a:r>
              <a:rPr lang="en-GB" dirty="0"/>
              <a:t>Weighted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0005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  <a:endParaRPr lang="en-GB" sz="2000" u="sng" dirty="0"/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306182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Ratio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4657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69" t="-7792" r="-182657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9355" t="-7792" r="-299194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6393" t="-7792" r="-102732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4674" t="-7792" r="-2174" b="-6402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4464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/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sum of each candy’s popularity per unit cost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	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  <a:blipFill>
                <a:blip r:embed="rId3"/>
                <a:stretch>
                  <a:fillRect t="-650" r="-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8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41659-818D-4F6D-B59E-6EBBCC48E5A6}"/>
              </a:ext>
            </a:extLst>
          </p:cNvPr>
          <p:cNvSpPr txBox="1"/>
          <p:nvPr/>
        </p:nvSpPr>
        <p:spPr>
          <a:xfrm>
            <a:off x="1112982" y="5090991"/>
            <a:ext cx="5372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Issue:</a:t>
            </a:r>
          </a:p>
          <a:p>
            <a:endParaRPr lang="en-GB" sz="2000" dirty="0"/>
          </a:p>
          <a:p>
            <a:r>
              <a:rPr lang="en-GB" sz="2000" dirty="0"/>
              <a:t>What if we care more about popularity than cost?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597332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GB" sz="1400" i="1" u="none" strike="noStrike" dirty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658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362" t="-6481" r="-4764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177564" t="-6481" r="-7429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40556" t="-6481" r="-54388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87793" t="-6481" r="-359624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53846" t="-6481" r="-32087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46018" t="-6481" r="-158407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914074" t="-6481" r="-165185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625114" t="-6481" r="-1826" b="-423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55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Weighted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/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u="sng" dirty="0"/>
                  <a:t>Combine objectives: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and </a:t>
                </a: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 know that: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(maximise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So: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However, this gives an equal preference to both.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u="sng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Weighted objective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For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40/60</m:t>
                    </m:r>
                  </m:oMath>
                </a14:m>
                <a:r>
                  <a:rPr lang="en-GB" dirty="0"/>
                  <a:t> split (40% popularity, 60% cost)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  <a:blipFill>
                <a:blip r:embed="rId2"/>
                <a:stretch>
                  <a:fillRect l="-1132" t="-566" r="-10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18" t="-15152" r="-235233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7182" t="-15152" r="-150829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9405" t="-15152" r="-1487" b="-16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F2BBFA7-B795-4556-8178-AF6BCDEB0DC2}"/>
              </a:ext>
            </a:extLst>
          </p:cNvPr>
          <p:cNvSpPr txBox="1"/>
          <p:nvPr/>
        </p:nvSpPr>
        <p:spPr>
          <a:xfrm>
            <a:off x="434650" y="4853232"/>
            <a:ext cx="4644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Issue</a:t>
            </a:r>
          </a:p>
          <a:p>
            <a:endParaRPr lang="en-GB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Cost and Popularity may be of a different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if cost was in thousands of pounds?</a:t>
            </a:r>
          </a:p>
        </p:txBody>
      </p:sp>
    </p:spTree>
    <p:extLst>
      <p:ext uri="{BB962C8B-B14F-4D97-AF65-F5344CB8AC3E}">
        <p14:creationId xmlns:p14="http://schemas.microsoft.com/office/powerpoint/2010/main" val="32239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Normalised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65667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773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2" t="-6299" r="-22315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2597" t="-6299" r="-350649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45263" t="-6299" r="-18421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9595" t="-6299" r="-1156" b="-414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/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normalised weighted objective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maximise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en-GB" dirty="0"/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≤1.5∗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  <a:blipFill>
                <a:blip r:embed="rId3"/>
                <a:stretch>
                  <a:fillRect t="-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17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/>
              <a:lstStyle/>
              <a:p>
                <a:r>
                  <a:rPr lang="en-GB" dirty="0"/>
                  <a:t>Result - Equal Preference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33" t="-662" r="-49900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8125" t="-662" r="-83562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40104" t="-662" r="-596354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72083" t="-662" r="-37708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8402" t="-662" r="-43550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3846" t="-662" r="-21453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1273" t="-662" r="-8254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6C4959-26AF-45A2-B503-41C219EDB5BA}"/>
              </a:ext>
            </a:extLst>
          </p:cNvPr>
          <p:cNvSpPr txBox="1"/>
          <p:nvPr/>
        </p:nvSpPr>
        <p:spPr>
          <a:xfrm>
            <a:off x="749300" y="5003804"/>
            <a:ext cx="27424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Selection has:</a:t>
            </a:r>
          </a:p>
          <a:p>
            <a:endParaRPr lang="en-GB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 total weight of 376g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2795 kcals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168g fat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5435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Results for all capped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/>
              <p:nvPr/>
            </p:nvSpPr>
            <p:spPr>
              <a:xfrm>
                <a:off x="2679394" y="4922117"/>
                <a:ext cx="6236579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Completely different solutions for the first 3 columns!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0.59</m:t>
                    </m:r>
                  </m:oMath>
                </a14:m>
                <a:r>
                  <a:rPr lang="en-GB" sz="2000" dirty="0"/>
                  <a:t> return the Minimise cost model</a:t>
                </a:r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1/6</m:t>
                    </m:r>
                  </m:oMath>
                </a14:m>
                <a:r>
                  <a:rPr lang="en-GB" sz="2000" dirty="0"/>
                  <a:t> (≈ 0.167) return the Maximise popularity model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394" y="4922117"/>
                <a:ext cx="6236579" cy="1631216"/>
              </a:xfrm>
              <a:prstGeom prst="rect">
                <a:avLst/>
              </a:prstGeom>
              <a:blipFill>
                <a:blip r:embed="rId2"/>
                <a:stretch>
                  <a:fillRect l="-1075" t="-1866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400" b="1" i="1" u="none" strike="noStrike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0.59 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0.16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02" t="-943" r="-609639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68966" t="-943" r="-547126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53918" t="-943" r="-100313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58228" t="-943" r="-1266" b="-46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43624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82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Solve the Linear Program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 the Linear Program first, Integer Program second.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 optimal solution for the LP model may exist on an integer solution. i.e. you might just get lucky!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that case you don’t need to solve the Integer Program (can be slow to solve for large models)</a:t>
            </a:r>
          </a:p>
        </p:txBody>
      </p:sp>
    </p:spTree>
    <p:extLst>
      <p:ext uri="{BB962C8B-B14F-4D97-AF65-F5344CB8AC3E}">
        <p14:creationId xmlns:p14="http://schemas.microsoft.com/office/powerpoint/2010/main" val="387421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Modelling a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Write down what you know!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variables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objective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constraints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constraints and objective linear?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Use appropriate notation. </a:t>
                </a:r>
              </a:p>
              <a:p>
                <a:pPr lvl="1"/>
                <a:r>
                  <a:rPr lang="en-GB" dirty="0"/>
                  <a:t>e.g. label vitamin A content of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variables Real or Integer?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Formulate the Model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and 3 are not always obvious. E.g. conflicting preferences, opinions, etc.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101" t="-3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36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Additional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Model a Scaled/Simpler Problem</a:t>
            </a:r>
          </a:p>
          <a:p>
            <a:pPr lvl="1"/>
            <a:r>
              <a:rPr lang="en-GB" dirty="0"/>
              <a:t>It is easier to spot errors</a:t>
            </a:r>
          </a:p>
          <a:p>
            <a:pPr marL="0" indent="0">
              <a:buNone/>
            </a:pPr>
            <a:r>
              <a:rPr lang="en-GB" dirty="0"/>
              <a:t>Do you have test data?</a:t>
            </a:r>
          </a:p>
          <a:p>
            <a:pPr lvl="1"/>
            <a:r>
              <a:rPr lang="en-GB" dirty="0"/>
              <a:t>What if you already make a given profit and your model does worse?</a:t>
            </a:r>
          </a:p>
          <a:p>
            <a:pPr marL="0" indent="0">
              <a:buNone/>
            </a:pPr>
            <a:r>
              <a:rPr lang="en-GB" dirty="0"/>
              <a:t>Under Modelling</a:t>
            </a:r>
          </a:p>
          <a:p>
            <a:pPr lvl="1"/>
            <a:r>
              <a:rPr lang="en-GB" dirty="0"/>
              <a:t>Your model misses important features/constraints</a:t>
            </a:r>
          </a:p>
          <a:p>
            <a:pPr marL="0" indent="0">
              <a:buNone/>
            </a:pPr>
            <a:r>
              <a:rPr lang="en-GB" dirty="0"/>
              <a:t>Over Modelling</a:t>
            </a:r>
          </a:p>
          <a:p>
            <a:pPr lvl="1"/>
            <a:r>
              <a:rPr lang="en-GB" dirty="0"/>
              <a:t>Just like we extended, sometimes our models can be too restrictive</a:t>
            </a:r>
          </a:p>
          <a:p>
            <a:pPr lvl="1"/>
            <a:r>
              <a:rPr lang="en-GB" dirty="0"/>
              <a:t>We can also end up including redundant features/constraints</a:t>
            </a:r>
          </a:p>
          <a:p>
            <a:pPr lvl="1"/>
            <a:r>
              <a:rPr lang="en-GB" dirty="0"/>
              <a:t>We can also end up with conflicting constraints – Infeasible</a:t>
            </a:r>
          </a:p>
          <a:p>
            <a:pPr lvl="2"/>
            <a:r>
              <a:rPr lang="en-GB" dirty="0"/>
              <a:t>Sales wants more than can be produced</a:t>
            </a:r>
          </a:p>
          <a:p>
            <a:pPr lvl="1"/>
            <a:r>
              <a:rPr lang="en-GB" dirty="0"/>
              <a:t>Sometimes an expert knows best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Please have a read of the R.E.D. Woolsey articles. They are both insightful and amusing.</a:t>
            </a:r>
          </a:p>
          <a:p>
            <a:pPr lvl="1"/>
            <a:r>
              <a:rPr lang="en-GB" dirty="0"/>
              <a:t>We will go over the Inflexible Steel Company in another session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77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dcmitype/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02246-543A-419F-B66B-7D4682A00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2561</Words>
  <Application>Microsoft Office PowerPoint</Application>
  <PresentationFormat>Widescreen</PresentationFormat>
  <Paragraphs>1033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Calibri Light</vt:lpstr>
      <vt:lpstr>Symbol</vt:lpstr>
      <vt:lpstr>Consolas</vt:lpstr>
      <vt:lpstr>Arial</vt:lpstr>
      <vt:lpstr>Calibri</vt:lpstr>
      <vt:lpstr>Office Theme</vt:lpstr>
      <vt:lpstr>Mathematical Programming: Modelling and Some Issues</vt:lpstr>
      <vt:lpstr>Contents</vt:lpstr>
      <vt:lpstr>Blank Slide</vt:lpstr>
      <vt:lpstr>Less than or equal to</vt:lpstr>
      <vt:lpstr>Constraints via Matrix Operations</vt:lpstr>
      <vt:lpstr>Linear Expressions in Pyomo</vt:lpstr>
      <vt:lpstr>Linear Constraints in Pyomo</vt:lpstr>
      <vt:lpstr>Diet Problem (Tutorial Question 5a)</vt:lpstr>
      <vt:lpstr>Diet Problem (Tutorial Question 5a)</vt:lpstr>
      <vt:lpstr>5a Solution in Pyomo</vt:lpstr>
      <vt:lpstr>Chocolate Box Tutorial Question</vt:lpstr>
      <vt:lpstr>Chocolate Box Tutorial Results</vt:lpstr>
      <vt:lpstr>Interpretation</vt:lpstr>
      <vt:lpstr>Opinion and Preference</vt:lpstr>
      <vt:lpstr>Sometimes there is more to the story</vt:lpstr>
      <vt:lpstr>Extending the Model</vt:lpstr>
      <vt:lpstr>Chocolate Box Tutorial Results</vt:lpstr>
      <vt:lpstr>Extending the Model</vt:lpstr>
      <vt:lpstr>Ratio Objective</vt:lpstr>
      <vt:lpstr>Result</vt:lpstr>
      <vt:lpstr>Weighted Objective</vt:lpstr>
      <vt:lpstr>Normalised Data</vt:lpstr>
      <vt:lpstr>Result - Equal Preference α=0.5</vt:lpstr>
      <vt:lpstr>Results for all capped models</vt:lpstr>
      <vt:lpstr>Solve the Linear Program First</vt:lpstr>
      <vt:lpstr>Modelling a Linear Program</vt:lpstr>
      <vt:lpstr>Additional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2024-10-18T12:07:06Z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
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1" r:id="rId6"/>
    <p:sldId id="287" r:id="rId7"/>
    <p:sldId id="292" r:id="rId8"/>
    <p:sldId id="291" r:id="rId9"/>
    <p:sldId id="297" r:id="rId10"/>
    <p:sldId id="311" r:id="rId11"/>
    <p:sldId id="312" r:id="rId12"/>
    <p:sldId id="314" r:id="rId13"/>
    <p:sldId id="317" r:id="rId14"/>
    <p:sldId id="318" r:id="rId15"/>
    <p:sldId id="319" r:id="rId16"/>
    <p:sldId id="320" r:id="rId17"/>
    <p:sldId id="315" r:id="rId18"/>
    <p:sldId id="321" r:id="rId19"/>
    <p:sldId id="323" r:id="rId20"/>
    <p:sldId id="346" r:id="rId21"/>
    <p:sldId id="327" r:id="rId22"/>
    <p:sldId id="326" r:id="rId23"/>
    <p:sldId id="337" r:id="rId24"/>
    <p:sldId id="331" r:id="rId25"/>
    <p:sldId id="333" r:id="rId26"/>
    <p:sldId id="332" r:id="rId27"/>
    <p:sldId id="336" r:id="rId28"/>
    <p:sldId id="330" r:id="rId29"/>
    <p:sldId id="339" r:id="rId30"/>
    <p:sldId id="334" r:id="rId31"/>
    <p:sldId id="263" r:id="rId32"/>
    <p:sldId id="264" r:id="rId33"/>
    <p:sldId id="340" r:id="rId34"/>
    <p:sldId id="351" r:id="rId35"/>
    <p:sldId id="352" r:id="rId36"/>
    <p:sldId id="350" r:id="rId37"/>
    <p:sldId id="347" r:id="rId38"/>
    <p:sldId id="348" r:id="rId39"/>
    <p:sldId id="349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D050"/>
    <a:srgbClr val="70AD47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78FB82-AE4B-401D-B69A-A0EB4A173ACC}" v="95" dt="2025-12-11T11:44:09.380"/>
    <p1510:client id="{6E5338DA-E5CD-4896-950E-345F807A021E}" v="10" dt="2025-12-11T12:59:21.5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B82FD318-F1B4-4741-BEC7-00043A56C0CD}"/>
    <pc:docChg chg="modSld">
      <pc:chgData name="Sam O'Neill" userId="cb323814-a42a-4cfe-bc74-03f595e56f6e" providerId="ADAL" clId="{B82FD318-F1B4-4741-BEC7-00043A56C0CD}" dt="2025-12-11T12:59:21.596" v="10" actId="20577"/>
      <pc:docMkLst>
        <pc:docMk/>
      </pc:docMkLst>
      <pc:sldChg chg="modSp mod modAnim">
        <pc:chgData name="Sam O'Neill" userId="cb323814-a42a-4cfe-bc74-03f595e56f6e" providerId="ADAL" clId="{B82FD318-F1B4-4741-BEC7-00043A56C0CD}" dt="2025-12-11T12:59:21.596" v="10" actId="20577"/>
        <pc:sldMkLst>
          <pc:docMk/>
          <pc:sldMk cId="3617263518" sldId="349"/>
        </pc:sldMkLst>
        <pc:spChg chg="mod">
          <ac:chgData name="Sam O'Neill" userId="cb323814-a42a-4cfe-bc74-03f595e56f6e" providerId="ADAL" clId="{B82FD318-F1B4-4741-BEC7-00043A56C0CD}" dt="2025-12-11T12:59:21.596" v="10" actId="20577"/>
          <ac:spMkLst>
            <pc:docMk/>
            <pc:sldMk cId="3617263518" sldId="349"/>
            <ac:spMk id="10" creationId="{DCA38556-15BB-4723-B5D1-560168FA4FA8}"/>
          </ac:spMkLst>
        </pc:spChg>
      </pc:sldChg>
    </pc:docChg>
  </pc:docChgLst>
  <pc:docChgLst>
    <pc:chgData name="Sam O'Neill" userId="cb323814-a42a-4cfe-bc74-03f595e56f6e" providerId="ADAL" clId="{17ADD47D-E5AE-440A-99C5-4F3DA05BBA04}"/>
    <pc:docChg chg="modSld">
      <pc:chgData name="Sam O'Neill" userId="cb323814-a42a-4cfe-bc74-03f595e56f6e" providerId="ADAL" clId="{17ADD47D-E5AE-440A-99C5-4F3DA05BBA04}" dt="2025-12-11T11:44:09.380" v="94" actId="20577"/>
      <pc:docMkLst>
        <pc:docMk/>
      </pc:docMkLst>
      <pc:sldChg chg="modSp modAnim">
        <pc:chgData name="Sam O'Neill" userId="cb323814-a42a-4cfe-bc74-03f595e56f6e" providerId="ADAL" clId="{17ADD47D-E5AE-440A-99C5-4F3DA05BBA04}" dt="2025-12-11T11:44:09.380" v="94" actId="20577"/>
        <pc:sldMkLst>
          <pc:docMk/>
          <pc:sldMk cId="1594944998" sldId="332"/>
        </pc:sldMkLst>
        <pc:spChg chg="mod">
          <ac:chgData name="Sam O'Neill" userId="cb323814-a42a-4cfe-bc74-03f595e56f6e" providerId="ADAL" clId="{17ADD47D-E5AE-440A-99C5-4F3DA05BBA04}" dt="2025-12-11T11:44:09.380" v="94" actId="20577"/>
          <ac:spMkLst>
            <pc:docMk/>
            <pc:sldMk cId="1594944998" sldId="332"/>
            <ac:spMk id="3" creationId="{5198A88B-52B3-469E-A512-B72752EB7862}"/>
          </ac:spMkLst>
        </pc:spChg>
      </pc:sldChg>
      <pc:sldChg chg="modSp modAnim">
        <pc:chgData name="Sam O'Neill" userId="cb323814-a42a-4cfe-bc74-03f595e56f6e" providerId="ADAL" clId="{17ADD47D-E5AE-440A-99C5-4F3DA05BBA04}" dt="2025-12-11T11:42:37.007" v="31" actId="20577"/>
        <pc:sldMkLst>
          <pc:docMk/>
          <pc:sldMk cId="3617263518" sldId="349"/>
        </pc:sldMkLst>
        <pc:spChg chg="mod">
          <ac:chgData name="Sam O'Neill" userId="cb323814-a42a-4cfe-bc74-03f595e56f6e" providerId="ADAL" clId="{17ADD47D-E5AE-440A-99C5-4F3DA05BBA04}" dt="2025-12-11T11:42:37.007" v="31" actId="20577"/>
          <ac:spMkLst>
            <pc:docMk/>
            <pc:sldMk cId="3617263518" sldId="349"/>
            <ac:spMk id="10" creationId="{DCA38556-15BB-4723-B5D1-560168FA4FA8}"/>
          </ac:spMkLst>
        </pc:spChg>
        <pc:picChg chg="mod">
          <ac:chgData name="Sam O'Neill" userId="cb323814-a42a-4cfe-bc74-03f595e56f6e" providerId="ADAL" clId="{17ADD47D-E5AE-440A-99C5-4F3DA05BBA04}" dt="2025-12-11T11:41:58.623" v="30" actId="1076"/>
          <ac:picMkLst>
            <pc:docMk/>
            <pc:sldMk cId="3617263518" sldId="349"/>
            <ac:picMk id="1028" creationId="{76B86C00-34C6-47E0-90CC-43BB3DE6E6D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3" Type="http://schemas.openxmlformats.org/officeDocument/2006/relationships/image" Target="../media/image171.png"/><Relationship Id="rId7" Type="http://schemas.openxmlformats.org/officeDocument/2006/relationships/image" Target="../media/image21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1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Relationship Id="rId9" Type="http://schemas.openxmlformats.org/officeDocument/2006/relationships/image" Target="../media/image23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4.png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Floor Planning/Bin Packing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75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Blank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4236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F878BBEB-A064-4796-B5E0-3607E13FED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419" y="1617038"/>
                <a:ext cx="4289982" cy="23300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sz="200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2000" dirty="0"/>
                  <a:t>and</a:t>
                </a:r>
                <a:b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16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u="sng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F878BBEB-A064-4796-B5E0-3607E13FED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19" y="1617038"/>
                <a:ext cx="4289982" cy="2330039"/>
              </a:xfrm>
              <a:prstGeom prst="rect">
                <a:avLst/>
              </a:prstGeom>
              <a:blipFill>
                <a:blip r:embed="rId2"/>
                <a:stretch>
                  <a:fillRect l="-1128" t="-20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419" y="4367638"/>
                <a:ext cx="4289982" cy="138876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Optimal Solution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=(1.9,2.9)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=13.</m:t>
                      </m:r>
                      <m:r>
                        <a:rPr lang="en-GB" sz="1600" b="0" i="0" smtClean="0">
                          <a:latin typeface="Cambria Math" panose="02040503050406030204" pitchFamily="18" charset="0"/>
                        </a:rPr>
                        <m:t>95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19" y="4367638"/>
                <a:ext cx="4289982" cy="1388764"/>
              </a:xfrm>
              <a:prstGeom prst="rect">
                <a:avLst/>
              </a:prstGeom>
              <a:blipFill>
                <a:blip r:embed="rId3"/>
                <a:stretch>
                  <a:fillRect l="-1128" t="-3433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4471E226-A92A-42BD-B44C-D06557447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6654" y="1450109"/>
            <a:ext cx="6581775" cy="45624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915145B-275F-437D-A101-CBEC8D0DD57B}"/>
                  </a:ext>
                </a:extLst>
              </p:cNvPr>
              <p:cNvSpPr/>
              <p:nvPr/>
            </p:nvSpPr>
            <p:spPr>
              <a:xfrm>
                <a:off x="9575735" y="2305628"/>
                <a:ext cx="166000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+3.5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915145B-275F-437D-A101-CBEC8D0DD5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735" y="2305628"/>
                <a:ext cx="166000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964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1FBDBC-9C9A-4430-A4AF-4C809CB8B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181" y="1276555"/>
            <a:ext cx="6505575" cy="48291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Mixed-Integer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endParaRPr lang="en-GB"/>
          </a:p>
          <a:p>
            <a:pPr marL="0" lvl="0" indent="0">
              <a:buNone/>
            </a:pPr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F878BBEB-A064-4796-B5E0-3607E13FED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419" y="1617038"/>
                <a:ext cx="4289982" cy="2330039"/>
              </a:xfrm>
              <a:prstGeom prst="rect">
                <a:avLst/>
              </a:prstGeom>
              <a:ln w="28575">
                <a:noFill/>
              </a:ln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/>
                  <a:t>maximise      </a:t>
                </a:r>
                <a14:m>
                  <m:oMath xmlns:m="http://schemas.openxmlformats.org/officeDocument/2006/math"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sz="2000" i="1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2000"/>
                  <a:t>and</a:t>
                </a:r>
                <a:br>
                  <a:rPr lang="en-GB" sz="2000" i="1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sz="2000" i="1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sz="2000" i="1">
                    <a:latin typeface="Cambria Math" panose="02040503050406030204" pitchFamily="18" charset="0"/>
                  </a:rPr>
                </a:br>
                <a:r>
                  <a:rPr lang="en-GB" sz="2000" i="1"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600" u="sng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u="sng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F878BBEB-A064-4796-B5E0-3607E13FED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19" y="1617038"/>
                <a:ext cx="4289982" cy="2330039"/>
              </a:xfrm>
              <a:prstGeom prst="rect">
                <a:avLst/>
              </a:prstGeom>
              <a:blipFill>
                <a:blip r:embed="rId3"/>
                <a:stretch>
                  <a:fillRect l="-1278" t="-3403"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419" y="4367638"/>
                <a:ext cx="4289982" cy="1388764"/>
              </a:xfrm>
              <a:prstGeom prst="rect">
                <a:avLst/>
              </a:prstGeom>
              <a:ln w="28575"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u="sng"/>
                  <a:t>Optimal Solution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u="sng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b="1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6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GB" sz="1600" b="1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=(2,2.833)</m:t>
                    </m:r>
                  </m:oMath>
                </a14:m>
                <a:endParaRPr lang="en-GB" sz="160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b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=13.917</m:t>
                    </m:r>
                  </m:oMath>
                </a14:m>
                <a:endParaRPr lang="en-GB" sz="160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19" y="4367638"/>
                <a:ext cx="4289982" cy="1388764"/>
              </a:xfrm>
              <a:prstGeom prst="rect">
                <a:avLst/>
              </a:prstGeom>
              <a:blipFill>
                <a:blip r:embed="rId4"/>
                <a:stretch>
                  <a:fillRect l="-1420" t="-6140"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915145B-275F-437D-A101-CBEC8D0DD57B}"/>
                  </a:ext>
                </a:extLst>
              </p:cNvPr>
              <p:cNvSpPr/>
              <p:nvPr/>
            </p:nvSpPr>
            <p:spPr>
              <a:xfrm>
                <a:off x="9575735" y="2305628"/>
                <a:ext cx="166000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+3.5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915145B-275F-437D-A101-CBEC8D0DD5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735" y="2305628"/>
                <a:ext cx="166000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8409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1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8D052F5-51DE-47CC-A102-DDBD8ACE46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969" y="1363565"/>
            <a:ext cx="8315059" cy="48232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Mixed-Integer Solution (problem based)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833FEF2-67F0-4EB3-8571-26243D28395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3595" y="1554508"/>
                <a:ext cx="4289982" cy="2330039"/>
              </a:xfrm>
              <a:prstGeom prst="rect">
                <a:avLst/>
              </a:prstGeom>
              <a:ln w="28575">
                <a:noFill/>
              </a:ln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/>
                  <a:t>maximise      </a:t>
                </a:r>
                <a14:m>
                  <m:oMath xmlns:m="http://schemas.openxmlformats.org/officeDocument/2006/math"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sz="2000" i="1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/>
                  <a:t>and</a:t>
                </a:r>
                <a:br>
                  <a:rPr lang="en-GB" sz="2000" i="1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sz="2000" i="1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sz="2000" i="1">
                    <a:solidFill>
                      <a:schemeClr val="tx1"/>
                    </a:solidFill>
                    <a:latin typeface="Cambria Math" panose="02040503050406030204" pitchFamily="18" charset="0"/>
                  </a:rPr>
                </a:br>
                <a:r>
                  <a:rPr lang="en-GB" sz="2000" i="1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600" u="sng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u="sng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833FEF2-67F0-4EB3-8571-26243D283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595" y="1554508"/>
                <a:ext cx="4289982" cy="2330039"/>
              </a:xfrm>
              <a:prstGeom prst="rect">
                <a:avLst/>
              </a:prstGeom>
              <a:blipFill>
                <a:blip r:embed="rId3"/>
                <a:stretch>
                  <a:fillRect l="-1278" t="-3403"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93A6B6DE-D0C7-49D7-9F4B-B293557EE87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419" y="4367638"/>
                <a:ext cx="4289982" cy="1388764"/>
              </a:xfrm>
              <a:prstGeom prst="rect">
                <a:avLst/>
              </a:prstGeom>
              <a:ln w="28575"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u="sng"/>
                  <a:t>Optimal Solution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u="sng"/>
              </a:p>
              <a:p>
                <a:pPr marL="0" indent="0">
                  <a:buNone/>
                </a:pPr>
                <a:r>
                  <a:rPr lang="en-GB" sz="1600" b="1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GB" sz="1600" b="1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sz="16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GB" sz="1600" i="1">
                        <a:latin typeface="Cambria Math" panose="02040503050406030204" pitchFamily="18" charset="0"/>
                      </a:rPr>
                      <m:t>=(2,2.833)</m:t>
                    </m:r>
                  </m:oMath>
                </a14:m>
                <a:endParaRPr lang="en-GB" sz="1600"/>
              </a:p>
              <a:p>
                <a:pPr marL="0" indent="0">
                  <a:buNone/>
                </a:pPr>
                <a:r>
                  <a:rPr lang="en-GB" sz="160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sz="1600" i="1">
                        <a:latin typeface="Cambria Math" panose="02040503050406030204" pitchFamily="18" charset="0"/>
                      </a:rPr>
                      <m:t>=13.917</m:t>
                    </m:r>
                  </m:oMath>
                </a14:m>
                <a:endParaRPr lang="en-GB" sz="160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93A6B6DE-D0C7-49D7-9F4B-B293557EE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19" y="4367638"/>
                <a:ext cx="4289982" cy="1388764"/>
              </a:xfrm>
              <a:prstGeom prst="rect">
                <a:avLst/>
              </a:prstGeom>
              <a:blipFill>
                <a:blip r:embed="rId4"/>
                <a:stretch>
                  <a:fillRect l="-1420" t="-6140"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FBEE869B-2667-40A1-9F47-3A902361AB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4751" y="3247939"/>
            <a:ext cx="1453654" cy="2396133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33514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DAD099-6ACE-4C0D-A46F-42FE95E09C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2 Dimensional Floor Planning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A6CEB36-D3CE-47A7-8B4E-6F9F0ACC9F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5579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Floor Planning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Pack the following 4 tables into the smallest area possible.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will build a model which minimises the squared area. Even this is complex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4,5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3,7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6,4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7,7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r>
                  <a:rPr lang="en-GB" dirty="0"/>
                  <a:t>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b="0" dirty="0"/>
                  <a:t> has co-ordinates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0" dirty="0"/>
                  <a:t> for it’s position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968" b="-23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924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Floor Planning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4,5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3,7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6,4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7,7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dirty="0"/>
                  <a:t>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b="0" dirty="0"/>
                  <a:t> has:</a:t>
                </a:r>
              </a:p>
              <a:p>
                <a:r>
                  <a:rPr lang="en-GB" b="0" dirty="0"/>
                  <a:t>co-ordinates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GB" b="0" dirty="0"/>
              </a:p>
              <a:p>
                <a:r>
                  <a:rPr lang="en-GB" dirty="0"/>
                  <a:t>Width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b="0" dirty="0"/>
              </a:p>
              <a:p>
                <a:r>
                  <a:rPr lang="en-GB" dirty="0"/>
                  <a:t>Height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42A5A1F-539A-4177-9A32-606689D0609E}"/>
                  </a:ext>
                </a:extLst>
              </p:cNvPr>
              <p:cNvSpPr/>
              <p:nvPr/>
            </p:nvSpPr>
            <p:spPr>
              <a:xfrm>
                <a:off x="6513922" y="3516198"/>
                <a:ext cx="3921550" cy="194192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42A5A1F-539A-4177-9A32-606689D060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3922" y="3516198"/>
                <a:ext cx="3921550" cy="19419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2AEDF7-A3B0-44BC-B155-9D50920BA226}"/>
              </a:ext>
            </a:extLst>
          </p:cNvPr>
          <p:cNvCxnSpPr>
            <a:cxnSpLocks/>
          </p:cNvCxnSpPr>
          <p:nvPr/>
        </p:nvCxnSpPr>
        <p:spPr>
          <a:xfrm>
            <a:off x="6513922" y="5969573"/>
            <a:ext cx="3921550" cy="0"/>
          </a:xfrm>
          <a:prstGeom prst="straightConnector1">
            <a:avLst/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7CDD34-528A-48E7-A3AD-F324562D4E68}"/>
              </a:ext>
            </a:extLst>
          </p:cNvPr>
          <p:cNvCxnSpPr>
            <a:cxnSpLocks/>
          </p:cNvCxnSpPr>
          <p:nvPr/>
        </p:nvCxnSpPr>
        <p:spPr>
          <a:xfrm flipH="1" flipV="1">
            <a:off x="10894634" y="3500853"/>
            <a:ext cx="1" cy="1972611"/>
          </a:xfrm>
          <a:prstGeom prst="straightConnector1">
            <a:avLst/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1CB6F33-152B-4B9A-8313-2EBDE11EF691}"/>
                  </a:ext>
                </a:extLst>
              </p:cNvPr>
              <p:cNvSpPr/>
              <p:nvPr/>
            </p:nvSpPr>
            <p:spPr>
              <a:xfrm>
                <a:off x="8237485" y="6095992"/>
                <a:ext cx="47442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1CB6F33-152B-4B9A-8313-2EBDE11EF6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7485" y="6095992"/>
                <a:ext cx="47442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8F764A1C-5ADD-46E5-B486-B9A5FDC264B9}"/>
                  </a:ext>
                </a:extLst>
              </p:cNvPr>
              <p:cNvSpPr/>
              <p:nvPr/>
            </p:nvSpPr>
            <p:spPr>
              <a:xfrm>
                <a:off x="11041667" y="4302492"/>
                <a:ext cx="4404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8F764A1C-5ADD-46E5-B486-B9A5FDC264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1667" y="4302492"/>
                <a:ext cx="440442" cy="369332"/>
              </a:xfrm>
              <a:prstGeom prst="rect">
                <a:avLst/>
              </a:prstGeom>
              <a:blipFill>
                <a:blip r:embed="rId5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D4665DAE-DDDC-4C7A-8B7F-EBFE1F314FC0}"/>
              </a:ext>
            </a:extLst>
          </p:cNvPr>
          <p:cNvSpPr/>
          <p:nvPr/>
        </p:nvSpPr>
        <p:spPr>
          <a:xfrm>
            <a:off x="6291746" y="4513372"/>
            <a:ext cx="444352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8000" dirty="0"/>
              <a:t>.</a:t>
            </a:r>
            <a:endParaRPr lang="en-GB" sz="5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EBF24E3-FBA1-4083-ACE8-907B54AD7CA5}"/>
                  </a:ext>
                </a:extLst>
              </p:cNvPr>
              <p:cNvSpPr/>
              <p:nvPr/>
            </p:nvSpPr>
            <p:spPr>
              <a:xfrm>
                <a:off x="5600241" y="5426994"/>
                <a:ext cx="90903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EBF24E3-FBA1-4083-ACE8-907B54AD7C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241" y="5426994"/>
                <a:ext cx="909031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5848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Non-overlapping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Make sure that the tables don’t overlap.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Consider table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and table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Either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Only one can hold!</a:t>
                </a:r>
              </a:p>
              <a:p>
                <a:endParaRPr lang="en-GB" dirty="0"/>
              </a:p>
              <a:p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9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E235D972-66A5-49B1-A05D-34EAA8FC1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070" y="600896"/>
            <a:ext cx="2505245" cy="20071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BEC85EC-CE28-41E0-9900-98C8B1AD28EA}"/>
                  </a:ext>
                </a:extLst>
              </p:cNvPr>
              <p:cNvSpPr/>
              <p:nvPr/>
            </p:nvSpPr>
            <p:spPr>
              <a:xfrm>
                <a:off x="9714311" y="1035886"/>
                <a:ext cx="705359" cy="100339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BEC85EC-CE28-41E0-9900-98C8B1AD28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4311" y="1035886"/>
                <a:ext cx="705359" cy="10033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8F5C32D-5D73-43A1-9547-F2E0369ABC90}"/>
                  </a:ext>
                </a:extLst>
              </p:cNvPr>
              <p:cNvSpPr/>
              <p:nvPr/>
            </p:nvSpPr>
            <p:spPr>
              <a:xfrm>
                <a:off x="9135542" y="1455506"/>
                <a:ext cx="839477" cy="59607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8F5C32D-5D73-43A1-9547-F2E0369ABC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5542" y="1455506"/>
                <a:ext cx="839477" cy="59607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Multiplication Sign 6">
            <a:extLst>
              <a:ext uri="{FF2B5EF4-FFF2-40B4-BE49-F238E27FC236}">
                <a16:creationId xmlns:a16="http://schemas.microsoft.com/office/drawing/2014/main" id="{71201858-6901-4393-BE62-07439D6BE3C3}"/>
              </a:ext>
            </a:extLst>
          </p:cNvPr>
          <p:cNvSpPr/>
          <p:nvPr/>
        </p:nvSpPr>
        <p:spPr>
          <a:xfrm>
            <a:off x="10724473" y="1855536"/>
            <a:ext cx="705359" cy="705359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762E2DF-9C4D-488D-97F4-C186E2B85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070" y="2695274"/>
            <a:ext cx="2505245" cy="20071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EE3B399-49AE-4631-8D91-BD715DA53A19}"/>
                  </a:ext>
                </a:extLst>
              </p:cNvPr>
              <p:cNvSpPr/>
              <p:nvPr/>
            </p:nvSpPr>
            <p:spPr>
              <a:xfrm>
                <a:off x="9714311" y="3130264"/>
                <a:ext cx="705359" cy="100339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EE3B399-49AE-4631-8D91-BD715DA53A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4311" y="3130264"/>
                <a:ext cx="705359" cy="10033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79C7D20-61C2-4455-895A-58873C5DF37A}"/>
                  </a:ext>
                </a:extLst>
              </p:cNvPr>
              <p:cNvSpPr/>
              <p:nvPr/>
            </p:nvSpPr>
            <p:spPr>
              <a:xfrm>
                <a:off x="8715803" y="3533968"/>
                <a:ext cx="839477" cy="59607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79C7D20-61C2-4455-895A-58873C5DF3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5803" y="3533968"/>
                <a:ext cx="839477" cy="59607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Graphic 11" descr="Checkmark">
            <a:extLst>
              <a:ext uri="{FF2B5EF4-FFF2-40B4-BE49-F238E27FC236}">
                <a16:creationId xmlns:a16="http://schemas.microsoft.com/office/drawing/2014/main" id="{DDC2319E-56F7-47BC-B38E-C1B5D0F0929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19952" y="3498404"/>
            <a:ext cx="914400" cy="914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8E3D400-6BFC-4357-8708-FBEAEDD4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070" y="4722801"/>
            <a:ext cx="2505245" cy="20071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6891E52-9400-49A7-94F8-9BCCB3262EA0}"/>
                  </a:ext>
                </a:extLst>
              </p:cNvPr>
              <p:cNvSpPr/>
              <p:nvPr/>
            </p:nvSpPr>
            <p:spPr>
              <a:xfrm>
                <a:off x="9714311" y="5157791"/>
                <a:ext cx="705359" cy="100339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6891E52-9400-49A7-94F8-9BCCB3262E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4311" y="5157791"/>
                <a:ext cx="705359" cy="100339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683B3E7-BF0C-4C01-AA97-76D14AD30D84}"/>
                  </a:ext>
                </a:extLst>
              </p:cNvPr>
              <p:cNvSpPr/>
              <p:nvPr/>
            </p:nvSpPr>
            <p:spPr>
              <a:xfrm>
                <a:off x="10466996" y="5411082"/>
                <a:ext cx="839477" cy="59607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683B3E7-BF0C-4C01-AA97-76D14AD30D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6996" y="5411082"/>
                <a:ext cx="839477" cy="59607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Graphic 17" descr="Checkmark">
            <a:extLst>
              <a:ext uri="{FF2B5EF4-FFF2-40B4-BE49-F238E27FC236}">
                <a16:creationId xmlns:a16="http://schemas.microsoft.com/office/drawing/2014/main" id="{65B7C2D2-FC2A-4CCF-B7EC-2499398B7D5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06465" y="572639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421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Intuition – 4 possible situations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572D493-2AB8-48DE-A8A3-15833DAEB068}"/>
                  </a:ext>
                </a:extLst>
              </p:cNvPr>
              <p:cNvSpPr/>
              <p:nvPr/>
            </p:nvSpPr>
            <p:spPr>
              <a:xfrm>
                <a:off x="772367" y="1934854"/>
                <a:ext cx="153061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572D493-2AB8-48DE-A8A3-15833DAEB0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67" y="1934854"/>
                <a:ext cx="153061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5" name="Picture 34">
            <a:extLst>
              <a:ext uri="{FF2B5EF4-FFF2-40B4-BE49-F238E27FC236}">
                <a16:creationId xmlns:a16="http://schemas.microsoft.com/office/drawing/2014/main" id="{04D8D5E3-3E0A-4137-A2CB-832381EE50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788" y="2670246"/>
            <a:ext cx="2505245" cy="20071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89A91D5-C5A3-4B40-92FC-C68E396B5D29}"/>
                  </a:ext>
                </a:extLst>
              </p:cNvPr>
              <p:cNvSpPr/>
              <p:nvPr/>
            </p:nvSpPr>
            <p:spPr>
              <a:xfrm>
                <a:off x="5264029" y="3105236"/>
                <a:ext cx="705359" cy="100339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89A91D5-C5A3-4B40-92FC-C68E396B5D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4029" y="3105236"/>
                <a:ext cx="705359" cy="10033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F713CBB2-0B6E-478B-909A-D5C3813F82AD}"/>
                  </a:ext>
                </a:extLst>
              </p:cNvPr>
              <p:cNvSpPr/>
              <p:nvPr/>
            </p:nvSpPr>
            <p:spPr>
              <a:xfrm>
                <a:off x="3533687" y="4472945"/>
                <a:ext cx="839477" cy="59607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F713CBB2-0B6E-478B-909A-D5C3813F82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3687" y="4472945"/>
                <a:ext cx="839477" cy="59607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4AB7A-B05A-43B0-8646-4A2081AB7CEF}"/>
              </a:ext>
            </a:extLst>
          </p:cNvPr>
          <p:cNvCxnSpPr/>
          <p:nvPr/>
        </p:nvCxnSpPr>
        <p:spPr>
          <a:xfrm>
            <a:off x="5232158" y="1429069"/>
            <a:ext cx="0" cy="4295775"/>
          </a:xfrm>
          <a:prstGeom prst="line">
            <a:avLst/>
          </a:prstGeom>
          <a:ln w="28575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48B0F1FD-9D65-4C63-B702-AB0A04F584A7}"/>
              </a:ext>
            </a:extLst>
          </p:cNvPr>
          <p:cNvSpPr/>
          <p:nvPr/>
        </p:nvSpPr>
        <p:spPr>
          <a:xfrm>
            <a:off x="0" y="1185718"/>
            <a:ext cx="5232158" cy="5672282"/>
          </a:xfrm>
          <a:prstGeom prst="rect">
            <a:avLst/>
          </a:prstGeom>
          <a:solidFill>
            <a:srgbClr val="92D050">
              <a:alpha val="30196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2152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Intuition – 4 possible situations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572D493-2AB8-48DE-A8A3-15833DAEB068}"/>
                  </a:ext>
                </a:extLst>
              </p:cNvPr>
              <p:cNvSpPr/>
              <p:nvPr/>
            </p:nvSpPr>
            <p:spPr>
              <a:xfrm>
                <a:off x="772367" y="1934854"/>
                <a:ext cx="153593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572D493-2AB8-48DE-A8A3-15833DAEB0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67" y="1934854"/>
                <a:ext cx="1535933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5" name="Picture 34">
            <a:extLst>
              <a:ext uri="{FF2B5EF4-FFF2-40B4-BE49-F238E27FC236}">
                <a16:creationId xmlns:a16="http://schemas.microsoft.com/office/drawing/2014/main" id="{04D8D5E3-3E0A-4137-A2CB-832381EE50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788" y="2670246"/>
            <a:ext cx="2505245" cy="20071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89A91D5-C5A3-4B40-92FC-C68E396B5D29}"/>
                  </a:ext>
                </a:extLst>
              </p:cNvPr>
              <p:cNvSpPr/>
              <p:nvPr/>
            </p:nvSpPr>
            <p:spPr>
              <a:xfrm>
                <a:off x="5264029" y="3105236"/>
                <a:ext cx="705359" cy="100339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89A91D5-C5A3-4B40-92FC-C68E396B5D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4029" y="3105236"/>
                <a:ext cx="705359" cy="10033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F713CBB2-0B6E-478B-909A-D5C3813F82AD}"/>
                  </a:ext>
                </a:extLst>
              </p:cNvPr>
              <p:cNvSpPr/>
              <p:nvPr/>
            </p:nvSpPr>
            <p:spPr>
              <a:xfrm>
                <a:off x="7769274" y="3143999"/>
                <a:ext cx="839477" cy="59607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F713CBB2-0B6E-478B-909A-D5C3813F82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9274" y="3143999"/>
                <a:ext cx="839477" cy="59607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4AB7A-B05A-43B0-8646-4A2081AB7CEF}"/>
              </a:ext>
            </a:extLst>
          </p:cNvPr>
          <p:cNvCxnSpPr>
            <a:cxnSpLocks/>
          </p:cNvCxnSpPr>
          <p:nvPr/>
        </p:nvCxnSpPr>
        <p:spPr>
          <a:xfrm>
            <a:off x="5978913" y="1525954"/>
            <a:ext cx="0" cy="4295775"/>
          </a:xfrm>
          <a:prstGeom prst="line">
            <a:avLst/>
          </a:prstGeom>
          <a:ln w="28575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443A8CEE-C904-44FC-AF39-83E1DC31EF8F}"/>
              </a:ext>
            </a:extLst>
          </p:cNvPr>
          <p:cNvSpPr/>
          <p:nvPr/>
        </p:nvSpPr>
        <p:spPr>
          <a:xfrm>
            <a:off x="5988440" y="1071417"/>
            <a:ext cx="6203560" cy="5786583"/>
          </a:xfrm>
          <a:prstGeom prst="rect">
            <a:avLst/>
          </a:prstGeom>
          <a:solidFill>
            <a:srgbClr val="92D050">
              <a:alpha val="30196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5021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Intuition – 4 possible situations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572D493-2AB8-48DE-A8A3-15833DAEB068}"/>
                  </a:ext>
                </a:extLst>
              </p:cNvPr>
              <p:cNvSpPr/>
              <p:nvPr/>
            </p:nvSpPr>
            <p:spPr>
              <a:xfrm>
                <a:off x="772367" y="1934854"/>
                <a:ext cx="149996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572D493-2AB8-48DE-A8A3-15833DAEB0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67" y="1934854"/>
                <a:ext cx="1499961" cy="369332"/>
              </a:xfrm>
              <a:prstGeom prst="rect">
                <a:avLst/>
              </a:prstGeom>
              <a:blipFill>
                <a:blip r:embed="rId2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5" name="Picture 34">
            <a:extLst>
              <a:ext uri="{FF2B5EF4-FFF2-40B4-BE49-F238E27FC236}">
                <a16:creationId xmlns:a16="http://schemas.microsoft.com/office/drawing/2014/main" id="{04D8D5E3-3E0A-4137-A2CB-832381EE50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788" y="2670246"/>
            <a:ext cx="2505245" cy="20071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89A91D5-C5A3-4B40-92FC-C68E396B5D29}"/>
                  </a:ext>
                </a:extLst>
              </p:cNvPr>
              <p:cNvSpPr/>
              <p:nvPr/>
            </p:nvSpPr>
            <p:spPr>
              <a:xfrm>
                <a:off x="5264029" y="3105236"/>
                <a:ext cx="705359" cy="100339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89A91D5-C5A3-4B40-92FC-C68E396B5D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4029" y="3105236"/>
                <a:ext cx="705359" cy="10033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F713CBB2-0B6E-478B-909A-D5C3813F82AD}"/>
                  </a:ext>
                </a:extLst>
              </p:cNvPr>
              <p:cNvSpPr/>
              <p:nvPr/>
            </p:nvSpPr>
            <p:spPr>
              <a:xfrm>
                <a:off x="3873549" y="5376428"/>
                <a:ext cx="839477" cy="59607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F713CBB2-0B6E-478B-909A-D5C3813F82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3549" y="5376428"/>
                <a:ext cx="839477" cy="59607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4AB7A-B05A-43B0-8646-4A2081AB7CEF}"/>
              </a:ext>
            </a:extLst>
          </p:cNvPr>
          <p:cNvCxnSpPr>
            <a:cxnSpLocks/>
          </p:cNvCxnSpPr>
          <p:nvPr/>
        </p:nvCxnSpPr>
        <p:spPr>
          <a:xfrm flipH="1">
            <a:off x="3717651" y="4108634"/>
            <a:ext cx="4541576" cy="0"/>
          </a:xfrm>
          <a:prstGeom prst="line">
            <a:avLst/>
          </a:prstGeom>
          <a:ln w="28575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443A8CEE-C904-44FC-AF39-83E1DC31EF8F}"/>
              </a:ext>
            </a:extLst>
          </p:cNvPr>
          <p:cNvSpPr/>
          <p:nvPr/>
        </p:nvSpPr>
        <p:spPr>
          <a:xfrm>
            <a:off x="-600075" y="4108634"/>
            <a:ext cx="13535025" cy="2749365"/>
          </a:xfrm>
          <a:prstGeom prst="rect">
            <a:avLst/>
          </a:prstGeom>
          <a:solidFill>
            <a:srgbClr val="92D050">
              <a:alpha val="30196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2921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Intuition – 4 possible situations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572D493-2AB8-48DE-A8A3-15833DAEB068}"/>
                  </a:ext>
                </a:extLst>
              </p:cNvPr>
              <p:cNvSpPr/>
              <p:nvPr/>
            </p:nvSpPr>
            <p:spPr>
              <a:xfrm>
                <a:off x="772367" y="1934854"/>
                <a:ext cx="150528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572D493-2AB8-48DE-A8A3-15833DAEB0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67" y="1934854"/>
                <a:ext cx="1505284" cy="369332"/>
              </a:xfrm>
              <a:prstGeom prst="rect">
                <a:avLst/>
              </a:prstGeom>
              <a:blipFill>
                <a:blip r:embed="rId2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5" name="Picture 34">
            <a:extLst>
              <a:ext uri="{FF2B5EF4-FFF2-40B4-BE49-F238E27FC236}">
                <a16:creationId xmlns:a16="http://schemas.microsoft.com/office/drawing/2014/main" id="{04D8D5E3-3E0A-4137-A2CB-832381EE50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788" y="2670246"/>
            <a:ext cx="2505245" cy="20071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89A91D5-C5A3-4B40-92FC-C68E396B5D29}"/>
                  </a:ext>
                </a:extLst>
              </p:cNvPr>
              <p:cNvSpPr/>
              <p:nvPr/>
            </p:nvSpPr>
            <p:spPr>
              <a:xfrm>
                <a:off x="5264029" y="3105236"/>
                <a:ext cx="705359" cy="100339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89A91D5-C5A3-4B40-92FC-C68E396B5D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4029" y="3105236"/>
                <a:ext cx="705359" cy="10033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F713CBB2-0B6E-478B-909A-D5C3813F82AD}"/>
                  </a:ext>
                </a:extLst>
              </p:cNvPr>
              <p:cNvSpPr/>
              <p:nvPr/>
            </p:nvSpPr>
            <p:spPr>
              <a:xfrm>
                <a:off x="5264029" y="1856674"/>
                <a:ext cx="839477" cy="59607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F713CBB2-0B6E-478B-909A-D5C3813F82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4029" y="1856674"/>
                <a:ext cx="839477" cy="59607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4AB7A-B05A-43B0-8646-4A2081AB7CEF}"/>
              </a:ext>
            </a:extLst>
          </p:cNvPr>
          <p:cNvCxnSpPr>
            <a:cxnSpLocks/>
          </p:cNvCxnSpPr>
          <p:nvPr/>
        </p:nvCxnSpPr>
        <p:spPr>
          <a:xfrm flipH="1">
            <a:off x="3658652" y="3105235"/>
            <a:ext cx="4541576" cy="0"/>
          </a:xfrm>
          <a:prstGeom prst="line">
            <a:avLst/>
          </a:prstGeom>
          <a:ln w="28575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443A8CEE-C904-44FC-AF39-83E1DC31EF8F}"/>
              </a:ext>
            </a:extLst>
          </p:cNvPr>
          <p:cNvSpPr/>
          <p:nvPr/>
        </p:nvSpPr>
        <p:spPr>
          <a:xfrm>
            <a:off x="0" y="-1"/>
            <a:ext cx="12191999" cy="3105235"/>
          </a:xfrm>
          <a:prstGeom prst="rect">
            <a:avLst/>
          </a:prstGeom>
          <a:solidFill>
            <a:srgbClr val="92D050">
              <a:alpha val="30196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601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Non-overlapping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In fact for the 4 constraints, only one need hold to allow for all locations that don’t overlap!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Either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  <a:p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96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4348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Binary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Introduce binary variables for the two tables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can use these to only consider one constraint, let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GB" dirty="0"/>
                  <a:t> be a sufficiently large number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5799EDB8-A384-400A-A97E-58D696E83A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38195028"/>
                  </p:ext>
                </p:extLst>
              </p:nvPr>
            </p:nvGraphicFramePr>
            <p:xfrm>
              <a:off x="838200" y="4161198"/>
              <a:ext cx="10515600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7727">
                      <a:extLst>
                        <a:ext uri="{9D8B030D-6E8A-4147-A177-3AD203B41FA5}">
                          <a16:colId xmlns:a16="http://schemas.microsoft.com/office/drawing/2014/main" val="2070012364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4159222569"/>
                        </a:ext>
                      </a:extLst>
                    </a:gridCol>
                    <a:gridCol w="2162175">
                      <a:extLst>
                        <a:ext uri="{9D8B030D-6E8A-4147-A177-3AD203B41FA5}">
                          <a16:colId xmlns:a16="http://schemas.microsoft.com/office/drawing/2014/main" val="1584844070"/>
                        </a:ext>
                      </a:extLst>
                    </a:gridCol>
                    <a:gridCol w="2085975">
                      <a:extLst>
                        <a:ext uri="{9D8B030D-6E8A-4147-A177-3AD203B41FA5}">
                          <a16:colId xmlns:a16="http://schemas.microsoft.com/office/drawing/2014/main" val="4198822982"/>
                        </a:ext>
                      </a:extLst>
                    </a:gridCol>
                    <a:gridCol w="2314575">
                      <a:extLst>
                        <a:ext uri="{9D8B030D-6E8A-4147-A177-3AD203B41FA5}">
                          <a16:colId xmlns:a16="http://schemas.microsoft.com/office/drawing/2014/main" val="3112656150"/>
                        </a:ext>
                      </a:extLst>
                    </a:gridCol>
                    <a:gridCol w="2305048">
                      <a:extLst>
                        <a:ext uri="{9D8B030D-6E8A-4147-A177-3AD203B41FA5}">
                          <a16:colId xmlns:a16="http://schemas.microsoft.com/office/drawing/2014/main" val="107250700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𝑴</m:t>
                                </m:r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𝑴</m:t>
                                </m:r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𝑴</m:t>
                                </m:r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𝑴</m:t>
                                    </m:r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5463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15523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661687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534247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863165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5799EDB8-A384-400A-A97E-58D696E83A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38195028"/>
                  </p:ext>
                </p:extLst>
              </p:nvPr>
            </p:nvGraphicFramePr>
            <p:xfrm>
              <a:off x="838200" y="4161198"/>
              <a:ext cx="10515600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7727">
                      <a:extLst>
                        <a:ext uri="{9D8B030D-6E8A-4147-A177-3AD203B41FA5}">
                          <a16:colId xmlns:a16="http://schemas.microsoft.com/office/drawing/2014/main" val="2070012364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4159222569"/>
                        </a:ext>
                      </a:extLst>
                    </a:gridCol>
                    <a:gridCol w="2162175">
                      <a:extLst>
                        <a:ext uri="{9D8B030D-6E8A-4147-A177-3AD203B41FA5}">
                          <a16:colId xmlns:a16="http://schemas.microsoft.com/office/drawing/2014/main" val="1584844070"/>
                        </a:ext>
                      </a:extLst>
                    </a:gridCol>
                    <a:gridCol w="2085975">
                      <a:extLst>
                        <a:ext uri="{9D8B030D-6E8A-4147-A177-3AD203B41FA5}">
                          <a16:colId xmlns:a16="http://schemas.microsoft.com/office/drawing/2014/main" val="4198822982"/>
                        </a:ext>
                      </a:extLst>
                    </a:gridCol>
                    <a:gridCol w="2314575">
                      <a:extLst>
                        <a:ext uri="{9D8B030D-6E8A-4147-A177-3AD203B41FA5}">
                          <a16:colId xmlns:a16="http://schemas.microsoft.com/office/drawing/2014/main" val="3112656150"/>
                        </a:ext>
                      </a:extLst>
                    </a:gridCol>
                    <a:gridCol w="2305048">
                      <a:extLst>
                        <a:ext uri="{9D8B030D-6E8A-4147-A177-3AD203B41FA5}">
                          <a16:colId xmlns:a16="http://schemas.microsoft.com/office/drawing/2014/main" val="107250700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19" t="-1639" r="-1144604" b="-4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6870" t="-1639" r="-1114504" b="-4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6338" t="-1639" r="-311268" b="-4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2507" t="-1639" r="-222157" b="-4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55000" t="-1639" r="-100526" b="-4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56878" t="-1639" r="-1058" b="-4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25463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19" t="-101639" r="-1144604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6870" t="-101639" r="-1114504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6338" t="-101639" r="-311268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2507" t="-101639" r="-222157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55000" t="-101639" r="-100526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56878" t="-101639" r="-1058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115523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19" t="-201639" r="-1144604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6870" t="-201639" r="-1114504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6338" t="-201639" r="-311268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2507" t="-201639" r="-222157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55000" t="-201639" r="-100526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56878" t="-201639" r="-1058" b="-2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661687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19" t="-301639" r="-1144604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6870" t="-301639" r="-1114504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6338" t="-301639" r="-311268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2507" t="-301639" r="-222157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55000" t="-301639" r="-100526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56878" t="-301639" r="-1058" b="-1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534247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19" t="-401639" r="-1144604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6870" t="-401639" r="-1114504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6338" t="-401639" r="-311268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2507" t="-401639" r="-222157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55000" t="-401639" r="-100526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56878" t="-401639" r="-1058" b="-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863165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43516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Non-overlapping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Our 4 constraints for table 1 and 2 are now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b="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b="0" i="1">
                          <a:latin typeface="Cambria Math" panose="02040503050406030204" pitchFamily="18" charset="0"/>
                        </a:rPr>
                        <m:t>(1−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b="0" i="1">
                          <a:latin typeface="Cambria Math" panose="02040503050406030204" pitchFamily="18" charset="0"/>
                        </a:rPr>
                        <m:t>(1+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b="0" i="1">
                          <a:latin typeface="Cambria Math" panose="02040503050406030204" pitchFamily="18" charset="0"/>
                        </a:rPr>
                        <m:t>(2−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GB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  <a:p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D6ECCEB9-56C1-476A-85C1-1769D699E01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99440731"/>
                  </p:ext>
                </p:extLst>
              </p:nvPr>
            </p:nvGraphicFramePr>
            <p:xfrm>
              <a:off x="1190625" y="4701454"/>
              <a:ext cx="9801227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13772">
                      <a:extLst>
                        <a:ext uri="{9D8B030D-6E8A-4147-A177-3AD203B41FA5}">
                          <a16:colId xmlns:a16="http://schemas.microsoft.com/office/drawing/2014/main" val="2376671522"/>
                        </a:ext>
                      </a:extLst>
                    </a:gridCol>
                    <a:gridCol w="1617491">
                      <a:extLst>
                        <a:ext uri="{9D8B030D-6E8A-4147-A177-3AD203B41FA5}">
                          <a16:colId xmlns:a16="http://schemas.microsoft.com/office/drawing/2014/main" val="1036541122"/>
                        </a:ext>
                      </a:extLst>
                    </a:gridCol>
                    <a:gridCol w="1617491">
                      <a:extLst>
                        <a:ext uri="{9D8B030D-6E8A-4147-A177-3AD203B41FA5}">
                          <a16:colId xmlns:a16="http://schemas.microsoft.com/office/drawing/2014/main" val="3454426293"/>
                        </a:ext>
                      </a:extLst>
                    </a:gridCol>
                    <a:gridCol w="1617491">
                      <a:extLst>
                        <a:ext uri="{9D8B030D-6E8A-4147-A177-3AD203B41FA5}">
                          <a16:colId xmlns:a16="http://schemas.microsoft.com/office/drawing/2014/main" val="2929817905"/>
                        </a:ext>
                      </a:extLst>
                    </a:gridCol>
                    <a:gridCol w="1617491">
                      <a:extLst>
                        <a:ext uri="{9D8B030D-6E8A-4147-A177-3AD203B41FA5}">
                          <a16:colId xmlns:a16="http://schemas.microsoft.com/office/drawing/2014/main" val="1555961573"/>
                        </a:ext>
                      </a:extLst>
                    </a:gridCol>
                    <a:gridCol w="1617491">
                      <a:extLst>
                        <a:ext uri="{9D8B030D-6E8A-4147-A177-3AD203B41FA5}">
                          <a16:colId xmlns:a16="http://schemas.microsoft.com/office/drawing/2014/main" val="23955659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/>
                            <a:t>C1</a:t>
                          </a:r>
                        </a:p>
                      </a:txBody>
                      <a:tcPr anchor="ctr"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C2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C3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C4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250965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Active</a:t>
                          </a:r>
                        </a:p>
                      </a:txBody>
                      <a:tcPr>
                        <a:lnL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>
                        <a:lnL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704233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Satisfied</a:t>
                          </a:r>
                        </a:p>
                      </a:txBody>
                      <a:tcPr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Active</a:t>
                          </a:r>
                        </a:p>
                      </a:txBody>
                      <a:tcPr>
                        <a:lnL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>
                        <a:lnL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54429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Active</a:t>
                          </a:r>
                        </a:p>
                      </a:txBody>
                      <a:tcPr>
                        <a:lnL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>
                        <a:lnL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1454070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Active</a:t>
                          </a:r>
                        </a:p>
                      </a:txBody>
                      <a:tcPr>
                        <a:lnL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65609901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D6ECCEB9-56C1-476A-85C1-1769D699E01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99440731"/>
                  </p:ext>
                </p:extLst>
              </p:nvPr>
            </p:nvGraphicFramePr>
            <p:xfrm>
              <a:off x="1190625" y="4701454"/>
              <a:ext cx="9801227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13772">
                      <a:extLst>
                        <a:ext uri="{9D8B030D-6E8A-4147-A177-3AD203B41FA5}">
                          <a16:colId xmlns:a16="http://schemas.microsoft.com/office/drawing/2014/main" val="2376671522"/>
                        </a:ext>
                      </a:extLst>
                    </a:gridCol>
                    <a:gridCol w="1617491">
                      <a:extLst>
                        <a:ext uri="{9D8B030D-6E8A-4147-A177-3AD203B41FA5}">
                          <a16:colId xmlns:a16="http://schemas.microsoft.com/office/drawing/2014/main" val="1036541122"/>
                        </a:ext>
                      </a:extLst>
                    </a:gridCol>
                    <a:gridCol w="1617491">
                      <a:extLst>
                        <a:ext uri="{9D8B030D-6E8A-4147-A177-3AD203B41FA5}">
                          <a16:colId xmlns:a16="http://schemas.microsoft.com/office/drawing/2014/main" val="3454426293"/>
                        </a:ext>
                      </a:extLst>
                    </a:gridCol>
                    <a:gridCol w="1617491">
                      <a:extLst>
                        <a:ext uri="{9D8B030D-6E8A-4147-A177-3AD203B41FA5}">
                          <a16:colId xmlns:a16="http://schemas.microsoft.com/office/drawing/2014/main" val="2929817905"/>
                        </a:ext>
                      </a:extLst>
                    </a:gridCol>
                    <a:gridCol w="1617491">
                      <a:extLst>
                        <a:ext uri="{9D8B030D-6E8A-4147-A177-3AD203B41FA5}">
                          <a16:colId xmlns:a16="http://schemas.microsoft.com/office/drawing/2014/main" val="1555961573"/>
                        </a:ext>
                      </a:extLst>
                    </a:gridCol>
                    <a:gridCol w="1617491">
                      <a:extLst>
                        <a:ext uri="{9D8B030D-6E8A-4147-A177-3AD203B41FA5}">
                          <a16:colId xmlns:a16="http://schemas.microsoft.com/office/drawing/2014/main" val="23955659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56" t="-8197" r="-474021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6015" t="-8197" r="-400752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/>
                            <a:t>C1</a:t>
                          </a:r>
                        </a:p>
                      </a:txBody>
                      <a:tcPr anchor="ctr"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C2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C3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C4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250965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56" t="-108197" r="-47402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106015" t="-108197" r="-400752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Active</a:t>
                          </a:r>
                        </a:p>
                      </a:txBody>
                      <a:tcPr>
                        <a:lnL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>
                        <a:lnL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704233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56" t="-208197" r="-474021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6015" t="-208197" r="-400752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Satisfied</a:t>
                          </a:r>
                        </a:p>
                      </a:txBody>
                      <a:tcPr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Active</a:t>
                          </a:r>
                        </a:p>
                      </a:txBody>
                      <a:tcPr>
                        <a:lnL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>
                        <a:lnL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54429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56" t="-308197" r="-474021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6015" t="-308197" r="-400752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Active</a:t>
                          </a:r>
                        </a:p>
                      </a:txBody>
                      <a:tcPr>
                        <a:lnL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>
                        <a:lnL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1454070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56" t="-408197" r="-474021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6015" t="-408197" r="-400752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Satisfied</a:t>
                          </a:r>
                        </a:p>
                      </a:txBody>
                      <a:tcPr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Active</a:t>
                          </a:r>
                        </a:p>
                      </a:txBody>
                      <a:tcPr>
                        <a:lnL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70AD4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65609901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224279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Non-overlapping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How many non overlapping constraints?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Test each pair. Given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 items (tables)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4⋅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a combinatorial problem!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2945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Objective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80845"/>
                <a:ext cx="10515600" cy="510554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dirty="0"/>
                  <a:t>For all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(every table)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GB" dirty="0"/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dirty="0"/>
                  <a:t>Then</a:t>
                </a:r>
              </a:p>
              <a:p>
                <a:pPr marL="0" indent="0" algn="ctr">
                  <a:lnSpc>
                    <a:spcPct val="150000"/>
                  </a:lnSpc>
                  <a:buNone/>
                </a:pPr>
                <a:r>
                  <a:rPr lang="en-GB" dirty="0">
                    <a:latin typeface="Calibri" panose="020F0502020204030204" pitchFamily="34" charset="0"/>
                    <a:cs typeface="Calibri" panose="020F0502020204030204" pitchFamily="34" charset="0"/>
                  </a:rPr>
                  <a:t>minimise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𝐴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∗</m:t>
                        </m:r>
                      </m:sup>
                    </m:sSup>
                  </m:oMath>
                </a14:m>
                <a:endParaRPr lang="en-GB" dirty="0"/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dirty="0"/>
                  <a:t>This is a know as a minimax problem. That is, we wish to minimise the upper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GB" dirty="0"/>
                  <a:t> bound of the constraints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80845"/>
                <a:ext cx="10515600" cy="5105545"/>
              </a:xfrm>
              <a:blipFill>
                <a:blip r:embed="rId2"/>
                <a:stretch>
                  <a:fillRect l="-1043" r="-638" b="-238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1096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MILP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71418"/>
                <a:ext cx="10515600" cy="5105545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minimise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𝐴</m:t>
                        </m:r>
                      </m:e>
                      <m:sup>
                        <m:r>
                          <a:rPr lang="en-GB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∗</m:t>
                        </m:r>
                      </m:sup>
                    </m:sSup>
                  </m:oMath>
                </a14:m>
                <a:endParaRPr lang="en-GB" sz="1600" b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subject to: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/>
                  <a:t>For all </a:t>
                </a:r>
                <a14:m>
                  <m:oMath xmlns:m="http://schemas.openxmlformats.org/officeDocument/2006/math">
                    <m:r>
                      <a:rPr lang="en-GB" sz="16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1600" dirty="0"/>
                  <a:t> (every table)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GB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For all </a:t>
                </a: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𝑗</m:t>
                    </m:r>
                  </m:oMath>
                </a14:m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&lt;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𝑗</m:t>
                    </m:r>
                  </m:oMath>
                </a14:m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(all pairs, don’t check twice)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(1−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(1+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2−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GB" sz="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71418"/>
                <a:ext cx="10515600" cy="5105545"/>
              </a:xfrm>
              <a:blipFill>
                <a:blip r:embed="rId2"/>
                <a:stretch>
                  <a:fillRect l="-348" b="-2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EB35AF8-3B05-4FEC-B15F-9469A89A5D7C}"/>
              </a:ext>
            </a:extLst>
          </p:cNvPr>
          <p:cNvSpPr/>
          <p:nvPr/>
        </p:nvSpPr>
        <p:spPr>
          <a:xfrm>
            <a:off x="8324022" y="2516814"/>
            <a:ext cx="2034211" cy="4648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en-GB" u="sng" dirty="0" err="1"/>
              <a:t>MiniMax</a:t>
            </a:r>
            <a:r>
              <a:rPr lang="en-GB" u="sng" dirty="0"/>
              <a:t> Constraint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21A2D5-6F1C-45C1-837A-FE82163DC211}"/>
              </a:ext>
            </a:extLst>
          </p:cNvPr>
          <p:cNvSpPr/>
          <p:nvPr/>
        </p:nvSpPr>
        <p:spPr>
          <a:xfrm>
            <a:off x="8321715" y="4073141"/>
            <a:ext cx="2821413" cy="4648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en-GB" u="sng" dirty="0">
                <a:latin typeface="Calibri" panose="020F0502020204030204" pitchFamily="34" charset="0"/>
                <a:cs typeface="Calibri" panose="020F0502020204030204" pitchFamily="34" charset="0"/>
              </a:rPr>
              <a:t>Non overlapping constraints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E68A9C-5B8C-4A27-AD1B-A1C1A56B09AF}"/>
              </a:ext>
            </a:extLst>
          </p:cNvPr>
          <p:cNvSpPr/>
          <p:nvPr/>
        </p:nvSpPr>
        <p:spPr>
          <a:xfrm>
            <a:off x="8326331" y="5616735"/>
            <a:ext cx="20295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u="sng" dirty="0"/>
              <a:t>Variable constraints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71554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F759B-186F-4CE9-989E-C185831E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2895"/>
          </a:xfrm>
        </p:spPr>
        <p:txBody>
          <a:bodyPr/>
          <a:lstStyle/>
          <a:p>
            <a:r>
              <a:rPr lang="en-GB" dirty="0"/>
              <a:t>Solution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B691A24-4B44-4EE1-B56F-F901DAF96E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50533" y="1059441"/>
            <a:ext cx="4744112" cy="38772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92D7933-4009-4569-B592-6EE917BAFF49}"/>
                  </a:ext>
                </a:extLst>
              </p:cNvPr>
              <p:cNvSpPr txBox="1"/>
              <p:nvPr/>
            </p:nvSpPr>
            <p:spPr>
              <a:xfrm>
                <a:off x="3160267" y="5157736"/>
                <a:ext cx="5133265" cy="1477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Here is our solution,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lang="en-GB" dirty="0"/>
                  <a:t> for both 4 and 6 items!</a:t>
                </a:r>
              </a:p>
              <a:p>
                <a:endParaRPr lang="en-GB" dirty="0"/>
              </a:p>
              <a:p>
                <a:r>
                  <a:rPr lang="en-GB" dirty="0"/>
                  <a:t>Our solutions are optimal</a:t>
                </a:r>
              </a:p>
              <a:p>
                <a:endParaRPr lang="en-GB" dirty="0"/>
              </a:p>
              <a:p>
                <a:r>
                  <a:rPr lang="en-GB" dirty="0"/>
                  <a:t>Can it be improved? What is the issue?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92D7933-4009-4569-B592-6EE917BAFF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0267" y="5157736"/>
                <a:ext cx="5133265" cy="1477328"/>
              </a:xfrm>
              <a:prstGeom prst="rect">
                <a:avLst/>
              </a:prstGeom>
              <a:blipFill>
                <a:blip r:embed="rId3"/>
                <a:stretch>
                  <a:fillRect l="-950" t="-2066" r="-356" b="-57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BC5CA5B9-1A5F-4D55-9F1F-489C991AF7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162" y="1088020"/>
            <a:ext cx="4753638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704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DAD099-6ACE-4C0D-A46F-42FE95E09C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Adding Rotation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A6CEB36-D3CE-47A7-8B4E-6F9F0ACC9F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547822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Floor Planning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On rotation width and height is swapped</a:t>
            </a:r>
          </a:p>
          <a:p>
            <a:endParaRPr lang="en-GB" dirty="0"/>
          </a:p>
          <a:p>
            <a:endParaRPr lang="en-GB" b="0" dirty="0"/>
          </a:p>
          <a:p>
            <a:pPr marL="0" indent="0">
              <a:buNone/>
            </a:pPr>
            <a:endParaRPr lang="en-GB" b="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42A5A1F-539A-4177-9A32-606689D0609E}"/>
                  </a:ext>
                </a:extLst>
              </p:cNvPr>
              <p:cNvSpPr/>
              <p:nvPr/>
            </p:nvSpPr>
            <p:spPr>
              <a:xfrm rot="16200000">
                <a:off x="6658100" y="2608071"/>
                <a:ext cx="3921550" cy="194192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42A5A1F-539A-4177-9A32-606689D060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658100" y="2608071"/>
                <a:ext cx="3921550" cy="19419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2AEDF7-A3B0-44BC-B155-9D50920BA226}"/>
              </a:ext>
            </a:extLst>
          </p:cNvPr>
          <p:cNvCxnSpPr>
            <a:cxnSpLocks/>
          </p:cNvCxnSpPr>
          <p:nvPr/>
        </p:nvCxnSpPr>
        <p:spPr>
          <a:xfrm rot="16200000">
            <a:off x="8159842" y="3579032"/>
            <a:ext cx="3921550" cy="0"/>
          </a:xfrm>
          <a:prstGeom prst="straightConnector1">
            <a:avLst/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7CDD34-528A-48E7-A3AD-F324562D4E6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603530" y="4986758"/>
            <a:ext cx="1" cy="1972611"/>
          </a:xfrm>
          <a:prstGeom prst="straightConnector1">
            <a:avLst/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1CB6F33-152B-4B9A-8313-2EBDE11EF691}"/>
                  </a:ext>
                </a:extLst>
              </p:cNvPr>
              <p:cNvSpPr/>
              <p:nvPr/>
            </p:nvSpPr>
            <p:spPr>
              <a:xfrm>
                <a:off x="10262785" y="3394366"/>
                <a:ext cx="47442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1CB6F33-152B-4B9A-8313-2EBDE11EF6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2785" y="3394366"/>
                <a:ext cx="474424" cy="369332"/>
              </a:xfrm>
              <a:prstGeom prst="rect">
                <a:avLst/>
              </a:prstGeom>
              <a:blipFill>
                <a:blip r:embed="rId3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8F764A1C-5ADD-46E5-B486-B9A5FDC264B9}"/>
                  </a:ext>
                </a:extLst>
              </p:cNvPr>
              <p:cNvSpPr/>
              <p:nvPr/>
            </p:nvSpPr>
            <p:spPr>
              <a:xfrm>
                <a:off x="8398654" y="6046862"/>
                <a:ext cx="4404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8F764A1C-5ADD-46E5-B486-B9A5FDC264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654" y="6046862"/>
                <a:ext cx="44044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D4665DAE-DDDC-4C7A-8B7F-EBFE1F314FC0}"/>
              </a:ext>
            </a:extLst>
          </p:cNvPr>
          <p:cNvSpPr/>
          <p:nvPr/>
        </p:nvSpPr>
        <p:spPr>
          <a:xfrm>
            <a:off x="7435487" y="4595059"/>
            <a:ext cx="444352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8000" dirty="0"/>
              <a:t>.</a:t>
            </a:r>
            <a:endParaRPr lang="en-GB" sz="5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EBF24E3-FBA1-4083-ACE8-907B54AD7CA5}"/>
                  </a:ext>
                </a:extLst>
              </p:cNvPr>
              <p:cNvSpPr/>
              <p:nvPr/>
            </p:nvSpPr>
            <p:spPr>
              <a:xfrm>
                <a:off x="6711679" y="5473464"/>
                <a:ext cx="90903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EBF24E3-FBA1-4083-ACE8-907B54AD7C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1679" y="5473464"/>
                <a:ext cx="909031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CA001B6-CF89-4CD7-A485-79C02AD08B73}"/>
                  </a:ext>
                </a:extLst>
              </p:cNvPr>
              <p:cNvSpPr/>
              <p:nvPr/>
            </p:nvSpPr>
            <p:spPr>
              <a:xfrm>
                <a:off x="906245" y="3444345"/>
                <a:ext cx="3921550" cy="194192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CA001B6-CF89-4CD7-A485-79C02AD08B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245" y="3444345"/>
                <a:ext cx="3921550" cy="194192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748045-2FB4-43F4-8344-088B6AFE8BE7}"/>
              </a:ext>
            </a:extLst>
          </p:cNvPr>
          <p:cNvCxnSpPr>
            <a:cxnSpLocks/>
          </p:cNvCxnSpPr>
          <p:nvPr/>
        </p:nvCxnSpPr>
        <p:spPr>
          <a:xfrm>
            <a:off x="906245" y="5897720"/>
            <a:ext cx="3921550" cy="0"/>
          </a:xfrm>
          <a:prstGeom prst="straightConnector1">
            <a:avLst/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161CFF9-D0F3-4698-8D18-BB035CE1C63F}"/>
              </a:ext>
            </a:extLst>
          </p:cNvPr>
          <p:cNvCxnSpPr>
            <a:cxnSpLocks/>
          </p:cNvCxnSpPr>
          <p:nvPr/>
        </p:nvCxnSpPr>
        <p:spPr>
          <a:xfrm flipH="1" flipV="1">
            <a:off x="5286957" y="3429000"/>
            <a:ext cx="1" cy="1972611"/>
          </a:xfrm>
          <a:prstGeom prst="straightConnector1">
            <a:avLst/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2FF9D9C-7970-4D9E-8FD8-378CB50B4432}"/>
                  </a:ext>
                </a:extLst>
              </p:cNvPr>
              <p:cNvSpPr/>
              <p:nvPr/>
            </p:nvSpPr>
            <p:spPr>
              <a:xfrm>
                <a:off x="5433990" y="4230639"/>
                <a:ext cx="4404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2FF9D9C-7970-4D9E-8FD8-378CB50B44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3990" y="4230639"/>
                <a:ext cx="44044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047C1706-30BE-4245-9CF3-7AAA0DC4037E}"/>
              </a:ext>
            </a:extLst>
          </p:cNvPr>
          <p:cNvSpPr/>
          <p:nvPr/>
        </p:nvSpPr>
        <p:spPr>
          <a:xfrm>
            <a:off x="684069" y="4441519"/>
            <a:ext cx="444352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8000" dirty="0"/>
              <a:t>.</a:t>
            </a:r>
            <a:endParaRPr lang="en-GB" sz="5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E91177E3-B69D-4F18-B95D-89D348E267E5}"/>
                  </a:ext>
                </a:extLst>
              </p:cNvPr>
              <p:cNvSpPr/>
              <p:nvPr/>
            </p:nvSpPr>
            <p:spPr>
              <a:xfrm>
                <a:off x="-7436" y="5355141"/>
                <a:ext cx="90903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E91177E3-B69D-4F18-B95D-89D348E267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436" y="5355141"/>
                <a:ext cx="909031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6A05A40-BA1D-416A-B730-8F4E0D50CA83}"/>
                  </a:ext>
                </a:extLst>
              </p:cNvPr>
              <p:cNvSpPr/>
              <p:nvPr/>
            </p:nvSpPr>
            <p:spPr>
              <a:xfrm>
                <a:off x="2718985" y="6063357"/>
                <a:ext cx="47442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6A05A40-BA1D-416A-B730-8F4E0D50CA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8985" y="6063357"/>
                <a:ext cx="474424" cy="369332"/>
              </a:xfrm>
              <a:prstGeom prst="rect">
                <a:avLst/>
              </a:prstGeom>
              <a:blipFill>
                <a:blip r:embed="rId9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55681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Amending the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71418"/>
                <a:ext cx="10515600" cy="5105545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Introduce binary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</m:t>
                        </m:r>
                      </m:e>
                      <m:sub>
                        <m:r>
                          <a:rPr lang="en-GB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</m:t>
                        </m:r>
                      </m:e>
                      <m:sub>
                        <m:r>
                          <a:rPr lang="en-GB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=0</m:t>
                    </m:r>
                  </m:oMath>
                </a14:m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(not rotated),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</m:t>
                        </m:r>
                      </m:e>
                      <m:sub>
                        <m:r>
                          <a:rPr lang="en-GB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=1</m:t>
                    </m:r>
                  </m:oMath>
                </a14:m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GB" sz="1600">
                    <a:latin typeface="Calibri" panose="020F0502020204030204" pitchFamily="34" charset="0"/>
                    <a:cs typeface="Calibri" panose="020F0502020204030204" pitchFamily="34" charset="0"/>
                  </a:rPr>
                  <a:t>(rotated).</a:t>
                </a:r>
                <a:endParaRPr lang="en-GB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u="sng" dirty="0">
                    <a:latin typeface="Calibri" panose="020F0502020204030204" pitchFamily="34" charset="0"/>
                    <a:cs typeface="Calibri" panose="020F0502020204030204" pitchFamily="34" charset="0"/>
                  </a:rPr>
                  <a:t>Minimax constraints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/>
                  <a:t>For all </a:t>
                </a:r>
                <a14:m>
                  <m:oMath xmlns:m="http://schemas.openxmlformats.org/officeDocument/2006/math">
                    <m:r>
                      <a:rPr lang="en-GB" sz="16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1600" dirty="0"/>
                  <a:t> (every table)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(1−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GB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u="sng" dirty="0">
                    <a:latin typeface="Calibri" panose="020F0502020204030204" pitchFamily="34" charset="0"/>
                    <a:cs typeface="Calibri" panose="020F0502020204030204" pitchFamily="34" charset="0"/>
                  </a:rPr>
                  <a:t>Non overlapping constraints</a:t>
                </a:r>
                <a:endParaRPr lang="en-GB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For all </a:t>
                </a: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𝑗</m:t>
                    </m:r>
                  </m:oMath>
                </a14:m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&lt;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𝑗</m:t>
                    </m:r>
                  </m:oMath>
                </a14:m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(all pairs, don’t check twice)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+(1−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(1−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(1−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(1+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2−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71418"/>
                <a:ext cx="10515600" cy="5105545"/>
              </a:xfrm>
              <a:blipFill>
                <a:blip r:embed="rId2"/>
                <a:stretch>
                  <a:fillRect l="-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494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F759B-186F-4CE9-989E-C185831E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2895"/>
          </a:xfrm>
        </p:spPr>
        <p:txBody>
          <a:bodyPr/>
          <a:lstStyle/>
          <a:p>
            <a:r>
              <a:rPr lang="en-GB" dirty="0"/>
              <a:t>Solution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FE372E3-2891-4112-A9E2-488FA809BC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1888" y="1490392"/>
            <a:ext cx="4744112" cy="38772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7043CA-9D0A-45D2-916A-554A6D63E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057" y="1490392"/>
            <a:ext cx="4610743" cy="38391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D72CCD8-05BA-4DC4-B54C-AC25A360D6CF}"/>
                  </a:ext>
                </a:extLst>
              </p:cNvPr>
              <p:cNvSpPr txBox="1"/>
              <p:nvPr/>
            </p:nvSpPr>
            <p:spPr>
              <a:xfrm>
                <a:off x="2973368" y="5569545"/>
                <a:ext cx="6286273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Here is our solution,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lang="en-GB" dirty="0"/>
                  <a:t>. Improvement!</a:t>
                </a:r>
              </a:p>
              <a:p>
                <a:endParaRPr lang="en-GB" dirty="0"/>
              </a:p>
              <a:p>
                <a:r>
                  <a:rPr lang="en-GB" dirty="0"/>
                  <a:t>Can it be improved? This is dependent on your desired objective!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D72CCD8-05BA-4DC4-B54C-AC25A360D6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3368" y="5569545"/>
                <a:ext cx="6286273" cy="923330"/>
              </a:xfrm>
              <a:prstGeom prst="rect">
                <a:avLst/>
              </a:prstGeom>
              <a:blipFill>
                <a:blip r:embed="rId4"/>
                <a:stretch>
                  <a:fillRect l="-873" t="-3974" r="-97" b="-993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5688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DAD099-6ACE-4C0D-A46F-42FE95E09C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Connected 2 Dimensional Packing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A6CEB36-D3CE-47A7-8B4E-6F9F0ACC9F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Minimisation of the rectilinear distance between connected items</a:t>
            </a:r>
          </a:p>
        </p:txBody>
      </p:sp>
    </p:spTree>
    <p:extLst>
      <p:ext uri="{BB962C8B-B14F-4D97-AF65-F5344CB8AC3E}">
        <p14:creationId xmlns:p14="http://schemas.microsoft.com/office/powerpoint/2010/main" val="35001665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Clustering of components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1F42E2B-896C-4EEF-9B67-12A7814815A1}"/>
              </a:ext>
            </a:extLst>
          </p:cNvPr>
          <p:cNvSpPr txBox="1">
            <a:spLocks/>
          </p:cNvSpPr>
          <p:nvPr/>
        </p:nvSpPr>
        <p:spPr>
          <a:xfrm>
            <a:off x="838200" y="1226916"/>
            <a:ext cx="10515600" cy="49500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Perhaps you have connected components that need to be close to each other and you have a fixed width/height for your floor space.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1CF3492-B036-420A-93C3-CA9CCA175F95}"/>
                  </a:ext>
                </a:extLst>
              </p:cNvPr>
              <p:cNvSpPr/>
              <p:nvPr/>
            </p:nvSpPr>
            <p:spPr>
              <a:xfrm>
                <a:off x="4862234" y="3791508"/>
                <a:ext cx="2033903" cy="1007173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1CF3492-B036-420A-93C3-CA9CCA175F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234" y="3791508"/>
                <a:ext cx="2033903" cy="100717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2C216AF-58E5-4993-86E1-CE1A69E61172}"/>
                  </a:ext>
                </a:extLst>
              </p:cNvPr>
              <p:cNvSpPr/>
              <p:nvPr/>
            </p:nvSpPr>
            <p:spPr>
              <a:xfrm>
                <a:off x="1104390" y="3061585"/>
                <a:ext cx="1295349" cy="246701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2C216AF-58E5-4993-86E1-CE1A69E611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390" y="3061585"/>
                <a:ext cx="1295349" cy="24670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72A15E9-7242-40D3-B7D9-1C1B7D7F1EA1}"/>
                  </a:ext>
                </a:extLst>
              </p:cNvPr>
              <p:cNvSpPr/>
              <p:nvPr/>
            </p:nvSpPr>
            <p:spPr>
              <a:xfrm>
                <a:off x="8865041" y="3371798"/>
                <a:ext cx="2488759" cy="184659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72A15E9-7242-40D3-B7D9-1C1B7D7F1E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5041" y="3371798"/>
                <a:ext cx="2488759" cy="18465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979E02-38E6-4718-BC28-B36D9F6D2B07}"/>
                  </a:ext>
                </a:extLst>
              </p:cNvPr>
              <p:cNvSpPr/>
              <p:nvPr/>
            </p:nvSpPr>
            <p:spPr>
              <a:xfrm>
                <a:off x="4643560" y="5401994"/>
                <a:ext cx="2488759" cy="132727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979E02-38E6-4718-BC28-B36D9F6D2B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560" y="5401994"/>
                <a:ext cx="2488759" cy="13272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7B75CFD-FA50-44D5-A788-C5E95C9591B6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 rot="10800000">
            <a:off x="2399740" y="4295095"/>
            <a:ext cx="2462495" cy="1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92248A2D-6C87-43A1-86E7-CA74729B0980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16200000" flipH="1">
            <a:off x="5581907" y="5095960"/>
            <a:ext cx="603313" cy="8754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0E53862-A5DE-4B39-9D56-0FEC6145448A}"/>
              </a:ext>
            </a:extLst>
          </p:cNvPr>
          <p:cNvCxnSpPr>
            <a:cxnSpLocks/>
            <a:stCxn id="8" idx="0"/>
            <a:endCxn id="9" idx="0"/>
          </p:cNvCxnSpPr>
          <p:nvPr/>
        </p:nvCxnSpPr>
        <p:spPr>
          <a:xfrm rot="16200000" flipH="1">
            <a:off x="5775636" y="-961987"/>
            <a:ext cx="310213" cy="8357356"/>
          </a:xfrm>
          <a:prstGeom prst="bentConnector3">
            <a:avLst>
              <a:gd name="adj1" fmla="val -73691"/>
            </a:avLst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1CFD1006-66AF-4DE5-BB3A-576BC923F862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6896137" y="4295094"/>
            <a:ext cx="1968904" cy="1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1647418-B38B-4F28-8552-CEF7DDA3C441}"/>
              </a:ext>
            </a:extLst>
          </p:cNvPr>
          <p:cNvCxnSpPr>
            <a:cxnSpLocks/>
            <a:stCxn id="9" idx="2"/>
            <a:endCxn id="10" idx="3"/>
          </p:cNvCxnSpPr>
          <p:nvPr/>
        </p:nvCxnSpPr>
        <p:spPr>
          <a:xfrm rot="5400000">
            <a:off x="8197249" y="4153460"/>
            <a:ext cx="847242" cy="2977102"/>
          </a:xfrm>
          <a:prstGeom prst="bentConnector2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8405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Amending the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71418"/>
                <a:ext cx="10515600" cy="5105545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For a fixed width and height floor. 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u="sng" dirty="0">
                    <a:latin typeface="Calibri" panose="020F0502020204030204" pitchFamily="34" charset="0"/>
                    <a:cs typeface="Calibri" panose="020F0502020204030204" pitchFamily="34" charset="0"/>
                  </a:rPr>
                  <a:t>Minimax constraints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/>
                  <a:t>For all </a:t>
                </a:r>
                <a14:m>
                  <m:oMath xmlns:m="http://schemas.openxmlformats.org/officeDocument/2006/math">
                    <m:r>
                      <a:rPr lang="en-GB" sz="16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1600" dirty="0"/>
                  <a:t> (every table)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(1−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en-GB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Note we could drop these if there was no constraints on the being within a boundary or make </a:t>
                </a:r>
                <a14:m>
                  <m:oMath xmlns:m="http://schemas.openxmlformats.org/officeDocument/2006/math">
                    <m:r>
                      <a:rPr lang="en-GB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𝑊</m:t>
                    </m:r>
                    <m:r>
                      <a:rPr lang="en-GB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a:rPr lang="en-GB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𝐻</m:t>
                    </m:r>
                  </m:oMath>
                </a14:m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sufficiently large!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u="sng" dirty="0">
                    <a:latin typeface="Calibri" panose="020F0502020204030204" pitchFamily="34" charset="0"/>
                    <a:cs typeface="Calibri" panose="020F0502020204030204" pitchFamily="34" charset="0"/>
                  </a:rPr>
                  <a:t>Non overlapping constraints</a:t>
                </a:r>
                <a:endParaRPr lang="en-GB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For all </a:t>
                </a: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𝑗</m:t>
                    </m:r>
                  </m:oMath>
                </a14:m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&lt;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𝑗</m:t>
                    </m:r>
                  </m:oMath>
                </a14:m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(all pairs, don’t check twice)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+(1−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(1−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(1−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(1+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2−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71418"/>
                <a:ext cx="10515600" cy="5105545"/>
              </a:xfrm>
              <a:blipFill>
                <a:blip r:embed="rId2"/>
                <a:stretch>
                  <a:fillRect l="-348" b="-143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7944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ECFB50-8F40-430E-8EF0-F3BF1D6539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92192"/>
                <a:ext cx="10515600" cy="4984771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For all connected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Let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𝐷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 +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i="1">
                        <a:latin typeface="Cambria Math" panose="02040503050406030204" pitchFamily="18" charset="0"/>
                      </a:rPr>
                      <m:t>]−</m:t>
                    </m:r>
                    <m:d>
                      <m:dPr>
                        <m:begChr m:val="["/>
                        <m:endChr m:val="]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f>
                          <m:f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GB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f>
                          <m:f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need absolute distance, therefore we force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𝐷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𝐷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𝐷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ij</m:t>
                          </m:r>
                        </m:sub>
                      </m:sSub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𝐷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>
                              <a:latin typeface="Cambria Math" panose="02040503050406030204" pitchFamily="18" charset="0"/>
                            </a:rPr>
                            <m:t>ij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Let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 +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i="1">
                        <a:latin typeface="Cambria Math" panose="02040503050406030204" pitchFamily="18" charset="0"/>
                      </a:rPr>
                      <m:t>]−</m:t>
                    </m:r>
                    <m:d>
                      <m:dPr>
                        <m:begChr m:val="["/>
                        <m:endChr m:val="]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f>
                          <m:f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GB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f>
                          <m:f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need absolute distance, therefore we force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𝐷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,−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𝐷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𝐷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>
                              <a:latin typeface="Cambria Math" panose="02040503050406030204" pitchFamily="18" charset="0"/>
                            </a:rPr>
                            <m:t>ij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𝐷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>
                              <a:latin typeface="Cambria Math" panose="02040503050406030204" pitchFamily="18" charset="0"/>
                            </a:rPr>
                            <m:t>ij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ECFB50-8F40-430E-8EF0-F3BF1D6539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92192"/>
                <a:ext cx="10515600" cy="4984771"/>
              </a:xfrm>
              <a:blipFill>
                <a:blip r:embed="rId2"/>
                <a:stretch>
                  <a:fillRect l="-754" t="-25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8EABECAB-B9D9-4AAB-8DA1-B90EC004578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Distance between items (from centre points)</a:t>
            </a:r>
          </a:p>
        </p:txBody>
      </p:sp>
    </p:spTree>
    <p:extLst>
      <p:ext uri="{BB962C8B-B14F-4D97-AF65-F5344CB8AC3E}">
        <p14:creationId xmlns:p14="http://schemas.microsoft.com/office/powerpoint/2010/main" val="1670613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F759B-186F-4CE9-989E-C185831E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2895"/>
          </a:xfrm>
        </p:spPr>
        <p:txBody>
          <a:bodyPr/>
          <a:lstStyle/>
          <a:p>
            <a:r>
              <a:rPr lang="en-GB" dirty="0"/>
              <a:t>Objective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EBEF5-E083-41E4-BDFE-FBB5A1E464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26916"/>
                <a:ext cx="10515600" cy="495004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Minimise Rectilinear Distance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For all connected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Min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</m:nary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EBEF5-E083-41E4-BDFE-FBB5A1E464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26916"/>
                <a:ext cx="10515600" cy="4950047"/>
              </a:xfrm>
              <a:blipFill>
                <a:blip r:embed="rId2"/>
                <a:stretch>
                  <a:fillRect l="-1217" t="-19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12121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F759B-186F-4CE9-989E-C185831E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2895"/>
          </a:xfrm>
        </p:spPr>
        <p:txBody>
          <a:bodyPr/>
          <a:lstStyle/>
          <a:p>
            <a:r>
              <a:rPr lang="en-GB" dirty="0"/>
              <a:t>Results for different floor spaces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9582E3-AE5C-4A65-9BFE-EB5EA2BA7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9" y="2266753"/>
            <a:ext cx="3424552" cy="28703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B2017D-9D1E-4CBB-915F-2A1EA58D2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8892" y="2266752"/>
            <a:ext cx="3465709" cy="28703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0F830C-46C0-4945-9EB5-B85B711A98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4285" y="2266752"/>
            <a:ext cx="3483391" cy="28703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F11FBD9-ADB3-48DB-920D-33667DB47E8F}"/>
                  </a:ext>
                </a:extLst>
              </p:cNvPr>
              <p:cNvSpPr/>
              <p:nvPr/>
            </p:nvSpPr>
            <p:spPr>
              <a:xfrm>
                <a:off x="4852511" y="5472377"/>
                <a:ext cx="218976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=8,  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=20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F11FBD9-ADB3-48DB-920D-33667DB47E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2511" y="5472377"/>
                <a:ext cx="218976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66DF93F-C03C-4E5B-B6B8-AC87C7800222}"/>
                  </a:ext>
                </a:extLst>
              </p:cNvPr>
              <p:cNvSpPr/>
              <p:nvPr/>
            </p:nvSpPr>
            <p:spPr>
              <a:xfrm>
                <a:off x="8865480" y="5446418"/>
                <a:ext cx="226671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=10,  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15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66DF93F-C03C-4E5B-B6B8-AC87C78002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5480" y="5446418"/>
                <a:ext cx="226671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DE0F78D-B6E3-4E94-8508-0F40E7E82901}"/>
                  </a:ext>
                </a:extLst>
              </p:cNvPr>
              <p:cNvSpPr/>
              <p:nvPr/>
            </p:nvSpPr>
            <p:spPr>
              <a:xfrm>
                <a:off x="1243762" y="5450430"/>
                <a:ext cx="226671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=20,  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DE0F78D-B6E3-4E94-8508-0F40E7E82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3762" y="5450430"/>
                <a:ext cx="2266711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29896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Problem</a:t>
            </a:r>
          </a:p>
        </p:txBody>
      </p:sp>
      <p:pic>
        <p:nvPicPr>
          <p:cNvPr id="3073" name="Picture 1">
            <a:extLst>
              <a:ext uri="{FF2B5EF4-FFF2-40B4-BE49-F238E27FC236}">
                <a16:creationId xmlns:a16="http://schemas.microsoft.com/office/drawing/2014/main" id="{B3F3BDB3-B2DF-493C-BC8F-46C5B9AF3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7072" y="1575568"/>
            <a:ext cx="5382795" cy="370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Image result for chemical plant">
            <a:extLst>
              <a:ext uri="{FF2B5EF4-FFF2-40B4-BE49-F238E27FC236}">
                <a16:creationId xmlns:a16="http://schemas.microsoft.com/office/drawing/2014/main" id="{8FB8F7D8-5536-422F-8523-A6396968E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133" y="1559638"/>
            <a:ext cx="5743868" cy="3822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70987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 Solution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669DB1-6966-4623-9FDE-BA7B31B1A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77813"/>
            <a:ext cx="4991797" cy="38962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F3F0EE-9197-4B9F-9B82-F80B35DE5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267" y="1773077"/>
            <a:ext cx="4896533" cy="380100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6FE1782-01C4-4EC1-B6FA-9D2C31055BC8}"/>
              </a:ext>
            </a:extLst>
          </p:cNvPr>
          <p:cNvSpPr txBox="1"/>
          <p:nvPr/>
        </p:nvSpPr>
        <p:spPr>
          <a:xfrm>
            <a:off x="2897945" y="5952575"/>
            <a:ext cx="74778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This is a simplified plot, the boxes contain enough space to include the piping.</a:t>
            </a:r>
          </a:p>
          <a:p>
            <a:r>
              <a:rPr lang="en-GB" dirty="0"/>
              <a:t>It also requires structures to support items off the floor!</a:t>
            </a:r>
          </a:p>
        </p:txBody>
      </p:sp>
    </p:spTree>
    <p:extLst>
      <p:ext uri="{BB962C8B-B14F-4D97-AF65-F5344CB8AC3E}">
        <p14:creationId xmlns:p14="http://schemas.microsoft.com/office/powerpoint/2010/main" val="22986352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Returning to our simple packing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71418"/>
                <a:ext cx="10515600" cy="5105545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minimise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𝐴</m:t>
                        </m:r>
                      </m:e>
                      <m:sup>
                        <m:r>
                          <a:rPr lang="en-GB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∗</m:t>
                        </m:r>
                      </m:sup>
                    </m:sSup>
                  </m:oMath>
                </a14:m>
                <a:endParaRPr lang="en-GB" sz="1600" b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subject to: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/>
                  <a:t>For all </a:t>
                </a:r>
                <a14:m>
                  <m:oMath xmlns:m="http://schemas.openxmlformats.org/officeDocument/2006/math">
                    <m:r>
                      <a:rPr lang="en-GB" sz="16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1600" dirty="0"/>
                  <a:t> (every table)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+(1−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For all </a:t>
                </a: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𝑗</m:t>
                    </m:r>
                  </m:oMath>
                </a14:m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&lt;</m:t>
                    </m:r>
                    <m:r>
                      <a:rPr lang="en-GB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𝑗</m:t>
                    </m:r>
                  </m:oMath>
                </a14:m>
                <a:r>
                  <a:rPr lang="en-GB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(all pairs, don’t check twice)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+(1−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(1−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(1−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(1+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2−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GB" sz="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71418"/>
                <a:ext cx="10515600" cy="5105545"/>
              </a:xfrm>
              <a:blipFill>
                <a:blip r:embed="rId2"/>
                <a:stretch>
                  <a:fillRect l="-348" b="-2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EB35AF8-3B05-4FEC-B15F-9469A89A5D7C}"/>
              </a:ext>
            </a:extLst>
          </p:cNvPr>
          <p:cNvSpPr/>
          <p:nvPr/>
        </p:nvSpPr>
        <p:spPr>
          <a:xfrm>
            <a:off x="8324022" y="2516814"/>
            <a:ext cx="2034211" cy="4648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en-GB" u="sng" dirty="0" err="1"/>
              <a:t>MiniMax</a:t>
            </a:r>
            <a:r>
              <a:rPr lang="en-GB" u="sng" dirty="0"/>
              <a:t> Constraint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21A2D5-6F1C-45C1-837A-FE82163DC211}"/>
              </a:ext>
            </a:extLst>
          </p:cNvPr>
          <p:cNvSpPr/>
          <p:nvPr/>
        </p:nvSpPr>
        <p:spPr>
          <a:xfrm>
            <a:off x="8321715" y="4073141"/>
            <a:ext cx="2821413" cy="4648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en-GB" u="sng" dirty="0">
                <a:latin typeface="Calibri" panose="020F0502020204030204" pitchFamily="34" charset="0"/>
                <a:cs typeface="Calibri" panose="020F0502020204030204" pitchFamily="34" charset="0"/>
              </a:rPr>
              <a:t>Non overlapping constraints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E68A9C-5B8C-4A27-AD1B-A1C1A56B09AF}"/>
              </a:ext>
            </a:extLst>
          </p:cNvPr>
          <p:cNvSpPr/>
          <p:nvPr/>
        </p:nvSpPr>
        <p:spPr>
          <a:xfrm>
            <a:off x="8326331" y="5616735"/>
            <a:ext cx="20295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u="sng" dirty="0"/>
              <a:t>Variable constraints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5960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F759B-186F-4CE9-989E-C185831E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2895"/>
          </a:xfrm>
        </p:spPr>
        <p:txBody>
          <a:bodyPr/>
          <a:lstStyle/>
          <a:p>
            <a:r>
              <a:rPr lang="en-GB" dirty="0"/>
              <a:t>Mums Know Best!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72CCD8-05BA-4DC4-B54C-AC25A360D6CF}"/>
              </a:ext>
            </a:extLst>
          </p:cNvPr>
          <p:cNvSpPr txBox="1"/>
          <p:nvPr/>
        </p:nvSpPr>
        <p:spPr>
          <a:xfrm>
            <a:off x="1573923" y="5766377"/>
            <a:ext cx="3783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Approximately 20 seconds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Approximately 4 solutions explored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7A85D0-0903-49A9-B592-4EF5B3018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460" y="1456859"/>
            <a:ext cx="4143953" cy="37438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5262C4-9BD7-4313-A37C-E6335641F1F3}"/>
              </a:ext>
            </a:extLst>
          </p:cNvPr>
          <p:cNvSpPr txBox="1"/>
          <p:nvPr/>
        </p:nvSpPr>
        <p:spPr>
          <a:xfrm>
            <a:off x="6527209" y="5448773"/>
            <a:ext cx="54259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Approximately 10 minutes!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4,936,427 solutions explored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Note that the optimal was actually found in 0.6 seconds, but the program doesn’t know it’s optimal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5630C43-A0E4-4556-94F7-C8E4A6E350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228" y="1409227"/>
            <a:ext cx="4610743" cy="379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332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F759B-186F-4CE9-989E-C185831E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2895"/>
          </a:xfrm>
        </p:spPr>
        <p:txBody>
          <a:bodyPr/>
          <a:lstStyle/>
          <a:p>
            <a:r>
              <a:rPr lang="en-GB" dirty="0"/>
              <a:t>Why so inefficient?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DCA38556-15BB-4723-B5D1-560168FA4F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Binary variables.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GB" dirty="0"/>
                  <a:t> exist for every pair of items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2⋅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Each can have a value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{0,1}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2⋅</m:t>
                          </m:r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eqArr>
                            </m:e>
                          </m:d>
                        </m:sup>
                      </m:sSup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For 7 items that is…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2⋅</m:t>
                          </m:r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e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eqArr>
                            </m:e>
                          </m:d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≈4.4×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For 10 items to explore every solution every millisecond this would take you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39228790500000000</m:t>
                    </m:r>
                  </m:oMath>
                </a14:m>
                <a:r>
                  <a:rPr lang="en-GB" dirty="0"/>
                  <a:t> years!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DCA38556-15BB-4723-B5D1-560168FA4F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638" t="-2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5970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F759B-186F-4CE9-989E-C185831E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2895"/>
          </a:xfrm>
        </p:spPr>
        <p:txBody>
          <a:bodyPr/>
          <a:lstStyle/>
          <a:p>
            <a:r>
              <a:rPr lang="en-GB" dirty="0"/>
              <a:t>Conclusion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CA38556-15BB-4723-B5D1-560168FA4F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How does Santa pack his sleigh?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NP-Hard Optimisation!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/>
              <a:t>Or By </a:t>
            </a:r>
            <a:r>
              <a:rPr lang="en-GB" dirty="0"/>
              <a:t>Magic!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 </a:t>
            </a:r>
          </a:p>
        </p:txBody>
      </p:sp>
      <p:pic>
        <p:nvPicPr>
          <p:cNvPr id="1026" name="Picture 2" descr="Image result for santas sleigh">
            <a:extLst>
              <a:ext uri="{FF2B5EF4-FFF2-40B4-BE49-F238E27FC236}">
                <a16:creationId xmlns:a16="http://schemas.microsoft.com/office/drawing/2014/main" id="{0CEEAA44-F2C2-4F33-9BCE-BA81585FB1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2550" y="978366"/>
            <a:ext cx="2381250" cy="2076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mage result for merry christmas">
            <a:extLst>
              <a:ext uri="{FF2B5EF4-FFF2-40B4-BE49-F238E27FC236}">
                <a16:creationId xmlns:a16="http://schemas.microsoft.com/office/drawing/2014/main" id="{76B86C00-34C6-47E0-90CC-43BB3DE6E6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146" y="1854373"/>
            <a:ext cx="47625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7263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587AB4-D8C9-43A3-B80F-6729B49465FB}">
  <ds:schemaRefs>
    <ds:schemaRef ds:uri="http://www.w3.org/XML/1998/namespace"/>
    <ds:schemaRef ds:uri="http://purl.org/dc/terms/"/>
    <ds:schemaRef ds:uri="bf6b85bd-8a7e-4854-be4d-0780382295a8"/>
    <ds:schemaRef ds:uri="http://purl.org/dc/elements/1.1/"/>
    <ds:schemaRef ds:uri="http://schemas.microsoft.com/office/2006/metadata/properties"/>
    <ds:schemaRef ds:uri="606370cc-c8d9-4222-8a4e-3c320f1e303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9DBEC85-D8FF-4703-B6F0-ECA15D9B414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481</TotalTime>
  <Words>1610</Words>
  <Application>Microsoft Office PowerPoint</Application>
  <PresentationFormat>Widescreen</PresentationFormat>
  <Paragraphs>348</Paragraphs>
  <Slides>36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Office Theme</vt:lpstr>
      <vt:lpstr>Floor Planning/Bin Packing</vt:lpstr>
      <vt:lpstr>Blank Slide</vt:lpstr>
      <vt:lpstr>Linear Program</vt:lpstr>
      <vt:lpstr>Mixed-Integer Program</vt:lpstr>
      <vt:lpstr>Mixed-Integer Solution (problem based)</vt:lpstr>
      <vt:lpstr>2 Dimensional Floor Planning</vt:lpstr>
      <vt:lpstr>Floor Planning</vt:lpstr>
      <vt:lpstr>Floor Planning</vt:lpstr>
      <vt:lpstr>Non-overlapping constraints</vt:lpstr>
      <vt:lpstr>Intuition – 4 possible situations</vt:lpstr>
      <vt:lpstr>Intuition – 4 possible situations</vt:lpstr>
      <vt:lpstr>Intuition – 4 possible situations</vt:lpstr>
      <vt:lpstr>Intuition – 4 possible situations</vt:lpstr>
      <vt:lpstr>Non-overlapping constraints</vt:lpstr>
      <vt:lpstr>Binary Variables</vt:lpstr>
      <vt:lpstr>Non-overlapping constraints</vt:lpstr>
      <vt:lpstr>Non-overlapping constraints</vt:lpstr>
      <vt:lpstr>Objective</vt:lpstr>
      <vt:lpstr>MILP Formulation</vt:lpstr>
      <vt:lpstr>Solution </vt:lpstr>
      <vt:lpstr>Adding Rotation</vt:lpstr>
      <vt:lpstr>Floor Planning</vt:lpstr>
      <vt:lpstr>Amending the constraints</vt:lpstr>
      <vt:lpstr>Solution </vt:lpstr>
      <vt:lpstr>Connected 2 Dimensional Packing</vt:lpstr>
      <vt:lpstr>Clustering of components</vt:lpstr>
      <vt:lpstr>Amending the constraints</vt:lpstr>
      <vt:lpstr>PowerPoint Presentation</vt:lpstr>
      <vt:lpstr>Objective Function</vt:lpstr>
      <vt:lpstr>Results for different floor spaces </vt:lpstr>
      <vt:lpstr>Problem</vt:lpstr>
      <vt:lpstr>Example Solution </vt:lpstr>
      <vt:lpstr>Returning to our simple packing problem</vt:lpstr>
      <vt:lpstr>Mums Know Best!</vt:lpstr>
      <vt:lpstr>Why so inefficient? 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 1</dc:title>
  <dc:creator>Sam O'Neill</dc:creator>
  <cp:lastModifiedBy>Sam O'Neill</cp:lastModifiedBy>
  <cp:revision>2</cp:revision>
  <dcterms:created xsi:type="dcterms:W3CDTF">2019-10-08T20:55:29Z</dcterms:created>
  <dcterms:modified xsi:type="dcterms:W3CDTF">2025-12-11T12:59:26Z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
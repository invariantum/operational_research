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75"/>
  </p:notesMasterIdLst>
  <p:sldIdLst>
    <p:sldId id="295" r:id="rId5"/>
    <p:sldId id="403" r:id="rId6"/>
    <p:sldId id="404" r:id="rId7"/>
    <p:sldId id="413" r:id="rId8"/>
    <p:sldId id="341" r:id="rId9"/>
    <p:sldId id="406" r:id="rId10"/>
    <p:sldId id="342" r:id="rId11"/>
    <p:sldId id="420" r:id="rId12"/>
    <p:sldId id="419" r:id="rId13"/>
    <p:sldId id="368" r:id="rId14"/>
    <p:sldId id="346" r:id="rId15"/>
    <p:sldId id="354" r:id="rId16"/>
    <p:sldId id="355" r:id="rId17"/>
    <p:sldId id="356" r:id="rId18"/>
    <p:sldId id="364" r:id="rId19"/>
    <p:sldId id="357" r:id="rId20"/>
    <p:sldId id="365" r:id="rId21"/>
    <p:sldId id="361" r:id="rId22"/>
    <p:sldId id="363" r:id="rId23"/>
    <p:sldId id="415" r:id="rId24"/>
    <p:sldId id="414" r:id="rId25"/>
    <p:sldId id="416" r:id="rId26"/>
    <p:sldId id="417" r:id="rId27"/>
    <p:sldId id="369" r:id="rId28"/>
    <p:sldId id="370" r:id="rId29"/>
    <p:sldId id="371" r:id="rId30"/>
    <p:sldId id="372" r:id="rId31"/>
    <p:sldId id="418" r:id="rId32"/>
    <p:sldId id="367" r:id="rId33"/>
    <p:sldId id="373" r:id="rId34"/>
    <p:sldId id="344" r:id="rId35"/>
    <p:sldId id="409" r:id="rId36"/>
    <p:sldId id="407" r:id="rId37"/>
    <p:sldId id="410" r:id="rId38"/>
    <p:sldId id="408" r:id="rId39"/>
    <p:sldId id="359" r:id="rId40"/>
    <p:sldId id="360" r:id="rId41"/>
    <p:sldId id="411" r:id="rId42"/>
    <p:sldId id="343" r:id="rId43"/>
    <p:sldId id="374" r:id="rId44"/>
    <p:sldId id="375" r:id="rId45"/>
    <p:sldId id="376" r:id="rId46"/>
    <p:sldId id="377" r:id="rId47"/>
    <p:sldId id="378" r:id="rId48"/>
    <p:sldId id="379" r:id="rId49"/>
    <p:sldId id="380" r:id="rId50"/>
    <p:sldId id="381" r:id="rId51"/>
    <p:sldId id="383" r:id="rId52"/>
    <p:sldId id="387" r:id="rId53"/>
    <p:sldId id="386" r:id="rId54"/>
    <p:sldId id="382" r:id="rId55"/>
    <p:sldId id="384" r:id="rId56"/>
    <p:sldId id="385" r:id="rId57"/>
    <p:sldId id="388" r:id="rId58"/>
    <p:sldId id="389" r:id="rId59"/>
    <p:sldId id="412" r:id="rId60"/>
    <p:sldId id="390" r:id="rId61"/>
    <p:sldId id="392" r:id="rId62"/>
    <p:sldId id="391" r:id="rId63"/>
    <p:sldId id="393" r:id="rId64"/>
    <p:sldId id="395" r:id="rId65"/>
    <p:sldId id="394" r:id="rId66"/>
    <p:sldId id="396" r:id="rId67"/>
    <p:sldId id="397" r:id="rId68"/>
    <p:sldId id="398" r:id="rId69"/>
    <p:sldId id="399" r:id="rId70"/>
    <p:sldId id="400" r:id="rId71"/>
    <p:sldId id="401" r:id="rId72"/>
    <p:sldId id="402" r:id="rId73"/>
    <p:sldId id="405" r:id="rId74"/>
  </p:sldIdLst>
  <p:sldSz cx="12192000" cy="6858000"/>
  <p:notesSz cx="9926638" cy="6797675"/>
  <p:embeddedFontLst>
    <p:embeddedFont>
      <p:font typeface="Cambria Math" panose="02040503050406030204" pitchFamily="18" charset="0"/>
      <p:regular r:id="rId7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57" d="100"/>
          <a:sy n="57" d="100"/>
        </p:scale>
        <p:origin x="1398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font" Target="fonts/font1.fntdata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69A4C11B-66CC-4E5D-8C2D-BD961246CA8C}"/>
    <pc:docChg chg="modSld">
      <pc:chgData name="Sam O'Neill" userId="cb323814-a42a-4cfe-bc74-03f595e56f6e" providerId="ADAL" clId="{69A4C11B-66CC-4E5D-8C2D-BD961246CA8C}" dt="2025-02-21T12:00:04.735" v="0"/>
      <pc:docMkLst>
        <pc:docMk/>
      </pc:docMkLst>
      <pc:sldChg chg="addSp">
        <pc:chgData name="Sam O'Neill" userId="cb323814-a42a-4cfe-bc74-03f595e56f6e" providerId="ADAL" clId="{69A4C11B-66CC-4E5D-8C2D-BD961246CA8C}" dt="2025-02-21T12:00:04.735" v="0"/>
        <pc:sldMkLst>
          <pc:docMk/>
          <pc:sldMk cId="3681062442" sldId="342"/>
        </pc:sldMkLst>
      </pc:sldChg>
      <pc:sldChg chg="addSp">
        <pc:chgData name="Sam O'Neill" userId="cb323814-a42a-4cfe-bc74-03f595e56f6e" providerId="ADAL" clId="{69A4C11B-66CC-4E5D-8C2D-BD961246CA8C}" dt="2025-02-21T12:00:04.735" v="0"/>
        <pc:sldMkLst>
          <pc:docMk/>
          <pc:sldMk cId="217915618" sldId="359"/>
        </pc:sldMkLst>
      </pc:sldChg>
      <pc:sldChg chg="addSp">
        <pc:chgData name="Sam O'Neill" userId="cb323814-a42a-4cfe-bc74-03f595e56f6e" providerId="ADAL" clId="{69A4C11B-66CC-4E5D-8C2D-BD961246CA8C}" dt="2025-02-21T12:00:04.735" v="0"/>
        <pc:sldMkLst>
          <pc:docMk/>
          <pc:sldMk cId="3827297195" sldId="403"/>
        </pc:sldMkLst>
      </pc:sldChg>
      <pc:sldChg chg="addSp">
        <pc:chgData name="Sam O'Neill" userId="cb323814-a42a-4cfe-bc74-03f595e56f6e" providerId="ADAL" clId="{69A4C11B-66CC-4E5D-8C2D-BD961246CA8C}" dt="2025-02-21T12:00:04.735" v="0"/>
        <pc:sldMkLst>
          <pc:docMk/>
          <pc:sldMk cId="3618403521" sldId="404"/>
        </pc:sldMkLst>
      </pc:sldChg>
      <pc:sldChg chg="addSp">
        <pc:chgData name="Sam O'Neill" userId="cb323814-a42a-4cfe-bc74-03f595e56f6e" providerId="ADAL" clId="{69A4C11B-66CC-4E5D-8C2D-BD961246CA8C}" dt="2025-02-21T12:00:04.735" v="0"/>
        <pc:sldMkLst>
          <pc:docMk/>
          <pc:sldMk cId="1885576420" sldId="413"/>
        </pc:sldMkLst>
      </pc:sldChg>
      <pc:sldChg chg="addSp">
        <pc:chgData name="Sam O'Neill" userId="cb323814-a42a-4cfe-bc74-03f595e56f6e" providerId="ADAL" clId="{69A4C11B-66CC-4E5D-8C2D-BD961246CA8C}" dt="2025-02-21T12:00:04.735" v="0"/>
        <pc:sldMkLst>
          <pc:docMk/>
          <pc:sldMk cId="1625651134" sldId="419"/>
        </pc:sldMkLst>
      </pc:sldChg>
      <pc:sldChg chg="addSp">
        <pc:chgData name="Sam O'Neill" userId="cb323814-a42a-4cfe-bc74-03f595e56f6e" providerId="ADAL" clId="{69A4C11B-66CC-4E5D-8C2D-BD961246CA8C}" dt="2025-02-21T12:00:04.735" v="0"/>
        <pc:sldMkLst>
          <pc:docMk/>
          <pc:sldMk cId="2609913975" sldId="420"/>
        </pc:sldMkLst>
      </pc:sldChg>
    </pc:docChg>
  </pc:docChgLst>
  <pc:docChgLst>
    <pc:chgData name="Sam O'Neill" userId="cb323814-a42a-4cfe-bc74-03f595e56f6e" providerId="ADAL" clId="{EE38C5BB-5442-47D2-B77B-F9411AE41DC8}"/>
    <pc:docChg chg="modSld">
      <pc:chgData name="Sam O'Neill" userId="cb323814-a42a-4cfe-bc74-03f595e56f6e" providerId="ADAL" clId="{EE38C5BB-5442-47D2-B77B-F9411AE41DC8}" dt="2025-11-20T13:10:23.507" v="0" actId="33639"/>
      <pc:docMkLst>
        <pc:docMk/>
      </pc:docMkLst>
      <pc:sldChg chg="delSp mod">
        <pc:chgData name="Sam O'Neill" userId="cb323814-a42a-4cfe-bc74-03f595e56f6e" providerId="ADAL" clId="{EE38C5BB-5442-47D2-B77B-F9411AE41DC8}" dt="2025-11-20T13:10:23.507" v="0" actId="33639"/>
        <pc:sldMkLst>
          <pc:docMk/>
          <pc:sldMk cId="3681062442" sldId="342"/>
        </pc:sldMkLst>
        <pc:inkChg chg="del">
          <ac:chgData name="Sam O'Neill" userId="cb323814-a42a-4cfe-bc74-03f595e56f6e" providerId="ADAL" clId="{EE38C5BB-5442-47D2-B77B-F9411AE41DC8}" dt="2025-11-20T13:10:23.507" v="0" actId="33639"/>
          <ac:inkMkLst>
            <pc:docMk/>
            <pc:sldMk cId="3681062442" sldId="342"/>
            <ac:inkMk id="3" creationId="{079CFB08-1BB6-4232-7334-0C02ECCCA4A1}"/>
          </ac:inkMkLst>
        </pc:inkChg>
      </pc:sldChg>
      <pc:sldChg chg="delSp mod">
        <pc:chgData name="Sam O'Neill" userId="cb323814-a42a-4cfe-bc74-03f595e56f6e" providerId="ADAL" clId="{EE38C5BB-5442-47D2-B77B-F9411AE41DC8}" dt="2025-11-20T13:10:23.507" v="0" actId="33639"/>
        <pc:sldMkLst>
          <pc:docMk/>
          <pc:sldMk cId="217915618" sldId="359"/>
        </pc:sldMkLst>
        <pc:inkChg chg="del">
          <ac:chgData name="Sam O'Neill" userId="cb323814-a42a-4cfe-bc74-03f595e56f6e" providerId="ADAL" clId="{EE38C5BB-5442-47D2-B77B-F9411AE41DC8}" dt="2025-11-20T13:10:23.507" v="0" actId="33639"/>
          <ac:inkMkLst>
            <pc:docMk/>
            <pc:sldMk cId="217915618" sldId="359"/>
            <ac:inkMk id="5" creationId="{79D8A6BA-D8B5-63E9-6ABB-7C16B9A0CDA2}"/>
          </ac:inkMkLst>
        </pc:inkChg>
      </pc:sldChg>
      <pc:sldChg chg="delSp mod">
        <pc:chgData name="Sam O'Neill" userId="cb323814-a42a-4cfe-bc74-03f595e56f6e" providerId="ADAL" clId="{EE38C5BB-5442-47D2-B77B-F9411AE41DC8}" dt="2025-11-20T13:10:23.507" v="0" actId="33639"/>
        <pc:sldMkLst>
          <pc:docMk/>
          <pc:sldMk cId="3827297195" sldId="403"/>
        </pc:sldMkLst>
        <pc:inkChg chg="del">
          <ac:chgData name="Sam O'Neill" userId="cb323814-a42a-4cfe-bc74-03f595e56f6e" providerId="ADAL" clId="{EE38C5BB-5442-47D2-B77B-F9411AE41DC8}" dt="2025-11-20T13:10:23.507" v="0" actId="33639"/>
          <ac:inkMkLst>
            <pc:docMk/>
            <pc:sldMk cId="3827297195" sldId="403"/>
            <ac:inkMk id="7" creationId="{F954458F-58E0-ECB7-6947-11CBA8775498}"/>
          </ac:inkMkLst>
        </pc:inkChg>
      </pc:sldChg>
      <pc:sldChg chg="delSp mod">
        <pc:chgData name="Sam O'Neill" userId="cb323814-a42a-4cfe-bc74-03f595e56f6e" providerId="ADAL" clId="{EE38C5BB-5442-47D2-B77B-F9411AE41DC8}" dt="2025-11-20T13:10:23.507" v="0" actId="33639"/>
        <pc:sldMkLst>
          <pc:docMk/>
          <pc:sldMk cId="3618403521" sldId="404"/>
        </pc:sldMkLst>
        <pc:inkChg chg="del">
          <ac:chgData name="Sam O'Neill" userId="cb323814-a42a-4cfe-bc74-03f595e56f6e" providerId="ADAL" clId="{EE38C5BB-5442-47D2-B77B-F9411AE41DC8}" dt="2025-11-20T13:10:23.507" v="0" actId="33639"/>
          <ac:inkMkLst>
            <pc:docMk/>
            <pc:sldMk cId="3618403521" sldId="404"/>
            <ac:inkMk id="3" creationId="{C54EBAA6-EF6B-284F-AB8F-08072CFF0D09}"/>
          </ac:inkMkLst>
        </pc:inkChg>
      </pc:sldChg>
      <pc:sldChg chg="delSp mod">
        <pc:chgData name="Sam O'Neill" userId="cb323814-a42a-4cfe-bc74-03f595e56f6e" providerId="ADAL" clId="{EE38C5BB-5442-47D2-B77B-F9411AE41DC8}" dt="2025-11-20T13:10:23.507" v="0" actId="33639"/>
        <pc:sldMkLst>
          <pc:docMk/>
          <pc:sldMk cId="1885576420" sldId="413"/>
        </pc:sldMkLst>
        <pc:inkChg chg="del">
          <ac:chgData name="Sam O'Neill" userId="cb323814-a42a-4cfe-bc74-03f595e56f6e" providerId="ADAL" clId="{EE38C5BB-5442-47D2-B77B-F9411AE41DC8}" dt="2025-11-20T13:10:23.507" v="0" actId="33639"/>
          <ac:inkMkLst>
            <pc:docMk/>
            <pc:sldMk cId="1885576420" sldId="413"/>
            <ac:inkMk id="5" creationId="{6591B8CD-16AD-94DE-AEE5-861E15180C3D}"/>
          </ac:inkMkLst>
        </pc:inkChg>
      </pc:sldChg>
      <pc:sldChg chg="delSp mod">
        <pc:chgData name="Sam O'Neill" userId="cb323814-a42a-4cfe-bc74-03f595e56f6e" providerId="ADAL" clId="{EE38C5BB-5442-47D2-B77B-F9411AE41DC8}" dt="2025-11-20T13:10:23.507" v="0" actId="33639"/>
        <pc:sldMkLst>
          <pc:docMk/>
          <pc:sldMk cId="1625651134" sldId="419"/>
        </pc:sldMkLst>
        <pc:inkChg chg="del">
          <ac:chgData name="Sam O'Neill" userId="cb323814-a42a-4cfe-bc74-03f595e56f6e" providerId="ADAL" clId="{EE38C5BB-5442-47D2-B77B-F9411AE41DC8}" dt="2025-11-20T13:10:23.507" v="0" actId="33639"/>
          <ac:inkMkLst>
            <pc:docMk/>
            <pc:sldMk cId="1625651134" sldId="419"/>
            <ac:inkMk id="3" creationId="{4693BF74-EF0C-6A39-5CDF-981DE340504C}"/>
          </ac:inkMkLst>
        </pc:inkChg>
      </pc:sldChg>
      <pc:sldChg chg="delSp mod">
        <pc:chgData name="Sam O'Neill" userId="cb323814-a42a-4cfe-bc74-03f595e56f6e" providerId="ADAL" clId="{EE38C5BB-5442-47D2-B77B-F9411AE41DC8}" dt="2025-11-20T13:10:23.507" v="0" actId="33639"/>
        <pc:sldMkLst>
          <pc:docMk/>
          <pc:sldMk cId="2609913975" sldId="420"/>
        </pc:sldMkLst>
        <pc:inkChg chg="del">
          <ac:chgData name="Sam O'Neill" userId="cb323814-a42a-4cfe-bc74-03f595e56f6e" providerId="ADAL" clId="{EE38C5BB-5442-47D2-B77B-F9411AE41DC8}" dt="2025-11-20T13:10:23.507" v="0" actId="33639"/>
          <ac:inkMkLst>
            <pc:docMk/>
            <pc:sldMk cId="2609913975" sldId="420"/>
            <ac:inkMk id="3" creationId="{7AA9F8B0-72B0-7CB4-D8B5-F6ADA4880E84}"/>
          </ac:inkMkLst>
        </pc:inkChg>
      </pc:sldChg>
    </pc:docChg>
  </pc:docChgLst>
  <pc:docChgLst>
    <pc:chgData name="Sam O'Neill" userId="cb323814-a42a-4cfe-bc74-03f595e56f6e" providerId="ADAL" clId="{DA6C8784-1E95-48AF-A219-F7F18DDE7C7F}"/>
    <pc:docChg chg="modSld">
      <pc:chgData name="Sam O'Neill" userId="cb323814-a42a-4cfe-bc74-03f595e56f6e" providerId="ADAL" clId="{DA6C8784-1E95-48AF-A219-F7F18DDE7C7F}" dt="2024-02-20T14:56:13" v="0"/>
      <pc:docMkLst>
        <pc:docMk/>
      </pc:docMkLst>
      <pc:sldChg chg="addSp">
        <pc:chgData name="Sam O'Neill" userId="cb323814-a42a-4cfe-bc74-03f595e56f6e" providerId="ADAL" clId="{DA6C8784-1E95-48AF-A219-F7F18DDE7C7F}" dt="2024-02-20T14:56:13" v="0"/>
        <pc:sldMkLst>
          <pc:docMk/>
          <pc:sldMk cId="1407836991" sldId="341"/>
        </pc:sldMkLst>
      </pc:sldChg>
      <pc:sldChg chg="addSp">
        <pc:chgData name="Sam O'Neill" userId="cb323814-a42a-4cfe-bc74-03f595e56f6e" providerId="ADAL" clId="{DA6C8784-1E95-48AF-A219-F7F18DDE7C7F}" dt="2024-02-20T14:56:13" v="0"/>
        <pc:sldMkLst>
          <pc:docMk/>
          <pc:sldMk cId="3681062442" sldId="342"/>
        </pc:sldMkLst>
      </pc:sldChg>
      <pc:sldChg chg="addSp">
        <pc:chgData name="Sam O'Neill" userId="cb323814-a42a-4cfe-bc74-03f595e56f6e" providerId="ADAL" clId="{DA6C8784-1E95-48AF-A219-F7F18DDE7C7F}" dt="2024-02-20T14:56:13" v="0"/>
        <pc:sldMkLst>
          <pc:docMk/>
          <pc:sldMk cId="3428505220" sldId="344"/>
        </pc:sldMkLst>
      </pc:sldChg>
      <pc:sldChg chg="addSp">
        <pc:chgData name="Sam O'Neill" userId="cb323814-a42a-4cfe-bc74-03f595e56f6e" providerId="ADAL" clId="{DA6C8784-1E95-48AF-A219-F7F18DDE7C7F}" dt="2024-02-20T14:56:13" v="0"/>
        <pc:sldMkLst>
          <pc:docMk/>
          <pc:sldMk cId="2463789390" sldId="354"/>
        </pc:sldMkLst>
      </pc:sldChg>
      <pc:sldChg chg="addSp">
        <pc:chgData name="Sam O'Neill" userId="cb323814-a42a-4cfe-bc74-03f595e56f6e" providerId="ADAL" clId="{DA6C8784-1E95-48AF-A219-F7F18DDE7C7F}" dt="2024-02-20T14:56:13" v="0"/>
        <pc:sldMkLst>
          <pc:docMk/>
          <pc:sldMk cId="3046531695" sldId="377"/>
        </pc:sldMkLst>
      </pc:sldChg>
      <pc:sldChg chg="addSp">
        <pc:chgData name="Sam O'Neill" userId="cb323814-a42a-4cfe-bc74-03f595e56f6e" providerId="ADAL" clId="{DA6C8784-1E95-48AF-A219-F7F18DDE7C7F}" dt="2024-02-20T14:56:13" v="0"/>
        <pc:sldMkLst>
          <pc:docMk/>
          <pc:sldMk cId="3827297195" sldId="403"/>
        </pc:sldMkLst>
      </pc:sldChg>
      <pc:sldChg chg="addSp">
        <pc:chgData name="Sam O'Neill" userId="cb323814-a42a-4cfe-bc74-03f595e56f6e" providerId="ADAL" clId="{DA6C8784-1E95-48AF-A219-F7F18DDE7C7F}" dt="2024-02-20T14:56:13" v="0"/>
        <pc:sldMkLst>
          <pc:docMk/>
          <pc:sldMk cId="3618403521" sldId="404"/>
        </pc:sldMkLst>
      </pc:sldChg>
      <pc:sldChg chg="addSp">
        <pc:chgData name="Sam O'Neill" userId="cb323814-a42a-4cfe-bc74-03f595e56f6e" providerId="ADAL" clId="{DA6C8784-1E95-48AF-A219-F7F18DDE7C7F}" dt="2024-02-20T14:56:13" v="0"/>
        <pc:sldMkLst>
          <pc:docMk/>
          <pc:sldMk cId="1885576420" sldId="413"/>
        </pc:sldMkLst>
      </pc:sldChg>
      <pc:sldChg chg="addSp">
        <pc:chgData name="Sam O'Neill" userId="cb323814-a42a-4cfe-bc74-03f595e56f6e" providerId="ADAL" clId="{DA6C8784-1E95-48AF-A219-F7F18DDE7C7F}" dt="2024-02-20T14:56:13" v="0"/>
        <pc:sldMkLst>
          <pc:docMk/>
          <pc:sldMk cId="1625651134" sldId="419"/>
        </pc:sldMkLst>
      </pc:sldChg>
      <pc:sldChg chg="addSp">
        <pc:chgData name="Sam O'Neill" userId="cb323814-a42a-4cfe-bc74-03f595e56f6e" providerId="ADAL" clId="{DA6C8784-1E95-48AF-A219-F7F18DDE7C7F}" dt="2024-02-20T14:56:13" v="0"/>
        <pc:sldMkLst>
          <pc:docMk/>
          <pc:sldMk cId="2609913975" sldId="420"/>
        </pc:sldMkLst>
      </pc:sldChg>
    </pc:docChg>
  </pc:docChgLst>
  <pc:docChgLst>
    <pc:chgData name="Sam O'Neill" userId="cb323814-a42a-4cfe-bc74-03f595e56f6e" providerId="ADAL" clId="{12772732-889D-4257-86E1-CB3A3475D479}"/>
    <pc:docChg chg="modSld">
      <pc:chgData name="Sam O'Neill" userId="cb323814-a42a-4cfe-bc74-03f595e56f6e" providerId="ADAL" clId="{12772732-889D-4257-86E1-CB3A3475D479}" dt="2025-02-21T10:33:19.521" v="1" actId="20577"/>
      <pc:docMkLst>
        <pc:docMk/>
      </pc:docMkLst>
      <pc:sldChg chg="delSp modSp mod">
        <pc:chgData name="Sam O'Neill" userId="cb323814-a42a-4cfe-bc74-03f595e56f6e" providerId="ADAL" clId="{12772732-889D-4257-86E1-CB3A3475D479}" dt="2025-02-21T10:33:19.521" v="1" actId="20577"/>
        <pc:sldMkLst>
          <pc:docMk/>
          <pc:sldMk cId="1407836991" sldId="341"/>
        </pc:sldMkLst>
      </pc:sldChg>
      <pc:sldChg chg="delSp mod">
        <pc:chgData name="Sam O'Neill" userId="cb323814-a42a-4cfe-bc74-03f595e56f6e" providerId="ADAL" clId="{12772732-889D-4257-86E1-CB3A3475D479}" dt="2025-02-21T10:33:04.294" v="0" actId="33639"/>
        <pc:sldMkLst>
          <pc:docMk/>
          <pc:sldMk cId="3681062442" sldId="342"/>
        </pc:sldMkLst>
      </pc:sldChg>
      <pc:sldChg chg="delSp mod">
        <pc:chgData name="Sam O'Neill" userId="cb323814-a42a-4cfe-bc74-03f595e56f6e" providerId="ADAL" clId="{12772732-889D-4257-86E1-CB3A3475D479}" dt="2025-02-21T10:33:04.294" v="0" actId="33639"/>
        <pc:sldMkLst>
          <pc:docMk/>
          <pc:sldMk cId="3428505220" sldId="344"/>
        </pc:sldMkLst>
      </pc:sldChg>
      <pc:sldChg chg="delSp mod">
        <pc:chgData name="Sam O'Neill" userId="cb323814-a42a-4cfe-bc74-03f595e56f6e" providerId="ADAL" clId="{12772732-889D-4257-86E1-CB3A3475D479}" dt="2025-02-21T10:33:04.294" v="0" actId="33639"/>
        <pc:sldMkLst>
          <pc:docMk/>
          <pc:sldMk cId="2463789390" sldId="354"/>
        </pc:sldMkLst>
      </pc:sldChg>
      <pc:sldChg chg="delSp mod">
        <pc:chgData name="Sam O'Neill" userId="cb323814-a42a-4cfe-bc74-03f595e56f6e" providerId="ADAL" clId="{12772732-889D-4257-86E1-CB3A3475D479}" dt="2025-02-21T10:33:04.294" v="0" actId="33639"/>
        <pc:sldMkLst>
          <pc:docMk/>
          <pc:sldMk cId="3046531695" sldId="377"/>
        </pc:sldMkLst>
      </pc:sldChg>
      <pc:sldChg chg="delSp mod">
        <pc:chgData name="Sam O'Neill" userId="cb323814-a42a-4cfe-bc74-03f595e56f6e" providerId="ADAL" clId="{12772732-889D-4257-86E1-CB3A3475D479}" dt="2025-02-21T10:33:04.294" v="0" actId="33639"/>
        <pc:sldMkLst>
          <pc:docMk/>
          <pc:sldMk cId="3827297195" sldId="403"/>
        </pc:sldMkLst>
      </pc:sldChg>
      <pc:sldChg chg="delSp mod">
        <pc:chgData name="Sam O'Neill" userId="cb323814-a42a-4cfe-bc74-03f595e56f6e" providerId="ADAL" clId="{12772732-889D-4257-86E1-CB3A3475D479}" dt="2025-02-21T10:33:04.294" v="0" actId="33639"/>
        <pc:sldMkLst>
          <pc:docMk/>
          <pc:sldMk cId="3618403521" sldId="404"/>
        </pc:sldMkLst>
      </pc:sldChg>
      <pc:sldChg chg="delSp mod">
        <pc:chgData name="Sam O'Neill" userId="cb323814-a42a-4cfe-bc74-03f595e56f6e" providerId="ADAL" clId="{12772732-889D-4257-86E1-CB3A3475D479}" dt="2025-02-21T10:33:04.294" v="0" actId="33639"/>
        <pc:sldMkLst>
          <pc:docMk/>
          <pc:sldMk cId="1885576420" sldId="413"/>
        </pc:sldMkLst>
      </pc:sldChg>
      <pc:sldChg chg="delSp mod">
        <pc:chgData name="Sam O'Neill" userId="cb323814-a42a-4cfe-bc74-03f595e56f6e" providerId="ADAL" clId="{12772732-889D-4257-86E1-CB3A3475D479}" dt="2025-02-21T10:33:04.294" v="0" actId="33639"/>
        <pc:sldMkLst>
          <pc:docMk/>
          <pc:sldMk cId="1625651134" sldId="419"/>
        </pc:sldMkLst>
      </pc:sldChg>
      <pc:sldChg chg="delSp mod">
        <pc:chgData name="Sam O'Neill" userId="cb323814-a42a-4cfe-bc74-03f595e56f6e" providerId="ADAL" clId="{12772732-889D-4257-86E1-CB3A3475D479}" dt="2025-02-21T10:33:04.294" v="0" actId="33639"/>
        <pc:sldMkLst>
          <pc:docMk/>
          <pc:sldMk cId="2609913975" sldId="42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ECF253-E163-4161-8EA5-8285F46DBEDA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50900"/>
            <a:ext cx="4075112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C4828-DA6D-44CC-95C4-2BBE7200A2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930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2C4828-DA6D-44CC-95C4-2BBE7200A283}" type="slidenum">
              <a:rPr lang="en-GB" smtClean="0"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8803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BBAC1-2D9D-438C-84FD-5677FB201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D2278A-87EE-4087-BA9C-1A154C61C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11740-48CC-4B20-9618-94656899C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E45EF-1488-4E98-8F1B-3F4788AC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B6FCC-0BC2-4AA4-925B-22D3EF2D8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797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7EFA-FACA-468A-B2A7-2E32FD0B9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02430-43F1-4C28-BE1C-28ED37EE7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BB0AA-51D3-4839-A908-7015E2EFF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C416D-0726-4084-B6F6-452A521AF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677A2-00AB-4338-8691-A71099F2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39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5ED08-8FF7-4847-92F6-6DF83E4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1DE87-CB76-4E70-AECB-9CBE3F302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1CDAD-5A24-4E23-A4A4-0BE4EE23C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82401-4EE4-4C50-BED8-58196B379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306CF-8C34-4765-AF17-57F5E452A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01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B6DC1-2D4C-4500-A124-3A2178B42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70328-3EAB-407A-BC9A-67303094D4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10CF3-44D5-426B-90EA-C3216942E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800DC-C93C-49EB-B420-A7C8AD13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42C8C-018B-4C45-BF70-2979A191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6DF55-225F-4BDE-BA17-DD5E62A2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361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8F6E-783B-419D-8F7A-1EE4DB2F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FF0B8-F056-4E7E-96D0-CFC881A80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CB7B8-D30F-432A-A39F-D2824661A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D116FF-A0B3-48D2-A545-15D737D03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53AA2-3036-4360-B9B2-BFD386DB6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757EF-E8E3-4492-A3C9-A83CE780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87707-4C6F-4EF0-93C1-82BE22E8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76A2F-BA81-404B-9F96-2E208657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45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0136-FC6F-49F7-B359-BF7D0864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8460E-A6D9-4EA4-8CD9-79B728F7B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E9CEA-31CF-495F-BF82-1B4015A1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C68A0-EE84-4811-A17B-F2B5C415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132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83A0D1-DFE6-4040-807F-A93930F0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175EF-2BEA-46E1-8408-918366AC7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15D81-516E-4FBF-B580-FFD158DF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6881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555A-2F2B-4172-B1F4-AB4425A72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83D13-EE9C-4E69-A844-8F30111F3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D11B3-CD25-4C10-90FA-CDFC2010B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23933-0DD6-4845-AC19-36722E87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B2963-B911-4CBA-9CE0-BA9B6C0CF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9A3CC0-592A-49FC-87EC-1F3156F2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11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5835-588D-4F39-814A-E404E353B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9445E-A078-4E35-A97B-9EA7C9974A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D55AA-1343-4DA0-A1A1-C8031518B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BE6E0-6DE4-43F8-8D0C-02419D43C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F1EF2-7817-4456-8AE3-85AA5F05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0F326-DBF6-4284-ACAC-626F7579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133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0DE9-F1A0-46B8-AFDA-AB87D705A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C441D-4127-4ED9-833F-CD2D839F5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3F0E1-708B-4A1D-8674-AF136F1A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81D14-2BA8-4E09-BF3E-21B3C55D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5FBFF-6587-4941-B27A-D8ACF8D5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90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283187-306D-41AF-8D48-1F019C832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50706-0F3D-4D07-97D7-5B4C39D95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5F43-656E-4D61-B3A3-E658893D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039F1-953F-4A39-846E-4A181A4AE2B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82740-B97C-41EF-A674-99F8FF99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CC395-1B08-44ED-BE5A-AD003262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30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A06B44-7335-44F0-B60B-F8039489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C67D6-82BB-4E0E-8D6F-ECCAFEC54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35D0A-85B9-4327-B0DD-1D2A4FC64E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039F1-953F-4A39-846E-4A181A4AE2B1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A259C-4727-433D-9628-60CAD2695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CC516-E88A-4038-AA89-4BF3F93C3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2DA03-7716-40DA-A4AB-15144CA6739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818377,&quot;Placement&quot;:&quot;Footer&quot;}">
            <a:extLst>
              <a:ext uri="{FF2B5EF4-FFF2-40B4-BE49-F238E27FC236}">
                <a16:creationId xmlns:a16="http://schemas.microsoft.com/office/drawing/2014/main" id="{64B23A5A-228F-4E95-8C6A-4486B3D720E7}"/>
              </a:ext>
            </a:extLst>
          </p:cNvPr>
          <p:cNvSpPr txBox="1"/>
          <p:nvPr userDrawn="1"/>
        </p:nvSpPr>
        <p:spPr>
          <a:xfrm>
            <a:off x="0" y="6561475"/>
            <a:ext cx="1522472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2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323187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7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FAE2FC-4E79-40C1-83A3-9CF810DEFD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Networks</a:t>
            </a:r>
            <a:br>
              <a:rPr lang="en-GB" dirty="0"/>
            </a:br>
            <a:r>
              <a:rPr lang="en-GB" sz="3200" dirty="0"/>
              <a:t>Shortest Paths and Minimum Spanning Tree (MST) </a:t>
            </a:r>
            <a:endParaRPr lang="en-GB" sz="36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D95BC4D-9CA5-4392-86C2-A92F9422D9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1393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Directed graph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GB" dirty="0"/>
                  <a:t> is a set of edges, subset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GB" dirty="0"/>
                  <a:t>, and a weight function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7FAFD4B-9CFD-49AD-A16E-75C03A7CA35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62707" y="2529672"/>
            <a:ext cx="4057092" cy="17986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B761916-2BAC-45BC-B3E5-80EF7E36B0CD}"/>
                  </a:ext>
                </a:extLst>
              </p:cNvPr>
              <p:cNvSpPr txBox="1"/>
              <p:nvPr/>
            </p:nvSpPr>
            <p:spPr>
              <a:xfrm>
                <a:off x="544071" y="4975364"/>
                <a:ext cx="477348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1,2,3,4,5</m:t>
                        </m:r>
                      </m:e>
                    </m:d>
                  </m:oMath>
                </a14:m>
                <a:r>
                  <a:rPr lang="en-GB" b="0" dirty="0"/>
                  <a:t> </a:t>
                </a:r>
                <a:br>
                  <a:rPr lang="en-GB" b="0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1,3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2,3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3,4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3,5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4,2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4,5</m:t>
                        </m:r>
                      </m:e>
                    </m:d>
                  </m:oMath>
                </a14:m>
                <a:r>
                  <a:rPr lang="en-GB" dirty="0"/>
                  <a:t>}</a:t>
                </a:r>
              </a:p>
              <a:p>
                <a:endParaRPr lang="en-GB" dirty="0"/>
              </a:p>
              <a:p>
                <a:r>
                  <a:rPr lang="en-GB" dirty="0"/>
                  <a:t>e.g.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B761916-2BAC-45BC-B3E5-80EF7E36B0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071" y="4975364"/>
                <a:ext cx="4773486" cy="1200329"/>
              </a:xfrm>
              <a:prstGeom prst="rect">
                <a:avLst/>
              </a:prstGeom>
              <a:blipFill>
                <a:blip r:embed="rId4"/>
                <a:stretch>
                  <a:fillRect l="-1022" r="-255" b="-7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3DC63CC-BFAA-4169-A712-8AA96BA724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7819" y="2562068"/>
            <a:ext cx="3236616" cy="21726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635B2A-9A32-4318-B773-41DA385318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5384" y="2588767"/>
            <a:ext cx="3236616" cy="2119213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99C8BD9-F155-4DA4-9344-6C50001ED5BF}"/>
              </a:ext>
            </a:extLst>
          </p:cNvPr>
          <p:cNvCxnSpPr/>
          <p:nvPr/>
        </p:nvCxnSpPr>
        <p:spPr>
          <a:xfrm>
            <a:off x="8179358" y="4594198"/>
            <a:ext cx="123594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EE73689-5315-4B2F-A5A8-6026BE953547}"/>
                  </a:ext>
                </a:extLst>
              </p:cNvPr>
              <p:cNvSpPr txBox="1"/>
              <p:nvPr/>
            </p:nvSpPr>
            <p:spPr>
              <a:xfrm>
                <a:off x="8876145" y="5252363"/>
                <a:ext cx="422679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1,2,3,4</m:t>
                        </m:r>
                      </m:e>
                    </m:d>
                  </m:oMath>
                </a14:m>
                <a:r>
                  <a:rPr lang="en-GB" b="0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1,3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3,4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4,2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,(4,3)</m:t>
                    </m:r>
                  </m:oMath>
                </a14:m>
                <a:r>
                  <a:rPr lang="en-GB" dirty="0"/>
                  <a:t>}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EE73689-5315-4B2F-A5A8-6026BE953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6145" y="5252363"/>
                <a:ext cx="4226791" cy="1200329"/>
              </a:xfrm>
              <a:prstGeom prst="rect">
                <a:avLst/>
              </a:prstGeom>
              <a:blipFill>
                <a:blip r:embed="rId7"/>
                <a:stretch>
                  <a:fillRect b="-7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A14E26-3A55-4727-BF46-EDB0E5B2AFCF}"/>
                  </a:ext>
                </a:extLst>
              </p:cNvPr>
              <p:cNvSpPr txBox="1"/>
              <p:nvPr/>
            </p:nvSpPr>
            <p:spPr>
              <a:xfrm>
                <a:off x="5888182" y="5246472"/>
                <a:ext cx="422679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1,2,3,4</m:t>
                        </m:r>
                      </m:e>
                    </m:d>
                  </m:oMath>
                </a14:m>
                <a:r>
                  <a:rPr lang="en-GB" b="0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1,3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GB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3,4</m:t>
                        </m:r>
                      </m:e>
                    </m:d>
                  </m:oMath>
                </a14:m>
                <a:r>
                  <a:rPr lang="en-GB" dirty="0"/>
                  <a:t>}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A14E26-3A55-4727-BF46-EDB0E5B2A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8182" y="5246472"/>
                <a:ext cx="4226791" cy="923330"/>
              </a:xfrm>
              <a:prstGeom prst="rect">
                <a:avLst/>
              </a:prstGeom>
              <a:blipFill>
                <a:blip r:embed="rId8"/>
                <a:stretch>
                  <a:fillRect b="-99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F3E0CB3-B08D-4A97-B3DF-E43A2709D330}"/>
              </a:ext>
            </a:extLst>
          </p:cNvPr>
          <p:cNvCxnSpPr/>
          <p:nvPr/>
        </p:nvCxnSpPr>
        <p:spPr>
          <a:xfrm>
            <a:off x="8094702" y="6584634"/>
            <a:ext cx="123594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7297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Note we do not allow multiple edges between vertices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GB" dirty="0"/>
                  <a:t>, otherwise the edge weight would not be well defined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8C0D0186-BE01-4425-B56D-CD2E29BAD5C7}"/>
              </a:ext>
            </a:extLst>
          </p:cNvPr>
          <p:cNvSpPr/>
          <p:nvPr/>
        </p:nvSpPr>
        <p:spPr>
          <a:xfrm>
            <a:off x="1132698" y="4136588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454804A-58C7-4B2E-84D2-0E9328872A15}"/>
              </a:ext>
            </a:extLst>
          </p:cNvPr>
          <p:cNvSpPr/>
          <p:nvPr/>
        </p:nvSpPr>
        <p:spPr>
          <a:xfrm>
            <a:off x="3201455" y="3031435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A6A8354-C3EA-4434-97BD-DCA7359F5FBC}"/>
              </a:ext>
            </a:extLst>
          </p:cNvPr>
          <p:cNvCxnSpPr>
            <a:cxnSpLocks/>
            <a:stCxn id="11" idx="7"/>
            <a:endCxn id="12" idx="2"/>
          </p:cNvCxnSpPr>
          <p:nvPr/>
        </p:nvCxnSpPr>
        <p:spPr>
          <a:xfrm flipV="1">
            <a:off x="1811384" y="3429000"/>
            <a:ext cx="1390071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E208F43-710F-45F5-8C00-6A8E9D58D97A}"/>
              </a:ext>
            </a:extLst>
          </p:cNvPr>
          <p:cNvCxnSpPr>
            <a:cxnSpLocks/>
            <a:stCxn id="11" idx="6"/>
            <a:endCxn id="12" idx="3"/>
          </p:cNvCxnSpPr>
          <p:nvPr/>
        </p:nvCxnSpPr>
        <p:spPr>
          <a:xfrm flipV="1">
            <a:off x="1927828" y="3710121"/>
            <a:ext cx="1390071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792683DC-E352-42DA-B997-798FF3B92CF7}"/>
              </a:ext>
            </a:extLst>
          </p:cNvPr>
          <p:cNvSpPr/>
          <p:nvPr/>
        </p:nvSpPr>
        <p:spPr>
          <a:xfrm>
            <a:off x="6528362" y="3312556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79B3F9E-DDD7-4A5C-A8C6-9063B5C35D6A}"/>
              </a:ext>
            </a:extLst>
          </p:cNvPr>
          <p:cNvSpPr/>
          <p:nvPr/>
        </p:nvSpPr>
        <p:spPr>
          <a:xfrm>
            <a:off x="8597119" y="2207403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9DC45F9-FABD-4EEF-BB5E-C1D9ECE04ABA}"/>
              </a:ext>
            </a:extLst>
          </p:cNvPr>
          <p:cNvCxnSpPr>
            <a:cxnSpLocks/>
            <a:stCxn id="16" idx="7"/>
            <a:endCxn id="17" idx="2"/>
          </p:cNvCxnSpPr>
          <p:nvPr/>
        </p:nvCxnSpPr>
        <p:spPr>
          <a:xfrm flipV="1">
            <a:off x="7207048" y="2604968"/>
            <a:ext cx="1390071" cy="824032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809ACCB-2A73-4BA7-8838-5DE4D1FC4C84}"/>
              </a:ext>
            </a:extLst>
          </p:cNvPr>
          <p:cNvCxnSpPr>
            <a:cxnSpLocks/>
            <a:stCxn id="16" idx="6"/>
            <a:endCxn id="20" idx="2"/>
          </p:cNvCxnSpPr>
          <p:nvPr/>
        </p:nvCxnSpPr>
        <p:spPr>
          <a:xfrm>
            <a:off x="7323492" y="3710121"/>
            <a:ext cx="822459" cy="476173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76AA51DF-B52C-4A92-9224-9AD8FC35AA38}"/>
              </a:ext>
            </a:extLst>
          </p:cNvPr>
          <p:cNvSpPr/>
          <p:nvPr/>
        </p:nvSpPr>
        <p:spPr>
          <a:xfrm>
            <a:off x="8145951" y="3788729"/>
            <a:ext cx="795130" cy="795130"/>
          </a:xfrm>
          <a:prstGeom prst="ellips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5568801-518F-4FE4-80AA-075FC0A96BB1}"/>
              </a:ext>
            </a:extLst>
          </p:cNvPr>
          <p:cNvCxnSpPr>
            <a:cxnSpLocks/>
            <a:stCxn id="20" idx="7"/>
            <a:endCxn id="17" idx="4"/>
          </p:cNvCxnSpPr>
          <p:nvPr/>
        </p:nvCxnSpPr>
        <p:spPr>
          <a:xfrm flipV="1">
            <a:off x="8824637" y="3002533"/>
            <a:ext cx="170047" cy="90264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3377B27-B266-4CE8-A51A-EA13DF2B6CE1}"/>
              </a:ext>
            </a:extLst>
          </p:cNvPr>
          <p:cNvSpPr txBox="1"/>
          <p:nvPr/>
        </p:nvSpPr>
        <p:spPr>
          <a:xfrm>
            <a:off x="2149197" y="3471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A7E3A1-A90E-4BB1-80A3-A7B9363F27B7}"/>
              </a:ext>
            </a:extLst>
          </p:cNvPr>
          <p:cNvSpPr txBox="1"/>
          <p:nvPr/>
        </p:nvSpPr>
        <p:spPr>
          <a:xfrm>
            <a:off x="2506419" y="42254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9D99BD4-4179-4A7B-A25C-5E5F052D1814}"/>
                  </a:ext>
                </a:extLst>
              </p:cNvPr>
              <p:cNvSpPr/>
              <p:nvPr/>
            </p:nvSpPr>
            <p:spPr>
              <a:xfrm>
                <a:off x="1142841" y="5241741"/>
                <a:ext cx="30288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dirty="0"/>
                  <a:t>What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(1,2)</m:t>
                    </m:r>
                  </m:oMath>
                </a14:m>
                <a:r>
                  <a:rPr lang="en-GB" dirty="0"/>
                  <a:t>?</a:t>
                </a: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9D99BD4-4179-4A7B-A25C-5E5F052D18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841" y="5241741"/>
                <a:ext cx="3028842" cy="369332"/>
              </a:xfrm>
              <a:prstGeom prst="rect">
                <a:avLst/>
              </a:prstGeom>
              <a:blipFill>
                <a:blip r:embed="rId3"/>
                <a:stretch>
                  <a:fillRect l="-1610" t="-10000" r="-805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6CD87E53-62A1-4C56-8F11-F37F1BA96693}"/>
              </a:ext>
            </a:extLst>
          </p:cNvPr>
          <p:cNvSpPr txBox="1"/>
          <p:nvPr/>
        </p:nvSpPr>
        <p:spPr>
          <a:xfrm>
            <a:off x="7507134" y="258132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4485FA-87C7-4D1E-BB8A-F4A1E7F603DA}"/>
              </a:ext>
            </a:extLst>
          </p:cNvPr>
          <p:cNvSpPr txBox="1"/>
          <p:nvPr/>
        </p:nvSpPr>
        <p:spPr>
          <a:xfrm>
            <a:off x="7570214" y="409808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6D130B-D0AD-483E-8042-401CCDCAB656}"/>
              </a:ext>
            </a:extLst>
          </p:cNvPr>
          <p:cNvSpPr txBox="1"/>
          <p:nvPr/>
        </p:nvSpPr>
        <p:spPr>
          <a:xfrm>
            <a:off x="9023823" y="34067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D4D97DE5-401A-4F85-9674-1F45B437F1E3}"/>
                  </a:ext>
                </a:extLst>
              </p:cNvPr>
              <p:cNvSpPr/>
              <p:nvPr/>
            </p:nvSpPr>
            <p:spPr>
              <a:xfrm>
                <a:off x="6741448" y="5185389"/>
                <a:ext cx="3304238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dirty="0"/>
                  <a:t>What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(1,2)</m:t>
                    </m:r>
                  </m:oMath>
                </a14:m>
                <a:r>
                  <a:rPr lang="en-GB" dirty="0"/>
                  <a:t>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Alternative path from 1-2 is 1-3-2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1,3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3,2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=4+0=4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D4D97DE5-401A-4F85-9674-1F45B437F1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1448" y="5185389"/>
                <a:ext cx="3304238" cy="1200329"/>
              </a:xfrm>
              <a:prstGeom prst="rect">
                <a:avLst/>
              </a:prstGeom>
              <a:blipFill>
                <a:blip r:embed="rId4"/>
                <a:stretch>
                  <a:fillRect l="-1661" t="-3046" r="-7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8403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Adjacency Matrix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293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We won’t have direct use for this, but it is worth noting!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FAFD4B-9CFD-49AD-A16E-75C03A7CA35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62707" y="2529672"/>
            <a:ext cx="4057092" cy="17986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4EB33BA-654B-4BD0-B723-A0A780A0F691}"/>
                  </a:ext>
                </a:extLst>
              </p:cNvPr>
              <p:cNvSpPr txBox="1"/>
              <p:nvPr/>
            </p:nvSpPr>
            <p:spPr>
              <a:xfrm>
                <a:off x="255754" y="4789339"/>
                <a:ext cx="2541337" cy="12612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4EB33BA-654B-4BD0-B723-A0A780A0F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54" y="4789339"/>
                <a:ext cx="2541337" cy="12612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670442C-26B4-4872-9524-F6B0F68B34DA}"/>
                  </a:ext>
                </a:extLst>
              </p:cNvPr>
              <p:cNvSpPr txBox="1"/>
              <p:nvPr/>
            </p:nvSpPr>
            <p:spPr>
              <a:xfrm>
                <a:off x="3169085" y="4797827"/>
                <a:ext cx="2562175" cy="12612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670442C-26B4-4872-9524-F6B0F68B34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085" y="4797827"/>
                <a:ext cx="2562175" cy="12612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B3B6B8D7-D972-4F67-88F7-C5564FF9BA4F}"/>
              </a:ext>
            </a:extLst>
          </p:cNvPr>
          <p:cNvSpPr/>
          <p:nvPr/>
        </p:nvSpPr>
        <p:spPr>
          <a:xfrm>
            <a:off x="2688487" y="5197617"/>
            <a:ext cx="5661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OR</a:t>
            </a:r>
            <a:endParaRPr lang="en-GB" sz="3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A965B5-6080-41BF-8548-82A7F1DB15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0741" y="2209542"/>
            <a:ext cx="4057092" cy="22124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95F85D1-5572-458A-9945-CEBAC3712A3A}"/>
                  </a:ext>
                </a:extLst>
              </p:cNvPr>
              <p:cNvSpPr txBox="1"/>
              <p:nvPr/>
            </p:nvSpPr>
            <p:spPr>
              <a:xfrm>
                <a:off x="6103254" y="4743211"/>
                <a:ext cx="2709652" cy="14652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95F85D1-5572-458A-9945-CEBAC3712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254" y="4743211"/>
                <a:ext cx="2709652" cy="14652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27">
            <a:extLst>
              <a:ext uri="{FF2B5EF4-FFF2-40B4-BE49-F238E27FC236}">
                <a16:creationId xmlns:a16="http://schemas.microsoft.com/office/drawing/2014/main" id="{EF915CB7-9186-433B-8F28-16263D580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8407" y="2258826"/>
            <a:ext cx="34176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100" b="1" dirty="0"/>
              <a:t>11</a:t>
            </a:r>
            <a:endParaRPr lang="en-US" sz="105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A6EE330-C0BB-4B5A-9056-F3B11DA4D755}"/>
                  </a:ext>
                </a:extLst>
              </p:cNvPr>
              <p:cNvSpPr txBox="1"/>
              <p:nvPr/>
            </p:nvSpPr>
            <p:spPr>
              <a:xfrm>
                <a:off x="9037423" y="4760816"/>
                <a:ext cx="2736903" cy="14652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  <m:e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A6EE330-C0BB-4B5A-9056-F3B11DA4D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7423" y="4760816"/>
                <a:ext cx="2736903" cy="14652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7015A5DB-B492-4FDD-B9A8-C1F4442ECD2F}"/>
              </a:ext>
            </a:extLst>
          </p:cNvPr>
          <p:cNvSpPr/>
          <p:nvPr/>
        </p:nvSpPr>
        <p:spPr>
          <a:xfrm>
            <a:off x="8645542" y="5205641"/>
            <a:ext cx="5661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OR</a:t>
            </a:r>
            <a:endParaRPr lang="en-GB" sz="3200" b="1" dirty="0"/>
          </a:p>
        </p:txBody>
      </p:sp>
    </p:spTree>
    <p:extLst>
      <p:ext uri="{BB962C8B-B14F-4D97-AF65-F5344CB8AC3E}">
        <p14:creationId xmlns:p14="http://schemas.microsoft.com/office/powerpoint/2010/main" val="1885576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Shortest Path Problem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dirty="0"/>
              <a:t>Definition: </a:t>
            </a:r>
            <a:r>
              <a:rPr lang="en-GB" dirty="0"/>
              <a:t>Find the shortest path between two vertices (source and destination) such that the sum of the weights of its edges is minimised.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Perhaps one of the most fundamental problems in Mathematics and Computer Science</a:t>
            </a:r>
          </a:p>
          <a:p>
            <a:endParaRPr lang="en-GB" dirty="0"/>
          </a:p>
          <a:p>
            <a:r>
              <a:rPr lang="en-GB" dirty="0"/>
              <a:t>Huge implications on routing and traffic problems, e.g. vehicular, telecommunications.</a:t>
            </a:r>
          </a:p>
          <a:p>
            <a:endParaRPr lang="en-GB" dirty="0"/>
          </a:p>
          <a:p>
            <a:r>
              <a:rPr lang="en-GB" dirty="0"/>
              <a:t>If you’ve used Google Maps, you’ve asked to solve a form of shortest path problem!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7836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Blue Peter Example</a:t>
            </a:r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1277053C-1C77-47D5-9D73-8AC8B493B3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88221" y="2046565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558DD06D-5682-4DCA-BB1C-8A2169C4BF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6359" y="3300438"/>
            <a:ext cx="1310923" cy="89429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862BC241-2E65-432D-A93A-0EF34F7427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60744" y="2144847"/>
            <a:ext cx="0" cy="216222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8">
            <a:extLst>
              <a:ext uri="{FF2B5EF4-FFF2-40B4-BE49-F238E27FC236}">
                <a16:creationId xmlns:a16="http://schemas.microsoft.com/office/drawing/2014/main" id="{CD8E18F3-D803-46EE-BBB6-27F6FD24757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0744" y="194828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E824E5C9-3B3E-43B4-9B77-2BF897678EBF}"/>
              </a:ext>
            </a:extLst>
          </p:cNvPr>
          <p:cNvSpPr>
            <a:spLocks noChangeShapeType="1"/>
          </p:cNvSpPr>
          <p:nvPr/>
        </p:nvSpPr>
        <p:spPr bwMode="auto">
          <a:xfrm>
            <a:off x="4862461" y="1849999"/>
            <a:ext cx="2253127" cy="226050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BE22ED85-0FD4-44F1-A51D-9EE147E8FE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21246" y="3300439"/>
            <a:ext cx="1444377" cy="10066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0A508D9D-201C-4CC4-8C36-F61A62E5C52A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1247" y="1948283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2">
            <a:extLst>
              <a:ext uri="{FF2B5EF4-FFF2-40B4-BE49-F238E27FC236}">
                <a16:creationId xmlns:a16="http://schemas.microsoft.com/office/drawing/2014/main" id="{2C65BF83-16FB-4216-9E01-055D9D76DE3D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1247" y="1948282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B8045ED7-56AA-498A-8032-F2934F6F9C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57310" y="420878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976DBA11-59E8-44B2-AE02-35C0A7B13F5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0744" y="4405350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148FD12-8A46-4DB5-BBF8-BD752C008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1655" y="293110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0178830-CF85-42A3-AE0F-231B3D78A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4179" y="1751717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4DC95B7-D929-49D5-99F5-BA0CD4B71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4179" y="4110502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2D67BB1-1F39-4211-B67F-3BED51CBD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4681" y="4110502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992293F-207B-4243-AE8A-26661E5EC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4681" y="1751717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C755E21-A47A-421D-B8B8-5C2E0544A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7205" y="293110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2" name="Text Box 21">
            <a:extLst>
              <a:ext uri="{FF2B5EF4-FFF2-40B4-BE49-F238E27FC236}">
                <a16:creationId xmlns:a16="http://schemas.microsoft.com/office/drawing/2014/main" id="{D52B8633-C4A9-44C8-AE97-CAA7B5C616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9634" y="2144847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3" name="Text Box 22">
            <a:extLst>
              <a:ext uri="{FF2B5EF4-FFF2-40B4-BE49-F238E27FC236}">
                <a16:creationId xmlns:a16="http://schemas.microsoft.com/office/drawing/2014/main" id="{BA95EBC5-C409-4945-BAB6-7F4E2D705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112" y="37329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4" name="Text Box 23">
            <a:extLst>
              <a:ext uri="{FF2B5EF4-FFF2-40B4-BE49-F238E27FC236}">
                <a16:creationId xmlns:a16="http://schemas.microsoft.com/office/drawing/2014/main" id="{7D1BEAF0-5D36-4B03-B6C9-25E15504A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7613" y="283282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5" name="Text Box 24">
            <a:extLst>
              <a:ext uri="{FF2B5EF4-FFF2-40B4-BE49-F238E27FC236}">
                <a16:creationId xmlns:a16="http://schemas.microsoft.com/office/drawing/2014/main" id="{38DC88EB-6274-4225-A33A-99C42037E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571" y="2636261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6" name="Text Box 25">
            <a:extLst>
              <a:ext uri="{FF2B5EF4-FFF2-40B4-BE49-F238E27FC236}">
                <a16:creationId xmlns:a16="http://schemas.microsoft.com/office/drawing/2014/main" id="{A736FF34-42C3-4BB0-864C-897BCCB85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0335" y="382540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7" name="Text Box 26">
            <a:extLst>
              <a:ext uri="{FF2B5EF4-FFF2-40B4-BE49-F238E27FC236}">
                <a16:creationId xmlns:a16="http://schemas.microsoft.com/office/drawing/2014/main" id="{8932D273-2806-4CBD-87C9-53A1321296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0335" y="4406671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8" name="Text Box 28">
            <a:extLst>
              <a:ext uri="{FF2B5EF4-FFF2-40B4-BE49-F238E27FC236}">
                <a16:creationId xmlns:a16="http://schemas.microsoft.com/office/drawing/2014/main" id="{B41A78B9-2F46-40AB-BF4A-6FDC6B19A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1247" y="283282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3212B0F0-27D6-4DCB-968B-6341ABE84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2947" y="2080415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30" name="Text Box 30">
            <a:extLst>
              <a:ext uri="{FF2B5EF4-FFF2-40B4-BE49-F238E27FC236}">
                <a16:creationId xmlns:a16="http://schemas.microsoft.com/office/drawing/2014/main" id="{7D86E581-5A57-455E-B372-963F6BF1A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1187" y="3747584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D2D730-84C7-41BF-AF49-98FF0346AB8B}"/>
              </a:ext>
            </a:extLst>
          </p:cNvPr>
          <p:cNvSpPr txBox="1"/>
          <p:nvPr/>
        </p:nvSpPr>
        <p:spPr>
          <a:xfrm>
            <a:off x="3516359" y="5350322"/>
            <a:ext cx="5374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Shortest path between 0 and 5 is 0-3-1-4-5 of length 15</a:t>
            </a:r>
          </a:p>
        </p:txBody>
      </p:sp>
      <p:sp>
        <p:nvSpPr>
          <p:cNvPr id="31" name="Text Box 27">
            <a:extLst>
              <a:ext uri="{FF2B5EF4-FFF2-40B4-BE49-F238E27FC236}">
                <a16:creationId xmlns:a16="http://schemas.microsoft.com/office/drawing/2014/main" id="{4A3EC6FF-4507-4036-B239-10F5BC4EA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2312" y="1541709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84160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Dijkstra’s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GB" dirty="0"/>
                  <a:t>Designed by </a:t>
                </a:r>
                <a:r>
                  <a:rPr lang="en-GB" dirty="0" err="1"/>
                  <a:t>Edsger</a:t>
                </a:r>
                <a:r>
                  <a:rPr lang="en-GB" dirty="0"/>
                  <a:t> </a:t>
                </a:r>
                <a:r>
                  <a:rPr lang="en-GB" dirty="0" err="1"/>
                  <a:t>Wybe</a:t>
                </a:r>
                <a:r>
                  <a:rPr lang="en-GB" dirty="0"/>
                  <a:t> Dijkstra in 1956 (published 1959) to demonstrate the new ARMAC computer</a:t>
                </a:r>
              </a:p>
              <a:p>
                <a:endParaRPr lang="en-GB" dirty="0"/>
              </a:p>
              <a:p>
                <a:r>
                  <a:rPr lang="en-GB" dirty="0"/>
                  <a:t>Still widely used and researched today!</a:t>
                </a:r>
              </a:p>
              <a:p>
                <a:endParaRPr lang="en-GB" dirty="0"/>
              </a:p>
              <a:p>
                <a:r>
                  <a:rPr lang="en-GB" dirty="0"/>
                  <a:t>Route planners use pre-processing speed-up techniques such as contraction hierarchies.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Edge weights need to be nonnegative! Otherwise use Bellman-Ford</a:t>
                </a:r>
              </a:p>
              <a:p>
                <a:pPr marL="0" indent="0">
                  <a:buNone/>
                </a:pPr>
                <a:r>
                  <a:rPr lang="en-GB" dirty="0"/>
                  <a:t>Homework: Investigate Bellman-Ford Algorithm, this can also detect negative weight cycles</a:t>
                </a:r>
              </a:p>
              <a:p>
                <a:pPr marL="0" indent="0">
                  <a:buNone/>
                </a:pPr>
                <a:r>
                  <a:rPr lang="en-GB" dirty="0"/>
                  <a:t>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Initialise the network, source vertex has a distance of 0 and all other vertices a distance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GB" dirty="0"/>
                  <a:t>, label all vertices as </a:t>
                </a:r>
                <a:r>
                  <a:rPr lang="en-GB" b="1" dirty="0"/>
                  <a:t>temporary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Label the vertex with minimum distance as </a:t>
                </a:r>
                <a:r>
                  <a:rPr lang="en-GB" b="1" dirty="0"/>
                  <a:t>permanent</a:t>
                </a:r>
                <a:r>
                  <a:rPr lang="en-GB" dirty="0"/>
                  <a:t>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Update the distances and predecessors to reachable </a:t>
                </a:r>
                <a:r>
                  <a:rPr lang="en-GB" b="1" dirty="0"/>
                  <a:t>temporary </a:t>
                </a:r>
                <a:r>
                  <a:rPr lang="en-GB" dirty="0"/>
                  <a:t>vertices from the current permanent vertex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/>
                  <a:t>Repeat steps 2 and 3 until all vertices are marked </a:t>
                </a:r>
                <a:r>
                  <a:rPr lang="en-GB" b="1" dirty="0"/>
                  <a:t>permanent</a:t>
                </a:r>
                <a:r>
                  <a:rPr lang="en-GB" dirty="0"/>
                  <a:t> </a:t>
                </a:r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522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1062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Set Up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cs typeface="Arial" charset="0"/>
              </a:rPr>
              <a:t>∞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4D7DB43-0E3F-451D-8842-F80D12D8F61D}"/>
                  </a:ext>
                </a:extLst>
              </p:cNvPr>
              <p:cNvSpPr txBox="1"/>
              <p:nvPr/>
            </p:nvSpPr>
            <p:spPr>
              <a:xfrm>
                <a:off x="1999813" y="6094987"/>
                <a:ext cx="88497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Initialise the network, source vertex has a distance of 0 and all other vertices a distance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4D7DB43-0E3F-451D-8842-F80D12D8F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9813" y="6094987"/>
                <a:ext cx="8849795" cy="369332"/>
              </a:xfrm>
              <a:prstGeom prst="rect">
                <a:avLst/>
              </a:prstGeom>
              <a:blipFill>
                <a:blip r:embed="rId2"/>
                <a:stretch>
                  <a:fillRect l="-551" t="-10000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013A3C47-DB59-4E4A-A4AB-C3D8067C0C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013A3C47-DB59-4E4A-A4AB-C3D8067C0C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102403A4-0C04-43A4-9366-DCD41D5FEC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102403A4-0C04-43A4-9366-DCD41D5FEC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2BE1926C-E77E-48AE-B2C4-E3FB48DC33B3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0C15BE2-FAC7-4004-88CB-FFD01FB5D247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88B8C5-371F-41EF-8E12-7DCC0AAC8986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69F35A-6D6E-4DBA-A11E-C5C890CD9AA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FF70153-5CF7-4296-9FF9-E38ADC7E0F62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61F896-2429-4F0F-9150-673C91468A0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8985C9-6B71-4276-83B6-A6D85EDC2684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97022A7-4DB9-4EA9-B00B-3E5F5FF474AA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7" name="Table 47">
                <a:extLst>
                  <a:ext uri="{FF2B5EF4-FFF2-40B4-BE49-F238E27FC236}">
                    <a16:creationId xmlns:a16="http://schemas.microsoft.com/office/drawing/2014/main" id="{B2817503-97D4-47A0-9FF6-9A742FDF85C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7" name="Table 47">
                <a:extLst>
                  <a:ext uri="{FF2B5EF4-FFF2-40B4-BE49-F238E27FC236}">
                    <a16:creationId xmlns:a16="http://schemas.microsoft.com/office/drawing/2014/main" id="{B2817503-97D4-47A0-9FF6-9A742FDF85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7765632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09913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Improving Cost Labels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eaLnBrk="1" hangingPunct="1"/>
                <a:r>
                  <a:rPr lang="en-US" sz="2800" dirty="0">
                    <a:cs typeface="Arial" charset="0"/>
                  </a:rPr>
                  <a:t>Shortest path costs satisfy the triangle inequality:</a:t>
                </a:r>
              </a:p>
              <a:p>
                <a:pPr eaLnBrk="1" hangingPunct="1">
                  <a:buFontTx/>
                  <a:buNone/>
                </a:pPr>
                <a:r>
                  <a:rPr lang="en-US" sz="2800" dirty="0">
                    <a:cs typeface="Arial" charset="0"/>
                  </a:rPr>
                  <a:t>	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  <a:cs typeface="Arial" charset="0"/>
                          </a:rPr>
                          <m:t>𝑑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  <a:cs typeface="Arial" charset="0"/>
                          </a:rPr>
                          <m:t>𝑖</m:t>
                        </m:r>
                      </m:sub>
                    </m:sSub>
                    <m:r>
                      <a:rPr lang="en-GB" sz="2800" b="0" i="0" smtClean="0">
                        <a:latin typeface="Cambria Math" panose="02040503050406030204" pitchFamily="18" charset="0"/>
                        <a:cs typeface="Arial" charset="0"/>
                      </a:rPr>
                      <m:t>+</m:t>
                    </m:r>
                    <m:sSub>
                      <m:sSubPr>
                        <m:ctrlPr>
                          <a:rPr lang="en-GB" sz="2800" b="0" i="1" dirty="0" smtClean="0"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800" b="0" i="1" dirty="0" smtClean="0">
                            <a:latin typeface="Cambria Math" panose="02040503050406030204" pitchFamily="18" charset="0"/>
                            <a:cs typeface="Arial" charset="0"/>
                          </a:rPr>
                          <m:t>𝑐</m:t>
                        </m:r>
                      </m:e>
                      <m:sub>
                        <m:r>
                          <a:rPr lang="en-GB" sz="2800" b="0" i="1" dirty="0" smtClean="0">
                            <a:latin typeface="Cambria Math" panose="02040503050406030204" pitchFamily="18" charset="0"/>
                            <a:cs typeface="Arial" charset="0"/>
                          </a:rPr>
                          <m:t>𝑖𝑗</m:t>
                        </m:r>
                      </m:sub>
                    </m:sSub>
                    <m:r>
                      <a:rPr lang="en-GB" sz="2800" b="0" i="1" dirty="0" smtClean="0">
                        <a:latin typeface="Cambria Math" panose="02040503050406030204" pitchFamily="18" charset="0"/>
                        <a:cs typeface="Arial" charset="0"/>
                      </a:rPr>
                      <m:t>≥</m:t>
                    </m:r>
                    <m:sSub>
                      <m:sSubPr>
                        <m:ctrlPr>
                          <a:rPr lang="en-GB" sz="2800" b="0" i="1" dirty="0" smtClean="0"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800" b="0" i="1" dirty="0" smtClean="0">
                            <a:latin typeface="Cambria Math" panose="02040503050406030204" pitchFamily="18" charset="0"/>
                            <a:cs typeface="Arial" charset="0"/>
                          </a:rPr>
                          <m:t>𝑑</m:t>
                        </m:r>
                      </m:e>
                      <m:sub>
                        <m:r>
                          <a:rPr lang="en-GB" sz="2800" b="0" i="1" dirty="0" smtClean="0">
                            <a:latin typeface="Cambria Math" panose="02040503050406030204" pitchFamily="18" charset="0"/>
                            <a:cs typeface="Arial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>
                    <a:cs typeface="Arial" charset="0"/>
                  </a:rPr>
                  <a:t> for every edge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cs typeface="Arial" charset="0"/>
                      </a:rPr>
                      <m:t>(</m:t>
                    </m:r>
                    <m:r>
                      <a:rPr lang="en-US" sz="2800" i="1" dirty="0" err="1" smtClean="0">
                        <a:latin typeface="Cambria Math" panose="02040503050406030204" pitchFamily="18" charset="0"/>
                        <a:cs typeface="Arial" charset="0"/>
                      </a:rPr>
                      <m:t>𝑖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Arial" charset="0"/>
                      </a:rPr>
                      <m:t>,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Arial" charset="0"/>
                      </a:rPr>
                      <m:t>𝑗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Arial" charset="0"/>
                      </a:rPr>
                      <m:t>)</m:t>
                    </m:r>
                  </m:oMath>
                </a14:m>
                <a:r>
                  <a:rPr lang="en-US" sz="2800" dirty="0">
                    <a:cs typeface="Arial" charset="0"/>
                  </a:rPr>
                  <a:t>.</a:t>
                </a:r>
              </a:p>
              <a:p>
                <a:pPr eaLnBrk="1" hangingPunct="1">
                  <a:buFontTx/>
                  <a:buNone/>
                </a:pPr>
                <a:endParaRPr lang="en-US" sz="2800" dirty="0">
                  <a:cs typeface="Arial" charset="0"/>
                </a:endParaRPr>
              </a:p>
              <a:p>
                <a:pPr eaLnBrk="1" hangingPunct="1">
                  <a:buFontTx/>
                  <a:buNone/>
                </a:pPr>
                <a:endParaRPr lang="en-US" dirty="0">
                  <a:cs typeface="Arial" charset="0"/>
                </a:endParaRPr>
              </a:p>
              <a:p>
                <a:pPr eaLnBrk="1" hangingPunct="1">
                  <a:buFontTx/>
                  <a:buNone/>
                </a:pPr>
                <a:endParaRPr lang="en-US" sz="2800" dirty="0">
                  <a:cs typeface="Arial" charset="0"/>
                </a:endParaRPr>
              </a:p>
              <a:p>
                <a:pPr eaLnBrk="1" hangingPunct="1">
                  <a:buFontTx/>
                  <a:buNone/>
                </a:pPr>
                <a:endParaRPr lang="en-US" dirty="0">
                  <a:cs typeface="Arial" charset="0"/>
                </a:endParaRPr>
              </a:p>
              <a:p>
                <a:pPr eaLnBrk="1" hangingPunct="1">
                  <a:buFontTx/>
                  <a:buNone/>
                </a:pPr>
                <a:endParaRPr lang="en-US" sz="2800" dirty="0">
                  <a:cs typeface="Arial" charset="0"/>
                </a:endParaRPr>
              </a:p>
              <a:p>
                <a:pPr eaLnBrk="1" hangingPunct="1"/>
                <a:r>
                  <a:rPr lang="en-GB" sz="2800" dirty="0">
                    <a:cs typeface="Arial" charset="0"/>
                  </a:rPr>
                  <a:t>If this is not </a:t>
                </a:r>
                <a:r>
                  <a:rPr lang="en-GB" sz="2800" b="1" dirty="0">
                    <a:cs typeface="Arial" charset="0"/>
                  </a:rPr>
                  <a:t>TRUE</a:t>
                </a:r>
                <a:r>
                  <a:rPr lang="en-GB" sz="2800" dirty="0">
                    <a:cs typeface="Arial" charset="0"/>
                  </a:rPr>
                  <a:t> then there exists some path that improves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  <a:cs typeface="Arial" charset="0"/>
                          </a:rPr>
                          <m:t>𝑑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  <a:cs typeface="Arial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sz="2800" dirty="0">
                  <a:cs typeface="Arial" charset="0"/>
                </a:endParaRPr>
              </a:p>
              <a:p>
                <a:pPr lvl="1"/>
                <a:r>
                  <a:rPr lang="en-US" dirty="0">
                    <a:cs typeface="Arial" charset="0"/>
                  </a:rPr>
                  <a:t>E.g. The path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  <a:cs typeface="Arial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cs typeface="Arial" charset="0"/>
                          </a:rPr>
                          <m:t>𝑑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  <a:cs typeface="Arial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cs typeface="Arial" charset="0"/>
                  </a:rPr>
                  <a:t> + the edge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Arial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Arial" charset="0"/>
                      </a:rPr>
                      <m:t>𝑖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Arial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Arial" charset="0"/>
                      </a:rPr>
                      <m:t>𝑗</m:t>
                    </m:r>
                    <m:r>
                      <a:rPr lang="en-GB" b="0" i="1" smtClean="0">
                        <a:latin typeface="Cambria Math" panose="02040503050406030204" pitchFamily="18" charset="0"/>
                        <a:cs typeface="Arial" charset="0"/>
                      </a:rPr>
                      <m:t>)</m:t>
                    </m:r>
                  </m:oMath>
                </a14:m>
                <a:endParaRPr lang="en-US" dirty="0">
                  <a:cs typeface="Arial" charset="0"/>
                </a:endParaRPr>
              </a:p>
              <a:p>
                <a:pPr eaLnBrk="1" hangingPunct="1">
                  <a:buFontTx/>
                  <a:buNone/>
                </a:pPr>
                <a:endParaRPr lang="en-US" sz="2800" dirty="0">
                  <a:cs typeface="Arial" charset="0"/>
                </a:endParaRPr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043" t="-2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082507B7-84BB-4549-9DD2-DC9FF8CCF7E8}"/>
              </a:ext>
            </a:extLst>
          </p:cNvPr>
          <p:cNvSpPr/>
          <p:nvPr/>
        </p:nvSpPr>
        <p:spPr>
          <a:xfrm>
            <a:off x="8672141" y="2437671"/>
            <a:ext cx="2234142" cy="832644"/>
          </a:xfrm>
          <a:prstGeom prst="triangle">
            <a:avLst/>
          </a:prstGeom>
          <a:noFill/>
          <a:ln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448E18-B872-4557-9AAD-35D87BEAB586}"/>
              </a:ext>
            </a:extLst>
          </p:cNvPr>
          <p:cNvSpPr txBox="1"/>
          <p:nvPr/>
        </p:nvSpPr>
        <p:spPr>
          <a:xfrm>
            <a:off x="8976941" y="2484952"/>
            <a:ext cx="2952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E04AEE-875E-4F3D-BFD8-6F9218E5FF84}"/>
              </a:ext>
            </a:extLst>
          </p:cNvPr>
          <p:cNvSpPr txBox="1"/>
          <p:nvPr/>
        </p:nvSpPr>
        <p:spPr>
          <a:xfrm>
            <a:off x="10297741" y="2484661"/>
            <a:ext cx="3000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6AA0B9-0408-45FA-A71A-F76006D43228}"/>
              </a:ext>
            </a:extLst>
          </p:cNvPr>
          <p:cNvSpPr txBox="1"/>
          <p:nvPr/>
        </p:nvSpPr>
        <p:spPr>
          <a:xfrm>
            <a:off x="9277023" y="3650608"/>
            <a:ext cx="9989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 + y ≥ z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481AAB-8839-476D-9FB0-9A9C7F9630BA}"/>
              </a:ext>
            </a:extLst>
          </p:cNvPr>
          <p:cNvSpPr txBox="1"/>
          <p:nvPr/>
        </p:nvSpPr>
        <p:spPr>
          <a:xfrm>
            <a:off x="9639171" y="3180560"/>
            <a:ext cx="2856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z</a:t>
            </a:r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EF7078BC-8141-4004-9101-AE52772EDE39}"/>
              </a:ext>
            </a:extLst>
          </p:cNvPr>
          <p:cNvSpPr>
            <a:spLocks/>
          </p:cNvSpPr>
          <p:nvPr/>
        </p:nvSpPr>
        <p:spPr bwMode="auto">
          <a:xfrm>
            <a:off x="1594177" y="3057748"/>
            <a:ext cx="1676400" cy="1295400"/>
          </a:xfrm>
          <a:custGeom>
            <a:avLst/>
            <a:gdLst>
              <a:gd name="T0" fmla="*/ 0 w 1056"/>
              <a:gd name="T1" fmla="*/ 2147483647 h 816"/>
              <a:gd name="T2" fmla="*/ 2147483647 w 1056"/>
              <a:gd name="T3" fmla="*/ 2147483647 h 816"/>
              <a:gd name="T4" fmla="*/ 2147483647 w 1056"/>
              <a:gd name="T5" fmla="*/ 2147483647 h 816"/>
              <a:gd name="T6" fmla="*/ 2147483647 w 1056"/>
              <a:gd name="T7" fmla="*/ 2147483647 h 816"/>
              <a:gd name="T8" fmla="*/ 2147483647 w 1056"/>
              <a:gd name="T9" fmla="*/ 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56"/>
              <a:gd name="T16" fmla="*/ 0 h 816"/>
              <a:gd name="T17" fmla="*/ 1056 w 1056"/>
              <a:gd name="T18" fmla="*/ 816 h 8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56" h="816">
                <a:moveTo>
                  <a:pt x="0" y="816"/>
                </a:moveTo>
                <a:cubicBezTo>
                  <a:pt x="28" y="704"/>
                  <a:pt x="56" y="592"/>
                  <a:pt x="144" y="528"/>
                </a:cubicBezTo>
                <a:cubicBezTo>
                  <a:pt x="232" y="464"/>
                  <a:pt x="448" y="504"/>
                  <a:pt x="528" y="432"/>
                </a:cubicBezTo>
                <a:cubicBezTo>
                  <a:pt x="608" y="360"/>
                  <a:pt x="536" y="168"/>
                  <a:pt x="624" y="96"/>
                </a:cubicBezTo>
                <a:cubicBezTo>
                  <a:pt x="712" y="24"/>
                  <a:pt x="884" y="12"/>
                  <a:pt x="1056" y="0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ED6F1305-968A-48FA-B77F-085DCDBE0EEE}"/>
              </a:ext>
            </a:extLst>
          </p:cNvPr>
          <p:cNvSpPr>
            <a:spLocks/>
          </p:cNvSpPr>
          <p:nvPr/>
        </p:nvSpPr>
        <p:spPr bwMode="auto">
          <a:xfrm>
            <a:off x="1594177" y="4315048"/>
            <a:ext cx="3048000" cy="508000"/>
          </a:xfrm>
          <a:custGeom>
            <a:avLst/>
            <a:gdLst>
              <a:gd name="T0" fmla="*/ 0 w 1920"/>
              <a:gd name="T1" fmla="*/ 2147483647 h 320"/>
              <a:gd name="T2" fmla="*/ 2147483647 w 1920"/>
              <a:gd name="T3" fmla="*/ 2147483647 h 320"/>
              <a:gd name="T4" fmla="*/ 2147483647 w 1920"/>
              <a:gd name="T5" fmla="*/ 2147483647 h 320"/>
              <a:gd name="T6" fmla="*/ 2147483647 w 1920"/>
              <a:gd name="T7" fmla="*/ 2147483647 h 320"/>
              <a:gd name="T8" fmla="*/ 2147483647 w 1920"/>
              <a:gd name="T9" fmla="*/ 2147483647 h 3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0"/>
              <a:gd name="T16" fmla="*/ 0 h 320"/>
              <a:gd name="T17" fmla="*/ 1920 w 1920"/>
              <a:gd name="T18" fmla="*/ 320 h 3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0" h="320">
                <a:moveTo>
                  <a:pt x="0" y="24"/>
                </a:moveTo>
                <a:cubicBezTo>
                  <a:pt x="104" y="96"/>
                  <a:pt x="208" y="168"/>
                  <a:pt x="336" y="168"/>
                </a:cubicBezTo>
                <a:cubicBezTo>
                  <a:pt x="464" y="168"/>
                  <a:pt x="568" y="0"/>
                  <a:pt x="768" y="24"/>
                </a:cubicBezTo>
                <a:cubicBezTo>
                  <a:pt x="968" y="48"/>
                  <a:pt x="1344" y="304"/>
                  <a:pt x="1536" y="312"/>
                </a:cubicBezTo>
                <a:cubicBezTo>
                  <a:pt x="1728" y="320"/>
                  <a:pt x="1824" y="196"/>
                  <a:pt x="1920" y="72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1C96150E-AD1A-4172-BF40-971E809921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9177" y="3057748"/>
            <a:ext cx="10668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Oval 4">
            <a:extLst>
              <a:ext uri="{FF2B5EF4-FFF2-40B4-BE49-F238E27FC236}">
                <a16:creationId xmlns:a16="http://schemas.microsoft.com/office/drawing/2014/main" id="{18CE214B-B532-4E50-8C72-2BFCE0DF6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1777" y="4200748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13" name="Oval 5">
            <a:extLst>
              <a:ext uri="{FF2B5EF4-FFF2-40B4-BE49-F238E27FC236}">
                <a16:creationId xmlns:a16="http://schemas.microsoft.com/office/drawing/2014/main" id="{9FDBBEFE-C6B8-4E35-ADDF-E84093F8C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6777" y="2905348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i</a:t>
            </a:r>
          </a:p>
        </p:txBody>
      </p:sp>
      <p:sp>
        <p:nvSpPr>
          <p:cNvPr id="14" name="Oval 6">
            <a:extLst>
              <a:ext uri="{FF2B5EF4-FFF2-40B4-BE49-F238E27FC236}">
                <a16:creationId xmlns:a16="http://schemas.microsoft.com/office/drawing/2014/main" id="{7EF33B45-8DBE-45C9-BBAF-98BCB4220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5977" y="4124548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j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2">
                <a:extLst>
                  <a:ext uri="{FF2B5EF4-FFF2-40B4-BE49-F238E27FC236}">
                    <a16:creationId xmlns:a16="http://schemas.microsoft.com/office/drawing/2014/main" id="{C002A881-33FD-43F4-9834-FD5C8A4655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54702" y="2484661"/>
                <a:ext cx="456471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 Box 12">
                <a:extLst>
                  <a:ext uri="{FF2B5EF4-FFF2-40B4-BE49-F238E27FC236}">
                    <a16:creationId xmlns:a16="http://schemas.microsoft.com/office/drawing/2014/main" id="{C002A881-33FD-43F4-9834-FD5C8A465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54702" y="2484661"/>
                <a:ext cx="456471" cy="369332"/>
              </a:xfrm>
              <a:prstGeom prst="rect">
                <a:avLst/>
              </a:prstGeom>
              <a:blipFill>
                <a:blip r:embed="rId3"/>
                <a:stretch>
                  <a:fillRect b="-333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13">
                <a:extLst>
                  <a:ext uri="{FF2B5EF4-FFF2-40B4-BE49-F238E27FC236}">
                    <a16:creationId xmlns:a16="http://schemas.microsoft.com/office/drawing/2014/main" id="{93DDC78F-FF9C-42AC-BA7D-B980B13D1C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2177" y="4429348"/>
                <a:ext cx="455188" cy="3916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 Box 13">
                <a:extLst>
                  <a:ext uri="{FF2B5EF4-FFF2-40B4-BE49-F238E27FC236}">
                    <a16:creationId xmlns:a16="http://schemas.microsoft.com/office/drawing/2014/main" id="{93DDC78F-FF9C-42AC-BA7D-B980B13D1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2177" y="4429348"/>
                <a:ext cx="455188" cy="391646"/>
              </a:xfrm>
              <a:prstGeom prst="rect">
                <a:avLst/>
              </a:prstGeom>
              <a:blipFill>
                <a:blip r:embed="rId4"/>
                <a:stretch>
                  <a:fillRect b="-781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14">
                <a:extLst>
                  <a:ext uri="{FF2B5EF4-FFF2-40B4-BE49-F238E27FC236}">
                    <a16:creationId xmlns:a16="http://schemas.microsoft.com/office/drawing/2014/main" id="{1916049A-5387-430C-B87C-A2F3BE470C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2577" y="3210148"/>
                <a:ext cx="502125" cy="3916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 Box 14">
                <a:extLst>
                  <a:ext uri="{FF2B5EF4-FFF2-40B4-BE49-F238E27FC236}">
                    <a16:creationId xmlns:a16="http://schemas.microsoft.com/office/drawing/2014/main" id="{1916049A-5387-430C-B87C-A2F3BE470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32577" y="3210148"/>
                <a:ext cx="502125" cy="391646"/>
              </a:xfrm>
              <a:prstGeom prst="rect">
                <a:avLst/>
              </a:prstGeom>
              <a:blipFill>
                <a:blip r:embed="rId5"/>
                <a:stretch>
                  <a:fillRect b="-781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5651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Dijkstra 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cs typeface="Arial" charset="0"/>
              </a:rPr>
              <a:t>∞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4D7DB43-0E3F-451D-8842-F80D12D8F61D}"/>
                  </a:ext>
                </a:extLst>
              </p:cNvPr>
              <p:cNvSpPr txBox="1"/>
              <p:nvPr/>
            </p:nvSpPr>
            <p:spPr>
              <a:xfrm>
                <a:off x="1999813" y="6094987"/>
                <a:ext cx="88497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Initialise the network, source vertex has a distance of 0 and all other vertices a distance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4D7DB43-0E3F-451D-8842-F80D12D8F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9813" y="6094987"/>
                <a:ext cx="8849795" cy="369332"/>
              </a:xfrm>
              <a:prstGeom prst="rect">
                <a:avLst/>
              </a:prstGeom>
              <a:blipFill>
                <a:blip r:embed="rId2"/>
                <a:stretch>
                  <a:fillRect l="-551" t="-10000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013A3C47-DB59-4E4A-A4AB-C3D8067C0C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013A3C47-DB59-4E4A-A4AB-C3D8067C0C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102403A4-0C04-43A4-9366-DCD41D5FEC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102403A4-0C04-43A4-9366-DCD41D5FEC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2BE1926C-E77E-48AE-B2C4-E3FB48DC33B3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0C15BE2-FAC7-4004-88CB-FFD01FB5D247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88B8C5-371F-41EF-8E12-7DCC0AAC8986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69F35A-6D6E-4DBA-A11E-C5C890CD9AA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FF70153-5CF7-4296-9FF9-E38ADC7E0F62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61F896-2429-4F0F-9150-673C91468A0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8985C9-6B71-4276-83B6-A6D85EDC2684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97022A7-4DB9-4EA9-B00B-3E5F5FF474AA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7" name="Table 47">
                <a:extLst>
                  <a:ext uri="{FF2B5EF4-FFF2-40B4-BE49-F238E27FC236}">
                    <a16:creationId xmlns:a16="http://schemas.microsoft.com/office/drawing/2014/main" id="{B2817503-97D4-47A0-9FF6-9A742FDF85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7765632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7" name="Table 47">
                <a:extLst>
                  <a:ext uri="{FF2B5EF4-FFF2-40B4-BE49-F238E27FC236}">
                    <a16:creationId xmlns:a16="http://schemas.microsoft.com/office/drawing/2014/main" id="{B2817503-97D4-47A0-9FF6-9A742FDF85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7765632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49158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cs typeface="Arial" charset="0"/>
              </a:rPr>
              <a:t>∞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013A3C47-DB59-4E4A-A4AB-C3D8067C0C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013A3C47-DB59-4E4A-A4AB-C3D8067C0C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102403A4-0C04-43A4-9366-DCD41D5FEC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102403A4-0C04-43A4-9366-DCD41D5FEC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2BE1926C-E77E-48AE-B2C4-E3FB48DC33B3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0C15BE2-FAC7-4004-88CB-FFD01FB5D247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7FC0623-F907-41CE-895C-BA6D1E75496D}"/>
              </a:ext>
            </a:extLst>
          </p:cNvPr>
          <p:cNvSpPr txBox="1"/>
          <p:nvPr/>
        </p:nvSpPr>
        <p:spPr>
          <a:xfrm>
            <a:off x="3503718" y="6109004"/>
            <a:ext cx="597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 temporary vertex with minimum distance as permanent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CFDA1B2-D88D-4DBB-905B-02646E936145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4A77E0-5AA1-4E2E-9493-D6F4925C5190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47EA869-037F-4F67-B68A-C0388CB92120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55BEE79-1461-450F-9F13-821C5A988B30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22BA6B8-4844-46FB-BEA4-6E89B9F41AC3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E593D6A-71EE-4F6B-9A48-082BB439A3B5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0" name="Table 47">
                <a:extLst>
                  <a:ext uri="{FF2B5EF4-FFF2-40B4-BE49-F238E27FC236}">
                    <a16:creationId xmlns:a16="http://schemas.microsoft.com/office/drawing/2014/main" id="{18E2B820-C966-4625-82F1-4D42C93C97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5329901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0" name="Table 47">
                <a:extLst>
                  <a:ext uri="{FF2B5EF4-FFF2-40B4-BE49-F238E27FC236}">
                    <a16:creationId xmlns:a16="http://schemas.microsoft.com/office/drawing/2014/main" id="{18E2B820-C966-4625-82F1-4D42C93C978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5329901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37173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CD6870A-9E68-412D-A8E4-8B9C56887F16}"/>
              </a:ext>
            </a:extLst>
          </p:cNvPr>
          <p:cNvSpPr txBox="1"/>
          <p:nvPr/>
        </p:nvSpPr>
        <p:spPr>
          <a:xfrm>
            <a:off x="3655642" y="2394095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0+9=9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054F34-F39C-4437-94A0-9D60C21CD7D0}"/>
              </a:ext>
            </a:extLst>
          </p:cNvPr>
          <p:cNvSpPr txBox="1"/>
          <p:nvPr/>
        </p:nvSpPr>
        <p:spPr>
          <a:xfrm>
            <a:off x="3561469" y="4885694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0+2=2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003F8A-94E2-4307-98DF-465D9D4C1058}"/>
              </a:ext>
            </a:extLst>
          </p:cNvPr>
          <p:cNvSpPr txBox="1"/>
          <p:nvPr/>
        </p:nvSpPr>
        <p:spPr>
          <a:xfrm>
            <a:off x="2824398" y="6142588"/>
            <a:ext cx="6614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to reachable vertices which are labelled temporary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B21F3E9B-4D3C-4B2C-8B22-FD0A1DFECE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B21F3E9B-4D3C-4B2C-8B22-FD0A1DFECE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15">
                <a:extLst>
                  <a:ext uri="{FF2B5EF4-FFF2-40B4-BE49-F238E27FC236}">
                    <a16:creationId xmlns:a16="http://schemas.microsoft.com/office/drawing/2014/main" id="{81D40A1F-2A42-4C9E-ABA6-E3A72B89DA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Oval 15">
                <a:extLst>
                  <a:ext uri="{FF2B5EF4-FFF2-40B4-BE49-F238E27FC236}">
                    <a16:creationId xmlns:a16="http://schemas.microsoft.com/office/drawing/2014/main" id="{81D40A1F-2A42-4C9E-ABA6-E3A72B89DA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3910DE58-9658-45D9-9443-955CAEF401FD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E58FC30-6690-417F-A781-A486D738CBDE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35F9E6-F980-4F56-958A-C24EF844C9B1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28F4DBF-2DEB-4639-9D7E-49A33ECD67A5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25CC73E-644E-43DC-BEE1-940D1BBF91C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E4253E-33C3-4030-B1D0-BB2DA88141F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1F72AFD-76F9-48C9-A721-3AC1E8DD3FCD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98F33CE-4E6C-4178-87DA-53CE8E592058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1" name="Table 47">
                <a:extLst>
                  <a:ext uri="{FF2B5EF4-FFF2-40B4-BE49-F238E27FC236}">
                    <a16:creationId xmlns:a16="http://schemas.microsoft.com/office/drawing/2014/main" id="{D888CA9A-7777-4F3C-B7AB-1F002443D1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9001051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1" name="Table 47">
                <a:extLst>
                  <a:ext uri="{FF2B5EF4-FFF2-40B4-BE49-F238E27FC236}">
                    <a16:creationId xmlns:a16="http://schemas.microsoft.com/office/drawing/2014/main" id="{D888CA9A-7777-4F3C-B7AB-1F002443D1F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9001051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63789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69A6A24E-452B-4A67-B935-16AB9BBCB2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69A6A24E-452B-4A67-B935-16AB9BBCB2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A3747597-258E-48EF-B6C7-D49D62CDE6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A3747597-258E-48EF-B6C7-D49D62CDE6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3D8BB761-FFF9-4651-AECB-767608ADB0A7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9DCA271-0330-4F1F-A49A-46FA196B8E8A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0B3C786-9B83-4034-B6EE-7099FDC12124}"/>
              </a:ext>
            </a:extLst>
          </p:cNvPr>
          <p:cNvSpPr txBox="1"/>
          <p:nvPr/>
        </p:nvSpPr>
        <p:spPr>
          <a:xfrm>
            <a:off x="3503718" y="6109004"/>
            <a:ext cx="597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 temporary vertex with minimum distance as permanent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33D7E5-C074-40AA-9897-B12FFCF691D0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C5470EA-AAE8-4B4C-94EF-398CFBEBE7CA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DC50E0-DA3D-4659-98AB-599E24BD680F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57BCEB5-B14C-490C-BD3C-7D5D8753B879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C4E360-D94F-4697-9D7C-1D6E3C2C0FBE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61C9CAE-6C8F-4F23-9874-35DE783BCF98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AD49EE5C-1E8F-4E6D-8439-7FF3CD4CF1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6294674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AD49EE5C-1E8F-4E6D-8439-7FF3CD4CF1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6294674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53659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10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6F819E-5081-42E1-A6A7-71B2F1CB187B}"/>
              </a:ext>
            </a:extLst>
          </p:cNvPr>
          <p:cNvSpPr txBox="1"/>
          <p:nvPr/>
        </p:nvSpPr>
        <p:spPr>
          <a:xfrm>
            <a:off x="5028104" y="3581752"/>
            <a:ext cx="784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2+4=6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9DBB70-2672-44EE-B0D8-AA40266BCDB9}"/>
              </a:ext>
            </a:extLst>
          </p:cNvPr>
          <p:cNvSpPr txBox="1"/>
          <p:nvPr/>
        </p:nvSpPr>
        <p:spPr>
          <a:xfrm>
            <a:off x="5695440" y="5448173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2+8=10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A1436613-BF58-450F-AF9A-F3BE0D09E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A1436613-BF58-450F-AF9A-F3BE0D09E8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56130149-25AE-47A1-89C5-1D03A29E88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56130149-25AE-47A1-89C5-1D03A29E88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74BC0B73-2E25-4E5E-9335-E3871FD541BF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EC62F68-1C3B-4B86-867A-A820F29DDE50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797E640-1715-467B-BA1B-7500700A1289}"/>
              </a:ext>
            </a:extLst>
          </p:cNvPr>
          <p:cNvSpPr txBox="1"/>
          <p:nvPr/>
        </p:nvSpPr>
        <p:spPr>
          <a:xfrm>
            <a:off x="2824398" y="6142588"/>
            <a:ext cx="6614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to reachable vertices which are labelled temporary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7883A6-4A97-40CA-BE3B-3123236AF8A5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94D163-717C-4A6A-874E-FC0809B306B8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55A49D-5961-461E-B5B9-A182213246A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F55F219-5336-4D86-A05C-40F66F37DE9B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B17F66-DC64-4E00-AB60-805FE9906B77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615B3B-56D8-4990-B95B-B5334C7F8340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E2883559-6866-4E10-B07C-6FD8FEE542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7119896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9</a:t>
                          </a:r>
                          <a:r>
                            <a:rPr lang="en-GB" dirty="0"/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effectLst/>
                            </a:rPr>
                            <a:t>s</a:t>
                          </a:r>
                          <a:r>
                            <a:rPr lang="en-GB" dirty="0"/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E2883559-6866-4E10-B07C-6FD8FEE542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7119896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9</a:t>
                          </a:r>
                          <a:r>
                            <a:rPr lang="en-GB" dirty="0"/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effectLst/>
                            </a:rPr>
                            <a:t>s</a:t>
                          </a:r>
                          <a:r>
                            <a:rPr lang="en-GB" dirty="0"/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39210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10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CDAC4FBC-7D22-4615-84C7-DE24547DF5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CDAC4FBC-7D22-4615-84C7-DE24547DF5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3F510AF9-CB4D-400C-881B-A6889ACA62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3F510AF9-CB4D-400C-881B-A6889ACA62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6B137F3B-C20B-4816-ADB2-CBAD4BBC7A94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C876640-77BC-4DA7-B31C-DF99DF12252E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D227C06-C960-46AC-869B-ED50A496074B}"/>
              </a:ext>
            </a:extLst>
          </p:cNvPr>
          <p:cNvSpPr txBox="1"/>
          <p:nvPr/>
        </p:nvSpPr>
        <p:spPr>
          <a:xfrm>
            <a:off x="3503718" y="6109004"/>
            <a:ext cx="597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 temporary vertex with minimum distance as permanent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56C2633-1C5A-4079-A02C-B36989814276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822E020-829A-4BD5-9B5B-5AE16657010D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6D9AB3E-FDE0-493B-A559-913203AA4220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0E6D72C-1B3D-4F9F-B2DE-B91693E59124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2378D56-1E1F-4514-BC57-326163D82CEC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1DC8A77-B6F3-4F26-BB9E-C43162FA9D1E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7A5F65BB-5BD0-4A93-9A05-FEB4DC8820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3351177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9</a:t>
                          </a:r>
                          <a:r>
                            <a:rPr lang="en-GB" dirty="0"/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effectLst/>
                            </a:rPr>
                            <a:t>s</a:t>
                          </a:r>
                          <a:r>
                            <a:rPr lang="en-GB" dirty="0"/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7A5F65BB-5BD0-4A93-9A05-FEB4DC8820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3351177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9</a:t>
                          </a:r>
                          <a:r>
                            <a:rPr lang="en-GB" dirty="0"/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effectLst/>
                            </a:rPr>
                            <a:t>s</a:t>
                          </a:r>
                          <a:r>
                            <a:rPr lang="en-GB" dirty="0"/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51455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DC030E-DC3A-47F8-B362-95EF52E44221}"/>
              </a:ext>
            </a:extLst>
          </p:cNvPr>
          <p:cNvSpPr txBox="1"/>
          <p:nvPr/>
        </p:nvSpPr>
        <p:spPr>
          <a:xfrm>
            <a:off x="5667448" y="1577069"/>
            <a:ext cx="1000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6+11=17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C65D884-C733-4EA0-BED3-5E89B9A87730}"/>
              </a:ext>
            </a:extLst>
          </p:cNvPr>
          <p:cNvSpPr txBox="1"/>
          <p:nvPr/>
        </p:nvSpPr>
        <p:spPr>
          <a:xfrm>
            <a:off x="6279718" y="3425833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6+3=9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1FC607D4-8B9F-4BF5-88B7-785DDA6076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1FC607D4-8B9F-4BF5-88B7-785DDA6076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5F745B66-DE7D-4A98-AE4C-3946C46708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Oval 15">
                <a:extLst>
                  <a:ext uri="{FF2B5EF4-FFF2-40B4-BE49-F238E27FC236}">
                    <a16:creationId xmlns:a16="http://schemas.microsoft.com/office/drawing/2014/main" id="{5F745B66-DE7D-4A98-AE4C-3946C46708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510411C7-753E-4857-B2A2-2F4ADC249CB8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D04026F-164F-422B-B6BC-E246E0610F4E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4BDDB5-19DF-4409-AE98-DD37A5F2A806}"/>
              </a:ext>
            </a:extLst>
          </p:cNvPr>
          <p:cNvSpPr txBox="1"/>
          <p:nvPr/>
        </p:nvSpPr>
        <p:spPr>
          <a:xfrm>
            <a:off x="2824398" y="6142588"/>
            <a:ext cx="6614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to reachable vertices which are labelled temporary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385AEE-E46B-435F-BC60-8A7BD07172C6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DC24515-7EE1-4124-8168-55A9EF516A35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4094E92-D7F1-40CA-BD49-6B693F26FC2D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D5804B-3B1C-476C-9E90-1D47BC38B870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337953E-BCCB-438A-ADC7-41042FC1666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494B419-2323-4C91-BC12-12EB7CEB3B8D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BD05EE0A-AF4B-46BA-9640-B184FF386A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1770693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9</a:t>
                          </a:r>
                          <a:r>
                            <a:rPr lang="en-GB" dirty="0"/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effectLst/>
                            </a:rPr>
                            <a:t>s</a:t>
                          </a:r>
                          <a:r>
                            <a:rPr lang="en-GB" dirty="0"/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10</a:t>
                          </a:r>
                          <a:r>
                            <a:rPr lang="en-GB" strike="noStrike" dirty="0"/>
                            <a:t> 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GB" strike="sng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d</a:t>
                          </a:r>
                          <a:r>
                            <a:rPr lang="en-GB" strike="noStrike" dirty="0"/>
                            <a:t> 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b</a:t>
                          </a:r>
                          <a:endParaRPr lang="en-GB" strike="sng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BD05EE0A-AF4B-46BA-9640-B184FF386A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1770693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9</a:t>
                          </a:r>
                          <a:r>
                            <a:rPr lang="en-GB" dirty="0"/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effectLst/>
                            </a:rPr>
                            <a:t>s</a:t>
                          </a:r>
                          <a:r>
                            <a:rPr lang="en-GB" dirty="0"/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10</a:t>
                          </a:r>
                          <a:r>
                            <a:rPr lang="en-GB" strike="noStrike" dirty="0"/>
                            <a:t> 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9</a:t>
                          </a:r>
                          <a:endParaRPr lang="en-GB" strike="sng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d</a:t>
                          </a:r>
                          <a:r>
                            <a:rPr lang="en-GB" strike="noStrike" dirty="0"/>
                            <a:t> 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b</a:t>
                          </a:r>
                          <a:endParaRPr lang="en-GB" strike="sngStrik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77850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8D5E36A-B3D9-481A-8525-A3425EB62E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8D5E36A-B3D9-481A-8525-A3425EB62E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86C84083-665E-4D75-9DCE-60E0237932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86C84083-665E-4D75-9DCE-60E0237932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6FB3E9B0-5150-4FD9-BCE0-9230FD8A8539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A9AF4C7-96F3-47E3-A1AF-468881329A77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0B130CA-3D26-4B1D-87EC-41328710C338}"/>
              </a:ext>
            </a:extLst>
          </p:cNvPr>
          <p:cNvSpPr txBox="1"/>
          <p:nvPr/>
        </p:nvSpPr>
        <p:spPr>
          <a:xfrm>
            <a:off x="3503718" y="6109004"/>
            <a:ext cx="597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 temporary vertex with minimum distance as permanent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D911BDD-4537-4685-9319-9A8D8E664F91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FE2DEE-121A-4207-AF19-81778563DD90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4CBF66A-6CBA-4DFA-9B35-58FAF0BD61B9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3083DE8-50AC-401A-8B2A-A6B22D26DBCF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8EB1018-143D-4A60-A7A8-E4E994BC0A43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0900940-284A-4D94-A65B-20F7BBFCF98F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D9B52864-800C-4B32-9B03-D7B85D6588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4948217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D9B52864-800C-4B32-9B03-D7B85D6588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44948217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70856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accent4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5408B97-C306-4CEC-8501-A55E8A89C4FA}"/>
              </a:ext>
            </a:extLst>
          </p:cNvPr>
          <p:cNvSpPr txBox="1"/>
          <p:nvPr/>
        </p:nvSpPr>
        <p:spPr>
          <a:xfrm>
            <a:off x="8069052" y="4851418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9+6=15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4CD3A5A8-0FC0-4695-8B8C-48F49B0D1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Oval 15">
                <a:extLst>
                  <a:ext uri="{FF2B5EF4-FFF2-40B4-BE49-F238E27FC236}">
                    <a16:creationId xmlns:a16="http://schemas.microsoft.com/office/drawing/2014/main" id="{4CD3A5A8-0FC0-4695-8B8C-48F49B0D12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CE2F1949-2C60-4317-A213-B0DF853345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Oval 15">
                <a:extLst>
                  <a:ext uri="{FF2B5EF4-FFF2-40B4-BE49-F238E27FC236}">
                    <a16:creationId xmlns:a16="http://schemas.microsoft.com/office/drawing/2014/main" id="{CE2F1949-2C60-4317-A213-B0DF853345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tangle 40">
            <a:extLst>
              <a:ext uri="{FF2B5EF4-FFF2-40B4-BE49-F238E27FC236}">
                <a16:creationId xmlns:a16="http://schemas.microsoft.com/office/drawing/2014/main" id="{9905522E-8B46-4AA8-9324-A5586A14CEE6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210E8BA-F275-4EAE-ADC0-0EDA453B8EB2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E4EE921-8A79-44D7-9161-6FF225F361C8}"/>
              </a:ext>
            </a:extLst>
          </p:cNvPr>
          <p:cNvSpPr txBox="1"/>
          <p:nvPr/>
        </p:nvSpPr>
        <p:spPr>
          <a:xfrm>
            <a:off x="2824398" y="6142588"/>
            <a:ext cx="6614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to reachable vertices which are labelled temporary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215F4F5-3C3B-450A-B87B-CF7E822DC70F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9A40FE4-D048-4CC2-BADA-94305E32F658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A1568A2-8E1E-44EC-BF69-77A0F3222339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5E0DF41-FAD3-464A-B971-F5F3DAF0B5A6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C3F30B2-DDDB-44B1-82CD-6EC367AF57AD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81C08D-423C-4990-B754-ECB565B52E00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B8C1B594-64BF-433A-8751-5BF33AEE8D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6602302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B8C1B594-64BF-433A-8751-5BF33AEE8D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6602302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56320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8151086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8151086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51E186B2-E40A-4E6F-B252-468F02349F59}"/>
              </a:ext>
            </a:extLst>
          </p:cNvPr>
          <p:cNvSpPr txBox="1"/>
          <p:nvPr/>
        </p:nvSpPr>
        <p:spPr>
          <a:xfrm>
            <a:off x="3503718" y="6109004"/>
            <a:ext cx="597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 temporary vertex with minimum distance as permanent</a:t>
            </a:r>
          </a:p>
        </p:txBody>
      </p:sp>
    </p:spTree>
    <p:extLst>
      <p:ext uri="{BB962C8B-B14F-4D97-AF65-F5344CB8AC3E}">
        <p14:creationId xmlns:p14="http://schemas.microsoft.com/office/powerpoint/2010/main" val="3687657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5278758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5278758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9ECFDB36-97E7-4B70-95C2-A90B6F7CAE50}"/>
              </a:ext>
            </a:extLst>
          </p:cNvPr>
          <p:cNvSpPr txBox="1"/>
          <p:nvPr/>
        </p:nvSpPr>
        <p:spPr>
          <a:xfrm>
            <a:off x="2824398" y="6142588"/>
            <a:ext cx="7798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to reachable vertices which are labelled temporary. No changes</a:t>
            </a:r>
          </a:p>
        </p:txBody>
      </p:sp>
    </p:spTree>
    <p:extLst>
      <p:ext uri="{BB962C8B-B14F-4D97-AF65-F5344CB8AC3E}">
        <p14:creationId xmlns:p14="http://schemas.microsoft.com/office/powerpoint/2010/main" val="3354784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3306290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3306290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BEE8A7ED-8464-40F1-8BCC-246A4ABA742C}"/>
              </a:ext>
            </a:extLst>
          </p:cNvPr>
          <p:cNvSpPr txBox="1"/>
          <p:nvPr/>
        </p:nvSpPr>
        <p:spPr>
          <a:xfrm>
            <a:off x="3503718" y="6109004"/>
            <a:ext cx="5973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Label temporary vertex with minimum distance as permanent</a:t>
            </a:r>
          </a:p>
        </p:txBody>
      </p:sp>
    </p:spTree>
    <p:extLst>
      <p:ext uri="{BB962C8B-B14F-4D97-AF65-F5344CB8AC3E}">
        <p14:creationId xmlns:p14="http://schemas.microsoft.com/office/powerpoint/2010/main" val="31298452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rgbClr val="FFC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6299881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6299881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0A27AD6D-804A-4BC1-A8E5-30E3747F55C7}"/>
              </a:ext>
            </a:extLst>
          </p:cNvPr>
          <p:cNvSpPr txBox="1"/>
          <p:nvPr/>
        </p:nvSpPr>
        <p:spPr>
          <a:xfrm>
            <a:off x="7389389" y="3832636"/>
            <a:ext cx="1000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17+5=22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FF02FE-4D6F-4052-8698-D1BB609D686D}"/>
              </a:ext>
            </a:extLst>
          </p:cNvPr>
          <p:cNvSpPr txBox="1"/>
          <p:nvPr/>
        </p:nvSpPr>
        <p:spPr>
          <a:xfrm>
            <a:off x="8268080" y="2230326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17+12=29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11BD709-D8EE-42E2-A61B-73F5524E8724}"/>
              </a:ext>
            </a:extLst>
          </p:cNvPr>
          <p:cNvSpPr txBox="1"/>
          <p:nvPr/>
        </p:nvSpPr>
        <p:spPr>
          <a:xfrm>
            <a:off x="2824398" y="6142588"/>
            <a:ext cx="7798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to reachable vertices which are labelled temporary. No changes</a:t>
            </a:r>
          </a:p>
        </p:txBody>
      </p:sp>
    </p:spTree>
    <p:extLst>
      <p:ext uri="{BB962C8B-B14F-4D97-AF65-F5344CB8AC3E}">
        <p14:creationId xmlns:p14="http://schemas.microsoft.com/office/powerpoint/2010/main" val="41439732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5CF35E85-98AE-4796-A8C6-B3240FC9990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711BD709-D8EE-42E2-A61B-73F5524E8724}"/>
              </a:ext>
            </a:extLst>
          </p:cNvPr>
          <p:cNvSpPr txBox="1"/>
          <p:nvPr/>
        </p:nvSpPr>
        <p:spPr>
          <a:xfrm>
            <a:off x="5084392" y="6291554"/>
            <a:ext cx="2445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Final Network and Table</a:t>
            </a:r>
          </a:p>
        </p:txBody>
      </p:sp>
    </p:spTree>
    <p:extLst>
      <p:ext uri="{BB962C8B-B14F-4D97-AF65-F5344CB8AC3E}">
        <p14:creationId xmlns:p14="http://schemas.microsoft.com/office/powerpoint/2010/main" val="10721324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0479C6-DD53-4418-94B2-67A999D148AE}"/>
              </a:ext>
            </a:extLst>
          </p:cNvPr>
          <p:cNvSpPr txBox="1"/>
          <p:nvPr/>
        </p:nvSpPr>
        <p:spPr>
          <a:xfrm>
            <a:off x="2154374" y="6255106"/>
            <a:ext cx="8419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 compute the shortest path, work backwards from the destination t along the predecessors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2EE530BE-8043-4A90-BC3B-0053527D3D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8757677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2EE530BE-8043-4A90-BC3B-0053527D3D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8757677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847558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0479C6-DD53-4418-94B2-67A999D148AE}"/>
              </a:ext>
            </a:extLst>
          </p:cNvPr>
          <p:cNvSpPr txBox="1"/>
          <p:nvPr/>
        </p:nvSpPr>
        <p:spPr>
          <a:xfrm>
            <a:off x="2154374" y="6255106"/>
            <a:ext cx="8419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 compute the shortest path, work backwards from the destination t along the predecessors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E1F3F91D-612B-4D7F-A515-B2B458AC32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875950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8" name="Table 47">
                <a:extLst>
                  <a:ext uri="{FF2B5EF4-FFF2-40B4-BE49-F238E27FC236}">
                    <a16:creationId xmlns:a16="http://schemas.microsoft.com/office/drawing/2014/main" id="{E1F3F91D-612B-4D7F-A515-B2B458AC32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875950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55659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0479C6-DD53-4418-94B2-67A999D148AE}"/>
              </a:ext>
            </a:extLst>
          </p:cNvPr>
          <p:cNvSpPr txBox="1"/>
          <p:nvPr/>
        </p:nvSpPr>
        <p:spPr>
          <a:xfrm>
            <a:off x="2154374" y="6255106"/>
            <a:ext cx="8419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 compute the shortest path, work backwards from the destination t along the predecessors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D8B85962-9267-4810-830B-7A4A2DCD71D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7247767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D8B85962-9267-4810-830B-7A4A2DCD71D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7247767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594183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70479C6-DD53-4418-94B2-67A999D148AE}"/>
              </a:ext>
            </a:extLst>
          </p:cNvPr>
          <p:cNvSpPr txBox="1"/>
          <p:nvPr/>
        </p:nvSpPr>
        <p:spPr>
          <a:xfrm>
            <a:off x="2154374" y="6255106"/>
            <a:ext cx="8419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 compute the shortest path, work backwards from the destination t along the predecessors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8CEF4F71-6FB8-4841-805C-65F173DBC7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5779949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8CEF4F71-6FB8-4841-805C-65F173DBC7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5779949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225685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70479C6-DD53-4418-94B2-67A999D148AE}"/>
                  </a:ext>
                </a:extLst>
              </p:cNvPr>
              <p:cNvSpPr txBox="1"/>
              <p:nvPr/>
            </p:nvSpPr>
            <p:spPr>
              <a:xfrm>
                <a:off x="2796618" y="6336295"/>
                <a:ext cx="67876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Shortest path from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dirty="0"/>
                  <a:t>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GB" dirty="0"/>
                  <a:t> with a path length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70479C6-DD53-4418-94B2-67A999D14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6618" y="6336295"/>
                <a:ext cx="6787692" cy="369332"/>
              </a:xfrm>
              <a:prstGeom prst="rect">
                <a:avLst/>
              </a:prstGeom>
              <a:blipFill>
                <a:blip r:embed="rId4"/>
                <a:stretch>
                  <a:fillRect l="-809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8CEF4F71-6FB8-4841-805C-65F173DBC7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1529254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9</a:t>
                          </a:r>
                          <a:r>
                            <a:rPr lang="en-GB" dirty="0"/>
                            <a:t> 6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effectLst/>
                            </a:rPr>
                            <a:t>s</a:t>
                          </a:r>
                          <a:r>
                            <a:rPr lang="en-GB" dirty="0"/>
                            <a:t> d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17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10</a:t>
                          </a:r>
                          <a:r>
                            <a:rPr lang="en-GB" strike="noStrike" dirty="0"/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d</a:t>
                          </a:r>
                          <a:r>
                            <a:rPr lang="en-GB" strike="noStrike" dirty="0"/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15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8CEF4F71-6FB8-4841-805C-65F173DBC74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1529254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0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92D05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9</a:t>
                          </a:r>
                          <a:r>
                            <a:rPr lang="en-GB" dirty="0"/>
                            <a:t> 6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effectLst/>
                            </a:rPr>
                            <a:t>s</a:t>
                          </a:r>
                          <a:r>
                            <a:rPr lang="en-GB" dirty="0"/>
                            <a:t> d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17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2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10</a:t>
                          </a:r>
                          <a:r>
                            <a:rPr lang="en-GB" strike="noStrike" dirty="0"/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/>
                            <a:t>d</a:t>
                          </a:r>
                          <a:r>
                            <a:rPr lang="en-GB" strike="noStrike" dirty="0"/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15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110363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Correctness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Visits all vertices in increasing order of distance and visits each vertex exactly once.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Dijkstra maintains a set of visited vertices (permanent) and unvisited vertices (temporary).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dirty="0"/>
                  <a:t>Claim</a:t>
                </a:r>
                <a:r>
                  <a:rPr lang="en-GB" dirty="0"/>
                  <a:t>: For a visited vertex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GB" dirty="0"/>
                  <a:t> will be the optimal shortest path distance and corresponding predecessor vertex.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Meaning, we get all the shortest paths from the source to all visited vertices free!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968" b="-14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04046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Shortest sub-path</a:t>
            </a:r>
          </a:p>
        </p:txBody>
      </p:sp>
      <p:sp>
        <p:nvSpPr>
          <p:cNvPr id="4" name="Line 5">
            <a:extLst>
              <a:ext uri="{FF2B5EF4-FFF2-40B4-BE49-F238E27FC236}">
                <a16:creationId xmlns:a16="http://schemas.microsoft.com/office/drawing/2014/main" id="{1270E423-172A-48FB-BDA6-E28F82628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78661" y="2729577"/>
            <a:ext cx="1375958" cy="10811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C361FC3C-AB07-44EB-99FE-8D6A05577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6799" y="3983450"/>
            <a:ext cx="1310923" cy="89429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9EB8CB73-D2E0-4956-9EEC-3E09F8F59D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1184" y="2827859"/>
            <a:ext cx="0" cy="216222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51F5B0F4-8278-4F1A-8924-2CE8F058E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2631294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39C05617-981D-4DAA-ABC4-A542D7EF58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2902" y="2533011"/>
            <a:ext cx="2162220" cy="226050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0">
            <a:extLst>
              <a:ext uri="{FF2B5EF4-FFF2-40B4-BE49-F238E27FC236}">
                <a16:creationId xmlns:a16="http://schemas.microsoft.com/office/drawing/2014/main" id="{97893A3D-30EF-4B98-B40C-1BA6D16265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1686" y="3983451"/>
            <a:ext cx="1444377" cy="100662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DFE1BB60-B3A2-422A-9FB8-35361666D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5"/>
            <a:ext cx="1444385" cy="105731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5AFBA5C0-78A0-42BF-BC30-E6C8A1653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687" y="2631294"/>
            <a:ext cx="0" cy="216222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1E6DBC7A-13F2-43C5-A25E-CDF6C956E0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7750" y="4891796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95F27C6-9D2E-4A8B-86AD-8112C5211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51184" y="5088362"/>
            <a:ext cx="20639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Oval 15">
            <a:extLst>
              <a:ext uri="{FF2B5EF4-FFF2-40B4-BE49-F238E27FC236}">
                <a16:creationId xmlns:a16="http://schemas.microsoft.com/office/drawing/2014/main" id="{4090678D-7C81-4B08-8D34-67F75A343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09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15" name="Oval 16">
            <a:extLst>
              <a:ext uri="{FF2B5EF4-FFF2-40B4-BE49-F238E27FC236}">
                <a16:creationId xmlns:a16="http://schemas.microsoft.com/office/drawing/2014/main" id="{0790A878-E36A-4FD3-AA9E-677750324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2434729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Oval 17">
            <a:extLst>
              <a:ext uri="{FF2B5EF4-FFF2-40B4-BE49-F238E27FC236}">
                <a16:creationId xmlns:a16="http://schemas.microsoft.com/office/drawing/2014/main" id="{985C681D-2112-41D1-A2F1-8C341B3E2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619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7" name="Oval 18">
            <a:extLst>
              <a:ext uri="{FF2B5EF4-FFF2-40B4-BE49-F238E27FC236}">
                <a16:creationId xmlns:a16="http://schemas.microsoft.com/office/drawing/2014/main" id="{CAE2386D-6120-4AE8-A454-E3D569003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4793514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8" name="Oval 19">
            <a:extLst>
              <a:ext uri="{FF2B5EF4-FFF2-40B4-BE49-F238E27FC236}">
                <a16:creationId xmlns:a16="http://schemas.microsoft.com/office/drawing/2014/main" id="{5A651CDD-ED69-4429-A0C8-06670D1AD0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21" y="24070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AE8A9CDA-6687-4FD5-928A-F57541704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7645" y="3614121"/>
            <a:ext cx="393131" cy="393131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BD507319-E255-428F-AA07-EEF57AFF4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074" y="282785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9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3F854686-324D-4CA7-BE3A-E3A1E9199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6552" y="441595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2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7799843F-3456-41D8-AB55-F3AB91539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8053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4</a:t>
            </a:r>
          </a:p>
        </p:txBody>
      </p:sp>
      <p:sp>
        <p:nvSpPr>
          <p:cNvPr id="23" name="Text Box 24">
            <a:extLst>
              <a:ext uri="{FF2B5EF4-FFF2-40B4-BE49-F238E27FC236}">
                <a16:creationId xmlns:a16="http://schemas.microsoft.com/office/drawing/2014/main" id="{7CA0F39B-AD40-49CB-99E4-35810D7D8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4011" y="331927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3</a:t>
            </a:r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813F8910-52DA-4AAF-B43D-B88B0DF53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4508412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1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BD07C876-F8F0-4BC6-9627-FF6F6A4C2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0775" y="508968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8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F03F0166-437A-4DAA-8D0C-EF92CC535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5729" y="2139880"/>
            <a:ext cx="428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11</a:t>
            </a:r>
          </a:p>
        </p:txBody>
      </p:sp>
      <p:sp>
        <p:nvSpPr>
          <p:cNvPr id="27" name="Text Box 28">
            <a:extLst>
              <a:ext uri="{FF2B5EF4-FFF2-40B4-BE49-F238E27FC236}">
                <a16:creationId xmlns:a16="http://schemas.microsoft.com/office/drawing/2014/main" id="{1DA7996F-381D-4341-9D1A-9514CD912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687" y="3515838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5</a:t>
            </a: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E8A5532B-051F-4D06-9769-642CE293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3387" y="2763427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/>
              <a:t>12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DA6384B1-1E78-4FD5-854D-B77F53668F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1627" y="4430596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 dirty="0"/>
              <a:t>6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E5664A66-781D-4F66-8DF5-A805DE0DE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399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31" name="Rectangle 34">
            <a:extLst>
              <a:ext uri="{FF2B5EF4-FFF2-40B4-BE49-F238E27FC236}">
                <a16:creationId xmlns:a16="http://schemas.microsoft.com/office/drawing/2014/main" id="{71974960-1621-424B-AEDA-2FAC8E65D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6</a:t>
            </a:r>
          </a:p>
        </p:txBody>
      </p:sp>
      <p:sp>
        <p:nvSpPr>
          <p:cNvPr id="32" name="Rectangle 35">
            <a:extLst>
              <a:ext uri="{FF2B5EF4-FFF2-40B4-BE49-F238E27FC236}">
                <a16:creationId xmlns:a16="http://schemas.microsoft.com/office/drawing/2014/main" id="{8B8EAD3B-B903-4018-A807-2753BDBC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336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  <a:cs typeface="Arial" charset="0"/>
              </a:rPr>
              <a:t>2</a:t>
            </a:r>
          </a:p>
        </p:txBody>
      </p:sp>
      <p:sp>
        <p:nvSpPr>
          <p:cNvPr id="33" name="Rectangle 36">
            <a:extLst>
              <a:ext uri="{FF2B5EF4-FFF2-40B4-BE49-F238E27FC236}">
                <a16:creationId xmlns:a16="http://schemas.microsoft.com/office/drawing/2014/main" id="{2B3DBFEA-3822-4B32-9E46-BB385C446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5284927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9</a:t>
            </a:r>
          </a:p>
        </p:txBody>
      </p:sp>
      <p:sp>
        <p:nvSpPr>
          <p:cNvPr id="34" name="Rectangle 37">
            <a:extLst>
              <a:ext uri="{FF2B5EF4-FFF2-40B4-BE49-F238E27FC236}">
                <a16:creationId xmlns:a16="http://schemas.microsoft.com/office/drawing/2014/main" id="{65EE5649-EFA3-465F-AABB-51020081F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839" y="1943315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17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5" name="Rectangle 38">
            <a:extLst>
              <a:ext uri="{FF2B5EF4-FFF2-40B4-BE49-F238E27FC236}">
                <a16:creationId xmlns:a16="http://schemas.microsoft.com/office/drawing/2014/main" id="{FD69D266-599B-43AA-82D4-BED7D821D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9058" y="3614121"/>
            <a:ext cx="491414" cy="39313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solidFill>
                <a:schemeClr val="accent4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Oval 15">
                <a:extLst>
                  <a:ext uri="{FF2B5EF4-FFF2-40B4-BE49-F238E27FC236}">
                    <a16:creationId xmlns:a16="http://schemas.microsoft.com/office/drawing/2014/main" id="{07B9A88F-6AF6-4935-A5AE-A79375734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6418" y="521705"/>
                <a:ext cx="393131" cy="393131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solidFill>
                <a:schemeClr val="accent1"/>
              </a:solid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Oval 15">
                <a:extLst>
                  <a:ext uri="{FF2B5EF4-FFF2-40B4-BE49-F238E27FC236}">
                    <a16:creationId xmlns:a16="http://schemas.microsoft.com/office/drawing/2014/main" id="{F098BB2F-FA42-4422-A156-970078A363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0367" y="1119238"/>
                <a:ext cx="393131" cy="39313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26137202-0A76-4573-8ACA-8AAC38947522}"/>
              </a:ext>
            </a:extLst>
          </p:cNvPr>
          <p:cNvSpPr/>
          <p:nvPr/>
        </p:nvSpPr>
        <p:spPr>
          <a:xfrm>
            <a:off x="9424765" y="521705"/>
            <a:ext cx="1283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Permanent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DE16118-42EA-4C52-A8AF-12847E71FF48}"/>
              </a:ext>
            </a:extLst>
          </p:cNvPr>
          <p:cNvSpPr/>
          <p:nvPr/>
        </p:nvSpPr>
        <p:spPr>
          <a:xfrm>
            <a:off x="9424765" y="1137709"/>
            <a:ext cx="1191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Temporary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70479C6-DD53-4418-94B2-67A999D148AE}"/>
                  </a:ext>
                </a:extLst>
              </p:cNvPr>
              <p:cNvSpPr txBox="1"/>
              <p:nvPr/>
            </p:nvSpPr>
            <p:spPr>
              <a:xfrm>
                <a:off x="2947379" y="6336295"/>
                <a:ext cx="69887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For example the shortest path from vertex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dirty="0"/>
                  <a:t> to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dirty="0"/>
                  <a:t> of length 6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70479C6-DD53-4418-94B2-67A999D14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7379" y="6336295"/>
                <a:ext cx="6988773" cy="369332"/>
              </a:xfrm>
              <a:prstGeom prst="rect">
                <a:avLst/>
              </a:prstGeom>
              <a:blipFill>
                <a:blip r:embed="rId4"/>
                <a:stretch>
                  <a:fillRect l="-697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65A0E120-8FBA-4FE4-8D78-4B1BEEAB1B74}"/>
              </a:ext>
            </a:extLst>
          </p:cNvPr>
          <p:cNvSpPr txBox="1"/>
          <p:nvPr/>
        </p:nvSpPr>
        <p:spPr>
          <a:xfrm>
            <a:off x="4756336" y="1495374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83568-3E4B-45E8-AE5A-065DE7BA9DF9}"/>
              </a:ext>
            </a:extLst>
          </p:cNvPr>
          <p:cNvSpPr txBox="1"/>
          <p:nvPr/>
        </p:nvSpPr>
        <p:spPr>
          <a:xfrm>
            <a:off x="4756336" y="5725655"/>
            <a:ext cx="491414" cy="36933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57F7227-875E-4D21-AE01-67C3C7514427}"/>
              </a:ext>
            </a:extLst>
          </p:cNvPr>
          <p:cNvSpPr txBox="1"/>
          <p:nvPr/>
        </p:nvSpPr>
        <p:spPr>
          <a:xfrm>
            <a:off x="7016838" y="5724335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2E4120-F924-4C2D-B2C3-FE6915F4E83A}"/>
              </a:ext>
            </a:extLst>
          </p:cNvPr>
          <p:cNvSpPr txBox="1"/>
          <p:nvPr/>
        </p:nvSpPr>
        <p:spPr>
          <a:xfrm>
            <a:off x="7016838" y="1497914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36E02D-5C73-4777-92B9-FE6E9A75649F}"/>
              </a:ext>
            </a:extLst>
          </p:cNvPr>
          <p:cNvSpPr txBox="1"/>
          <p:nvPr/>
        </p:nvSpPr>
        <p:spPr>
          <a:xfrm>
            <a:off x="9179058" y="319719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B631BE-504E-4E6A-84DC-DFF3ED093C96}"/>
              </a:ext>
            </a:extLst>
          </p:cNvPr>
          <p:cNvSpPr txBox="1"/>
          <p:nvPr/>
        </p:nvSpPr>
        <p:spPr>
          <a:xfrm>
            <a:off x="2691983" y="3186861"/>
            <a:ext cx="491414" cy="369332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3AAC37DD-22C1-4936-9E08-C3E94FBD05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3310706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3AAC37DD-22C1-4936-9E08-C3E94FBD05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3310706"/>
                  </p:ext>
                </p:extLst>
              </p:nvPr>
            </p:nvGraphicFramePr>
            <p:xfrm>
              <a:off x="161625" y="2295916"/>
              <a:ext cx="2382121" cy="259473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266">
                      <a:extLst>
                        <a:ext uri="{9D8B030D-6E8A-4147-A177-3AD203B41FA5}">
                          <a16:colId xmlns:a16="http://schemas.microsoft.com/office/drawing/2014/main" val="2286281333"/>
                        </a:ext>
                      </a:extLst>
                    </a:gridCol>
                    <a:gridCol w="738909">
                      <a:extLst>
                        <a:ext uri="{9D8B030D-6E8A-4147-A177-3AD203B41FA5}">
                          <a16:colId xmlns:a16="http://schemas.microsoft.com/office/drawing/2014/main" val="3391926193"/>
                        </a:ext>
                      </a:extLst>
                    </a:gridCol>
                    <a:gridCol w="591127">
                      <a:extLst>
                        <a:ext uri="{9D8B030D-6E8A-4147-A177-3AD203B41FA5}">
                          <a16:colId xmlns:a16="http://schemas.microsoft.com/office/drawing/2014/main" val="2622284303"/>
                        </a:ext>
                      </a:extLst>
                    </a:gridCol>
                    <a:gridCol w="631819">
                      <a:extLst>
                        <a:ext uri="{9D8B030D-6E8A-4147-A177-3AD203B41FA5}">
                          <a16:colId xmlns:a16="http://schemas.microsoft.com/office/drawing/2014/main" val="129977983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449" t="-8197" r="-473913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Label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97938" t="-8197" r="-11134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77885" t="-8197" r="-384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3045431"/>
                      </a:ext>
                    </a:extLst>
                  </a:tr>
                  <a:tr h="3696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77932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  <a:effectLst/>
                            </a:rPr>
                            <a:t>s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91249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599998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858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9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b</a:t>
                          </a:r>
                          <a:endParaRPr lang="en-GB" strike="sng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2781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P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9976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213365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Proof and Time Complexity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Dijkstra’s Algorithm has a worst-case time complexity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with a simple array (scan every vertex for the minimum)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</m:d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|)</m:t>
                        </m:r>
                      </m:e>
                    </m:func>
                  </m:oMath>
                </a14:m>
                <a:r>
                  <a:rPr lang="en-GB" dirty="0"/>
                  <a:t> with an adjacency list and a binary heap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If you are interested you can find all the proofs about the correctness and time complexities of Dijkstra’s and the other algorithms in: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0" i="0" dirty="0" err="1">
                    <a:solidFill>
                      <a:srgbClr val="333333"/>
                    </a:solidFill>
                    <a:effectLst/>
                  </a:rPr>
                  <a:t>Cormen</a:t>
                </a:r>
                <a:r>
                  <a:rPr lang="en-GB" b="0" i="0" dirty="0">
                    <a:solidFill>
                      <a:srgbClr val="333333"/>
                    </a:solidFill>
                    <a:effectLst/>
                  </a:rPr>
                  <a:t>, T. H., </a:t>
                </a:r>
                <a:r>
                  <a:rPr lang="en-GB" b="0" i="0" dirty="0" err="1">
                    <a:solidFill>
                      <a:srgbClr val="333333"/>
                    </a:solidFill>
                    <a:effectLst/>
                  </a:rPr>
                  <a:t>Leiserson</a:t>
                </a:r>
                <a:r>
                  <a:rPr lang="en-GB" b="0" i="0" dirty="0">
                    <a:solidFill>
                      <a:srgbClr val="333333"/>
                    </a:solidFill>
                    <a:effectLst/>
                  </a:rPr>
                  <a:t>, C. E., </a:t>
                </a:r>
                <a:r>
                  <a:rPr lang="en-GB" b="0" i="0" dirty="0" err="1">
                    <a:solidFill>
                      <a:srgbClr val="333333"/>
                    </a:solidFill>
                    <a:effectLst/>
                  </a:rPr>
                  <a:t>Rivest</a:t>
                </a:r>
                <a:r>
                  <a:rPr lang="en-GB" b="0" i="0" dirty="0">
                    <a:solidFill>
                      <a:srgbClr val="333333"/>
                    </a:solidFill>
                    <a:effectLst/>
                  </a:rPr>
                  <a:t>, R. L., Stein, C. (2001). </a:t>
                </a:r>
                <a:r>
                  <a:rPr lang="en-GB" b="0" i="1" dirty="0">
                    <a:solidFill>
                      <a:srgbClr val="333333"/>
                    </a:solidFill>
                    <a:effectLst/>
                  </a:rPr>
                  <a:t>Introduction to Algorithms</a:t>
                </a:r>
                <a:r>
                  <a:rPr lang="en-GB" b="0" i="0" dirty="0">
                    <a:solidFill>
                      <a:srgbClr val="333333"/>
                    </a:solidFill>
                    <a:effectLst/>
                  </a:rPr>
                  <a:t>. The MIT Press. ISBN: 0262032937</a:t>
                </a:r>
              </a:p>
              <a:p>
                <a:pPr marL="0" indent="0">
                  <a:buNone/>
                </a:pPr>
                <a:r>
                  <a:rPr lang="en-GB" dirty="0"/>
                  <a:t>Or check out MIT 6.006 Lecture 16 (Dijkstra) in this week’s 6 Further Reading folder.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Note they are somewhat complicated if you haven’t seen this type of argument before.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928" t="-29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85052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6F06696-2713-49DE-93CC-76D452D97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30 seconds….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DDE3DED-A1F9-4117-8BDB-034806529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You have 30 seconds to find Wally.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Raise your hand if you find him and I will pause to check.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100" name="Picture 4" descr="Image result for Wheres wally">
            <a:extLst>
              <a:ext uri="{FF2B5EF4-FFF2-40B4-BE49-F238E27FC236}">
                <a16:creationId xmlns:a16="http://schemas.microsoft.com/office/drawing/2014/main" id="{EBF11DB9-7459-42B1-B2C8-509FCB8DE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9342" y="136244"/>
            <a:ext cx="1756465" cy="308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53630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C4086B5-E63A-4E8B-A1E7-3E7D97888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0"/>
            <a:ext cx="109870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81645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6F06696-2713-49DE-93CC-76D452D97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Checking Answer….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DDE3DED-A1F9-4117-8BDB-034806529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Please be patient, there is some high-tech stuff going on right now…</a:t>
            </a:r>
          </a:p>
        </p:txBody>
      </p:sp>
    </p:spTree>
    <p:extLst>
      <p:ext uri="{BB962C8B-B14F-4D97-AF65-F5344CB8AC3E}">
        <p14:creationId xmlns:p14="http://schemas.microsoft.com/office/powerpoint/2010/main" val="13718293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C4086B5-E63A-4E8B-A1E7-3E7D97888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002486" y="-2324149"/>
            <a:ext cx="23328085" cy="14561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6163C97-BB0D-4AE7-97F5-718C42DBBF4F}"/>
              </a:ext>
            </a:extLst>
          </p:cNvPr>
          <p:cNvSpPr/>
          <p:nvPr/>
        </p:nvSpPr>
        <p:spPr>
          <a:xfrm>
            <a:off x="5146537" y="2377261"/>
            <a:ext cx="1242688" cy="173175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54641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Minimum Spanning Tree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</a:t>
            </a:r>
          </a:p>
          <a:p>
            <a:pPr marL="0" indent="0">
              <a:buNone/>
            </a:pPr>
            <a:r>
              <a:rPr lang="en-GB" dirty="0"/>
              <a:t>A subset of weighted edges that connects all the vertices of a connected, weighted, undirected graph together without any cycles and has the minimum total edge weight.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1EF5F95-0FC7-4087-A905-13A1D4C7C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184" y="3443017"/>
            <a:ext cx="2857500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F2F967-864C-4FD3-AFB2-AA9892B3D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143" y="3692431"/>
            <a:ext cx="4720256" cy="18062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557AFB-0745-4C37-B92B-DC6A937BAC94}"/>
              </a:ext>
            </a:extLst>
          </p:cNvPr>
          <p:cNvSpPr txBox="1"/>
          <p:nvPr/>
        </p:nvSpPr>
        <p:spPr>
          <a:xfrm>
            <a:off x="1878151" y="5837511"/>
            <a:ext cx="247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Minimum Spanning Tree</a:t>
            </a:r>
          </a:p>
        </p:txBody>
      </p:sp>
    </p:spTree>
    <p:extLst>
      <p:ext uri="{BB962C8B-B14F-4D97-AF65-F5344CB8AC3E}">
        <p14:creationId xmlns:p14="http://schemas.microsoft.com/office/powerpoint/2010/main" val="2179156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Example Application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A fibre optics company is looking to expand its portfolio by providing broadband to an entirely new set of areas. Currently it has cable laid to a particular location.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 cable is extremely expensive and particularly difficult to lay in certain areas, therefore the company wishes to minimise the cost of laying the cable, whilst connecting all areas.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 company can lay cable between certain areas and has approximated the cost. Compute the minimum cost of connecting all the areas.</a:t>
            </a:r>
          </a:p>
        </p:txBody>
      </p:sp>
    </p:spTree>
    <p:extLst>
      <p:ext uri="{BB962C8B-B14F-4D97-AF65-F5344CB8AC3E}">
        <p14:creationId xmlns:p14="http://schemas.microsoft.com/office/powerpoint/2010/main" val="13385093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AutoNum type="arabicPeriod"/>
                </a:pPr>
                <a:r>
                  <a:rPr lang="en-GB" dirty="0"/>
                  <a:t>Initialise distances to vertices 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GB" dirty="0"/>
                  <a:t> and predecessors 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endParaRPr lang="en-GB" dirty="0"/>
              </a:p>
              <a:p>
                <a:pPr marL="514350" indent="-514350">
                  <a:buAutoNum type="arabicPeriod"/>
                </a:pPr>
                <a:r>
                  <a:rPr lang="en-GB" dirty="0"/>
                  <a:t>Arbitrarily select a vertex and label as selected</a:t>
                </a:r>
              </a:p>
              <a:p>
                <a:pPr marL="514350" indent="-514350">
                  <a:buAutoNum type="arabicPeriod"/>
                </a:pPr>
                <a:r>
                  <a:rPr lang="en-GB" dirty="0"/>
                  <a:t>Update distances and predecessors to adjacent unselected vertices</a:t>
                </a:r>
              </a:p>
              <a:p>
                <a:pPr marL="514350" indent="-514350">
                  <a:buFont typeface="Arial" panose="020B0604020202020204" pitchFamily="34" charset="0"/>
                  <a:buAutoNum type="arabicPeriod"/>
                </a:pPr>
                <a:r>
                  <a:rPr lang="en-GB" dirty="0"/>
                  <a:t>Select the reachable vertex with minimum distance </a:t>
                </a:r>
              </a:p>
              <a:p>
                <a:pPr marL="514350" indent="-514350">
                  <a:buFont typeface="Arial" panose="020B0604020202020204" pitchFamily="34" charset="0"/>
                  <a:buAutoNum type="arabicPeriod"/>
                </a:pPr>
                <a:r>
                  <a:rPr lang="en-GB" dirty="0"/>
                  <a:t>Repeat 3 and 4 until all vertices have been selected </a:t>
                </a:r>
              </a:p>
            </p:txBody>
          </p:sp>
        </mc:Choice>
        <mc:Fallback xmlns="">
          <p:sp>
            <p:nvSpPr>
              <p:cNvPr id="41" name="Content Placeholder 2">
                <a:extLst>
                  <a:ext uri="{FF2B5EF4-FFF2-40B4-BE49-F238E27FC236}">
                    <a16:creationId xmlns:a16="http://schemas.microsoft.com/office/drawing/2014/main" id="{C14A0838-F628-458D-8D91-0A95C5119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50109"/>
                <a:ext cx="10515600" cy="4726854"/>
              </a:xfrm>
              <a:blipFill>
                <a:blip r:embed="rId2"/>
                <a:stretch>
                  <a:fillRect l="-1217" t="-23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43056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3034456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3034456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F4487156-67A0-49A1-BEC8-791E3FD008CA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628073" y="1664533"/>
            <a:ext cx="619120" cy="65790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Box 181">
            <a:extLst>
              <a:ext uri="{FF2B5EF4-FFF2-40B4-BE49-F238E27FC236}">
                <a16:creationId xmlns:a16="http://schemas.microsoft.com/office/drawing/2014/main" id="{C2424BA3-6727-4F69-A48E-A16270B9F1EC}"/>
              </a:ext>
            </a:extLst>
          </p:cNvPr>
          <p:cNvSpPr txBox="1"/>
          <p:nvPr/>
        </p:nvSpPr>
        <p:spPr>
          <a:xfrm>
            <a:off x="126135" y="1203917"/>
            <a:ext cx="147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Existing Cable</a:t>
            </a:r>
          </a:p>
        </p:txBody>
      </p:sp>
    </p:spTree>
    <p:extLst>
      <p:ext uri="{BB962C8B-B14F-4D97-AF65-F5344CB8AC3E}">
        <p14:creationId xmlns:p14="http://schemas.microsoft.com/office/powerpoint/2010/main" val="21572205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4081431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4081431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28C00F72-2BC5-4181-BD06-D4C9E43791D7}"/>
              </a:ext>
            </a:extLst>
          </p:cNvPr>
          <p:cNvSpPr txBox="1"/>
          <p:nvPr/>
        </p:nvSpPr>
        <p:spPr>
          <a:xfrm>
            <a:off x="1387441" y="5634182"/>
            <a:ext cx="4612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Arbitrarily select a vertex and mark as selected (here D; any start vertex gives the same total weight).</a:t>
            </a:r>
          </a:p>
        </p:txBody>
      </p:sp>
    </p:spTree>
    <p:extLst>
      <p:ext uri="{BB962C8B-B14F-4D97-AF65-F5344CB8AC3E}">
        <p14:creationId xmlns:p14="http://schemas.microsoft.com/office/powerpoint/2010/main" val="30775507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2994762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2994762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B66BC4FB-BC48-46BE-939D-1C058EDAF93D}"/>
              </a:ext>
            </a:extLst>
          </p:cNvPr>
          <p:cNvSpPr txBox="1"/>
          <p:nvPr/>
        </p:nvSpPr>
        <p:spPr>
          <a:xfrm>
            <a:off x="1387441" y="5634182"/>
            <a:ext cx="4824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of adjacent, unselected vertices</a:t>
            </a:r>
          </a:p>
        </p:txBody>
      </p:sp>
    </p:spTree>
    <p:extLst>
      <p:ext uri="{BB962C8B-B14F-4D97-AF65-F5344CB8AC3E}">
        <p14:creationId xmlns:p14="http://schemas.microsoft.com/office/powerpoint/2010/main" val="31263044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5464266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5464266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090D201A-F199-4A89-ADBE-ECD1278B2A5D}"/>
              </a:ext>
            </a:extLst>
          </p:cNvPr>
          <p:cNvSpPr txBox="1"/>
          <p:nvPr/>
        </p:nvSpPr>
        <p:spPr>
          <a:xfrm>
            <a:off x="1387441" y="5634182"/>
            <a:ext cx="4621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Select reachable vertex with minimum distance</a:t>
            </a:r>
          </a:p>
        </p:txBody>
      </p:sp>
    </p:spTree>
    <p:extLst>
      <p:ext uri="{BB962C8B-B14F-4D97-AF65-F5344CB8AC3E}">
        <p14:creationId xmlns:p14="http://schemas.microsoft.com/office/powerpoint/2010/main" val="22680401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4921793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7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4921793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6746DC0D-DA9B-4F58-B26D-8F2B79E73C60}"/>
              </a:ext>
            </a:extLst>
          </p:cNvPr>
          <p:cNvSpPr txBox="1"/>
          <p:nvPr/>
        </p:nvSpPr>
        <p:spPr>
          <a:xfrm>
            <a:off x="1387441" y="5634182"/>
            <a:ext cx="4824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of adjacent, unselected vertices</a:t>
            </a:r>
          </a:p>
        </p:txBody>
      </p:sp>
    </p:spTree>
    <p:extLst>
      <p:ext uri="{BB962C8B-B14F-4D97-AF65-F5344CB8AC3E}">
        <p14:creationId xmlns:p14="http://schemas.microsoft.com/office/powerpoint/2010/main" val="30465316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0922236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0922236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C444B077-0963-48F2-9379-CDC6DAEC9D79}"/>
              </a:ext>
            </a:extLst>
          </p:cNvPr>
          <p:cNvSpPr txBox="1"/>
          <p:nvPr/>
        </p:nvSpPr>
        <p:spPr>
          <a:xfrm>
            <a:off x="1387441" y="5634182"/>
            <a:ext cx="4621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Select reachable vertex with minimum distance</a:t>
            </a:r>
          </a:p>
        </p:txBody>
      </p:sp>
    </p:spTree>
    <p:extLst>
      <p:ext uri="{BB962C8B-B14F-4D97-AF65-F5344CB8AC3E}">
        <p14:creationId xmlns:p14="http://schemas.microsoft.com/office/powerpoint/2010/main" val="4027703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8552829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8552829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119FDE5E-6E13-442D-83C5-C1278BAD1CEF}"/>
              </a:ext>
            </a:extLst>
          </p:cNvPr>
          <p:cNvSpPr txBox="1"/>
          <p:nvPr/>
        </p:nvSpPr>
        <p:spPr>
          <a:xfrm>
            <a:off x="1387441" y="5634182"/>
            <a:ext cx="4824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of adjacent, unselected vertices</a:t>
            </a:r>
          </a:p>
        </p:txBody>
      </p:sp>
    </p:spTree>
    <p:extLst>
      <p:ext uri="{BB962C8B-B14F-4D97-AF65-F5344CB8AC3E}">
        <p14:creationId xmlns:p14="http://schemas.microsoft.com/office/powerpoint/2010/main" val="7422231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5078227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7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5078227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50F4E4A0-B287-42A7-8C73-0FE17BA82ADB}"/>
              </a:ext>
            </a:extLst>
          </p:cNvPr>
          <p:cNvSpPr txBox="1"/>
          <p:nvPr/>
        </p:nvSpPr>
        <p:spPr>
          <a:xfrm>
            <a:off x="1387441" y="5634182"/>
            <a:ext cx="4621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Select reachable vertex with minimum distance</a:t>
            </a:r>
          </a:p>
        </p:txBody>
      </p:sp>
    </p:spTree>
    <p:extLst>
      <p:ext uri="{BB962C8B-B14F-4D97-AF65-F5344CB8AC3E}">
        <p14:creationId xmlns:p14="http://schemas.microsoft.com/office/powerpoint/2010/main" val="9831047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6484472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GB" b="0" i="1" strike="no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trike="noStrike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trike="no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6484472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FE6C754A-652A-47EB-A0FB-8F9E63E72172}"/>
              </a:ext>
            </a:extLst>
          </p:cNvPr>
          <p:cNvSpPr txBox="1"/>
          <p:nvPr/>
        </p:nvSpPr>
        <p:spPr>
          <a:xfrm>
            <a:off x="1387441" y="5634182"/>
            <a:ext cx="4824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of adjacent, unselected vertices</a:t>
            </a:r>
          </a:p>
        </p:txBody>
      </p:sp>
    </p:spTree>
    <p:extLst>
      <p:ext uri="{BB962C8B-B14F-4D97-AF65-F5344CB8AC3E}">
        <p14:creationId xmlns:p14="http://schemas.microsoft.com/office/powerpoint/2010/main" val="35940358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8145915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GB" b="0" i="1" strike="no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2</m:t>
                                </m:r>
                              </m:oMath>
                            </m:oMathPara>
                          </a14:m>
                          <a:endParaRPr lang="en-GB" strike="no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8145915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1AAC00CA-77F1-4250-959C-2AB8BCB8D63B}"/>
              </a:ext>
            </a:extLst>
          </p:cNvPr>
          <p:cNvSpPr txBox="1"/>
          <p:nvPr/>
        </p:nvSpPr>
        <p:spPr>
          <a:xfrm>
            <a:off x="1387441" y="5634182"/>
            <a:ext cx="4621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Select reachable vertex with minimum distance</a:t>
            </a:r>
          </a:p>
        </p:txBody>
      </p:sp>
    </p:spTree>
    <p:extLst>
      <p:ext uri="{BB962C8B-B14F-4D97-AF65-F5344CB8AC3E}">
        <p14:creationId xmlns:p14="http://schemas.microsoft.com/office/powerpoint/2010/main" val="9827911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4501721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GB" b="0" i="1" strike="no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2</m:t>
                                </m:r>
                              </m:oMath>
                            </m:oMathPara>
                          </a14:m>
                          <a:endParaRPr lang="en-GB" strike="no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84501721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282B2787-30EE-4D04-BFBD-43C3002E35AA}"/>
              </a:ext>
            </a:extLst>
          </p:cNvPr>
          <p:cNvSpPr txBox="1"/>
          <p:nvPr/>
        </p:nvSpPr>
        <p:spPr>
          <a:xfrm>
            <a:off x="1387441" y="5634182"/>
            <a:ext cx="4824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of adjacent, unselected vertices</a:t>
            </a:r>
          </a:p>
        </p:txBody>
      </p:sp>
    </p:spTree>
    <p:extLst>
      <p:ext uri="{BB962C8B-B14F-4D97-AF65-F5344CB8AC3E}">
        <p14:creationId xmlns:p14="http://schemas.microsoft.com/office/powerpoint/2010/main" val="7251143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3069994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GB" b="0" i="1" strike="no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2</m:t>
                                </m:r>
                              </m:oMath>
                            </m:oMathPara>
                          </a14:m>
                          <a:endParaRPr lang="en-GB" strike="no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43069994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EAD83BAE-118A-4615-8E6B-32FD9DA34764}"/>
              </a:ext>
            </a:extLst>
          </p:cNvPr>
          <p:cNvSpPr txBox="1"/>
          <p:nvPr/>
        </p:nvSpPr>
        <p:spPr>
          <a:xfrm>
            <a:off x="1387441" y="5634182"/>
            <a:ext cx="4621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Select reachable vertex with minimum distance</a:t>
            </a:r>
          </a:p>
        </p:txBody>
      </p:sp>
    </p:spTree>
    <p:extLst>
      <p:ext uri="{BB962C8B-B14F-4D97-AF65-F5344CB8AC3E}">
        <p14:creationId xmlns:p14="http://schemas.microsoft.com/office/powerpoint/2010/main" val="36723107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7794341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 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GB" b="0" i="1" strike="no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2</m:t>
                                </m:r>
                              </m:oMath>
                            </m:oMathPara>
                          </a14:m>
                          <a:endParaRPr lang="en-GB" strike="no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7794341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rgbClr val="FF0000"/>
                              </a:solidFill>
                            </a:rPr>
                            <a:t> 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46501654-7D61-47F0-A5F3-B670A9CB9C62}"/>
              </a:ext>
            </a:extLst>
          </p:cNvPr>
          <p:cNvSpPr txBox="1"/>
          <p:nvPr/>
        </p:nvSpPr>
        <p:spPr>
          <a:xfrm>
            <a:off x="1387441" y="5634182"/>
            <a:ext cx="4824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of adjacent, unselected vertices</a:t>
            </a:r>
          </a:p>
        </p:txBody>
      </p:sp>
    </p:spTree>
    <p:extLst>
      <p:ext uri="{BB962C8B-B14F-4D97-AF65-F5344CB8AC3E}">
        <p14:creationId xmlns:p14="http://schemas.microsoft.com/office/powerpoint/2010/main" val="40915690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7872055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GB" b="0" i="1" strike="no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2</m:t>
                                </m:r>
                              </m:oMath>
                            </m:oMathPara>
                          </a14:m>
                          <a:endParaRPr lang="en-GB" strike="no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7872055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CE719808-7F29-4A80-B560-17A633C84E02}"/>
              </a:ext>
            </a:extLst>
          </p:cNvPr>
          <p:cNvSpPr txBox="1"/>
          <p:nvPr/>
        </p:nvSpPr>
        <p:spPr>
          <a:xfrm>
            <a:off x="1387441" y="5634182"/>
            <a:ext cx="4621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Select reachable vertex with minimum distance</a:t>
            </a:r>
          </a:p>
        </p:txBody>
      </p:sp>
    </p:spTree>
    <p:extLst>
      <p:ext uri="{BB962C8B-B14F-4D97-AF65-F5344CB8AC3E}">
        <p14:creationId xmlns:p14="http://schemas.microsoft.com/office/powerpoint/2010/main" val="21600503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1222579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GB" b="0" i="1" strike="no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2</m:t>
                                </m:r>
                              </m:oMath>
                            </m:oMathPara>
                          </a14:m>
                          <a:endParaRPr lang="en-GB" strike="no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1222579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48119AEB-1FBC-4FC0-A7DD-8BDDA0E630DD}"/>
              </a:ext>
            </a:extLst>
          </p:cNvPr>
          <p:cNvSpPr txBox="1"/>
          <p:nvPr/>
        </p:nvSpPr>
        <p:spPr>
          <a:xfrm>
            <a:off x="1387441" y="5634182"/>
            <a:ext cx="4824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Update distances of adjacent, unselected vertices</a:t>
            </a:r>
          </a:p>
        </p:txBody>
      </p:sp>
    </p:spTree>
    <p:extLst>
      <p:ext uri="{BB962C8B-B14F-4D97-AF65-F5344CB8AC3E}">
        <p14:creationId xmlns:p14="http://schemas.microsoft.com/office/powerpoint/2010/main" val="21719020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25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18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7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9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4909743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GB" b="0" i="1" strike="no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2</m:t>
                                </m:r>
                              </m:oMath>
                            </m:oMathPara>
                          </a14:m>
                          <a:endParaRPr lang="en-GB" strike="no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4909743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D15BB547-D16B-4EDA-A774-8923BFDAC476}"/>
              </a:ext>
            </a:extLst>
          </p:cNvPr>
          <p:cNvSpPr txBox="1"/>
          <p:nvPr/>
        </p:nvSpPr>
        <p:spPr>
          <a:xfrm>
            <a:off x="1387441" y="5634182"/>
            <a:ext cx="4621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Select reachable vertex with minimum distance</a:t>
            </a:r>
          </a:p>
        </p:txBody>
      </p:sp>
    </p:spTree>
    <p:extLst>
      <p:ext uri="{BB962C8B-B14F-4D97-AF65-F5344CB8AC3E}">
        <p14:creationId xmlns:p14="http://schemas.microsoft.com/office/powerpoint/2010/main" val="36711649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Prim’s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3" name="Text Box 171">
            <a:extLst>
              <a:ext uri="{FF2B5EF4-FFF2-40B4-BE49-F238E27FC236}">
                <a16:creationId xmlns:a16="http://schemas.microsoft.com/office/drawing/2014/main" id="{C0D2417A-2D23-4FA7-B452-0BF3495A5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363" y="1656391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5D9CB0A-DA4A-465C-A493-90DC5B974116}"/>
              </a:ext>
            </a:extLst>
          </p:cNvPr>
          <p:cNvCxnSpPr>
            <a:cxnSpLocks/>
            <a:stCxn id="20" idx="0"/>
            <a:endCxn id="21" idx="6"/>
          </p:cNvCxnSpPr>
          <p:nvPr/>
        </p:nvCxnSpPr>
        <p:spPr>
          <a:xfrm rot="16200000" flipH="1">
            <a:off x="3588346" y="2160939"/>
            <a:ext cx="2105635" cy="2294870"/>
          </a:xfrm>
          <a:prstGeom prst="bentConnector4">
            <a:avLst>
              <a:gd name="adj1" fmla="val -10857"/>
              <a:gd name="adj2" fmla="val 109961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6475277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dirty="0" smtClean="0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𝝅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GB" b="0" i="1" strike="no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2</m:t>
                                </m:r>
                              </m:oMath>
                            </m:oMathPara>
                          </a14:m>
                          <a:endParaRPr lang="en-GB" strike="noStrik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trike="sngStrik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3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6475277"/>
                  </p:ext>
                </p:extLst>
              </p:nvPr>
            </p:nvGraphicFramePr>
            <p:xfrm>
              <a:off x="6498359" y="1664533"/>
              <a:ext cx="5214364" cy="333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752673376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35" t="-8197" r="-3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bg1"/>
                              </a:solidFill>
                            </a:rPr>
                            <a:t>Selected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8197" r="-101869" b="-8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935" t="-8197" r="-1869" b="-8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  <a:r>
                            <a:rPr lang="en-GB" strike="noStrike" dirty="0">
                              <a:solidFill>
                                <a:schemeClr val="tx1"/>
                              </a:solidFill>
                            </a:rPr>
                            <a:t> 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308197" r="-101869" b="-5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415000" r="-101869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506557" r="-101869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606557" r="-101869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trike="sngStrike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 C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35" t="-706557" r="-101869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chemeClr val="tx1"/>
                              </a:solidFill>
                            </a:rPr>
                            <a:t>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C6776A6-97D4-4382-83DE-1AD782E14EEC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69621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All vertices added and we have the minimum spanning tree.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=21</m:t>
                        </m:r>
                      </m:e>
                    </m:nary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C6776A6-97D4-4382-83DE-1AD782E14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6962162" cy="369332"/>
              </a:xfrm>
              <a:prstGeom prst="rect">
                <a:avLst/>
              </a:prstGeom>
              <a:blipFill>
                <a:blip r:embed="rId3"/>
                <a:stretch>
                  <a:fillRect l="-788" t="-119672" b="-1836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92081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Algorithm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GB" dirty="0"/>
              <a:t>Order the edges by weightings, lowest to highest</a:t>
            </a:r>
          </a:p>
          <a:p>
            <a:pPr marL="514350" indent="-514350">
              <a:buAutoNum type="arabicPeriod"/>
            </a:pPr>
            <a:r>
              <a:rPr lang="en-GB" dirty="0"/>
              <a:t>Select the lowest-weight edge not yet considered; if it does not form a cycle, label it as selected</a:t>
            </a:r>
          </a:p>
          <a:p>
            <a:pPr marL="514350" indent="-514350">
              <a:buAutoNum type="arabicPeriod"/>
            </a:pPr>
            <a:r>
              <a:rPr lang="en-GB" dirty="0"/>
              <a:t>Repeat step 2 until all vertices have been selected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2558B0E-ADC8-4FA9-8C56-3C19EA4255A3}"/>
              </a:ext>
            </a:extLst>
          </p:cNvPr>
          <p:cNvGrpSpPr/>
          <p:nvPr/>
        </p:nvGrpSpPr>
        <p:grpSpPr>
          <a:xfrm>
            <a:off x="3548750" y="3995844"/>
            <a:ext cx="4182086" cy="2311282"/>
            <a:chOff x="1082641" y="2102389"/>
            <a:chExt cx="4754376" cy="2627565"/>
          </a:xfrm>
        </p:grpSpPr>
        <p:sp>
          <p:nvSpPr>
            <p:cNvPr id="4" name="Text Box 133">
              <a:extLst>
                <a:ext uri="{FF2B5EF4-FFF2-40B4-BE49-F238E27FC236}">
                  <a16:creationId xmlns:a16="http://schemas.microsoft.com/office/drawing/2014/main" id="{8F5F41A7-C9D6-487A-9547-45F78E5584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2641" y="3254350"/>
              <a:ext cx="304800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5</a:t>
              </a:r>
            </a:p>
          </p:txBody>
        </p:sp>
        <p:sp>
          <p:nvSpPr>
            <p:cNvPr id="5" name="Text Box 135">
              <a:extLst>
                <a:ext uri="{FF2B5EF4-FFF2-40B4-BE49-F238E27FC236}">
                  <a16:creationId xmlns:a16="http://schemas.microsoft.com/office/drawing/2014/main" id="{EC0D413B-DA8E-4768-B3DC-A2C04C0D19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0842" y="3726501"/>
              <a:ext cx="479425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1</a:t>
              </a:r>
            </a:p>
          </p:txBody>
        </p:sp>
        <p:sp>
          <p:nvSpPr>
            <p:cNvPr id="6" name="Oval 146">
              <a:extLst>
                <a:ext uri="{FF2B5EF4-FFF2-40B4-BE49-F238E27FC236}">
                  <a16:creationId xmlns:a16="http://schemas.microsoft.com/office/drawing/2014/main" id="{24366F63-2D0F-4DE6-B6D7-92AB7C8A3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0238" y="2255478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en-US" sz="1400">
                  <a:solidFill>
                    <a:schemeClr val="bg1"/>
                  </a:solidFill>
                  <a:latin typeface="+mn-lt"/>
                </a:rPr>
                <a:t>A</a:t>
              </a:r>
            </a:p>
          </p:txBody>
        </p:sp>
        <p:sp>
          <p:nvSpPr>
            <p:cNvPr id="7" name="Oval 147">
              <a:extLst>
                <a:ext uri="{FF2B5EF4-FFF2-40B4-BE49-F238E27FC236}">
                  <a16:creationId xmlns:a16="http://schemas.microsoft.com/office/drawing/2014/main" id="{42916092-6579-458A-A91E-9B433CADBB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0238" y="4139767"/>
              <a:ext cx="457200" cy="4572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en-US" sz="1400">
                  <a:solidFill>
                    <a:schemeClr val="bg1"/>
                  </a:solidFill>
                  <a:latin typeface="+mn-lt"/>
                </a:rPr>
                <a:t>H</a:t>
              </a:r>
            </a:p>
          </p:txBody>
        </p:sp>
        <p:sp>
          <p:nvSpPr>
            <p:cNvPr id="8" name="Oval 148">
              <a:extLst>
                <a:ext uri="{FF2B5EF4-FFF2-40B4-BE49-F238E27FC236}">
                  <a16:creationId xmlns:a16="http://schemas.microsoft.com/office/drawing/2014/main" id="{C08744C4-AD35-4E32-80A4-A3E4DA6F5A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5129" y="3197622"/>
              <a:ext cx="457200" cy="4572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en-US" sz="1400">
                  <a:solidFill>
                    <a:schemeClr val="bg1"/>
                  </a:solidFill>
                  <a:latin typeface="+mn-lt"/>
                </a:rPr>
                <a:t>B</a:t>
              </a:r>
            </a:p>
          </p:txBody>
        </p:sp>
        <p:sp>
          <p:nvSpPr>
            <p:cNvPr id="9" name="Oval 149">
              <a:extLst>
                <a:ext uri="{FF2B5EF4-FFF2-40B4-BE49-F238E27FC236}">
                  <a16:creationId xmlns:a16="http://schemas.microsoft.com/office/drawing/2014/main" id="{B84E0638-8279-4A8E-A0B2-9EBC850D9E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5129" y="2255557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en-US" sz="1400" dirty="0">
                  <a:solidFill>
                    <a:schemeClr val="bg1"/>
                  </a:solidFill>
                  <a:latin typeface="+mn-lt"/>
                </a:rPr>
                <a:t>F</a:t>
              </a:r>
            </a:p>
          </p:txBody>
        </p:sp>
        <p:sp>
          <p:nvSpPr>
            <p:cNvPr id="10" name="Oval 150">
              <a:extLst>
                <a:ext uri="{FF2B5EF4-FFF2-40B4-BE49-F238E27FC236}">
                  <a16:creationId xmlns:a16="http://schemas.microsoft.com/office/drawing/2014/main" id="{39D45D24-6AEC-481F-8395-AEC36F7D4E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1399" y="4132592"/>
              <a:ext cx="457200" cy="4572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en-US" sz="1400">
                  <a:solidFill>
                    <a:schemeClr val="bg1"/>
                  </a:solidFill>
                  <a:latin typeface="+mn-lt"/>
                </a:rPr>
                <a:t>E</a:t>
              </a:r>
            </a:p>
          </p:txBody>
        </p:sp>
        <p:sp>
          <p:nvSpPr>
            <p:cNvPr id="11" name="Oval 151">
              <a:extLst>
                <a:ext uri="{FF2B5EF4-FFF2-40B4-BE49-F238E27FC236}">
                  <a16:creationId xmlns:a16="http://schemas.microsoft.com/office/drawing/2014/main" id="{16B91D3F-89E6-4F9C-BD8A-D8BCB5E59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5558" y="3199547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en-US" sz="1400">
                  <a:solidFill>
                    <a:schemeClr val="bg1"/>
                  </a:solidFill>
                  <a:latin typeface="+mn-lt"/>
                </a:rPr>
                <a:t>D</a:t>
              </a:r>
            </a:p>
          </p:txBody>
        </p:sp>
        <p:sp>
          <p:nvSpPr>
            <p:cNvPr id="12" name="Oval 152">
              <a:extLst>
                <a:ext uri="{FF2B5EF4-FFF2-40B4-BE49-F238E27FC236}">
                  <a16:creationId xmlns:a16="http://schemas.microsoft.com/office/drawing/2014/main" id="{E9F322E7-10D4-4144-80A4-75F0A1B60C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7057" y="2255478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en-US" sz="1400">
                  <a:solidFill>
                    <a:schemeClr val="bg1"/>
                  </a:solidFill>
                  <a:latin typeface="+mn-lt"/>
                </a:rPr>
                <a:t>C</a:t>
              </a:r>
            </a:p>
          </p:txBody>
        </p:sp>
        <p:sp>
          <p:nvSpPr>
            <p:cNvPr id="13" name="Oval 153">
              <a:extLst>
                <a:ext uri="{FF2B5EF4-FFF2-40B4-BE49-F238E27FC236}">
                  <a16:creationId xmlns:a16="http://schemas.microsoft.com/office/drawing/2014/main" id="{FA1EADA6-AF91-4BEB-B95C-BA262F3FB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5129" y="4125417"/>
              <a:ext cx="457200" cy="457200"/>
            </a:xfrm>
            <a:prstGeom prst="ellipse">
              <a:avLst/>
            </a:prstGeom>
            <a:solidFill>
              <a:srgbClr val="FF0000"/>
            </a:solidFill>
            <a:ln w="28575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buFontTx/>
                <a:buNone/>
              </a:pPr>
              <a:r>
                <a:rPr lang="en-US" altLang="en-US" sz="1400">
                  <a:solidFill>
                    <a:schemeClr val="bg1"/>
                  </a:solidFill>
                  <a:latin typeface="+mn-lt"/>
                </a:rPr>
                <a:t>G</a:t>
              </a:r>
            </a:p>
          </p:txBody>
        </p:sp>
        <p:sp>
          <p:nvSpPr>
            <p:cNvPr id="14" name="Text Box 157">
              <a:extLst>
                <a:ext uri="{FF2B5EF4-FFF2-40B4-BE49-F238E27FC236}">
                  <a16:creationId xmlns:a16="http://schemas.microsoft.com/office/drawing/2014/main" id="{20566D64-BA60-4492-AE91-C59F89F736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7374" y="4380060"/>
              <a:ext cx="304800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3</a:t>
              </a:r>
            </a:p>
          </p:txBody>
        </p:sp>
        <p:sp>
          <p:nvSpPr>
            <p:cNvPr id="15" name="Text Box 158">
              <a:extLst>
                <a:ext uri="{FF2B5EF4-FFF2-40B4-BE49-F238E27FC236}">
                  <a16:creationId xmlns:a16="http://schemas.microsoft.com/office/drawing/2014/main" id="{7C327CD8-E369-4EC9-839B-A5467FA78B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5108" y="3791170"/>
              <a:ext cx="457200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2</a:t>
              </a:r>
            </a:p>
          </p:txBody>
        </p:sp>
        <p:sp>
          <p:nvSpPr>
            <p:cNvPr id="16" name="Text Box 159">
              <a:extLst>
                <a:ext uri="{FF2B5EF4-FFF2-40B4-BE49-F238E27FC236}">
                  <a16:creationId xmlns:a16="http://schemas.microsoft.com/office/drawing/2014/main" id="{1C4B60B0-1441-41F5-94E0-40CE72C783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6811" y="3408404"/>
              <a:ext cx="479425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4</a:t>
              </a:r>
            </a:p>
          </p:txBody>
        </p:sp>
        <p:sp>
          <p:nvSpPr>
            <p:cNvPr id="17" name="Text Box 160">
              <a:extLst>
                <a:ext uri="{FF2B5EF4-FFF2-40B4-BE49-F238E27FC236}">
                  <a16:creationId xmlns:a16="http://schemas.microsoft.com/office/drawing/2014/main" id="{2FED5D24-B8B1-4A9F-AE60-2C7E25A40F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1488" y="2805522"/>
              <a:ext cx="468312" cy="5948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6	</a:t>
              </a:r>
            </a:p>
          </p:txBody>
        </p:sp>
        <p:sp>
          <p:nvSpPr>
            <p:cNvPr id="18" name="Text Box 161">
              <a:extLst>
                <a:ext uri="{FF2B5EF4-FFF2-40B4-BE49-F238E27FC236}">
                  <a16:creationId xmlns:a16="http://schemas.microsoft.com/office/drawing/2014/main" id="{E51434CC-81AD-4DBD-B74E-37B3AE7F27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32217" y="2768602"/>
              <a:ext cx="304800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3</a:t>
              </a:r>
            </a:p>
          </p:txBody>
        </p:sp>
        <p:sp>
          <p:nvSpPr>
            <p:cNvPr id="19" name="Text Box 162">
              <a:extLst>
                <a:ext uri="{FF2B5EF4-FFF2-40B4-BE49-F238E27FC236}">
                  <a16:creationId xmlns:a16="http://schemas.microsoft.com/office/drawing/2014/main" id="{405C0A57-48B8-46EB-82EB-CD3AFD22D9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7504" y="3061386"/>
              <a:ext cx="304800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4</a:t>
              </a:r>
            </a:p>
          </p:txBody>
        </p:sp>
        <p:sp>
          <p:nvSpPr>
            <p:cNvPr id="20" name="Text Box 163">
              <a:extLst>
                <a:ext uri="{FF2B5EF4-FFF2-40B4-BE49-F238E27FC236}">
                  <a16:creationId xmlns:a16="http://schemas.microsoft.com/office/drawing/2014/main" id="{735F150F-620E-4929-8A2F-2BDCB4DC5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7776" y="2102389"/>
              <a:ext cx="304800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3</a:t>
              </a:r>
            </a:p>
          </p:txBody>
        </p:sp>
        <p:sp>
          <p:nvSpPr>
            <p:cNvPr id="21" name="Text Box 164">
              <a:extLst>
                <a:ext uri="{FF2B5EF4-FFF2-40B4-BE49-F238E27FC236}">
                  <a16:creationId xmlns:a16="http://schemas.microsoft.com/office/drawing/2014/main" id="{3F4C1119-E1D9-45D8-9B34-6A12ED2C28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9211" y="2751970"/>
              <a:ext cx="304800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4</a:t>
              </a:r>
            </a:p>
          </p:txBody>
        </p:sp>
        <p:sp>
          <p:nvSpPr>
            <p:cNvPr id="22" name="Text Box 165">
              <a:extLst>
                <a:ext uri="{FF2B5EF4-FFF2-40B4-BE49-F238E27FC236}">
                  <a16:creationId xmlns:a16="http://schemas.microsoft.com/office/drawing/2014/main" id="{F059A5F7-4848-40C4-925B-FD225F32B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3960" y="2613888"/>
              <a:ext cx="224880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8</a:t>
              </a:r>
            </a:p>
          </p:txBody>
        </p:sp>
        <p:sp>
          <p:nvSpPr>
            <p:cNvPr id="23" name="Text Box 166">
              <a:extLst>
                <a:ext uri="{FF2B5EF4-FFF2-40B4-BE49-F238E27FC236}">
                  <a16:creationId xmlns:a16="http://schemas.microsoft.com/office/drawing/2014/main" id="{BC4023F8-A31A-4F93-BB14-F4E9023794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1475" y="3527373"/>
              <a:ext cx="304800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4</a:t>
              </a:r>
            </a:p>
          </p:txBody>
        </p:sp>
        <p:sp>
          <p:nvSpPr>
            <p:cNvPr id="24" name="Text Box 167">
              <a:extLst>
                <a:ext uri="{FF2B5EF4-FFF2-40B4-BE49-F238E27FC236}">
                  <a16:creationId xmlns:a16="http://schemas.microsoft.com/office/drawing/2014/main" id="{12A8793A-E20E-47E3-96D8-14C034D811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8854" y="4365565"/>
              <a:ext cx="304800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>
                  <a:latin typeface="+mn-lt"/>
                </a:rPr>
                <a:t>3</a:t>
              </a:r>
            </a:p>
          </p:txBody>
        </p:sp>
        <p:sp>
          <p:nvSpPr>
            <p:cNvPr id="25" name="Text Box 169">
              <a:extLst>
                <a:ext uri="{FF2B5EF4-FFF2-40B4-BE49-F238E27FC236}">
                  <a16:creationId xmlns:a16="http://schemas.microsoft.com/office/drawing/2014/main" id="{8FF4883F-81BF-4CDE-BA64-CACE96B6B2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1918" y="2109822"/>
              <a:ext cx="479425" cy="349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400" b="1" dirty="0">
                  <a:latin typeface="+mn-lt"/>
                </a:rPr>
                <a:t>10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5FC497-AC70-4EB6-8C62-CD6CD10FE742}"/>
                </a:ext>
              </a:extLst>
            </p:cNvPr>
            <p:cNvCxnSpPr>
              <a:stCxn id="7" idx="0"/>
              <a:endCxn id="6" idx="4"/>
            </p:cNvCxnSpPr>
            <p:nvPr/>
          </p:nvCxnSpPr>
          <p:spPr>
            <a:xfrm flipV="1">
              <a:off x="1408838" y="2712678"/>
              <a:ext cx="0" cy="142708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0330726-296D-43F5-A4CF-826629605307}"/>
                </a:ext>
              </a:extLst>
            </p:cNvPr>
            <p:cNvCxnSpPr>
              <a:cxnSpLocks/>
              <a:stCxn id="6" idx="6"/>
              <a:endCxn id="9" idx="2"/>
            </p:cNvCxnSpPr>
            <p:nvPr/>
          </p:nvCxnSpPr>
          <p:spPr>
            <a:xfrm>
              <a:off x="1637438" y="2484078"/>
              <a:ext cx="1627691" cy="7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60638AD-90ED-4A58-B6EE-E8421F0013E2}"/>
                </a:ext>
              </a:extLst>
            </p:cNvPr>
            <p:cNvCxnSpPr>
              <a:stCxn id="9" idx="6"/>
              <a:endCxn id="12" idx="2"/>
            </p:cNvCxnSpPr>
            <p:nvPr/>
          </p:nvCxnSpPr>
          <p:spPr>
            <a:xfrm flipV="1">
              <a:off x="3722329" y="2484078"/>
              <a:ext cx="1604728" cy="7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71ACE6A-BD33-4112-8EAB-C41AF1460D6B}"/>
                </a:ext>
              </a:extLst>
            </p:cNvPr>
            <p:cNvCxnSpPr>
              <a:cxnSpLocks/>
              <a:stCxn id="12" idx="4"/>
              <a:endCxn id="11" idx="0"/>
            </p:cNvCxnSpPr>
            <p:nvPr/>
          </p:nvCxnSpPr>
          <p:spPr>
            <a:xfrm flipH="1">
              <a:off x="5554158" y="2712678"/>
              <a:ext cx="1499" cy="48686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EC67EE1-CC77-4B92-9A7B-E30D7E9C3833}"/>
                </a:ext>
              </a:extLst>
            </p:cNvPr>
            <p:cNvCxnSpPr>
              <a:stCxn id="12" idx="3"/>
              <a:endCxn id="8" idx="7"/>
            </p:cNvCxnSpPr>
            <p:nvPr/>
          </p:nvCxnSpPr>
          <p:spPr>
            <a:xfrm flipH="1">
              <a:off x="3655374" y="2645723"/>
              <a:ext cx="1738638" cy="6188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F31E1E1-75BD-4695-94C7-0DADE6F83CA3}"/>
                </a:ext>
              </a:extLst>
            </p:cNvPr>
            <p:cNvCxnSpPr>
              <a:stCxn id="9" idx="5"/>
              <a:endCxn id="11" idx="1"/>
            </p:cNvCxnSpPr>
            <p:nvPr/>
          </p:nvCxnSpPr>
          <p:spPr>
            <a:xfrm>
              <a:off x="3655374" y="2645802"/>
              <a:ext cx="1737139" cy="6207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CE7BD3C-1E92-41F9-BAEF-C7FADE9B0131}"/>
                </a:ext>
              </a:extLst>
            </p:cNvPr>
            <p:cNvCxnSpPr>
              <a:stCxn id="9" idx="4"/>
              <a:endCxn id="8" idx="0"/>
            </p:cNvCxnSpPr>
            <p:nvPr/>
          </p:nvCxnSpPr>
          <p:spPr>
            <a:xfrm>
              <a:off x="3493729" y="2712757"/>
              <a:ext cx="0" cy="48486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54B2025-0821-4AE5-A516-F8CDEB726A0F}"/>
                </a:ext>
              </a:extLst>
            </p:cNvPr>
            <p:cNvCxnSpPr>
              <a:cxnSpLocks/>
              <a:stCxn id="8" idx="1"/>
              <a:endCxn id="6" idx="5"/>
            </p:cNvCxnSpPr>
            <p:nvPr/>
          </p:nvCxnSpPr>
          <p:spPr>
            <a:xfrm flipH="1" flipV="1">
              <a:off x="1570483" y="2645723"/>
              <a:ext cx="1761601" cy="6188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B23BE7A-C120-4218-94F8-CF3A3A35DF5E}"/>
                </a:ext>
              </a:extLst>
            </p:cNvPr>
            <p:cNvCxnSpPr>
              <a:cxnSpLocks/>
              <a:stCxn id="8" idx="3"/>
              <a:endCxn id="7" idx="7"/>
            </p:cNvCxnSpPr>
            <p:nvPr/>
          </p:nvCxnSpPr>
          <p:spPr>
            <a:xfrm flipH="1">
              <a:off x="1570483" y="3587867"/>
              <a:ext cx="1761601" cy="61885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1DA69F9-9289-465B-AF50-E53231A513F3}"/>
                </a:ext>
              </a:extLst>
            </p:cNvPr>
            <p:cNvCxnSpPr>
              <a:cxnSpLocks/>
              <a:stCxn id="7" idx="6"/>
              <a:endCxn id="13" idx="2"/>
            </p:cNvCxnSpPr>
            <p:nvPr/>
          </p:nvCxnSpPr>
          <p:spPr>
            <a:xfrm flipV="1">
              <a:off x="1637438" y="4354017"/>
              <a:ext cx="1627691" cy="1435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DDF7A81-E64D-47D5-A445-7EFD1E8DA665}"/>
                </a:ext>
              </a:extLst>
            </p:cNvPr>
            <p:cNvCxnSpPr>
              <a:cxnSpLocks/>
              <a:stCxn id="11" idx="3"/>
              <a:endCxn id="13" idx="7"/>
            </p:cNvCxnSpPr>
            <p:nvPr/>
          </p:nvCxnSpPr>
          <p:spPr>
            <a:xfrm flipH="1">
              <a:off x="3655374" y="3589792"/>
              <a:ext cx="1737139" cy="60258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E92887C-1641-4196-AF97-50A361C4F871}"/>
                </a:ext>
              </a:extLst>
            </p:cNvPr>
            <p:cNvCxnSpPr>
              <a:stCxn id="8" idx="5"/>
              <a:endCxn id="10" idx="1"/>
            </p:cNvCxnSpPr>
            <p:nvPr/>
          </p:nvCxnSpPr>
          <p:spPr>
            <a:xfrm>
              <a:off x="3655374" y="3587867"/>
              <a:ext cx="1742980" cy="61168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E080F8B-862F-476B-8B41-0B4EA482768C}"/>
                </a:ext>
              </a:extLst>
            </p:cNvPr>
            <p:cNvCxnSpPr>
              <a:stCxn id="10" idx="2"/>
              <a:endCxn id="13" idx="6"/>
            </p:cNvCxnSpPr>
            <p:nvPr/>
          </p:nvCxnSpPr>
          <p:spPr>
            <a:xfrm flipH="1" flipV="1">
              <a:off x="3722329" y="4354017"/>
              <a:ext cx="1609070" cy="717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34C266C-C093-4656-BB18-C99849544C53}"/>
                </a:ext>
              </a:extLst>
            </p:cNvPr>
            <p:cNvCxnSpPr>
              <a:cxnSpLocks/>
              <a:stCxn id="11" idx="4"/>
              <a:endCxn id="10" idx="0"/>
            </p:cNvCxnSpPr>
            <p:nvPr/>
          </p:nvCxnSpPr>
          <p:spPr>
            <a:xfrm>
              <a:off x="5554158" y="3656747"/>
              <a:ext cx="5841" cy="47584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E7D61B23-3EE6-4285-BABF-3B6C89078C43}"/>
              </a:ext>
            </a:extLst>
          </p:cNvPr>
          <p:cNvSpPr txBox="1"/>
          <p:nvPr/>
        </p:nvSpPr>
        <p:spPr>
          <a:xfrm>
            <a:off x="9039969" y="4623961"/>
            <a:ext cx="1438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This is a cycle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0AD53A0-19F4-4011-9F14-7F54F1916CE7}"/>
              </a:ext>
            </a:extLst>
          </p:cNvPr>
          <p:cNvCxnSpPr/>
          <p:nvPr/>
        </p:nvCxnSpPr>
        <p:spPr>
          <a:xfrm flipH="1">
            <a:off x="7823977" y="4889641"/>
            <a:ext cx="1122851" cy="5627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069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6	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6352636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6352636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" t="-8197" r="-202336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A8C9FB-4DB4-43E9-9874-5B1E174D5387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Select first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that do not form a cycle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A8C9FB-4DB4-43E9-9874-5B1E174D53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blipFill>
                <a:blip r:embed="rId3"/>
                <a:stretch>
                  <a:fillRect l="-1139" t="-8197" r="-25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08765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6	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1202297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1202297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" t="-8197" r="-202336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2896E77-93ED-4381-9DC4-180C62C68438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Select first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that do not form a cycle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22896E77-93ED-4381-9DC4-180C62C68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blipFill>
                <a:blip r:embed="rId3"/>
                <a:stretch>
                  <a:fillRect l="-1139" t="-8197" r="-25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590418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6	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5266079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5266079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Edge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6D3EB4D-4C26-40CB-ACCF-537A605E9C11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Select first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that do not form a cycle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6D3EB4D-4C26-40CB-ACCF-537A605E9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blipFill>
                <a:blip r:embed="rId3"/>
                <a:stretch>
                  <a:fillRect l="-1139" t="-8197" r="-25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4900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6	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0530275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0530275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" t="-8197" r="-202336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DEA47C0-45A6-49B3-B2DA-AE476936D5D2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Select first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that do not form a cycle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DEA47C0-45A6-49B3-B2DA-AE476936D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blipFill>
                <a:blip r:embed="rId3"/>
                <a:stretch>
                  <a:fillRect l="-1139" t="-8197" r="-25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>
            <a:extLst>
              <a:ext uri="{FF2B5EF4-FFF2-40B4-BE49-F238E27FC236}">
                <a16:creationId xmlns:a16="http://schemas.microsoft.com/office/drawing/2014/main" id="{490AEC54-3A5B-4C59-A412-988A281255F3}"/>
              </a:ext>
            </a:extLst>
          </p:cNvPr>
          <p:cNvSpPr/>
          <p:nvPr/>
        </p:nvSpPr>
        <p:spPr>
          <a:xfrm>
            <a:off x="2962185" y="4999874"/>
            <a:ext cx="1520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Forms a cycle!</a:t>
            </a:r>
          </a:p>
        </p:txBody>
      </p:sp>
    </p:spTree>
    <p:extLst>
      <p:ext uri="{BB962C8B-B14F-4D97-AF65-F5344CB8AC3E}">
        <p14:creationId xmlns:p14="http://schemas.microsoft.com/office/powerpoint/2010/main" val="279084574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6	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8357219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8357219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" t="-8197" r="-202336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761EE64-A0CF-4B68-BE73-7851DE0DBB2B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Select first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that do not form a cycle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761EE64-A0CF-4B68-BE73-7851DE0DB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blipFill>
                <a:blip r:embed="rId3"/>
                <a:stretch>
                  <a:fillRect l="-1139" t="-8197" r="-25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689162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6	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1490364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1490364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" t="-8197" r="-202336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1715C44-A4F0-4DC8-B347-27190FB14882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Select first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that do not form a cycle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1715C44-A4F0-4DC8-B347-27190FB14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blipFill>
                <a:blip r:embed="rId3"/>
                <a:stretch>
                  <a:fillRect l="-1139" t="-8197" r="-25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619268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6	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8415597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8415597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" t="-8197" r="-202336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7462EF7-5CDD-4057-88D4-1A118996CEA8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Select first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that do not form a cycle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7462EF7-5CDD-4057-88D4-1A118996CE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blipFill>
                <a:blip r:embed="rId3"/>
                <a:stretch>
                  <a:fillRect l="-1139" t="-8197" r="-25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685768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6	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7652051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7652051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" t="-8197" r="-202336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984B7DF-F275-40AC-8885-910876CE6B56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Select first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that do not form a cycle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5984B7DF-F275-40AC-8885-910876CE6B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blipFill>
                <a:blip r:embed="rId3"/>
                <a:stretch>
                  <a:fillRect l="-1139" t="-8197" r="-25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716216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6	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898874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898874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" t="-8197" r="-202336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D8BDC188-91C2-4087-889B-A32501FDABEB}"/>
              </a:ext>
            </a:extLst>
          </p:cNvPr>
          <p:cNvSpPr/>
          <p:nvPr/>
        </p:nvSpPr>
        <p:spPr>
          <a:xfrm>
            <a:off x="2962185" y="4999874"/>
            <a:ext cx="1520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Forms a cycle!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57C53AA-FD1E-43ED-8567-CC1B58278178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Select first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that do not form a cycle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57C53AA-FD1E-43ED-8567-CC1B58278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blipFill>
                <a:blip r:embed="rId3"/>
                <a:stretch>
                  <a:fillRect l="-1139" t="-8197" r="-25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627244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6	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8935281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8935281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" t="-8197" r="-202336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3AE93193-9DBB-46CF-AD66-08027887B4EA}"/>
              </a:ext>
            </a:extLst>
          </p:cNvPr>
          <p:cNvSpPr/>
          <p:nvPr/>
        </p:nvSpPr>
        <p:spPr>
          <a:xfrm>
            <a:off x="2962185" y="4999874"/>
            <a:ext cx="1520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Forms a cycle!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F194212-897D-46D8-85DD-95DC63555376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Select first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that do not form a cycle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F194212-897D-46D8-85DD-95DC63555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blipFill>
                <a:blip r:embed="rId3"/>
                <a:stretch>
                  <a:fillRect l="-1139" t="-8197" r="-25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272040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chemeClr val="accent1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6	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2864088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02864088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" t="-8197" r="-202336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8814D68B-85E8-425A-BAA2-3A02CE7669A6}"/>
              </a:ext>
            </a:extLst>
          </p:cNvPr>
          <p:cNvSpPr/>
          <p:nvPr/>
        </p:nvSpPr>
        <p:spPr>
          <a:xfrm>
            <a:off x="2962185" y="4999874"/>
            <a:ext cx="1520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Forms a cycle!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D9B9AAE-A617-44EF-B1D1-5770A1BD81C8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Select first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that do not form a cycle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D9B9AAE-A617-44EF-B1D1-5770A1BD8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blipFill>
                <a:blip r:embed="rId3"/>
                <a:stretch>
                  <a:fillRect l="-1139" t="-8197" r="-25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34072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8" name="Text Box 157">
            <a:extLst>
              <a:ext uri="{FF2B5EF4-FFF2-40B4-BE49-F238E27FC236}">
                <a16:creationId xmlns:a16="http://schemas.microsoft.com/office/drawing/2014/main" id="{0F0701FC-813C-4EEE-AC0D-D4C30EA36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75" y="438006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0" name="Text Box 159">
            <a:extLst>
              <a:ext uri="{FF2B5EF4-FFF2-40B4-BE49-F238E27FC236}">
                <a16:creationId xmlns:a16="http://schemas.microsoft.com/office/drawing/2014/main" id="{A577EE62-0E34-49F6-A4A8-3B56C0853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811" y="3408404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1" name="Text Box 160">
            <a:extLst>
              <a:ext uri="{FF2B5EF4-FFF2-40B4-BE49-F238E27FC236}">
                <a16:creationId xmlns:a16="http://schemas.microsoft.com/office/drawing/2014/main" id="{552013C1-DEC7-4928-B7CB-90410B83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488" y="2805522"/>
            <a:ext cx="46831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6	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5" name="Text Box 164">
            <a:extLst>
              <a:ext uri="{FF2B5EF4-FFF2-40B4-BE49-F238E27FC236}">
                <a16:creationId xmlns:a16="http://schemas.microsoft.com/office/drawing/2014/main" id="{3634FC00-4201-48D5-A241-0BB23E4D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211" y="275197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6" name="Text Box 165">
            <a:extLst>
              <a:ext uri="{FF2B5EF4-FFF2-40B4-BE49-F238E27FC236}">
                <a16:creationId xmlns:a16="http://schemas.microsoft.com/office/drawing/2014/main" id="{C72A04E9-D4B9-44AD-BA09-4D0686196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960" y="2613888"/>
            <a:ext cx="2248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8</a:t>
            </a:r>
          </a:p>
        </p:txBody>
      </p:sp>
      <p:sp>
        <p:nvSpPr>
          <p:cNvPr id="37" name="Text Box 166">
            <a:extLst>
              <a:ext uri="{FF2B5EF4-FFF2-40B4-BE49-F238E27FC236}">
                <a16:creationId xmlns:a16="http://schemas.microsoft.com/office/drawing/2014/main" id="{1C9C15D9-1829-480C-B072-D0C994917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476" y="3527373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sp>
        <p:nvSpPr>
          <p:cNvPr id="40" name="Text Box 169">
            <a:extLst>
              <a:ext uri="{FF2B5EF4-FFF2-40B4-BE49-F238E27FC236}">
                <a16:creationId xmlns:a16="http://schemas.microsoft.com/office/drawing/2014/main" id="{2DFB86DE-C458-4A81-B2D6-C73DB3B1F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1918" y="2109822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B7EC1D9-85F1-4BDF-8B82-E98A4587EF0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637438" y="2484078"/>
            <a:ext cx="1627691" cy="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3666196-E9B3-4BEA-9BB5-886A556C8E98}"/>
              </a:ext>
            </a:extLst>
          </p:cNvPr>
          <p:cNvCxnSpPr>
            <a:stCxn id="20" idx="5"/>
            <a:endCxn id="22" idx="1"/>
          </p:cNvCxnSpPr>
          <p:nvPr/>
        </p:nvCxnSpPr>
        <p:spPr>
          <a:xfrm>
            <a:off x="3655374" y="2645802"/>
            <a:ext cx="1737139" cy="620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27C18FF-1F94-4CD9-979C-F7C29DD810E4}"/>
              </a:ext>
            </a:extLst>
          </p:cNvPr>
          <p:cNvCxnSpPr>
            <a:stCxn id="20" idx="4"/>
            <a:endCxn id="19" idx="0"/>
          </p:cNvCxnSpPr>
          <p:nvPr/>
        </p:nvCxnSpPr>
        <p:spPr>
          <a:xfrm>
            <a:off x="3493729" y="2712757"/>
            <a:ext cx="0" cy="4848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913E8A-1810-4C21-AB81-95F8CC965EFB}"/>
              </a:ext>
            </a:extLst>
          </p:cNvPr>
          <p:cNvCxnSpPr>
            <a:cxnSpLocks/>
            <a:stCxn id="19" idx="1"/>
            <a:endCxn id="17" idx="5"/>
          </p:cNvCxnSpPr>
          <p:nvPr/>
        </p:nvCxnSpPr>
        <p:spPr>
          <a:xfrm flipH="1" flipV="1">
            <a:off x="1570483" y="2645723"/>
            <a:ext cx="1761601" cy="6188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A3099CB-0A45-4EC0-9108-D18B9A49529A}"/>
              </a:ext>
            </a:extLst>
          </p:cNvPr>
          <p:cNvCxnSpPr>
            <a:cxnSpLocks/>
            <a:stCxn id="19" idx="3"/>
            <a:endCxn id="18" idx="7"/>
          </p:cNvCxnSpPr>
          <p:nvPr/>
        </p:nvCxnSpPr>
        <p:spPr>
          <a:xfrm flipH="1">
            <a:off x="1570483" y="3587867"/>
            <a:ext cx="1761601" cy="61885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E2E44C2-82B4-4D41-B73D-F9EAC2F7D921}"/>
              </a:ext>
            </a:extLst>
          </p:cNvPr>
          <p:cNvCxnSpPr>
            <a:stCxn id="19" idx="5"/>
            <a:endCxn id="21" idx="1"/>
          </p:cNvCxnSpPr>
          <p:nvPr/>
        </p:nvCxnSpPr>
        <p:spPr>
          <a:xfrm>
            <a:off x="3655374" y="3587867"/>
            <a:ext cx="1742980" cy="6116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2218078-7EEC-422D-9EB8-4E79A5154E3E}"/>
              </a:ext>
            </a:extLst>
          </p:cNvPr>
          <p:cNvCxnSpPr>
            <a:stCxn id="21" idx="2"/>
            <a:endCxn id="24" idx="6"/>
          </p:cNvCxnSpPr>
          <p:nvPr/>
        </p:nvCxnSpPr>
        <p:spPr>
          <a:xfrm flipH="1" flipV="1">
            <a:off x="3722329" y="4354017"/>
            <a:ext cx="1609070" cy="7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7425235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7425235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" t="-8197" r="-202336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245A7DD0-E408-4DCB-B85D-5A23E4233EBD}"/>
              </a:ext>
            </a:extLst>
          </p:cNvPr>
          <p:cNvSpPr/>
          <p:nvPr/>
        </p:nvSpPr>
        <p:spPr>
          <a:xfrm>
            <a:off x="2354296" y="4992316"/>
            <a:ext cx="29334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All vertices are selected. Stop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20D5448-CD36-41A2-BA8D-F0DB9ABD6341}"/>
                  </a:ext>
                </a:extLst>
              </p:cNvPr>
              <p:cNvSpPr txBox="1"/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Select first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that do not form a cycle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20D5448-CD36-41A2-BA8D-F0DB9ABD6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441" y="5634182"/>
                <a:ext cx="4816062" cy="369332"/>
              </a:xfrm>
              <a:prstGeom prst="rect">
                <a:avLst/>
              </a:prstGeom>
              <a:blipFill>
                <a:blip r:embed="rId3"/>
                <a:stretch>
                  <a:fillRect l="-1139" t="-8197" r="-25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438804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Kruskal’s  Algorithm</a:t>
            </a:r>
          </a:p>
        </p:txBody>
      </p:sp>
      <p:sp>
        <p:nvSpPr>
          <p:cNvPr id="4" name="Text Box 133">
            <a:extLst>
              <a:ext uri="{FF2B5EF4-FFF2-40B4-BE49-F238E27FC236}">
                <a16:creationId xmlns:a16="http://schemas.microsoft.com/office/drawing/2014/main" id="{210A7789-DD6F-41BD-97AB-AF6F4CD03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41" y="3254350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5</a:t>
            </a:r>
          </a:p>
        </p:txBody>
      </p:sp>
      <p:sp>
        <p:nvSpPr>
          <p:cNvPr id="6" name="Text Box 135">
            <a:extLst>
              <a:ext uri="{FF2B5EF4-FFF2-40B4-BE49-F238E27FC236}">
                <a16:creationId xmlns:a16="http://schemas.microsoft.com/office/drawing/2014/main" id="{5C2EDF06-77AF-4D2F-9CE3-F9E099070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0842" y="3726501"/>
            <a:ext cx="479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1</a:t>
            </a:r>
          </a:p>
        </p:txBody>
      </p:sp>
      <p:sp>
        <p:nvSpPr>
          <p:cNvPr id="17" name="Oval 146">
            <a:extLst>
              <a:ext uri="{FF2B5EF4-FFF2-40B4-BE49-F238E27FC236}">
                <a16:creationId xmlns:a16="http://schemas.microsoft.com/office/drawing/2014/main" id="{94FD72F2-C563-41EB-B1AE-61B905B1D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A</a:t>
            </a:r>
          </a:p>
        </p:txBody>
      </p:sp>
      <p:sp>
        <p:nvSpPr>
          <p:cNvPr id="18" name="Oval 147">
            <a:extLst>
              <a:ext uri="{FF2B5EF4-FFF2-40B4-BE49-F238E27FC236}">
                <a16:creationId xmlns:a16="http://schemas.microsoft.com/office/drawing/2014/main" id="{FC37DF02-CB63-4386-B412-A948E9E1E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238" y="413976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H</a:t>
            </a:r>
          </a:p>
        </p:txBody>
      </p:sp>
      <p:sp>
        <p:nvSpPr>
          <p:cNvPr id="19" name="Oval 148">
            <a:extLst>
              <a:ext uri="{FF2B5EF4-FFF2-40B4-BE49-F238E27FC236}">
                <a16:creationId xmlns:a16="http://schemas.microsoft.com/office/drawing/2014/main" id="{EF3CABFF-E3CF-44C0-9903-39103ACF6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319762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B</a:t>
            </a:r>
          </a:p>
        </p:txBody>
      </p:sp>
      <p:sp>
        <p:nvSpPr>
          <p:cNvPr id="20" name="Oval 149">
            <a:extLst>
              <a:ext uri="{FF2B5EF4-FFF2-40B4-BE49-F238E27FC236}">
                <a16:creationId xmlns:a16="http://schemas.microsoft.com/office/drawing/2014/main" id="{D98A2C18-EB0F-4FFE-8C07-8AE58660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225555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+mn-lt"/>
              </a:rPr>
              <a:t>F</a:t>
            </a:r>
          </a:p>
        </p:txBody>
      </p:sp>
      <p:sp>
        <p:nvSpPr>
          <p:cNvPr id="21" name="Oval 150">
            <a:extLst>
              <a:ext uri="{FF2B5EF4-FFF2-40B4-BE49-F238E27FC236}">
                <a16:creationId xmlns:a16="http://schemas.microsoft.com/office/drawing/2014/main" id="{180239BC-E35E-418B-A65A-31A67CECF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399" y="4132592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E</a:t>
            </a:r>
          </a:p>
        </p:txBody>
      </p:sp>
      <p:sp>
        <p:nvSpPr>
          <p:cNvPr id="22" name="Oval 151">
            <a:extLst>
              <a:ext uri="{FF2B5EF4-FFF2-40B4-BE49-F238E27FC236}">
                <a16:creationId xmlns:a16="http://schemas.microsoft.com/office/drawing/2014/main" id="{45783BB2-7DAF-41DC-A7E0-BA8651F98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558" y="319954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D</a:t>
            </a:r>
          </a:p>
        </p:txBody>
      </p:sp>
      <p:sp>
        <p:nvSpPr>
          <p:cNvPr id="23" name="Oval 152">
            <a:extLst>
              <a:ext uri="{FF2B5EF4-FFF2-40B4-BE49-F238E27FC236}">
                <a16:creationId xmlns:a16="http://schemas.microsoft.com/office/drawing/2014/main" id="{62B8227A-249D-4E04-BFAE-BC31E72D2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57" y="2255478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C</a:t>
            </a:r>
          </a:p>
        </p:txBody>
      </p:sp>
      <p:sp>
        <p:nvSpPr>
          <p:cNvPr id="24" name="Oval 153">
            <a:extLst>
              <a:ext uri="{FF2B5EF4-FFF2-40B4-BE49-F238E27FC236}">
                <a16:creationId xmlns:a16="http://schemas.microsoft.com/office/drawing/2014/main" id="{14D45C50-AC56-4410-B440-1B802559B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5129" y="4125417"/>
            <a:ext cx="457200" cy="457200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accent1">
                <a:lumMod val="5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+mn-lt"/>
              </a:rPr>
              <a:t>G</a:t>
            </a:r>
          </a:p>
        </p:txBody>
      </p:sp>
      <p:sp>
        <p:nvSpPr>
          <p:cNvPr id="29" name="Text Box 158">
            <a:extLst>
              <a:ext uri="{FF2B5EF4-FFF2-40B4-BE49-F238E27FC236}">
                <a16:creationId xmlns:a16="http://schemas.microsoft.com/office/drawing/2014/main" id="{97246417-C4A3-4E96-BB30-0BF3205C3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109" y="3791169"/>
            <a:ext cx="457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2</a:t>
            </a:r>
          </a:p>
        </p:txBody>
      </p:sp>
      <p:sp>
        <p:nvSpPr>
          <p:cNvPr id="32" name="Text Box 161">
            <a:extLst>
              <a:ext uri="{FF2B5EF4-FFF2-40B4-BE49-F238E27FC236}">
                <a16:creationId xmlns:a16="http://schemas.microsoft.com/office/drawing/2014/main" id="{1718BAFE-FECF-4B6A-9313-5EFAB7109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2217" y="2768602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3" name="Text Box 162">
            <a:extLst>
              <a:ext uri="{FF2B5EF4-FFF2-40B4-BE49-F238E27FC236}">
                <a16:creationId xmlns:a16="http://schemas.microsoft.com/office/drawing/2014/main" id="{7C36406C-900D-4D0F-AD7B-7063F759A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504" y="306138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4</a:t>
            </a:r>
          </a:p>
        </p:txBody>
      </p:sp>
      <p:sp>
        <p:nvSpPr>
          <p:cNvPr id="34" name="Text Box 163">
            <a:extLst>
              <a:ext uri="{FF2B5EF4-FFF2-40B4-BE49-F238E27FC236}">
                <a16:creationId xmlns:a16="http://schemas.microsoft.com/office/drawing/2014/main" id="{6B0EA322-F582-4E4F-879F-E4BA573FC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7777" y="2102389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+mn-lt"/>
              </a:rPr>
              <a:t>3</a:t>
            </a:r>
          </a:p>
        </p:txBody>
      </p:sp>
      <p:sp>
        <p:nvSpPr>
          <p:cNvPr id="38" name="Text Box 167">
            <a:extLst>
              <a:ext uri="{FF2B5EF4-FFF2-40B4-BE49-F238E27FC236}">
                <a16:creationId xmlns:a16="http://schemas.microsoft.com/office/drawing/2014/main" id="{4C5A2C07-A2BC-44B1-8890-47EDFC132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854" y="4365565"/>
            <a:ext cx="30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>
                <a:latin typeface="+mn-lt"/>
              </a:rPr>
              <a:t>3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890C3A3-4845-403D-A2AB-1CD80B9B9153}"/>
              </a:ext>
            </a:extLst>
          </p:cNvPr>
          <p:cNvCxnSpPr>
            <a:stCxn id="18" idx="0"/>
            <a:endCxn id="17" idx="4"/>
          </p:cNvCxnSpPr>
          <p:nvPr/>
        </p:nvCxnSpPr>
        <p:spPr>
          <a:xfrm flipV="1">
            <a:off x="1408838" y="2712678"/>
            <a:ext cx="0" cy="142708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AC2E58-C66B-4C31-A943-2C649B31CC48}"/>
              </a:ext>
            </a:extLst>
          </p:cNvPr>
          <p:cNvCxnSpPr>
            <a:stCxn id="20" idx="6"/>
            <a:endCxn id="23" idx="2"/>
          </p:cNvCxnSpPr>
          <p:nvPr/>
        </p:nvCxnSpPr>
        <p:spPr>
          <a:xfrm flipV="1">
            <a:off x="3722329" y="2484078"/>
            <a:ext cx="1604728" cy="7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A4179AD-69AE-4D56-B584-3FF241C7CCE1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5554158" y="2712678"/>
            <a:ext cx="1499" cy="4868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EDF7E4B-B37F-4FA4-ABFA-DBBCE13446EA}"/>
              </a:ext>
            </a:extLst>
          </p:cNvPr>
          <p:cNvCxnSpPr>
            <a:stCxn id="23" idx="3"/>
            <a:endCxn id="19" idx="7"/>
          </p:cNvCxnSpPr>
          <p:nvPr/>
        </p:nvCxnSpPr>
        <p:spPr>
          <a:xfrm flipH="1">
            <a:off x="3655374" y="2645723"/>
            <a:ext cx="1738638" cy="61885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C1C1985-DCE2-4614-94AA-EC050FD26AE2}"/>
              </a:ext>
            </a:extLst>
          </p:cNvPr>
          <p:cNvCxnSpPr>
            <a:cxnSpLocks/>
            <a:stCxn id="18" idx="6"/>
            <a:endCxn id="24" idx="2"/>
          </p:cNvCxnSpPr>
          <p:nvPr/>
        </p:nvCxnSpPr>
        <p:spPr>
          <a:xfrm flipV="1">
            <a:off x="1637438" y="4354017"/>
            <a:ext cx="1627691" cy="143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F13314-669F-4137-9C9A-C41525FFB135}"/>
              </a:ext>
            </a:extLst>
          </p:cNvPr>
          <p:cNvCxnSpPr>
            <a:cxnSpLocks/>
            <a:stCxn id="22" idx="3"/>
            <a:endCxn id="24" idx="7"/>
          </p:cNvCxnSpPr>
          <p:nvPr/>
        </p:nvCxnSpPr>
        <p:spPr>
          <a:xfrm flipH="1">
            <a:off x="3655374" y="3589792"/>
            <a:ext cx="1737139" cy="6025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459C1F9-9ADB-42CA-AE82-2FE897F00A3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5554158" y="3656747"/>
            <a:ext cx="5841" cy="47584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5703991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Edge </a:t>
                          </a:r>
                          <a14:m>
                            <m:oMath xmlns:m="http://schemas.openxmlformats.org/officeDocument/2006/math">
                              <m:r>
                                <a:rPr lang="en-GB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oMath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8" name="Table 178">
                <a:extLst>
                  <a:ext uri="{FF2B5EF4-FFF2-40B4-BE49-F238E27FC236}">
                    <a16:creationId xmlns:a16="http://schemas.microsoft.com/office/drawing/2014/main" id="{A35B58B7-C34C-4042-8F76-A884A615D3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5703991"/>
                  </p:ext>
                </p:extLst>
              </p:nvPr>
            </p:nvGraphicFramePr>
            <p:xfrm>
              <a:off x="7192893" y="586698"/>
              <a:ext cx="3910773" cy="5562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03591">
                      <a:extLst>
                        <a:ext uri="{9D8B030D-6E8A-4147-A177-3AD203B41FA5}">
                          <a16:colId xmlns:a16="http://schemas.microsoft.com/office/drawing/2014/main" val="1243898713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2905718525"/>
                        </a:ext>
                      </a:extLst>
                    </a:gridCol>
                    <a:gridCol w="1303591">
                      <a:extLst>
                        <a:ext uri="{9D8B030D-6E8A-4147-A177-3AD203B41FA5}">
                          <a16:colId xmlns:a16="http://schemas.microsoft.com/office/drawing/2014/main" val="1085873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67" t="-8197" r="-202336" b="-14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8197" r="-101395" b="-14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Selected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8435716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7001524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2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1793806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(E,G)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5487997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(C,D)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4793672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(G,H)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 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932178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(C,F)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3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115872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(B,C)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563944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(B,E)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  <a:endParaRPr kumimoji="0" lang="en-US" altLang="en-US" sz="16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91404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856219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(B,H)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4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041477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(A,H)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5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41185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(D,F)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6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9922358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(A,B)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8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026808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(A,F)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>
                          <a:lvl1pPr algn="l">
                            <a:defRPr sz="28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1pPr>
                          <a:lvl2pPr algn="l">
                            <a:defRPr sz="24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2pPr>
                          <a:lvl3pPr algn="l"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3pPr>
                          <a:lvl4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4pPr>
                          <a:lvl5pPr algn="l"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5pPr>
                          <a:lvl6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6pPr>
                          <a:lvl7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7pPr>
                          <a:lvl8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8pPr>
                          <a:lvl9pPr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</a:defRPr>
                          </a:lvl9pPr>
                        </a:lstStyle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sym typeface="Symbol" panose="05050102010706020507" pitchFamily="18" charset="2"/>
                            </a:rPr>
                            <a:t>10</a:t>
                          </a:r>
                        </a:p>
                      </a:txBody>
                      <a:tcPr marT="45731" marB="45731" horzOverflow="overflow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>
                              <a:solidFill>
                                <a:srgbClr val="FF0000"/>
                              </a:solidFill>
                            </a:rPr>
                            <a:t>F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487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EF6F245-26B2-4693-BC66-8471CCCA23D3}"/>
                  </a:ext>
                </a:extLst>
              </p:cNvPr>
              <p:cNvSpPr txBox="1"/>
              <p:nvPr/>
            </p:nvSpPr>
            <p:spPr>
              <a:xfrm>
                <a:off x="860327" y="5577275"/>
                <a:ext cx="5724003" cy="1041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edges selected, let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 be the edges in the MST, then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=21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EF6F245-26B2-4693-BC66-8471CCCA2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327" y="5577275"/>
                <a:ext cx="5724003" cy="1041504"/>
              </a:xfrm>
              <a:prstGeom prst="rect">
                <a:avLst/>
              </a:prstGeom>
              <a:blipFill>
                <a:blip r:embed="rId3"/>
                <a:stretch>
                  <a:fillRect t="-3509" r="-1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954052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93E6-3D2F-4C7E-80B2-F78D636A9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293"/>
          </a:xfrm>
        </p:spPr>
        <p:txBody>
          <a:bodyPr>
            <a:normAutofit/>
          </a:bodyPr>
          <a:lstStyle/>
          <a:p>
            <a:r>
              <a:rPr lang="en-GB" dirty="0"/>
              <a:t>References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C14A0838-F628-458D-8D91-0A95C5119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09"/>
            <a:ext cx="10515600" cy="472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0" i="0" dirty="0" err="1">
                <a:solidFill>
                  <a:srgbClr val="333333"/>
                </a:solidFill>
                <a:effectLst/>
              </a:rPr>
              <a:t>Cormen</a:t>
            </a:r>
            <a:r>
              <a:rPr lang="en-GB" b="0" i="0" dirty="0">
                <a:solidFill>
                  <a:srgbClr val="333333"/>
                </a:solidFill>
                <a:effectLst/>
              </a:rPr>
              <a:t>, T. H., </a:t>
            </a:r>
            <a:r>
              <a:rPr lang="en-GB" b="0" i="0" dirty="0" err="1">
                <a:solidFill>
                  <a:srgbClr val="333333"/>
                </a:solidFill>
                <a:effectLst/>
              </a:rPr>
              <a:t>Leiserson</a:t>
            </a:r>
            <a:r>
              <a:rPr lang="en-GB" b="0" i="0" dirty="0">
                <a:solidFill>
                  <a:srgbClr val="333333"/>
                </a:solidFill>
                <a:effectLst/>
              </a:rPr>
              <a:t>, C. E., </a:t>
            </a:r>
            <a:r>
              <a:rPr lang="en-GB" b="0" i="0" dirty="0" err="1">
                <a:solidFill>
                  <a:srgbClr val="333333"/>
                </a:solidFill>
                <a:effectLst/>
              </a:rPr>
              <a:t>Rivest</a:t>
            </a:r>
            <a:r>
              <a:rPr lang="en-GB" b="0" i="0" dirty="0">
                <a:solidFill>
                  <a:srgbClr val="333333"/>
                </a:solidFill>
                <a:effectLst/>
              </a:rPr>
              <a:t>, R. L., Stein, C. (2001). </a:t>
            </a:r>
            <a:r>
              <a:rPr lang="en-GB" b="0" i="1" dirty="0">
                <a:solidFill>
                  <a:srgbClr val="333333"/>
                </a:solidFill>
                <a:effectLst/>
              </a:rPr>
              <a:t>Introduction to Algorithms</a:t>
            </a:r>
            <a:r>
              <a:rPr lang="en-GB" b="0" i="0" dirty="0">
                <a:solidFill>
                  <a:srgbClr val="333333"/>
                </a:solidFill>
                <a:effectLst/>
              </a:rPr>
              <a:t>. The MIT Press. ISBN: 0262032937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spcAft>
                <a:spcPts val="0"/>
              </a:spcAft>
              <a:buNone/>
            </a:pPr>
            <a:r>
              <a:rPr lang="en-GB" dirty="0">
                <a:ea typeface="Times New Roman" panose="02020603050405020304" pitchFamily="18" charset="0"/>
              </a:rPr>
              <a:t>Taha, </a:t>
            </a:r>
            <a:r>
              <a:rPr lang="en-GB" dirty="0" err="1">
                <a:ea typeface="Times New Roman" panose="02020603050405020304" pitchFamily="18" charset="0"/>
              </a:rPr>
              <a:t>H. A.</a:t>
            </a:r>
            <a:r>
              <a:rPr lang="en-GB" dirty="0">
                <a:ea typeface="Times New Roman" panose="02020603050405020304" pitchFamily="18" charset="0"/>
              </a:rPr>
              <a:t> (2017). Operations Research: An Introduction (10th ed.). Pearson.</a:t>
            </a:r>
          </a:p>
        </p:txBody>
      </p:sp>
    </p:spTree>
    <p:extLst>
      <p:ext uri="{BB962C8B-B14F-4D97-AF65-F5344CB8AC3E}">
        <p14:creationId xmlns:p14="http://schemas.microsoft.com/office/powerpoint/2010/main" val="3036142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7068F23-3690-47B7-A665-381B43F463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B587AB4-D8C9-43A3-B80F-6729B49465FB}">
  <ds:schemaRefs>
    <ds:schemaRef ds:uri="http://schemas.openxmlformats.org/package/2006/metadata/core-properties"/>
    <ds:schemaRef ds:uri="http://purl.org/dc/terms/"/>
    <ds:schemaRef ds:uri="http://purl.org/dc/dcmitype/"/>
    <ds:schemaRef ds:uri="606370cc-c8d9-4222-8a4e-3c320f1e3034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bf6b85bd-8a7e-4854-be4d-0780382295a8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49AC1EE-B6B3-4625-9CB8-D61F060C41F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2954</TotalTime>
  <Words>5360</Words>
  <Application>Microsoft Office PowerPoint</Application>
  <PresentationFormat>Widescreen</PresentationFormat>
  <Paragraphs>3138</Paragraphs>
  <Slides>70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6" baseType="lpstr">
      <vt:lpstr>Cambria Math</vt:lpstr>
      <vt:lpstr>Calibri Light</vt:lpstr>
      <vt:lpstr>Arial</vt:lpstr>
      <vt:lpstr>Times New Roman</vt:lpstr>
      <vt:lpstr>Calibri</vt:lpstr>
      <vt:lpstr>Office Theme</vt:lpstr>
      <vt:lpstr>Networks Shortest Paths and Minimum Spanning Tree (MST) </vt:lpstr>
      <vt:lpstr>Network</vt:lpstr>
      <vt:lpstr>Network</vt:lpstr>
      <vt:lpstr>Adjacency Matrix</vt:lpstr>
      <vt:lpstr>Shortest Path Problem</vt:lpstr>
      <vt:lpstr>Blue Peter Example</vt:lpstr>
      <vt:lpstr>Dijkstra’s Algorithm</vt:lpstr>
      <vt:lpstr>Set Up</vt:lpstr>
      <vt:lpstr>Improving Cost Labels</vt:lpstr>
      <vt:lpstr>Dijkstra 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Correctness</vt:lpstr>
      <vt:lpstr>Shortest sub-path</vt:lpstr>
      <vt:lpstr>Proof and Time Complexity</vt:lpstr>
      <vt:lpstr>30 seconds….</vt:lpstr>
      <vt:lpstr>PowerPoint Presentation</vt:lpstr>
      <vt:lpstr>Checking Answer….</vt:lpstr>
      <vt:lpstr>PowerPoint Presentation</vt:lpstr>
      <vt:lpstr>Minimum Spanning Tree</vt:lpstr>
      <vt:lpstr>Example Application</vt:lpstr>
      <vt:lpstr>Prim’s Algorithm</vt:lpstr>
      <vt:lpstr>Prim’s  Algorithm</vt:lpstr>
      <vt:lpstr>Prim’s  Algorithm</vt:lpstr>
      <vt:lpstr>Prim’s  Algorithm</vt:lpstr>
      <vt:lpstr>Prim’s  Algorithm</vt:lpstr>
      <vt:lpstr>Prim’s  Algorithm</vt:lpstr>
      <vt:lpstr>Prim’s  Algorithm</vt:lpstr>
      <vt:lpstr>Prim’s  Algorithm</vt:lpstr>
      <vt:lpstr>Prim’s  Algorithm</vt:lpstr>
      <vt:lpstr>Prim’s  Algorithm</vt:lpstr>
      <vt:lpstr>Prim’s  Algorithm</vt:lpstr>
      <vt:lpstr>Prim’s  Algorithm</vt:lpstr>
      <vt:lpstr>Prim’s  Algorithm</vt:lpstr>
      <vt:lpstr>Prim’s  Algorithm</vt:lpstr>
      <vt:lpstr>Prim’s  Algorithm</vt:lpstr>
      <vt:lpstr>Prim’s  Algorithm</vt:lpstr>
      <vt:lpstr>Prim’s  Algorithm</vt:lpstr>
      <vt:lpstr>Prim’s  Algorithm</vt:lpstr>
      <vt:lpstr>Kruskal’s Algorithm</vt:lpstr>
      <vt:lpstr>Kruskal’s  Algorithm</vt:lpstr>
      <vt:lpstr>Kruskal’s  Algorithm</vt:lpstr>
      <vt:lpstr>Kruskal’s  Algorithm</vt:lpstr>
      <vt:lpstr>Kruskal’s  Algorithm</vt:lpstr>
      <vt:lpstr>Kruskal’s  Algorithm</vt:lpstr>
      <vt:lpstr>Kruskal’s  Algorithm</vt:lpstr>
      <vt:lpstr>Kruskal’s  Algorithm</vt:lpstr>
      <vt:lpstr>Kruskal’s  Algorithm</vt:lpstr>
      <vt:lpstr>Kruskal’s  Algorithm</vt:lpstr>
      <vt:lpstr>Kruskal’s  Algorithm</vt:lpstr>
      <vt:lpstr>Kruskal’s  Algorithm</vt:lpstr>
      <vt:lpstr>Kruskal’s  Algorithm</vt:lpstr>
      <vt:lpstr>Kruskal’s  Algorithm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Semester 2 - Week 3 - Tutorial - Networks - Shortest Paths</dc:title>
  <dc:creator>Sam O'Neill</dc:creator>
  <cp:lastModifiedBy>Sam O'Neill</cp:lastModifiedBy>
  <cp:revision>2</cp:revision>
  <dcterms:created xsi:type="dcterms:W3CDTF">2019-10-08T20:55:29Z</dcterms:created>
  <dcterms:modified xsi:type="dcterms:W3CDTF">2025-11-20T13:10:37Z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  <property fmtid="{D5CDD505-2E9C-101B-9397-08002B2CF9AE}" pid="3" name="MSIP_Label_b47d098f-2640-4837-b575-e0be04df0525_Enabled">
    <vt:lpwstr>True</vt:lpwstr>
  </property>
  <property fmtid="{D5CDD505-2E9C-101B-9397-08002B2CF9AE}" pid="4" name="MSIP_Label_b47d098f-2640-4837-b575-e0be04df0525_SiteId">
    <vt:lpwstr>98f1bb3a-5efa-4782-88ba-bd897db60e62</vt:lpwstr>
  </property>
  <property fmtid="{D5CDD505-2E9C-101B-9397-08002B2CF9AE}" pid="5" name="MSIP_Label_b47d098f-2640-4837-b575-e0be04df0525_Owner">
    <vt:lpwstr>TCSR529@derby.ac.uk</vt:lpwstr>
  </property>
  <property fmtid="{D5CDD505-2E9C-101B-9397-08002B2CF9AE}" pid="6" name="MSIP_Label_b47d098f-2640-4837-b575-e0be04df0525_SetDate">
    <vt:lpwstr>2019-10-09T12:50:04.3095525Z</vt:lpwstr>
  </property>
  <property fmtid="{D5CDD505-2E9C-101B-9397-08002B2CF9AE}" pid="7" name="MSIP_Label_b47d098f-2640-4837-b575-e0be04df0525_Name">
    <vt:lpwstr>Internal</vt:lpwstr>
  </property>
  <property fmtid="{D5CDD505-2E9C-101B-9397-08002B2CF9AE}" pid="8" name="MSIP_Label_b47d098f-2640-4837-b575-e0be04df0525_Application">
    <vt:lpwstr>Microsoft Azure Information Protection</vt:lpwstr>
  </property>
  <property fmtid="{D5CDD505-2E9C-101B-9397-08002B2CF9AE}" pid="9" name="MSIP_Label_b47d098f-2640-4837-b575-e0be04df0525_Extended_MSFT_Method">
    <vt:lpwstr>Automatic</vt:lpwstr>
  </property>
  <property fmtid="{D5CDD505-2E9C-101B-9397-08002B2CF9AE}" pid="10" name="MSIP_Label_501a0944-9d81-4c75-b857-2ec7863455b7_Enabled">
    <vt:lpwstr>True</vt:lpwstr>
  </property>
  <property fmtid="{D5CDD505-2E9C-101B-9397-08002B2CF9AE}" pid="11" name="MSIP_Label_501a0944-9d81-4c75-b857-2ec7863455b7_SiteId">
    <vt:lpwstr>98f1bb3a-5efa-4782-88ba-bd897db60e62</vt:lpwstr>
  </property>
  <property fmtid="{D5CDD505-2E9C-101B-9397-08002B2CF9AE}" pid="12" name="MSIP_Label_501a0944-9d81-4c75-b857-2ec7863455b7_Owner">
    <vt:lpwstr>TCSR529@derby.ac.uk</vt:lpwstr>
  </property>
  <property fmtid="{D5CDD505-2E9C-101B-9397-08002B2CF9AE}" pid="13" name="MSIP_Label_501a0944-9d81-4c75-b857-2ec7863455b7_SetDate">
    <vt:lpwstr>2019-10-09T12:50:04.3095525Z</vt:lpwstr>
  </property>
  <property fmtid="{D5CDD505-2E9C-101B-9397-08002B2CF9AE}" pid="14" name="MSIP_Label_501a0944-9d81-4c75-b857-2ec7863455b7_Name">
    <vt:lpwstr>Internal with visible marking</vt:lpwstr>
  </property>
  <property fmtid="{D5CDD505-2E9C-101B-9397-08002B2CF9AE}" pid="15" name="MSIP_Label_501a0944-9d81-4c75-b857-2ec7863455b7_Application">
    <vt:lpwstr>Microsoft Azure Information Protection</vt:lpwstr>
  </property>
  <property fmtid="{D5CDD505-2E9C-101B-9397-08002B2CF9AE}" pid="16" name="MSIP_Label_501a0944-9d81-4c75-b857-2ec7863455b7_Parent">
    <vt:lpwstr>b47d098f-2640-4837-b575-e0be04df0525</vt:lpwstr>
  </property>
  <property fmtid="{D5CDD505-2E9C-101B-9397-08002B2CF9AE}" pid="17" name="MSIP_Label_501a0944-9d81-4c75-b857-2ec7863455b7_Extended_MSFT_Method">
    <vt:lpwstr>Automatic</vt:lpwstr>
  </property>
  <property fmtid="{D5CDD505-2E9C-101B-9397-08002B2CF9AE}" pid="18" name="Sensitivity">
    <vt:lpwstr>Internal Internal with visible marking</vt:lpwstr>
  </property>
</Properties>
</file>
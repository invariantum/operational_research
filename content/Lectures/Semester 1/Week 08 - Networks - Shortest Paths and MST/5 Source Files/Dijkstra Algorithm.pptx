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256" r:id="rId5"/>
    <p:sldId id="556" r:id="rId6"/>
    <p:sldId id="559" r:id="rId7"/>
    <p:sldId id="560" r:id="rId8"/>
    <p:sldId id="561" r:id="rId9"/>
    <p:sldId id="562" r:id="rId10"/>
    <p:sldId id="563" r:id="rId11"/>
    <p:sldId id="585" r:id="rId12"/>
    <p:sldId id="584" r:id="rId13"/>
    <p:sldId id="565" r:id="rId14"/>
    <p:sldId id="567" r:id="rId15"/>
    <p:sldId id="568" r:id="rId16"/>
    <p:sldId id="571" r:id="rId17"/>
    <p:sldId id="572" r:id="rId18"/>
    <p:sldId id="573" r:id="rId19"/>
    <p:sldId id="574" r:id="rId20"/>
    <p:sldId id="575" r:id="rId21"/>
    <p:sldId id="576" r:id="rId22"/>
    <p:sldId id="577" r:id="rId23"/>
    <p:sldId id="570" r:id="rId24"/>
    <p:sldId id="569" r:id="rId25"/>
    <p:sldId id="583" r:id="rId26"/>
    <p:sldId id="587" r:id="rId27"/>
    <p:sldId id="588" r:id="rId28"/>
    <p:sldId id="589" r:id="rId29"/>
    <p:sldId id="590" r:id="rId30"/>
    <p:sldId id="591" r:id="rId31"/>
    <p:sldId id="592" r:id="rId32"/>
    <p:sldId id="593" r:id="rId33"/>
  </p:sldIdLst>
  <p:sldSz cx="9144000" cy="6858000" type="screen4x3"/>
  <p:notesSz cx="7315200" cy="9601200"/>
  <p:custDataLst>
    <p:tags r:id="rId3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66FF66"/>
    <a:srgbClr val="004F8A"/>
    <a:srgbClr val="0058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4A784F-92EB-49AC-BC41-6456DA982C1E}" v="9" dt="2020-02-13T12:23:06.0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 autoAdjust="0"/>
    <p:restoredTop sz="91520" autoAdjust="0"/>
  </p:normalViewPr>
  <p:slideViewPr>
    <p:cSldViewPr>
      <p:cViewPr varScale="1">
        <p:scale>
          <a:sx n="100" d="100"/>
          <a:sy n="100" d="100"/>
        </p:scale>
        <p:origin x="191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DD0B0482-6565-41F2-BD9A-65C8E3474307}"/>
    <pc:docChg chg="custSel modMainMaster">
      <pc:chgData name="Sam O'Neill" userId="cb323814-a42a-4cfe-bc74-03f595e56f6e" providerId="ADAL" clId="{DD0B0482-6565-41F2-BD9A-65C8E3474307}" dt="2020-02-13T12:23:06.061" v="30"/>
      <pc:docMkLst>
        <pc:docMk/>
      </pc:docMkLst>
      <pc:sldMasterChg chg="addSp modSp mod">
        <pc:chgData name="Sam O'Neill" userId="cb323814-a42a-4cfe-bc74-03f595e56f6e" providerId="ADAL" clId="{DD0B0482-6565-41F2-BD9A-65C8E3474307}" dt="2020-02-13T12:23:06.061" v="30"/>
        <pc:sldMasterMkLst>
          <pc:docMk/>
          <pc:sldMasterMk cId="0" sldId="2147483648"/>
        </pc:sldMasterMkLst>
        <pc:spChg chg="add mod ord modVis">
          <ac:chgData name="Sam O'Neill" userId="cb323814-a42a-4cfe-bc74-03f595e56f6e" providerId="ADAL" clId="{DD0B0482-6565-41F2-BD9A-65C8E3474307}" dt="2020-02-13T12:23:06.061" v="30"/>
          <ac:spMkLst>
            <pc:docMk/>
            <pc:sldMasterMk cId="0" sldId="2147483648"/>
            <ac:spMk id="2" creationId="{A8988268-8D1D-4FFC-ACAE-6A2DC836AD0A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821EAF27-9671-498B-9E62-43EF320D1E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716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4F671A5A-708A-4079-9FAF-C7B1DCEB6A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4993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473C711-131F-43B4-AB39-60CC8F894F8D}" type="slidenum">
              <a:rPr lang="en-US" smtClean="0"/>
              <a:pPr eaLnBrk="1" hangingPunct="1"/>
              <a:t>1</a:t>
            </a:fld>
            <a:endParaRPr 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8A9970-D1AF-470E-BADA-7419BA7AF9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705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8E46C7-AE18-4188-9CE6-BFD415C096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64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F073EE-D1A6-4961-8799-690A0DE13D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310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234D5E-8768-4DF7-A26F-E5296F090D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862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3F0BCF-7D7C-4BB8-AE23-B147D60E53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735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C3D383-5D17-4FB6-8A70-02628D8AF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762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4915C9-582D-4935-BE71-56EF356F02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90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5ED7E4-6E97-4DFB-A5FE-6BAEBE0F0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94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2D7B22-54C6-409C-BFF2-A25FB5834C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007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21ABBE-8B6A-42B9-9A29-6F6D64C115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139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6366D5-9D4C-4344-A530-F848723F82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549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53200"/>
            <a:ext cx="2133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D4BF788-3CE3-4CD1-8DEF-E021C66898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MSIPCMContentMarking" descr="{&quot;HashCode&quot;:269818377,&quot;Placement&quot;:&quot;Footer&quot;}">
            <a:extLst>
              <a:ext uri="{FF2B5EF4-FFF2-40B4-BE49-F238E27FC236}">
                <a16:creationId xmlns:a16="http://schemas.microsoft.com/office/drawing/2014/main" id="{A8988268-8D1D-4FFC-ACAE-6A2DC836AD0A}"/>
              </a:ext>
            </a:extLst>
          </p:cNvPr>
          <p:cNvSpPr txBox="1"/>
          <p:nvPr userDrawn="1"/>
        </p:nvSpPr>
        <p:spPr>
          <a:xfrm>
            <a:off x="0" y="6561475"/>
            <a:ext cx="1522472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GB" sz="12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/>
          <p:cNvSpPr>
            <a:spLocks noChangeArrowheads="1"/>
          </p:cNvSpPr>
          <p:nvPr/>
        </p:nvSpPr>
        <p:spPr bwMode="auto">
          <a:xfrm>
            <a:off x="0" y="685800"/>
            <a:ext cx="9144000" cy="1905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Lecture 20.  </a:t>
            </a:r>
            <a:r>
              <a:rPr lang="en-US" sz="3600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Shortest Paths</a:t>
            </a:r>
          </a:p>
        </p:txBody>
      </p:sp>
      <p:sp>
        <p:nvSpPr>
          <p:cNvPr id="2063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5379534" y="5562600"/>
            <a:ext cx="3581400" cy="1115122"/>
          </a:xfrm>
          <a:noFill/>
        </p:spPr>
        <p:txBody>
          <a:bodyPr/>
          <a:lstStyle/>
          <a:p>
            <a:pPr algn="r" eaLnBrk="1" hangingPunct="1"/>
            <a:r>
              <a:rPr lang="en-US" sz="2400" b="1" dirty="0"/>
              <a:t>School of Computing</a:t>
            </a:r>
          </a:p>
          <a:p>
            <a:pPr algn="r" eaLnBrk="1" hangingPunct="1"/>
            <a:r>
              <a:rPr lang="en-US" sz="2400" b="1" dirty="0"/>
              <a:t>Clemson University</a:t>
            </a:r>
          </a:p>
          <a:p>
            <a:pPr algn="r" eaLnBrk="1" hangingPunct="1"/>
            <a:r>
              <a:rPr lang="en-US" sz="2400" b="1" dirty="0"/>
              <a:t>Fall, 2012</a:t>
            </a:r>
          </a:p>
        </p:txBody>
      </p:sp>
      <p:sp>
        <p:nvSpPr>
          <p:cNvPr id="29" name="Rectangle 34"/>
          <p:cNvSpPr txBox="1">
            <a:spLocks noChangeArrowheads="1"/>
          </p:cNvSpPr>
          <p:nvPr/>
        </p:nvSpPr>
        <p:spPr bwMode="auto">
          <a:xfrm>
            <a:off x="0" y="3124200"/>
            <a:ext cx="9144000" cy="2029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sz="2800" b="1" dirty="0"/>
              <a:t>CpSc 212: Algorithms and Data Structures</a:t>
            </a:r>
          </a:p>
          <a:p>
            <a:pPr eaLnBrk="1" hangingPunct="1"/>
            <a:r>
              <a:rPr lang="en-US" sz="2800" b="1" dirty="0"/>
              <a:t>Brian C. Dean</a:t>
            </a:r>
          </a:p>
        </p:txBody>
      </p:sp>
      <p:sp>
        <p:nvSpPr>
          <p:cNvPr id="31" name="Rectangle 4"/>
          <p:cNvSpPr>
            <a:spLocks noChangeArrowheads="1"/>
          </p:cNvSpPr>
          <p:nvPr/>
        </p:nvSpPr>
        <p:spPr bwMode="auto">
          <a:xfrm>
            <a:off x="8990671" y="5638800"/>
            <a:ext cx="76200" cy="117831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3600" b="1" kern="0" dirty="0">
              <a:solidFill>
                <a:srgbClr val="002060"/>
              </a:solidFill>
              <a:latin typeface="Arial"/>
              <a:ea typeface="+mj-ea"/>
              <a:cs typeface="+mj-cs"/>
            </a:endParaRPr>
          </a:p>
        </p:txBody>
      </p:sp>
      <p:grpSp>
        <p:nvGrpSpPr>
          <p:cNvPr id="34" name="Group 68"/>
          <p:cNvGrpSpPr>
            <a:grpSpLocks/>
          </p:cNvGrpSpPr>
          <p:nvPr/>
        </p:nvGrpSpPr>
        <p:grpSpPr bwMode="auto">
          <a:xfrm>
            <a:off x="130498" y="5568302"/>
            <a:ext cx="3069902" cy="1148989"/>
            <a:chOff x="307975" y="4773613"/>
            <a:chExt cx="4379913" cy="1687512"/>
          </a:xfrm>
          <a:solidFill>
            <a:srgbClr val="0070C0"/>
          </a:solidFill>
        </p:grpSpPr>
        <p:sp>
          <p:nvSpPr>
            <p:cNvPr id="35" name="Line 147"/>
            <p:cNvSpPr>
              <a:spLocks noChangeShapeType="1"/>
            </p:cNvSpPr>
            <p:nvPr/>
          </p:nvSpPr>
          <p:spPr bwMode="auto">
            <a:xfrm flipV="1">
              <a:off x="1884363" y="4849813"/>
              <a:ext cx="1498600" cy="4603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148"/>
            <p:cNvSpPr>
              <a:spLocks noChangeShapeType="1"/>
            </p:cNvSpPr>
            <p:nvPr/>
          </p:nvSpPr>
          <p:spPr bwMode="auto">
            <a:xfrm flipV="1">
              <a:off x="3074988" y="4849813"/>
              <a:ext cx="307975" cy="4603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149"/>
            <p:cNvSpPr>
              <a:spLocks noChangeShapeType="1"/>
            </p:cNvSpPr>
            <p:nvPr/>
          </p:nvSpPr>
          <p:spPr bwMode="auto">
            <a:xfrm>
              <a:off x="3382963" y="4849813"/>
              <a:ext cx="460375" cy="4603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150"/>
            <p:cNvSpPr>
              <a:spLocks noChangeShapeType="1"/>
            </p:cNvSpPr>
            <p:nvPr/>
          </p:nvSpPr>
          <p:spPr bwMode="auto">
            <a:xfrm>
              <a:off x="3382963" y="4849813"/>
              <a:ext cx="882650" cy="4603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51"/>
            <p:cNvSpPr>
              <a:spLocks noChangeShapeType="1"/>
            </p:cNvSpPr>
            <p:nvPr/>
          </p:nvSpPr>
          <p:spPr bwMode="auto">
            <a:xfrm>
              <a:off x="3382963" y="4849813"/>
              <a:ext cx="1228725" cy="4603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28"/>
            <p:cNvSpPr>
              <a:spLocks noChangeShapeType="1"/>
            </p:cNvSpPr>
            <p:nvPr/>
          </p:nvSpPr>
          <p:spPr bwMode="auto">
            <a:xfrm>
              <a:off x="923925" y="5578475"/>
              <a:ext cx="306388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127"/>
            <p:cNvSpPr>
              <a:spLocks noChangeShapeType="1"/>
            </p:cNvSpPr>
            <p:nvPr/>
          </p:nvSpPr>
          <p:spPr bwMode="auto">
            <a:xfrm>
              <a:off x="923925" y="5578475"/>
              <a:ext cx="0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126"/>
            <p:cNvSpPr>
              <a:spLocks noChangeShapeType="1"/>
            </p:cNvSpPr>
            <p:nvPr/>
          </p:nvSpPr>
          <p:spPr bwMode="auto">
            <a:xfrm flipV="1">
              <a:off x="539750" y="5578475"/>
              <a:ext cx="384175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46"/>
            <p:cNvSpPr>
              <a:spLocks noChangeShapeType="1"/>
            </p:cNvSpPr>
            <p:nvPr/>
          </p:nvSpPr>
          <p:spPr bwMode="auto">
            <a:xfrm flipV="1">
              <a:off x="3689350" y="5310188"/>
              <a:ext cx="153988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47"/>
            <p:cNvSpPr>
              <a:spLocks noChangeShapeType="1"/>
            </p:cNvSpPr>
            <p:nvPr/>
          </p:nvSpPr>
          <p:spPr bwMode="auto">
            <a:xfrm>
              <a:off x="4265613" y="5311775"/>
              <a:ext cx="0" cy="2682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48"/>
            <p:cNvSpPr>
              <a:spLocks noChangeShapeType="1"/>
            </p:cNvSpPr>
            <p:nvPr/>
          </p:nvSpPr>
          <p:spPr bwMode="auto">
            <a:xfrm>
              <a:off x="3843338" y="5310188"/>
              <a:ext cx="115887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49"/>
            <p:cNvSpPr>
              <a:spLocks noChangeShapeType="1"/>
            </p:cNvSpPr>
            <p:nvPr/>
          </p:nvSpPr>
          <p:spPr bwMode="auto">
            <a:xfrm>
              <a:off x="3689350" y="5578475"/>
              <a:ext cx="0" cy="2682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95"/>
            <p:cNvSpPr>
              <a:spLocks noChangeShapeType="1"/>
            </p:cNvSpPr>
            <p:nvPr/>
          </p:nvSpPr>
          <p:spPr bwMode="auto">
            <a:xfrm flipV="1">
              <a:off x="2535238" y="5580063"/>
              <a:ext cx="153987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96"/>
            <p:cNvSpPr>
              <a:spLocks noChangeShapeType="1"/>
            </p:cNvSpPr>
            <p:nvPr/>
          </p:nvSpPr>
          <p:spPr bwMode="auto">
            <a:xfrm>
              <a:off x="3073400" y="5580063"/>
              <a:ext cx="0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97"/>
            <p:cNvSpPr>
              <a:spLocks noChangeShapeType="1"/>
            </p:cNvSpPr>
            <p:nvPr/>
          </p:nvSpPr>
          <p:spPr bwMode="auto">
            <a:xfrm>
              <a:off x="2689225" y="5580063"/>
              <a:ext cx="115888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Line 98"/>
            <p:cNvSpPr>
              <a:spLocks noChangeShapeType="1"/>
            </p:cNvSpPr>
            <p:nvPr/>
          </p:nvSpPr>
          <p:spPr bwMode="auto">
            <a:xfrm>
              <a:off x="2535238" y="5848350"/>
              <a:ext cx="0" cy="2682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Line 100"/>
            <p:cNvSpPr>
              <a:spLocks noChangeShapeType="1"/>
            </p:cNvSpPr>
            <p:nvPr/>
          </p:nvSpPr>
          <p:spPr bwMode="auto">
            <a:xfrm flipV="1">
              <a:off x="2690813" y="5310188"/>
              <a:ext cx="384175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Line 101"/>
            <p:cNvSpPr>
              <a:spLocks noChangeShapeType="1"/>
            </p:cNvSpPr>
            <p:nvPr/>
          </p:nvSpPr>
          <p:spPr bwMode="auto">
            <a:xfrm>
              <a:off x="3074988" y="5310188"/>
              <a:ext cx="0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Line 102"/>
            <p:cNvSpPr>
              <a:spLocks noChangeShapeType="1"/>
            </p:cNvSpPr>
            <p:nvPr/>
          </p:nvSpPr>
          <p:spPr bwMode="auto">
            <a:xfrm>
              <a:off x="3074988" y="5310188"/>
              <a:ext cx="306387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Line 110"/>
            <p:cNvSpPr>
              <a:spLocks noChangeShapeType="1"/>
            </p:cNvSpPr>
            <p:nvPr/>
          </p:nvSpPr>
          <p:spPr bwMode="auto">
            <a:xfrm flipV="1">
              <a:off x="1498600" y="5580063"/>
              <a:ext cx="153988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Line 111"/>
            <p:cNvSpPr>
              <a:spLocks noChangeShapeType="1"/>
            </p:cNvSpPr>
            <p:nvPr/>
          </p:nvSpPr>
          <p:spPr bwMode="auto">
            <a:xfrm>
              <a:off x="2036763" y="5580063"/>
              <a:ext cx="0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112"/>
            <p:cNvSpPr>
              <a:spLocks noChangeShapeType="1"/>
            </p:cNvSpPr>
            <p:nvPr/>
          </p:nvSpPr>
          <p:spPr bwMode="auto">
            <a:xfrm>
              <a:off x="1652588" y="5580063"/>
              <a:ext cx="115887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113"/>
            <p:cNvSpPr>
              <a:spLocks noChangeShapeType="1"/>
            </p:cNvSpPr>
            <p:nvPr/>
          </p:nvSpPr>
          <p:spPr bwMode="auto">
            <a:xfrm>
              <a:off x="1498600" y="5848350"/>
              <a:ext cx="0" cy="2682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121"/>
            <p:cNvSpPr>
              <a:spLocks noChangeShapeType="1"/>
            </p:cNvSpPr>
            <p:nvPr/>
          </p:nvSpPr>
          <p:spPr bwMode="auto">
            <a:xfrm flipV="1">
              <a:off x="384175" y="5848350"/>
              <a:ext cx="153988" cy="2682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Line 122"/>
            <p:cNvSpPr>
              <a:spLocks noChangeShapeType="1"/>
            </p:cNvSpPr>
            <p:nvPr/>
          </p:nvSpPr>
          <p:spPr bwMode="auto">
            <a:xfrm>
              <a:off x="922338" y="5848350"/>
              <a:ext cx="0" cy="2682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Line 123"/>
            <p:cNvSpPr>
              <a:spLocks noChangeShapeType="1"/>
            </p:cNvSpPr>
            <p:nvPr/>
          </p:nvSpPr>
          <p:spPr bwMode="auto">
            <a:xfrm>
              <a:off x="538163" y="5848350"/>
              <a:ext cx="115887" cy="2682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Line 124"/>
            <p:cNvSpPr>
              <a:spLocks noChangeShapeType="1"/>
            </p:cNvSpPr>
            <p:nvPr/>
          </p:nvSpPr>
          <p:spPr bwMode="auto">
            <a:xfrm>
              <a:off x="384175" y="6116638"/>
              <a:ext cx="0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Line 130"/>
            <p:cNvSpPr>
              <a:spLocks noChangeShapeType="1"/>
            </p:cNvSpPr>
            <p:nvPr/>
          </p:nvSpPr>
          <p:spPr bwMode="auto">
            <a:xfrm flipH="1">
              <a:off x="1654175" y="5310188"/>
              <a:ext cx="230188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Line 131"/>
            <p:cNvSpPr>
              <a:spLocks noChangeShapeType="1"/>
            </p:cNvSpPr>
            <p:nvPr/>
          </p:nvSpPr>
          <p:spPr bwMode="auto">
            <a:xfrm flipV="1">
              <a:off x="923925" y="5310188"/>
              <a:ext cx="960438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Line 132"/>
            <p:cNvSpPr>
              <a:spLocks noChangeShapeType="1"/>
            </p:cNvSpPr>
            <p:nvPr/>
          </p:nvSpPr>
          <p:spPr bwMode="auto">
            <a:xfrm>
              <a:off x="1884363" y="5310188"/>
              <a:ext cx="153987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Line 133"/>
            <p:cNvSpPr>
              <a:spLocks noChangeShapeType="1"/>
            </p:cNvSpPr>
            <p:nvPr/>
          </p:nvSpPr>
          <p:spPr bwMode="auto">
            <a:xfrm>
              <a:off x="1884363" y="5310188"/>
              <a:ext cx="460375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Oval 11"/>
            <p:cNvSpPr>
              <a:spLocks noChangeArrowheads="1"/>
            </p:cNvSpPr>
            <p:nvPr/>
          </p:nvSpPr>
          <p:spPr bwMode="auto">
            <a:xfrm>
              <a:off x="3613150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67" name="Oval 23"/>
            <p:cNvSpPr>
              <a:spLocks noChangeArrowheads="1"/>
            </p:cNvSpPr>
            <p:nvPr/>
          </p:nvSpPr>
          <p:spPr bwMode="auto">
            <a:xfrm>
              <a:off x="3883025" y="5500688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68" name="Oval 24"/>
            <p:cNvSpPr>
              <a:spLocks noChangeArrowheads="1"/>
            </p:cNvSpPr>
            <p:nvPr/>
          </p:nvSpPr>
          <p:spPr bwMode="auto">
            <a:xfrm>
              <a:off x="4189413" y="550227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69" name="Oval 25"/>
            <p:cNvSpPr>
              <a:spLocks noChangeArrowheads="1"/>
            </p:cNvSpPr>
            <p:nvPr/>
          </p:nvSpPr>
          <p:spPr bwMode="auto">
            <a:xfrm>
              <a:off x="4535488" y="5233988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0" name="Oval 26"/>
            <p:cNvSpPr>
              <a:spLocks noChangeArrowheads="1"/>
            </p:cNvSpPr>
            <p:nvPr/>
          </p:nvSpPr>
          <p:spPr bwMode="auto">
            <a:xfrm>
              <a:off x="3613150" y="5500688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1" name="Oval 27"/>
            <p:cNvSpPr>
              <a:spLocks noChangeArrowheads="1"/>
            </p:cNvSpPr>
            <p:nvPr/>
          </p:nvSpPr>
          <p:spPr bwMode="auto">
            <a:xfrm>
              <a:off x="4189413" y="5233988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2" name="Oval 28"/>
            <p:cNvSpPr>
              <a:spLocks noChangeArrowheads="1"/>
            </p:cNvSpPr>
            <p:nvPr/>
          </p:nvSpPr>
          <p:spPr bwMode="auto">
            <a:xfrm>
              <a:off x="3767138" y="5232400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3" name="Oval 88"/>
            <p:cNvSpPr>
              <a:spLocks noChangeArrowheads="1"/>
            </p:cNvSpPr>
            <p:nvPr/>
          </p:nvSpPr>
          <p:spPr bwMode="auto">
            <a:xfrm>
              <a:off x="2459038" y="6040438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4" name="Oval 89"/>
            <p:cNvSpPr>
              <a:spLocks noChangeArrowheads="1"/>
            </p:cNvSpPr>
            <p:nvPr/>
          </p:nvSpPr>
          <p:spPr bwMode="auto">
            <a:xfrm>
              <a:off x="2728913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5" name="Oval 90"/>
            <p:cNvSpPr>
              <a:spLocks noChangeArrowheads="1"/>
            </p:cNvSpPr>
            <p:nvPr/>
          </p:nvSpPr>
          <p:spPr bwMode="auto">
            <a:xfrm>
              <a:off x="2997200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6" name="Oval 91"/>
            <p:cNvSpPr>
              <a:spLocks noChangeArrowheads="1"/>
            </p:cNvSpPr>
            <p:nvPr/>
          </p:nvSpPr>
          <p:spPr bwMode="auto">
            <a:xfrm>
              <a:off x="3305175" y="550227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7" name="Oval 92"/>
            <p:cNvSpPr>
              <a:spLocks noChangeArrowheads="1"/>
            </p:cNvSpPr>
            <p:nvPr/>
          </p:nvSpPr>
          <p:spPr bwMode="auto">
            <a:xfrm>
              <a:off x="2459038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8" name="Oval 93"/>
            <p:cNvSpPr>
              <a:spLocks noChangeArrowheads="1"/>
            </p:cNvSpPr>
            <p:nvPr/>
          </p:nvSpPr>
          <p:spPr bwMode="auto">
            <a:xfrm>
              <a:off x="2997200" y="550227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9" name="Oval 94"/>
            <p:cNvSpPr>
              <a:spLocks noChangeArrowheads="1"/>
            </p:cNvSpPr>
            <p:nvPr/>
          </p:nvSpPr>
          <p:spPr bwMode="auto">
            <a:xfrm>
              <a:off x="2613025" y="550227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0" name="Oval 99"/>
            <p:cNvSpPr>
              <a:spLocks noChangeArrowheads="1"/>
            </p:cNvSpPr>
            <p:nvPr/>
          </p:nvSpPr>
          <p:spPr bwMode="auto">
            <a:xfrm>
              <a:off x="2997200" y="5233988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1" name="Oval 103"/>
            <p:cNvSpPr>
              <a:spLocks noChangeArrowheads="1"/>
            </p:cNvSpPr>
            <p:nvPr/>
          </p:nvSpPr>
          <p:spPr bwMode="auto">
            <a:xfrm>
              <a:off x="1422400" y="6040438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2" name="Oval 104"/>
            <p:cNvSpPr>
              <a:spLocks noChangeArrowheads="1"/>
            </p:cNvSpPr>
            <p:nvPr/>
          </p:nvSpPr>
          <p:spPr bwMode="auto">
            <a:xfrm>
              <a:off x="1692275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3" name="Oval 105"/>
            <p:cNvSpPr>
              <a:spLocks noChangeArrowheads="1"/>
            </p:cNvSpPr>
            <p:nvPr/>
          </p:nvSpPr>
          <p:spPr bwMode="auto">
            <a:xfrm>
              <a:off x="1960563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4" name="Oval 106"/>
            <p:cNvSpPr>
              <a:spLocks noChangeArrowheads="1"/>
            </p:cNvSpPr>
            <p:nvPr/>
          </p:nvSpPr>
          <p:spPr bwMode="auto">
            <a:xfrm>
              <a:off x="2268538" y="550227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5" name="Oval 107"/>
            <p:cNvSpPr>
              <a:spLocks noChangeArrowheads="1"/>
            </p:cNvSpPr>
            <p:nvPr/>
          </p:nvSpPr>
          <p:spPr bwMode="auto">
            <a:xfrm>
              <a:off x="1422400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6" name="Oval 108"/>
            <p:cNvSpPr>
              <a:spLocks noChangeArrowheads="1"/>
            </p:cNvSpPr>
            <p:nvPr/>
          </p:nvSpPr>
          <p:spPr bwMode="auto">
            <a:xfrm>
              <a:off x="1960563" y="550227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7" name="Oval 109"/>
            <p:cNvSpPr>
              <a:spLocks noChangeArrowheads="1"/>
            </p:cNvSpPr>
            <p:nvPr/>
          </p:nvSpPr>
          <p:spPr bwMode="auto">
            <a:xfrm>
              <a:off x="1576388" y="550227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8" name="Oval 114"/>
            <p:cNvSpPr>
              <a:spLocks noChangeArrowheads="1"/>
            </p:cNvSpPr>
            <p:nvPr/>
          </p:nvSpPr>
          <p:spPr bwMode="auto">
            <a:xfrm>
              <a:off x="307975" y="630872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9" name="Oval 115"/>
            <p:cNvSpPr>
              <a:spLocks noChangeArrowheads="1"/>
            </p:cNvSpPr>
            <p:nvPr/>
          </p:nvSpPr>
          <p:spPr bwMode="auto">
            <a:xfrm>
              <a:off x="577850" y="6038850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90" name="Oval 116"/>
            <p:cNvSpPr>
              <a:spLocks noChangeArrowheads="1"/>
            </p:cNvSpPr>
            <p:nvPr/>
          </p:nvSpPr>
          <p:spPr bwMode="auto">
            <a:xfrm>
              <a:off x="846138" y="6038850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91" name="Oval 117"/>
            <p:cNvSpPr>
              <a:spLocks noChangeArrowheads="1"/>
            </p:cNvSpPr>
            <p:nvPr/>
          </p:nvSpPr>
          <p:spPr bwMode="auto">
            <a:xfrm>
              <a:off x="1154113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92" name="Oval 118"/>
            <p:cNvSpPr>
              <a:spLocks noChangeArrowheads="1"/>
            </p:cNvSpPr>
            <p:nvPr/>
          </p:nvSpPr>
          <p:spPr bwMode="auto">
            <a:xfrm>
              <a:off x="307975" y="6038850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93" name="Oval 119"/>
            <p:cNvSpPr>
              <a:spLocks noChangeArrowheads="1"/>
            </p:cNvSpPr>
            <p:nvPr/>
          </p:nvSpPr>
          <p:spPr bwMode="auto">
            <a:xfrm>
              <a:off x="846138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94" name="Oval 120"/>
            <p:cNvSpPr>
              <a:spLocks noChangeArrowheads="1"/>
            </p:cNvSpPr>
            <p:nvPr/>
          </p:nvSpPr>
          <p:spPr bwMode="auto">
            <a:xfrm>
              <a:off x="461963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95" name="Oval 125"/>
            <p:cNvSpPr>
              <a:spLocks noChangeArrowheads="1"/>
            </p:cNvSpPr>
            <p:nvPr/>
          </p:nvSpPr>
          <p:spPr bwMode="auto">
            <a:xfrm>
              <a:off x="846138" y="550227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96" name="Oval 129"/>
            <p:cNvSpPr>
              <a:spLocks noChangeArrowheads="1"/>
            </p:cNvSpPr>
            <p:nvPr/>
          </p:nvSpPr>
          <p:spPr bwMode="auto">
            <a:xfrm>
              <a:off x="1806575" y="5233988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97" name="Oval 146"/>
            <p:cNvSpPr>
              <a:spLocks noChangeArrowheads="1"/>
            </p:cNvSpPr>
            <p:nvPr/>
          </p:nvSpPr>
          <p:spPr bwMode="auto">
            <a:xfrm>
              <a:off x="3305175" y="477361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86EF792-3451-4DDA-ABBC-FE9EB8442971}" type="slidenum">
              <a:rPr lang="en-US" smtClean="0"/>
              <a:pPr eaLnBrk="1" hangingPunct="1"/>
              <a:t>2</a:t>
            </a:fld>
            <a:endParaRPr lang="en-US"/>
          </a:p>
        </p:txBody>
      </p:sp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Types of Shortest Path Problems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686800" cy="5410200"/>
          </a:xfrm>
        </p:spPr>
        <p:txBody>
          <a:bodyPr/>
          <a:lstStyle/>
          <a:p>
            <a:pPr eaLnBrk="1" hangingPunct="1"/>
            <a:r>
              <a:rPr lang="en-US" b="1" dirty="0">
                <a:cs typeface="Arial" charset="0"/>
              </a:rPr>
              <a:t>Single-source single-destination: </a:t>
            </a:r>
            <a:r>
              <a:rPr lang="en-US" dirty="0">
                <a:cs typeface="Arial" charset="0"/>
              </a:rPr>
              <a:t>find the shortest path from s to t in a (directed) graph.</a:t>
            </a:r>
          </a:p>
          <a:p>
            <a:pPr eaLnBrk="1" hangingPunct="1"/>
            <a:r>
              <a:rPr lang="en-US" b="1" dirty="0">
                <a:cs typeface="Arial" charset="0"/>
              </a:rPr>
              <a:t>Single-source:</a:t>
            </a:r>
            <a:r>
              <a:rPr lang="en-US" dirty="0">
                <a:cs typeface="Arial" charset="0"/>
              </a:rPr>
              <a:t> find the shortest path from s to every other node in a (directed) graph.</a:t>
            </a:r>
          </a:p>
          <a:p>
            <a:pPr eaLnBrk="1" hangingPunct="1"/>
            <a:r>
              <a:rPr lang="en-US" b="1" dirty="0">
                <a:cs typeface="Arial" charset="0"/>
              </a:rPr>
              <a:t>All-pairs:</a:t>
            </a:r>
            <a:r>
              <a:rPr lang="en-US" dirty="0">
                <a:cs typeface="Arial" charset="0"/>
              </a:rPr>
              <a:t> find the shortest path from every node to every other node.</a:t>
            </a:r>
          </a:p>
        </p:txBody>
      </p:sp>
    </p:spTree>
    <p:extLst>
      <p:ext uri="{BB962C8B-B14F-4D97-AF65-F5344CB8AC3E}">
        <p14:creationId xmlns:p14="http://schemas.microsoft.com/office/powerpoint/2010/main" val="3083866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303E94F-F5AD-4AED-BFC9-6214824B8C1D}" type="slidenum">
              <a:rPr lang="en-US" smtClean="0"/>
              <a:pPr eaLnBrk="1" hangingPunct="1"/>
              <a:t>3</a:t>
            </a:fld>
            <a:endParaRPr lang="en-US"/>
          </a:p>
        </p:txBody>
      </p:sp>
      <p:sp>
        <p:nvSpPr>
          <p:cNvPr id="18435" name="Freeform 90"/>
          <p:cNvSpPr>
            <a:spLocks/>
          </p:cNvSpPr>
          <p:nvPr/>
        </p:nvSpPr>
        <p:spPr bwMode="auto">
          <a:xfrm flipV="1">
            <a:off x="3352800" y="5122069"/>
            <a:ext cx="1282700" cy="838200"/>
          </a:xfrm>
          <a:custGeom>
            <a:avLst/>
            <a:gdLst>
              <a:gd name="T0" fmla="*/ 2147483647 w 856"/>
              <a:gd name="T1" fmla="*/ 2147483647 h 608"/>
              <a:gd name="T2" fmla="*/ 2147483647 w 856"/>
              <a:gd name="T3" fmla="*/ 2147483647 h 608"/>
              <a:gd name="T4" fmla="*/ 2147483647 w 856"/>
              <a:gd name="T5" fmla="*/ 0 h 608"/>
              <a:gd name="T6" fmla="*/ 0 60000 65536"/>
              <a:gd name="T7" fmla="*/ 0 60000 65536"/>
              <a:gd name="T8" fmla="*/ 0 60000 65536"/>
              <a:gd name="T9" fmla="*/ 0 w 856"/>
              <a:gd name="T10" fmla="*/ 0 h 608"/>
              <a:gd name="T11" fmla="*/ 856 w 856"/>
              <a:gd name="T12" fmla="*/ 608 h 6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56" h="608">
                <a:moveTo>
                  <a:pt x="856" y="480"/>
                </a:moveTo>
                <a:cubicBezTo>
                  <a:pt x="564" y="544"/>
                  <a:pt x="272" y="608"/>
                  <a:pt x="136" y="528"/>
                </a:cubicBezTo>
                <a:cubicBezTo>
                  <a:pt x="0" y="448"/>
                  <a:pt x="20" y="224"/>
                  <a:pt x="40" y="0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6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Single-Source Shortest Paths</a:t>
            </a:r>
          </a:p>
        </p:txBody>
      </p:sp>
      <p:sp>
        <p:nvSpPr>
          <p:cNvPr id="18437" name="Line 13"/>
          <p:cNvSpPr>
            <a:spLocks noChangeShapeType="1"/>
          </p:cNvSpPr>
          <p:nvPr/>
        </p:nvSpPr>
        <p:spPr bwMode="auto">
          <a:xfrm flipV="1">
            <a:off x="457200" y="1616869"/>
            <a:ext cx="1066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8" name="Line 14"/>
          <p:cNvSpPr>
            <a:spLocks noChangeShapeType="1"/>
          </p:cNvSpPr>
          <p:nvPr/>
        </p:nvSpPr>
        <p:spPr bwMode="auto">
          <a:xfrm>
            <a:off x="457200" y="2455069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9" name="Line 15"/>
          <p:cNvSpPr>
            <a:spLocks noChangeShapeType="1"/>
          </p:cNvSpPr>
          <p:nvPr/>
        </p:nvSpPr>
        <p:spPr bwMode="auto">
          <a:xfrm flipV="1">
            <a:off x="1676400" y="1693069"/>
            <a:ext cx="0" cy="1676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0" name="Line 16"/>
          <p:cNvSpPr>
            <a:spLocks noChangeShapeType="1"/>
          </p:cNvSpPr>
          <p:nvPr/>
        </p:nvSpPr>
        <p:spPr bwMode="auto">
          <a:xfrm>
            <a:off x="1676400" y="1540669"/>
            <a:ext cx="1600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1" name="Line 17"/>
          <p:cNvSpPr>
            <a:spLocks noChangeShapeType="1"/>
          </p:cNvSpPr>
          <p:nvPr/>
        </p:nvSpPr>
        <p:spPr bwMode="auto">
          <a:xfrm>
            <a:off x="1600200" y="1464469"/>
            <a:ext cx="1676400" cy="1752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2" name="Line 18"/>
          <p:cNvSpPr>
            <a:spLocks noChangeShapeType="1"/>
          </p:cNvSpPr>
          <p:nvPr/>
        </p:nvSpPr>
        <p:spPr bwMode="auto">
          <a:xfrm flipV="1">
            <a:off x="3429000" y="2607469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3" name="Line 19"/>
          <p:cNvSpPr>
            <a:spLocks noChangeShapeType="1"/>
          </p:cNvSpPr>
          <p:nvPr/>
        </p:nvSpPr>
        <p:spPr bwMode="auto">
          <a:xfrm>
            <a:off x="3429000" y="1540669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4" name="Line 20"/>
          <p:cNvSpPr>
            <a:spLocks noChangeShapeType="1"/>
          </p:cNvSpPr>
          <p:nvPr/>
        </p:nvSpPr>
        <p:spPr bwMode="auto">
          <a:xfrm>
            <a:off x="3429000" y="1540669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5" name="Line 21"/>
          <p:cNvSpPr>
            <a:spLocks noChangeShapeType="1"/>
          </p:cNvSpPr>
          <p:nvPr/>
        </p:nvSpPr>
        <p:spPr bwMode="auto">
          <a:xfrm flipH="1">
            <a:off x="1828800" y="3293269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6" name="Line 22"/>
          <p:cNvSpPr>
            <a:spLocks noChangeShapeType="1"/>
          </p:cNvSpPr>
          <p:nvPr/>
        </p:nvSpPr>
        <p:spPr bwMode="auto">
          <a:xfrm>
            <a:off x="1676400" y="3445669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7" name="Oval 4"/>
          <p:cNvSpPr>
            <a:spLocks noChangeArrowheads="1"/>
          </p:cNvSpPr>
          <p:nvPr/>
        </p:nvSpPr>
        <p:spPr bwMode="auto">
          <a:xfrm>
            <a:off x="304800" y="23026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18448" name="Oval 7"/>
          <p:cNvSpPr>
            <a:spLocks noChangeArrowheads="1"/>
          </p:cNvSpPr>
          <p:nvPr/>
        </p:nvSpPr>
        <p:spPr bwMode="auto">
          <a:xfrm>
            <a:off x="1524000" y="13882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18449" name="Oval 8"/>
          <p:cNvSpPr>
            <a:spLocks noChangeArrowheads="1"/>
          </p:cNvSpPr>
          <p:nvPr/>
        </p:nvSpPr>
        <p:spPr bwMode="auto">
          <a:xfrm>
            <a:off x="1524000" y="32170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18450" name="Oval 9"/>
          <p:cNvSpPr>
            <a:spLocks noChangeArrowheads="1"/>
          </p:cNvSpPr>
          <p:nvPr/>
        </p:nvSpPr>
        <p:spPr bwMode="auto">
          <a:xfrm>
            <a:off x="3276600" y="32170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18451" name="Oval 10"/>
          <p:cNvSpPr>
            <a:spLocks noChangeArrowheads="1"/>
          </p:cNvSpPr>
          <p:nvPr/>
        </p:nvSpPr>
        <p:spPr bwMode="auto">
          <a:xfrm>
            <a:off x="3276600" y="13882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18452" name="Oval 11"/>
          <p:cNvSpPr>
            <a:spLocks noChangeArrowheads="1"/>
          </p:cNvSpPr>
          <p:nvPr/>
        </p:nvSpPr>
        <p:spPr bwMode="auto">
          <a:xfrm>
            <a:off x="4495800" y="23026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18453" name="Text Box 23"/>
          <p:cNvSpPr txBox="1">
            <a:spLocks noChangeArrowheads="1"/>
          </p:cNvSpPr>
          <p:nvPr/>
        </p:nvSpPr>
        <p:spPr bwMode="auto">
          <a:xfrm>
            <a:off x="838200" y="16930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18454" name="Text Box 24"/>
          <p:cNvSpPr txBox="1">
            <a:spLocks noChangeArrowheads="1"/>
          </p:cNvSpPr>
          <p:nvPr/>
        </p:nvSpPr>
        <p:spPr bwMode="auto">
          <a:xfrm>
            <a:off x="838200" y="28360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18455" name="Text Box 25"/>
          <p:cNvSpPr txBox="1">
            <a:spLocks noChangeArrowheads="1"/>
          </p:cNvSpPr>
          <p:nvPr/>
        </p:nvSpPr>
        <p:spPr bwMode="auto">
          <a:xfrm>
            <a:off x="1371600" y="22264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18456" name="Text Box 26"/>
          <p:cNvSpPr txBox="1">
            <a:spLocks noChangeArrowheads="1"/>
          </p:cNvSpPr>
          <p:nvPr/>
        </p:nvSpPr>
        <p:spPr bwMode="auto">
          <a:xfrm>
            <a:off x="2438400" y="20740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18457" name="Text Box 27"/>
          <p:cNvSpPr txBox="1">
            <a:spLocks noChangeArrowheads="1"/>
          </p:cNvSpPr>
          <p:nvPr/>
        </p:nvSpPr>
        <p:spPr bwMode="auto">
          <a:xfrm>
            <a:off x="2362200" y="29884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18458" name="Text Box 28"/>
          <p:cNvSpPr txBox="1">
            <a:spLocks noChangeArrowheads="1"/>
          </p:cNvSpPr>
          <p:nvPr/>
        </p:nvSpPr>
        <p:spPr bwMode="auto">
          <a:xfrm>
            <a:off x="2362200" y="33694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18459" name="Text Box 29"/>
          <p:cNvSpPr txBox="1">
            <a:spLocks noChangeArrowheads="1"/>
          </p:cNvSpPr>
          <p:nvPr/>
        </p:nvSpPr>
        <p:spPr bwMode="auto">
          <a:xfrm>
            <a:off x="2362200" y="1159669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18460" name="Text Box 30"/>
          <p:cNvSpPr txBox="1">
            <a:spLocks noChangeArrowheads="1"/>
          </p:cNvSpPr>
          <p:nvPr/>
        </p:nvSpPr>
        <p:spPr bwMode="auto">
          <a:xfrm>
            <a:off x="3429000" y="22264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18461" name="Text Box 31"/>
          <p:cNvSpPr txBox="1">
            <a:spLocks noChangeArrowheads="1"/>
          </p:cNvSpPr>
          <p:nvPr/>
        </p:nvSpPr>
        <p:spPr bwMode="auto">
          <a:xfrm>
            <a:off x="3962400" y="1616869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18462" name="Text Box 32"/>
          <p:cNvSpPr txBox="1">
            <a:spLocks noChangeArrowheads="1"/>
          </p:cNvSpPr>
          <p:nvPr/>
        </p:nvSpPr>
        <p:spPr bwMode="auto">
          <a:xfrm>
            <a:off x="3962400" y="29122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18463" name="Line 60"/>
          <p:cNvSpPr>
            <a:spLocks noChangeShapeType="1"/>
          </p:cNvSpPr>
          <p:nvPr/>
        </p:nvSpPr>
        <p:spPr bwMode="auto">
          <a:xfrm>
            <a:off x="457200" y="5274469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4" name="Line 61"/>
          <p:cNvSpPr>
            <a:spLocks noChangeShapeType="1"/>
          </p:cNvSpPr>
          <p:nvPr/>
        </p:nvSpPr>
        <p:spPr bwMode="auto">
          <a:xfrm flipV="1">
            <a:off x="1676400" y="4512469"/>
            <a:ext cx="0" cy="1676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5" name="Line 62"/>
          <p:cNvSpPr>
            <a:spLocks noChangeShapeType="1"/>
          </p:cNvSpPr>
          <p:nvPr/>
        </p:nvSpPr>
        <p:spPr bwMode="auto">
          <a:xfrm>
            <a:off x="1676400" y="4360069"/>
            <a:ext cx="1600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6" name="Line 63"/>
          <p:cNvSpPr>
            <a:spLocks noChangeShapeType="1"/>
          </p:cNvSpPr>
          <p:nvPr/>
        </p:nvSpPr>
        <p:spPr bwMode="auto">
          <a:xfrm>
            <a:off x="1600200" y="4283869"/>
            <a:ext cx="1676400" cy="1752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7" name="Line 64"/>
          <p:cNvSpPr>
            <a:spLocks noChangeShapeType="1"/>
          </p:cNvSpPr>
          <p:nvPr/>
        </p:nvSpPr>
        <p:spPr bwMode="auto">
          <a:xfrm flipV="1">
            <a:off x="3429000" y="5426869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8" name="Oval 69"/>
          <p:cNvSpPr>
            <a:spLocks noChangeArrowheads="1"/>
          </p:cNvSpPr>
          <p:nvPr/>
        </p:nvSpPr>
        <p:spPr bwMode="auto">
          <a:xfrm>
            <a:off x="304800" y="51220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18469" name="Oval 70"/>
          <p:cNvSpPr>
            <a:spLocks noChangeArrowheads="1"/>
          </p:cNvSpPr>
          <p:nvPr/>
        </p:nvSpPr>
        <p:spPr bwMode="auto">
          <a:xfrm>
            <a:off x="1524000" y="42076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18470" name="Oval 71"/>
          <p:cNvSpPr>
            <a:spLocks noChangeArrowheads="1"/>
          </p:cNvSpPr>
          <p:nvPr/>
        </p:nvSpPr>
        <p:spPr bwMode="auto">
          <a:xfrm>
            <a:off x="1524000" y="60364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18471" name="Oval 72"/>
          <p:cNvSpPr>
            <a:spLocks noChangeArrowheads="1"/>
          </p:cNvSpPr>
          <p:nvPr/>
        </p:nvSpPr>
        <p:spPr bwMode="auto">
          <a:xfrm>
            <a:off x="3276600" y="60364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18472" name="Oval 73"/>
          <p:cNvSpPr>
            <a:spLocks noChangeArrowheads="1"/>
          </p:cNvSpPr>
          <p:nvPr/>
        </p:nvSpPr>
        <p:spPr bwMode="auto">
          <a:xfrm>
            <a:off x="3276600" y="42076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18473" name="Oval 74"/>
          <p:cNvSpPr>
            <a:spLocks noChangeArrowheads="1"/>
          </p:cNvSpPr>
          <p:nvPr/>
        </p:nvSpPr>
        <p:spPr bwMode="auto">
          <a:xfrm>
            <a:off x="4495800" y="51220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18474" name="Text Box 76"/>
          <p:cNvSpPr txBox="1">
            <a:spLocks noChangeArrowheads="1"/>
          </p:cNvSpPr>
          <p:nvPr/>
        </p:nvSpPr>
        <p:spPr bwMode="auto">
          <a:xfrm>
            <a:off x="838200" y="56554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18475" name="Text Box 77"/>
          <p:cNvSpPr txBox="1">
            <a:spLocks noChangeArrowheads="1"/>
          </p:cNvSpPr>
          <p:nvPr/>
        </p:nvSpPr>
        <p:spPr bwMode="auto">
          <a:xfrm>
            <a:off x="1371600" y="50458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18476" name="Text Box 78"/>
          <p:cNvSpPr txBox="1">
            <a:spLocks noChangeArrowheads="1"/>
          </p:cNvSpPr>
          <p:nvPr/>
        </p:nvSpPr>
        <p:spPr bwMode="auto">
          <a:xfrm>
            <a:off x="2438400" y="48934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18477" name="Text Box 81"/>
          <p:cNvSpPr txBox="1">
            <a:spLocks noChangeArrowheads="1"/>
          </p:cNvSpPr>
          <p:nvPr/>
        </p:nvSpPr>
        <p:spPr bwMode="auto">
          <a:xfrm>
            <a:off x="2362200" y="3979069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18478" name="Text Box 84"/>
          <p:cNvSpPr txBox="1">
            <a:spLocks noChangeArrowheads="1"/>
          </p:cNvSpPr>
          <p:nvPr/>
        </p:nvSpPr>
        <p:spPr bwMode="auto">
          <a:xfrm>
            <a:off x="3962400" y="57316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18479" name="Text Box 85"/>
          <p:cNvSpPr txBox="1">
            <a:spLocks noChangeArrowheads="1"/>
          </p:cNvSpPr>
          <p:nvPr/>
        </p:nvSpPr>
        <p:spPr bwMode="auto">
          <a:xfrm>
            <a:off x="1219200" y="6341269"/>
            <a:ext cx="93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c[3] = 2</a:t>
            </a:r>
          </a:p>
        </p:txBody>
      </p:sp>
      <p:sp>
        <p:nvSpPr>
          <p:cNvPr id="18480" name="Text Box 86"/>
          <p:cNvSpPr txBox="1">
            <a:spLocks noChangeArrowheads="1"/>
          </p:cNvSpPr>
          <p:nvPr/>
        </p:nvSpPr>
        <p:spPr bwMode="auto">
          <a:xfrm>
            <a:off x="1219200" y="3826669"/>
            <a:ext cx="93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c[1] = 6</a:t>
            </a:r>
          </a:p>
        </p:txBody>
      </p:sp>
      <p:sp>
        <p:nvSpPr>
          <p:cNvPr id="18481" name="Text Box 87"/>
          <p:cNvSpPr txBox="1">
            <a:spLocks noChangeArrowheads="1"/>
          </p:cNvSpPr>
          <p:nvPr/>
        </p:nvSpPr>
        <p:spPr bwMode="auto">
          <a:xfrm>
            <a:off x="2895600" y="3826669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c[2] = 17</a:t>
            </a:r>
          </a:p>
        </p:txBody>
      </p:sp>
      <p:sp>
        <p:nvSpPr>
          <p:cNvPr id="18482" name="Text Box 88"/>
          <p:cNvSpPr txBox="1">
            <a:spLocks noChangeArrowheads="1"/>
          </p:cNvSpPr>
          <p:nvPr/>
        </p:nvSpPr>
        <p:spPr bwMode="auto">
          <a:xfrm>
            <a:off x="2971800" y="6341269"/>
            <a:ext cx="93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c[4] = 9</a:t>
            </a:r>
          </a:p>
        </p:txBody>
      </p:sp>
      <p:sp>
        <p:nvSpPr>
          <p:cNvPr id="18483" name="Text Box 89"/>
          <p:cNvSpPr txBox="1">
            <a:spLocks noChangeArrowheads="1"/>
          </p:cNvSpPr>
          <p:nvPr/>
        </p:nvSpPr>
        <p:spPr bwMode="auto">
          <a:xfrm>
            <a:off x="4572000" y="5426869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c[5] = 15</a:t>
            </a:r>
          </a:p>
        </p:txBody>
      </p:sp>
      <p:sp>
        <p:nvSpPr>
          <p:cNvPr id="18484" name="Text Box 91"/>
          <p:cNvSpPr txBox="1">
            <a:spLocks noChangeArrowheads="1"/>
          </p:cNvSpPr>
          <p:nvPr/>
        </p:nvSpPr>
        <p:spPr bwMode="auto">
          <a:xfrm>
            <a:off x="3200400" y="4817269"/>
            <a:ext cx="12827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pred[5] = 4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448300" y="1173956"/>
            <a:ext cx="35433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Input:</a:t>
            </a:r>
          </a:p>
          <a:p>
            <a:r>
              <a:rPr lang="en-US" sz="2400" dirty="0"/>
              <a:t>Directed graph with </a:t>
            </a:r>
          </a:p>
          <a:p>
            <a:r>
              <a:rPr lang="en-US" sz="2400" dirty="0"/>
              <a:t>costs/weights/lengths on its edges.</a:t>
            </a:r>
          </a:p>
          <a:p>
            <a:endParaRPr lang="en-US" sz="2400" dirty="0"/>
          </a:p>
          <a:p>
            <a:r>
              <a:rPr lang="en-US" sz="2400" b="1" u="sng" dirty="0"/>
              <a:t>Output: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c[j]: cost of shortest     s </a:t>
            </a:r>
            <a:r>
              <a:rPr lang="en-US" sz="2400" dirty="0">
                <a:sym typeface="Symbol"/>
              </a:rPr>
              <a:t> j path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 err="1">
                <a:sym typeface="Symbol"/>
              </a:rPr>
              <a:t>pred</a:t>
            </a:r>
            <a:r>
              <a:rPr lang="en-US" sz="2400" dirty="0">
                <a:sym typeface="Symbol"/>
              </a:rPr>
              <a:t>[j]: previous node (before j) on a shortest </a:t>
            </a:r>
            <a:r>
              <a:rPr lang="en-US" sz="2400" dirty="0"/>
              <a:t>s </a:t>
            </a:r>
            <a:r>
              <a:rPr lang="en-US" sz="2400" dirty="0">
                <a:sym typeface="Symbol"/>
              </a:rPr>
              <a:t> j path.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13212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4292AC3-B669-4CCA-AE20-9271A580E4A8}" type="slidenum">
              <a:rPr lang="en-US" smtClean="0"/>
              <a:pPr eaLnBrk="1" hangingPunct="1"/>
              <a:t>4</a:t>
            </a:fld>
            <a:endParaRPr lang="en-US"/>
          </a:p>
        </p:txBody>
      </p:sp>
      <p:sp>
        <p:nvSpPr>
          <p:cNvPr id="19459" name="Rectangle 2"/>
          <p:cNvSpPr>
            <a:spLocks noChangeArrowheads="1"/>
          </p:cNvSpPr>
          <p:nvPr/>
        </p:nvSpPr>
        <p:spPr bwMode="auto">
          <a:xfrm>
            <a:off x="0" y="0"/>
            <a:ext cx="9144000" cy="1295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Single-Source Shortest Paths: </a:t>
            </a:r>
          </a:p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Algorithms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76400"/>
            <a:ext cx="8686800" cy="502920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Easy cases that we can solve in linear time:</a:t>
            </a:r>
          </a:p>
          <a:p>
            <a:pPr lvl="1" eaLnBrk="1" hangingPunct="1"/>
            <a:r>
              <a:rPr lang="en-US" dirty="0" err="1">
                <a:cs typeface="Arial" charset="0"/>
              </a:rPr>
              <a:t>Unweighted</a:t>
            </a:r>
            <a:r>
              <a:rPr lang="en-US" dirty="0">
                <a:cs typeface="Arial" charset="0"/>
              </a:rPr>
              <a:t> graphs: use </a:t>
            </a:r>
            <a:r>
              <a:rPr lang="en-US" b="1" dirty="0">
                <a:cs typeface="Arial" charset="0"/>
              </a:rPr>
              <a:t>breadth-first search</a:t>
            </a:r>
            <a:r>
              <a:rPr lang="en-US" dirty="0">
                <a:cs typeface="Arial" charset="0"/>
              </a:rPr>
              <a:t>.</a:t>
            </a:r>
          </a:p>
          <a:p>
            <a:pPr lvl="1" eaLnBrk="1" hangingPunct="1"/>
            <a:r>
              <a:rPr lang="en-US" dirty="0">
                <a:cs typeface="Arial" charset="0"/>
              </a:rPr>
              <a:t>Directed acyclic graphs (DAGs): use </a:t>
            </a:r>
            <a:r>
              <a:rPr lang="en-US" b="1" dirty="0">
                <a:cs typeface="Arial" charset="0"/>
              </a:rPr>
              <a:t>dynamic programming</a:t>
            </a:r>
            <a:r>
              <a:rPr lang="en-US" dirty="0">
                <a:cs typeface="Arial" charset="0"/>
              </a:rPr>
              <a:t>.</a:t>
            </a:r>
          </a:p>
          <a:p>
            <a:pPr eaLnBrk="1" hangingPunct="1"/>
            <a:r>
              <a:rPr lang="en-US" dirty="0">
                <a:cs typeface="Arial" charset="0"/>
              </a:rPr>
              <a:t>If edge costs are </a:t>
            </a:r>
            <a:r>
              <a:rPr lang="en-US" u="sng" dirty="0">
                <a:cs typeface="Arial" charset="0"/>
              </a:rPr>
              <a:t>nonnegative</a:t>
            </a:r>
            <a:r>
              <a:rPr lang="en-US" dirty="0">
                <a:cs typeface="Arial" charset="0"/>
              </a:rPr>
              <a:t>, we’ll use </a:t>
            </a:r>
            <a:r>
              <a:rPr lang="en-US" b="1" dirty="0" err="1">
                <a:cs typeface="Arial" charset="0"/>
              </a:rPr>
              <a:t>Dijkstra’s</a:t>
            </a:r>
            <a:r>
              <a:rPr lang="en-US" b="1" dirty="0">
                <a:cs typeface="Arial" charset="0"/>
              </a:rPr>
              <a:t> algorithm</a:t>
            </a:r>
            <a:r>
              <a:rPr lang="en-US" dirty="0">
                <a:cs typeface="Arial" charset="0"/>
              </a:rPr>
              <a:t>.</a:t>
            </a:r>
          </a:p>
          <a:p>
            <a:pPr eaLnBrk="1" hangingPunct="1"/>
            <a:r>
              <a:rPr lang="en-US" dirty="0">
                <a:cs typeface="Arial" charset="0"/>
              </a:rPr>
              <a:t>If some edge costs are negative, we use the </a:t>
            </a:r>
            <a:r>
              <a:rPr lang="en-US" b="1" dirty="0">
                <a:cs typeface="Arial" charset="0"/>
              </a:rPr>
              <a:t>Bellman-Ford</a:t>
            </a:r>
            <a:r>
              <a:rPr lang="en-US" dirty="0">
                <a:cs typeface="Arial" charset="0"/>
              </a:rPr>
              <a:t> </a:t>
            </a:r>
            <a:r>
              <a:rPr lang="en-US" b="1" dirty="0">
                <a:cs typeface="Arial" charset="0"/>
              </a:rPr>
              <a:t>algorithm</a:t>
            </a:r>
            <a:r>
              <a:rPr lang="en-US" dirty="0">
                <a:cs typeface="Arial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2558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4AB936B-A097-46F2-9EF2-5ACB83C4F9A0}" type="slidenum">
              <a:rPr lang="en-US" smtClean="0">
                <a:solidFill>
                  <a:srgbClr val="000000"/>
                </a:solidFill>
              </a:rPr>
              <a:pPr eaLnBrk="1" hangingPunct="1"/>
              <a:t>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048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Breadth-First Search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>
                <a:cs typeface="Arial" charset="0"/>
              </a:rPr>
              <a:t>Depth-first search dives as deeply as possible into a graph until it can go no further, then it backs up and tries to branch.</a:t>
            </a:r>
          </a:p>
          <a:p>
            <a:pPr eaLnBrk="1" hangingPunct="1">
              <a:lnSpc>
                <a:spcPct val="90000"/>
              </a:lnSpc>
            </a:pPr>
            <a:r>
              <a:rPr lang="en-US">
                <a:cs typeface="Arial" charset="0"/>
              </a:rPr>
              <a:t>In contrast, a </a:t>
            </a:r>
            <a:r>
              <a:rPr lang="en-US" b="1">
                <a:cs typeface="Arial" charset="0"/>
              </a:rPr>
              <a:t>breadth-first search</a:t>
            </a:r>
            <a:r>
              <a:rPr lang="en-US">
                <a:cs typeface="Arial" charset="0"/>
              </a:rPr>
              <a:t> (BFS) starting at some source node s will visit s, then all nodes 1 hop away from s, then all nodes 2 hops away from s, etc.</a:t>
            </a:r>
          </a:p>
          <a:p>
            <a:pPr eaLnBrk="1" hangingPunct="1">
              <a:lnSpc>
                <a:spcPct val="90000"/>
              </a:lnSpc>
            </a:pPr>
            <a:r>
              <a:rPr lang="en-US">
                <a:cs typeface="Arial" charset="0"/>
              </a:rPr>
              <a:t>Like DFS, we can also use BFS to find connected components or answer “find a path from i to j” queries.</a:t>
            </a:r>
          </a:p>
          <a:p>
            <a:pPr lvl="1" eaLnBrk="1" hangingPunct="1">
              <a:lnSpc>
                <a:spcPct val="90000"/>
              </a:lnSpc>
            </a:pPr>
            <a:r>
              <a:rPr lang="en-US">
                <a:cs typeface="Arial" charset="0"/>
              </a:rPr>
              <a:t>BFS finds a path from i to j having fewest edges.</a:t>
            </a:r>
          </a:p>
        </p:txBody>
      </p:sp>
    </p:spTree>
    <p:extLst>
      <p:ext uri="{BB962C8B-B14F-4D97-AF65-F5344CB8AC3E}">
        <p14:creationId xmlns:p14="http://schemas.microsoft.com/office/powerpoint/2010/main" val="2577790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29BDDC4-7EA1-4F65-B7BA-6EEC11E7E62D}" type="slidenum">
              <a:rPr lang="en-US" smtClean="0">
                <a:solidFill>
                  <a:srgbClr val="000000"/>
                </a:solidFill>
              </a:rPr>
              <a:pPr eaLnBrk="1" hangingPunct="1"/>
              <a:t>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507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Breadth-First Search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BFS(s):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For all nodes i: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   pred[i] = null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   dist[i] = Infinity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Q = {s}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dist[s] = 0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While Q is nonempty: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	i = next node in Q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	For all nodes j such that (i,j) is an edge: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	   If dist[j] = Infinity,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	      pred[j] = i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	      dist[j] = dist[i] + 1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	      Append j to the end of Q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>
                <a:cs typeface="Arial" charset="0"/>
              </a:rPr>
              <a:t>If Q is implemented as a stack rather than as a FIFO queue, we get DFS rather than BFS!</a:t>
            </a:r>
          </a:p>
        </p:txBody>
      </p:sp>
    </p:spTree>
    <p:extLst>
      <p:ext uri="{BB962C8B-B14F-4D97-AF65-F5344CB8AC3E}">
        <p14:creationId xmlns:p14="http://schemas.microsoft.com/office/powerpoint/2010/main" val="1503399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73875B3-E305-4ADB-B896-A6C9A9C6A26E}" type="slidenum">
              <a:rPr lang="en-US" smtClean="0"/>
              <a:pPr eaLnBrk="1" hangingPunct="1"/>
              <a:t>7</a:t>
            </a:fld>
            <a:endParaRPr lang="en-US"/>
          </a:p>
        </p:txBody>
      </p:sp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Negative-Cost Cycles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/>
            <a:r>
              <a:rPr lang="en-US" sz="2800" dirty="0">
                <a:cs typeface="Arial" charset="0"/>
              </a:rPr>
              <a:t>If negative-cost edges exist: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We need to use the O(</a:t>
            </a:r>
            <a:r>
              <a:rPr lang="en-US" sz="2400" dirty="0" err="1">
                <a:cs typeface="Arial" charset="0"/>
              </a:rPr>
              <a:t>mn</a:t>
            </a:r>
            <a:r>
              <a:rPr lang="en-US" sz="2400" dirty="0">
                <a:cs typeface="Arial" charset="0"/>
              </a:rPr>
              <a:t>) Bellman-Ford algorithm.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We can only find shortest paths if there are no negative-cost directed cycles (Bellman-Ford can at least detect whether negative cycles exist).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If our graph is undirected, we typically assume it has no negative-cost edges to begin with.</a:t>
            </a:r>
          </a:p>
          <a:p>
            <a:pPr eaLnBrk="1" hangingPunct="1"/>
            <a:r>
              <a:rPr lang="en-US" sz="2800" u="sng" dirty="0">
                <a:cs typeface="Arial" charset="0"/>
              </a:rPr>
              <a:t>Longest</a:t>
            </a:r>
            <a:r>
              <a:rPr lang="en-US" sz="2800" dirty="0">
                <a:cs typeface="Arial" charset="0"/>
              </a:rPr>
              <a:t> path problems convert to shortest path problems by negating edge lengths, so </a:t>
            </a:r>
            <a:r>
              <a:rPr lang="en-US" sz="2800" u="sng" dirty="0">
                <a:cs typeface="Arial" charset="0"/>
              </a:rPr>
              <a:t>positive</a:t>
            </a:r>
            <a:r>
              <a:rPr lang="en-US" sz="2800" dirty="0">
                <a:cs typeface="Arial" charset="0"/>
              </a:rPr>
              <a:t>-cost cycles are bad for these problems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So longest path problems are rarely tractable, since most graphs have positive-cost cycles.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Except DAGs, that is…</a:t>
            </a:r>
          </a:p>
        </p:txBody>
      </p:sp>
    </p:spTree>
    <p:extLst>
      <p:ext uri="{BB962C8B-B14F-4D97-AF65-F5344CB8AC3E}">
        <p14:creationId xmlns:p14="http://schemas.microsoft.com/office/powerpoint/2010/main" val="2524586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AB2DA49-B593-4752-9E43-AABFF2AEFBEF}" type="slidenum">
              <a:rPr lang="en-US" smtClean="0"/>
              <a:pPr eaLnBrk="1" hangingPunct="1"/>
              <a:t>8</a:t>
            </a:fld>
            <a:endParaRPr lang="en-US"/>
          </a:p>
        </p:txBody>
      </p:sp>
      <p:sp>
        <p:nvSpPr>
          <p:cNvPr id="3072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Updating Cost Labels</a:t>
            </a:r>
          </a:p>
        </p:txBody>
      </p:sp>
      <p:sp>
        <p:nvSpPr>
          <p:cNvPr id="30724" name="Line 5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5" name="Line 6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6" name="Line 7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7" name="Line 8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8" name="Line 9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9" name="Line 10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0" name="Line 11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1" name="Line 12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2" name="Line 13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3" name="Line 14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4" name="Oval 15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0735" name="Oval 16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0736" name="Oval 17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0737" name="Oval 18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0738" name="Oval 19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0739" name="Oval 20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0740" name="Text Box 21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0741" name="Text Box 22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0742" name="Text Box 23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0743" name="Text Box 24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0744" name="Text Box 25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0745" name="Text Box 26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0746" name="Text Box 27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0747" name="Text Box 28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0748" name="Text Box 29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0749" name="Text Box 30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0750" name="Rectangle 32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0751" name="Rectangle 34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2" name="Rectangle 35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+∞</a:t>
            </a:r>
          </a:p>
        </p:txBody>
      </p:sp>
      <p:sp>
        <p:nvSpPr>
          <p:cNvPr id="30753" name="Rectangle 36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4" name="Rectangle 37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 </a:t>
            </a:r>
          </a:p>
        </p:txBody>
      </p:sp>
      <p:sp>
        <p:nvSpPr>
          <p:cNvPr id="30755" name="Rectangle 38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6" name="Text Box 39"/>
          <p:cNvSpPr txBox="1">
            <a:spLocks noChangeArrowheads="1"/>
          </p:cNvSpPr>
          <p:nvPr/>
        </p:nvSpPr>
        <p:spPr bwMode="auto">
          <a:xfrm>
            <a:off x="609600" y="4800600"/>
            <a:ext cx="76962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400" dirty="0"/>
              <a:t>Initially, all nodes have cost labels set to +</a:t>
            </a:r>
            <a:r>
              <a:rPr lang="en-US" sz="2400" dirty="0">
                <a:sym typeface="Symbol"/>
              </a:rPr>
              <a:t>, except the source, which has cost label 0.</a:t>
            </a:r>
          </a:p>
          <a:p>
            <a:pPr algn="ctr" eaLnBrk="1" hangingPunct="1"/>
            <a:endParaRPr lang="en-US" sz="2400" dirty="0">
              <a:sym typeface="Symbol"/>
            </a:endParaRPr>
          </a:p>
          <a:p>
            <a:pPr algn="ctr" eaLnBrk="1" hangingPunct="1"/>
            <a:r>
              <a:rPr lang="en-US" sz="2400" dirty="0">
                <a:sym typeface="Symbol"/>
              </a:rPr>
              <a:t>We’d like to improve the cost labels of all nodes so they reflect the costs of shortest paths.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6005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AB2DA49-B593-4752-9E43-AABFF2AEFBEF}" type="slidenum">
              <a:rPr lang="en-US" smtClean="0"/>
              <a:pPr eaLnBrk="1" hangingPunct="1"/>
              <a:t>9</a:t>
            </a:fld>
            <a:endParaRPr lang="en-US"/>
          </a:p>
        </p:txBody>
      </p:sp>
      <p:sp>
        <p:nvSpPr>
          <p:cNvPr id="3072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Example</a:t>
            </a:r>
          </a:p>
        </p:txBody>
      </p:sp>
      <p:sp>
        <p:nvSpPr>
          <p:cNvPr id="30724" name="Line 5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5" name="Line 6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6" name="Line 7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7" name="Line 8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8" name="Line 9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9" name="Line 10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0" name="Line 11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1" name="Line 12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2" name="Line 13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3" name="Line 14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4" name="Oval 15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0735" name="Oval 16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0736" name="Oval 17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0737" name="Oval 18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0738" name="Oval 19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0739" name="Oval 20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0740" name="Text Box 21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0741" name="Text Box 22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0742" name="Text Box 23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0743" name="Text Box 24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0744" name="Text Box 25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0745" name="Text Box 26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0746" name="Text Box 27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0747" name="Text Box 28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0748" name="Text Box 29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0749" name="Text Box 30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0750" name="Rectangle 32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0751" name="Rectangle 34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2" name="Rectangle 35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+∞</a:t>
            </a:r>
          </a:p>
        </p:txBody>
      </p:sp>
      <p:sp>
        <p:nvSpPr>
          <p:cNvPr id="30753" name="Rectangle 36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4" name="Rectangle 37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 </a:t>
            </a:r>
          </a:p>
        </p:txBody>
      </p:sp>
      <p:sp>
        <p:nvSpPr>
          <p:cNvPr id="30755" name="Rectangle 38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6" name="Text Box 39"/>
          <p:cNvSpPr txBox="1">
            <a:spLocks noChangeArrowheads="1"/>
          </p:cNvSpPr>
          <p:nvPr/>
        </p:nvSpPr>
        <p:spPr bwMode="auto">
          <a:xfrm>
            <a:off x="609600" y="5181600"/>
            <a:ext cx="7696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/>
              <a:t>Initialization.</a:t>
            </a:r>
          </a:p>
        </p:txBody>
      </p:sp>
    </p:spTree>
    <p:extLst>
      <p:ext uri="{BB962C8B-B14F-4D97-AF65-F5344CB8AC3E}">
        <p14:creationId xmlns:p14="http://schemas.microsoft.com/office/powerpoint/2010/main" val="316005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7B64C83-64E6-4831-BFAC-32BD6CF25004}" type="slidenum">
              <a:rPr lang="en-US" smtClean="0"/>
              <a:pPr eaLnBrk="1" hangingPunct="1"/>
              <a:t>10</a:t>
            </a:fld>
            <a:endParaRPr lang="en-US"/>
          </a:p>
        </p:txBody>
      </p:sp>
      <p:sp>
        <p:nvSpPr>
          <p:cNvPr id="24579" name="Freeform 10"/>
          <p:cNvSpPr>
            <a:spLocks/>
          </p:cNvSpPr>
          <p:nvPr/>
        </p:nvSpPr>
        <p:spPr bwMode="auto">
          <a:xfrm>
            <a:off x="1143000" y="2748756"/>
            <a:ext cx="1676400" cy="1295400"/>
          </a:xfrm>
          <a:custGeom>
            <a:avLst/>
            <a:gdLst>
              <a:gd name="T0" fmla="*/ 0 w 1056"/>
              <a:gd name="T1" fmla="*/ 2147483647 h 816"/>
              <a:gd name="T2" fmla="*/ 2147483647 w 1056"/>
              <a:gd name="T3" fmla="*/ 2147483647 h 816"/>
              <a:gd name="T4" fmla="*/ 2147483647 w 1056"/>
              <a:gd name="T5" fmla="*/ 2147483647 h 816"/>
              <a:gd name="T6" fmla="*/ 2147483647 w 1056"/>
              <a:gd name="T7" fmla="*/ 2147483647 h 816"/>
              <a:gd name="T8" fmla="*/ 2147483647 w 1056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56"/>
              <a:gd name="T16" fmla="*/ 0 h 816"/>
              <a:gd name="T17" fmla="*/ 1056 w 1056"/>
              <a:gd name="T18" fmla="*/ 816 h 8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56" h="816">
                <a:moveTo>
                  <a:pt x="0" y="816"/>
                </a:moveTo>
                <a:cubicBezTo>
                  <a:pt x="28" y="704"/>
                  <a:pt x="56" y="592"/>
                  <a:pt x="144" y="528"/>
                </a:cubicBezTo>
                <a:cubicBezTo>
                  <a:pt x="232" y="464"/>
                  <a:pt x="448" y="504"/>
                  <a:pt x="528" y="432"/>
                </a:cubicBezTo>
                <a:cubicBezTo>
                  <a:pt x="608" y="360"/>
                  <a:pt x="536" y="168"/>
                  <a:pt x="624" y="96"/>
                </a:cubicBezTo>
                <a:cubicBezTo>
                  <a:pt x="712" y="24"/>
                  <a:pt x="884" y="12"/>
                  <a:pt x="1056" y="0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0" name="Freeform 11"/>
          <p:cNvSpPr>
            <a:spLocks/>
          </p:cNvSpPr>
          <p:nvPr/>
        </p:nvSpPr>
        <p:spPr bwMode="auto">
          <a:xfrm>
            <a:off x="1143000" y="4006056"/>
            <a:ext cx="3048000" cy="508000"/>
          </a:xfrm>
          <a:custGeom>
            <a:avLst/>
            <a:gdLst>
              <a:gd name="T0" fmla="*/ 0 w 1920"/>
              <a:gd name="T1" fmla="*/ 2147483647 h 320"/>
              <a:gd name="T2" fmla="*/ 2147483647 w 1920"/>
              <a:gd name="T3" fmla="*/ 2147483647 h 320"/>
              <a:gd name="T4" fmla="*/ 2147483647 w 1920"/>
              <a:gd name="T5" fmla="*/ 2147483647 h 320"/>
              <a:gd name="T6" fmla="*/ 2147483647 w 1920"/>
              <a:gd name="T7" fmla="*/ 2147483647 h 320"/>
              <a:gd name="T8" fmla="*/ 2147483647 w 1920"/>
              <a:gd name="T9" fmla="*/ 2147483647 h 3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0"/>
              <a:gd name="T16" fmla="*/ 0 h 320"/>
              <a:gd name="T17" fmla="*/ 1920 w 1920"/>
              <a:gd name="T18" fmla="*/ 320 h 3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0" h="320">
                <a:moveTo>
                  <a:pt x="0" y="24"/>
                </a:moveTo>
                <a:cubicBezTo>
                  <a:pt x="104" y="96"/>
                  <a:pt x="208" y="168"/>
                  <a:pt x="336" y="168"/>
                </a:cubicBezTo>
                <a:cubicBezTo>
                  <a:pt x="464" y="168"/>
                  <a:pt x="568" y="0"/>
                  <a:pt x="768" y="24"/>
                </a:cubicBezTo>
                <a:cubicBezTo>
                  <a:pt x="968" y="48"/>
                  <a:pt x="1344" y="304"/>
                  <a:pt x="1536" y="312"/>
                </a:cubicBezTo>
                <a:cubicBezTo>
                  <a:pt x="1728" y="320"/>
                  <a:pt x="1824" y="196"/>
                  <a:pt x="1920" y="72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1" name="Line 8"/>
          <p:cNvSpPr>
            <a:spLocks noChangeShapeType="1"/>
          </p:cNvSpPr>
          <p:nvPr/>
        </p:nvSpPr>
        <p:spPr bwMode="auto">
          <a:xfrm>
            <a:off x="3048000" y="2748756"/>
            <a:ext cx="10668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2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Improving Cost labels</a:t>
            </a:r>
          </a:p>
        </p:txBody>
      </p:sp>
      <p:sp>
        <p:nvSpPr>
          <p:cNvPr id="245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/>
            <a:r>
              <a:rPr lang="en-US" sz="2800" dirty="0">
                <a:cs typeface="Arial" charset="0"/>
              </a:rPr>
              <a:t>Shortest path costs satisfy the triangle inequality:</a:t>
            </a:r>
          </a:p>
          <a:p>
            <a:pPr eaLnBrk="1" hangingPunct="1">
              <a:buFontTx/>
              <a:buNone/>
            </a:pPr>
            <a:r>
              <a:rPr lang="en-US" sz="2800" dirty="0">
                <a:cs typeface="Arial" charset="0"/>
              </a:rPr>
              <a:t>	       c[</a:t>
            </a:r>
            <a:r>
              <a:rPr lang="en-US" sz="2800" dirty="0" err="1">
                <a:cs typeface="Arial" charset="0"/>
              </a:rPr>
              <a:t>i</a:t>
            </a:r>
            <a:r>
              <a:rPr lang="en-US" sz="2800" dirty="0">
                <a:cs typeface="Arial" charset="0"/>
              </a:rPr>
              <a:t>] + cost(</a:t>
            </a:r>
            <a:r>
              <a:rPr lang="en-US" sz="2800" dirty="0" err="1">
                <a:cs typeface="Arial" charset="0"/>
              </a:rPr>
              <a:t>i</a:t>
            </a:r>
            <a:r>
              <a:rPr lang="en-US" sz="2800" dirty="0">
                <a:cs typeface="Arial" charset="0"/>
              </a:rPr>
              <a:t>, j) ≥ c[j] for every edge (</a:t>
            </a:r>
            <a:r>
              <a:rPr lang="en-US" sz="2800" dirty="0" err="1">
                <a:cs typeface="Arial" charset="0"/>
              </a:rPr>
              <a:t>i</a:t>
            </a:r>
            <a:r>
              <a:rPr lang="en-US" sz="2800" dirty="0">
                <a:cs typeface="Arial" charset="0"/>
              </a:rPr>
              <a:t>, j).</a:t>
            </a:r>
          </a:p>
          <a:p>
            <a:pPr eaLnBrk="1" hangingPunct="1"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>
              <a:buFontTx/>
              <a:buNone/>
            </a:pPr>
            <a:endParaRPr lang="en-US" sz="1400" dirty="0">
              <a:cs typeface="Arial" charset="0"/>
            </a:endParaRPr>
          </a:p>
          <a:p>
            <a:pPr eaLnBrk="1" hangingPunct="1"/>
            <a:r>
              <a:rPr lang="en-US" sz="2800" dirty="0">
                <a:cs typeface="Arial" charset="0"/>
              </a:rPr>
              <a:t>If this is violated for some edge (</a:t>
            </a:r>
            <a:r>
              <a:rPr lang="en-US" sz="2800" dirty="0" err="1">
                <a:cs typeface="Arial" charset="0"/>
              </a:rPr>
              <a:t>i</a:t>
            </a:r>
            <a:r>
              <a:rPr lang="en-US" sz="2800" dirty="0">
                <a:cs typeface="Arial" charset="0"/>
              </a:rPr>
              <a:t>, j), we can improve the cost label of node j:</a:t>
            </a:r>
          </a:p>
        </p:txBody>
      </p:sp>
      <p:sp>
        <p:nvSpPr>
          <p:cNvPr id="24584" name="Oval 4"/>
          <p:cNvSpPr>
            <a:spLocks noChangeArrowheads="1"/>
          </p:cNvSpPr>
          <p:nvPr/>
        </p:nvSpPr>
        <p:spPr bwMode="auto">
          <a:xfrm>
            <a:off x="990600" y="3891756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24585" name="Oval 5"/>
          <p:cNvSpPr>
            <a:spLocks noChangeArrowheads="1"/>
          </p:cNvSpPr>
          <p:nvPr/>
        </p:nvSpPr>
        <p:spPr bwMode="auto">
          <a:xfrm>
            <a:off x="2895600" y="2596356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i</a:t>
            </a:r>
          </a:p>
        </p:txBody>
      </p:sp>
      <p:sp>
        <p:nvSpPr>
          <p:cNvPr id="24586" name="Oval 6"/>
          <p:cNvSpPr>
            <a:spLocks noChangeArrowheads="1"/>
          </p:cNvSpPr>
          <p:nvPr/>
        </p:nvSpPr>
        <p:spPr bwMode="auto">
          <a:xfrm>
            <a:off x="4114800" y="3815556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j</a:t>
            </a:r>
          </a:p>
        </p:txBody>
      </p:sp>
      <p:sp>
        <p:nvSpPr>
          <p:cNvPr id="24587" name="Text Box 12"/>
          <p:cNvSpPr txBox="1">
            <a:spLocks noChangeArrowheads="1"/>
          </p:cNvSpPr>
          <p:nvPr/>
        </p:nvSpPr>
        <p:spPr bwMode="auto">
          <a:xfrm>
            <a:off x="2803525" y="2175669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c[i]</a:t>
            </a:r>
          </a:p>
        </p:txBody>
      </p:sp>
      <p:sp>
        <p:nvSpPr>
          <p:cNvPr id="24588" name="Text Box 13"/>
          <p:cNvSpPr txBox="1">
            <a:spLocks noChangeArrowheads="1"/>
          </p:cNvSpPr>
          <p:nvPr/>
        </p:nvSpPr>
        <p:spPr bwMode="auto">
          <a:xfrm>
            <a:off x="4191000" y="412035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c[j]</a:t>
            </a:r>
          </a:p>
        </p:txBody>
      </p:sp>
      <p:sp>
        <p:nvSpPr>
          <p:cNvPr id="24589" name="Text Box 14"/>
          <p:cNvSpPr txBox="1">
            <a:spLocks noChangeArrowheads="1"/>
          </p:cNvSpPr>
          <p:nvPr/>
        </p:nvSpPr>
        <p:spPr bwMode="auto">
          <a:xfrm>
            <a:off x="3581400" y="2901156"/>
            <a:ext cx="984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cost(i, j)</a:t>
            </a:r>
          </a:p>
        </p:txBody>
      </p:sp>
      <p:sp>
        <p:nvSpPr>
          <p:cNvPr id="2" name="Rectangle 1"/>
          <p:cNvSpPr/>
          <p:nvPr/>
        </p:nvSpPr>
        <p:spPr>
          <a:xfrm>
            <a:off x="1565275" y="5562600"/>
            <a:ext cx="6172200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b="1" dirty="0">
                <a:latin typeface="Courier New" pitchFamily="49" charset="0"/>
                <a:cs typeface="Arial" charset="0"/>
              </a:rPr>
              <a:t>Tighten(</a:t>
            </a:r>
            <a:r>
              <a:rPr lang="en-US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b="1" dirty="0">
                <a:latin typeface="Courier New" pitchFamily="49" charset="0"/>
                <a:cs typeface="Arial" charset="0"/>
              </a:rPr>
              <a:t>, j):  (also called Relax(</a:t>
            </a:r>
            <a:r>
              <a:rPr lang="en-US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b="1" dirty="0">
                <a:latin typeface="Courier New" pitchFamily="49" charset="0"/>
                <a:cs typeface="Arial" charset="0"/>
              </a:rPr>
              <a:t>, j))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b="1" dirty="0">
                <a:latin typeface="Courier New" pitchFamily="49" charset="0"/>
                <a:cs typeface="Arial" charset="0"/>
              </a:rPr>
              <a:t>   If c[</a:t>
            </a:r>
            <a:r>
              <a:rPr lang="en-US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b="1" dirty="0">
                <a:latin typeface="Courier New" pitchFamily="49" charset="0"/>
                <a:cs typeface="Arial" charset="0"/>
              </a:rPr>
              <a:t>] + cost(</a:t>
            </a:r>
            <a:r>
              <a:rPr lang="en-US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b="1" dirty="0">
                <a:latin typeface="Courier New" pitchFamily="49" charset="0"/>
                <a:cs typeface="Arial" charset="0"/>
              </a:rPr>
              <a:t>, j) &lt; c[j],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b="1" dirty="0">
                <a:latin typeface="Courier New" pitchFamily="49" charset="0"/>
                <a:cs typeface="Arial" charset="0"/>
              </a:rPr>
              <a:t>      c[j] = c[</a:t>
            </a:r>
            <a:r>
              <a:rPr lang="en-US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b="1" dirty="0">
                <a:latin typeface="Courier New" pitchFamily="49" charset="0"/>
                <a:cs typeface="Arial" charset="0"/>
              </a:rPr>
              <a:t>] + cost(</a:t>
            </a:r>
            <a:r>
              <a:rPr lang="en-US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b="1" dirty="0">
                <a:latin typeface="Courier New" pitchFamily="49" charset="0"/>
                <a:cs typeface="Arial" charset="0"/>
              </a:rPr>
              <a:t>, j)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b="1" dirty="0">
                <a:latin typeface="Courier New" pitchFamily="49" charset="0"/>
                <a:cs typeface="Arial" charset="0"/>
              </a:rPr>
              <a:t>      </a:t>
            </a:r>
            <a:r>
              <a:rPr lang="en-US" b="1" dirty="0" err="1">
                <a:latin typeface="Courier New" pitchFamily="49" charset="0"/>
                <a:cs typeface="Arial" charset="0"/>
              </a:rPr>
              <a:t>pred</a:t>
            </a:r>
            <a:r>
              <a:rPr lang="en-US" b="1" dirty="0">
                <a:latin typeface="Courier New" pitchFamily="49" charset="0"/>
                <a:cs typeface="Arial" charset="0"/>
              </a:rPr>
              <a:t>[j] = </a:t>
            </a:r>
            <a:r>
              <a:rPr lang="en-US" b="1" dirty="0" err="1">
                <a:latin typeface="Courier New" pitchFamily="49" charset="0"/>
                <a:cs typeface="Arial" charset="0"/>
              </a:rPr>
              <a:t>i</a:t>
            </a:r>
            <a:endParaRPr lang="en-US" b="1" dirty="0">
              <a:latin typeface="Courier New" pitchFamily="49" charset="0"/>
              <a:cs typeface="Arial" charset="0"/>
            </a:endParaRPr>
          </a:p>
        </p:txBody>
      </p:sp>
      <p:sp>
        <p:nvSpPr>
          <p:cNvPr id="4" name="Isosceles Triangle 3"/>
          <p:cNvSpPr/>
          <p:nvPr/>
        </p:nvSpPr>
        <p:spPr>
          <a:xfrm>
            <a:off x="5994929" y="2748756"/>
            <a:ext cx="2234142" cy="832644"/>
          </a:xfrm>
          <a:prstGeom prst="triangle">
            <a:avLst/>
          </a:prstGeom>
          <a:noFill/>
          <a:ln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299729" y="279603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529" y="279574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9811" y="3961693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+ y ≥ 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1959" y="349164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1175920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339C9AA-3845-4E27-8390-5292A2B89C8E}" type="slidenum">
              <a:rPr lang="en-US" smtClean="0"/>
              <a:pPr eaLnBrk="1" hangingPunct="1"/>
              <a:t>11</a:t>
            </a:fld>
            <a:endParaRPr lang="en-US"/>
          </a:p>
        </p:txBody>
      </p:sp>
      <p:sp>
        <p:nvSpPr>
          <p:cNvPr id="26627" name="Rectangle 2"/>
          <p:cNvSpPr>
            <a:spLocks noChangeArrowheads="1"/>
          </p:cNvSpPr>
          <p:nvPr/>
        </p:nvSpPr>
        <p:spPr bwMode="auto">
          <a:xfrm>
            <a:off x="0" y="-2822"/>
            <a:ext cx="9144000" cy="91722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The Bellman-Ford Algorithm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686800" cy="5638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1800" b="1" dirty="0">
                <a:latin typeface="Courier New" pitchFamily="49" charset="0"/>
                <a:cs typeface="Arial" charset="0"/>
              </a:rPr>
              <a:t>Bellman-Ford:</a:t>
            </a:r>
          </a:p>
          <a:p>
            <a:pPr eaLnBrk="1" hangingPunct="1">
              <a:buFontTx/>
              <a:buNone/>
            </a:pPr>
            <a:r>
              <a:rPr lang="en-US" sz="1800" b="1" dirty="0">
                <a:latin typeface="Courier New" pitchFamily="49" charset="0"/>
                <a:cs typeface="Arial" charset="0"/>
              </a:rPr>
              <a:t>	c[s] = 0, c[j ≠ s] = +∞</a:t>
            </a:r>
          </a:p>
          <a:p>
            <a:pPr eaLnBrk="1" hangingPunct="1">
              <a:buFontTx/>
              <a:buNone/>
            </a:pPr>
            <a:r>
              <a:rPr lang="en-US" sz="1800" b="1" dirty="0">
                <a:latin typeface="Courier New" pitchFamily="49" charset="0"/>
                <a:cs typeface="Arial" charset="0"/>
              </a:rPr>
              <a:t>	Repeat n-1 times:	</a:t>
            </a:r>
          </a:p>
          <a:p>
            <a:pPr eaLnBrk="1" hangingPunct="1">
              <a:buFontTx/>
              <a:buNone/>
            </a:pPr>
            <a:r>
              <a:rPr lang="en-US" sz="1800" b="1" dirty="0">
                <a:latin typeface="Courier New" pitchFamily="49" charset="0"/>
                <a:cs typeface="Arial" charset="0"/>
              </a:rPr>
              <a:t>	   Tighten every edge in the graph</a:t>
            </a:r>
          </a:p>
          <a:p>
            <a:pPr eaLnBrk="1" hangingPunct="1">
              <a:buFontTx/>
              <a:buNone/>
            </a:pPr>
            <a:r>
              <a:rPr lang="en-US" sz="1800" b="1" dirty="0">
                <a:latin typeface="Courier New" pitchFamily="49" charset="0"/>
                <a:cs typeface="Arial" charset="0"/>
              </a:rPr>
              <a:t>	If c[</a:t>
            </a:r>
            <a:r>
              <a:rPr lang="en-US" sz="1800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b="1" dirty="0">
                <a:latin typeface="Courier New" pitchFamily="49" charset="0"/>
                <a:cs typeface="Arial" charset="0"/>
              </a:rPr>
              <a:t>] + cost(</a:t>
            </a:r>
            <a:r>
              <a:rPr lang="en-US" sz="1800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b="1" dirty="0">
                <a:latin typeface="Courier New" pitchFamily="49" charset="0"/>
                <a:cs typeface="Arial" charset="0"/>
              </a:rPr>
              <a:t>, j) &lt; c[j] for any edge (</a:t>
            </a:r>
            <a:r>
              <a:rPr lang="en-US" sz="1800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b="1" dirty="0">
                <a:latin typeface="Courier New" pitchFamily="49" charset="0"/>
                <a:cs typeface="Arial" charset="0"/>
              </a:rPr>
              <a:t>, j)</a:t>
            </a:r>
          </a:p>
          <a:p>
            <a:pPr eaLnBrk="1" hangingPunct="1">
              <a:buFontTx/>
              <a:buNone/>
            </a:pPr>
            <a:r>
              <a:rPr lang="en-US" sz="1800" b="1" dirty="0">
                <a:latin typeface="Courier New" pitchFamily="49" charset="0"/>
                <a:cs typeface="Arial" charset="0"/>
              </a:rPr>
              <a:t>	   Output “negative cycle detected!”	</a:t>
            </a:r>
          </a:p>
          <a:p>
            <a:pPr eaLnBrk="1" hangingPunct="1"/>
            <a:r>
              <a:rPr lang="en-US" dirty="0">
                <a:cs typeface="Arial" charset="0"/>
              </a:rPr>
              <a:t>O(</a:t>
            </a:r>
            <a:r>
              <a:rPr lang="en-US" dirty="0" err="1">
                <a:cs typeface="Arial" charset="0"/>
              </a:rPr>
              <a:t>mn</a:t>
            </a:r>
            <a:r>
              <a:rPr lang="en-US" dirty="0">
                <a:cs typeface="Arial" charset="0"/>
              </a:rPr>
              <a:t>) time.</a:t>
            </a:r>
          </a:p>
          <a:p>
            <a:pPr eaLnBrk="1" hangingPunct="1"/>
            <a:r>
              <a:rPr lang="en-US" dirty="0">
                <a:cs typeface="Arial" charset="0"/>
              </a:rPr>
              <a:t>Computes single-source shortest paths in the presence of negative edge costs, and can detect negative cycles.</a:t>
            </a:r>
          </a:p>
          <a:p>
            <a:pPr eaLnBrk="1" hangingPunct="1"/>
            <a:r>
              <a:rPr lang="en-US" dirty="0">
                <a:cs typeface="Arial" charset="0"/>
              </a:rPr>
              <a:t>Analyze using induction: after k iterations of the main loop, each label c[j] reflects the cost of the shortest k-hop path from s to j.</a:t>
            </a:r>
          </a:p>
        </p:txBody>
      </p:sp>
    </p:spTree>
    <p:extLst>
      <p:ext uri="{BB962C8B-B14F-4D97-AF65-F5344CB8AC3E}">
        <p14:creationId xmlns:p14="http://schemas.microsoft.com/office/powerpoint/2010/main" val="424043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B67278D-ABF6-45A9-8E6B-510F560640A2}" type="slidenum">
              <a:rPr lang="en-US" smtClean="0"/>
              <a:pPr eaLnBrk="1" hangingPunct="1"/>
              <a:t>12</a:t>
            </a:fld>
            <a:endParaRPr lang="en-US"/>
          </a:p>
        </p:txBody>
      </p:sp>
      <p:sp>
        <p:nvSpPr>
          <p:cNvPr id="27651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Dijkstra: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c[s] = 0, c[j ≠ s] = +∞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Build a priority queue Q on the c[j]’s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While Q is nonempty: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   Remove from Q the node i having minimum label c[i]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   	   (at this point we know c[i] is correct)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   Tighten all edges emanating from i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1600" b="1">
              <a:latin typeface="Courier New" pitchFamily="49" charset="0"/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>
                <a:cs typeface="Arial" charset="0"/>
              </a:rPr>
              <a:t>Only works if edge costs are nonnegative.</a:t>
            </a:r>
          </a:p>
          <a:p>
            <a:pPr eaLnBrk="1" hangingPunct="1">
              <a:lnSpc>
                <a:spcPct val="90000"/>
              </a:lnSpc>
            </a:pPr>
            <a:r>
              <a:rPr lang="en-US" sz="2800">
                <a:cs typeface="Arial" charset="0"/>
              </a:rPr>
              <a:t>Running time depends on priority queue: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cs typeface="Arial" charset="0"/>
              </a:rPr>
              <a:t>n inserts (during initialization)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cs typeface="Arial" charset="0"/>
              </a:rPr>
              <a:t>n remove-mins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cs typeface="Arial" charset="0"/>
              </a:rPr>
              <a:t>at most m decrease-keys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>
                <a:cs typeface="Arial" charset="0"/>
              </a:rPr>
              <a:t>Using a binary heap, all these operations run in O(log n) time, so total is O(m log n).</a:t>
            </a:r>
          </a:p>
        </p:txBody>
      </p:sp>
    </p:spTree>
    <p:extLst>
      <p:ext uri="{BB962C8B-B14F-4D97-AF65-F5344CB8AC3E}">
        <p14:creationId xmlns:p14="http://schemas.microsoft.com/office/powerpoint/2010/main" val="2072718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AB2DA49-B593-4752-9E43-AABFF2AEFBEF}" type="slidenum">
              <a:rPr lang="en-US" smtClean="0"/>
              <a:pPr eaLnBrk="1" hangingPunct="1"/>
              <a:t>13</a:t>
            </a:fld>
            <a:endParaRPr lang="en-US"/>
          </a:p>
        </p:txBody>
      </p:sp>
      <p:sp>
        <p:nvSpPr>
          <p:cNvPr id="3072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Example</a:t>
            </a:r>
          </a:p>
        </p:txBody>
      </p:sp>
      <p:sp>
        <p:nvSpPr>
          <p:cNvPr id="30724" name="Line 5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5" name="Line 6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6" name="Line 7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7" name="Line 8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8" name="Line 9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9" name="Line 10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0" name="Line 11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1" name="Line 12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2" name="Line 13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3" name="Line 14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4" name="Oval 15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0735" name="Oval 16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0736" name="Oval 17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0737" name="Oval 18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0738" name="Oval 19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0739" name="Oval 20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0740" name="Text Box 21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0741" name="Text Box 22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0742" name="Text Box 23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0743" name="Text Box 24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0744" name="Text Box 25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0745" name="Text Box 26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0746" name="Text Box 27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0747" name="Text Box 28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0748" name="Text Box 29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0749" name="Text Box 30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0750" name="Rectangle 32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0751" name="Rectangle 34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2" name="Rectangle 35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+∞</a:t>
            </a:r>
          </a:p>
        </p:txBody>
      </p:sp>
      <p:sp>
        <p:nvSpPr>
          <p:cNvPr id="30753" name="Rectangle 36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4" name="Rectangle 37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 </a:t>
            </a:r>
          </a:p>
        </p:txBody>
      </p:sp>
      <p:sp>
        <p:nvSpPr>
          <p:cNvPr id="30755" name="Rectangle 38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6" name="Text Box 39"/>
          <p:cNvSpPr txBox="1">
            <a:spLocks noChangeArrowheads="1"/>
          </p:cNvSpPr>
          <p:nvPr/>
        </p:nvSpPr>
        <p:spPr bwMode="auto">
          <a:xfrm>
            <a:off x="609600" y="5181600"/>
            <a:ext cx="7696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/>
              <a:t>Initialization.</a:t>
            </a:r>
          </a:p>
        </p:txBody>
      </p:sp>
    </p:spTree>
    <p:extLst>
      <p:ext uri="{BB962C8B-B14F-4D97-AF65-F5344CB8AC3E}">
        <p14:creationId xmlns:p14="http://schemas.microsoft.com/office/powerpoint/2010/main" val="3870216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43AB9C4-B4D6-411B-8417-1C5113126A4E}" type="slidenum">
              <a:rPr lang="en-US" smtClean="0"/>
              <a:pPr eaLnBrk="1" hangingPunct="1"/>
              <a:t>14</a:t>
            </a:fld>
            <a:endParaRPr lang="en-US"/>
          </a:p>
        </p:txBody>
      </p:sp>
      <p:sp>
        <p:nvSpPr>
          <p:cNvPr id="31747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Example</a:t>
            </a:r>
          </a:p>
        </p:txBody>
      </p:sp>
      <p:sp>
        <p:nvSpPr>
          <p:cNvPr id="31748" name="Line 3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49" name="Line 4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0" name="Line 5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1" name="Line 6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2" name="Line 7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3" name="Line 8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4" name="Line 9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5" name="Line 10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6" name="Line 11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7" name="Line 12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8" name="Oval 13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1759" name="Oval 14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1760" name="Oval 15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1761" name="Oval 16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1762" name="Oval 17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1763" name="Oval 18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1764" name="Text Box 19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1765" name="Text Box 20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1766" name="Text Box 21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1767" name="Text Box 22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1768" name="Text Box 23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1769" name="Text Box 24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1770" name="Text Box 25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1771" name="Text Box 26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1772" name="Text Box 27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1773" name="Text Box 28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1774" name="Rectangle 29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1775" name="Rectangle 30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9</a:t>
            </a:r>
          </a:p>
        </p:txBody>
      </p:sp>
      <p:sp>
        <p:nvSpPr>
          <p:cNvPr id="31776" name="Rectangle 31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2</a:t>
            </a:r>
          </a:p>
        </p:txBody>
      </p:sp>
      <p:sp>
        <p:nvSpPr>
          <p:cNvPr id="31777" name="Rectangle 32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1778" name="Rectangle 33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 </a:t>
            </a:r>
          </a:p>
        </p:txBody>
      </p:sp>
      <p:sp>
        <p:nvSpPr>
          <p:cNvPr id="31779" name="Rectangle 34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1780" name="Text Box 35"/>
          <p:cNvSpPr txBox="1">
            <a:spLocks noChangeArrowheads="1"/>
          </p:cNvSpPr>
          <p:nvPr/>
        </p:nvSpPr>
        <p:spPr bwMode="auto">
          <a:xfrm>
            <a:off x="609600" y="5181600"/>
            <a:ext cx="7696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/>
              <a:t>Examine the source node s, so s becomes “permanently” labeled.</a:t>
            </a:r>
          </a:p>
          <a:p>
            <a:pPr algn="ctr" eaLnBrk="1" hangingPunct="1"/>
            <a:r>
              <a:rPr lang="en-US" sz="2000"/>
              <a:t>Tighten all edges leaving s.</a:t>
            </a:r>
          </a:p>
        </p:txBody>
      </p:sp>
    </p:spTree>
    <p:extLst>
      <p:ext uri="{BB962C8B-B14F-4D97-AF65-F5344CB8AC3E}">
        <p14:creationId xmlns:p14="http://schemas.microsoft.com/office/powerpoint/2010/main" val="490533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80855A0-249F-4FA5-80E0-E21D62647629}" type="slidenum">
              <a:rPr lang="en-US" smtClean="0"/>
              <a:pPr eaLnBrk="1" hangingPunct="1"/>
              <a:t>15</a:t>
            </a:fld>
            <a:endParaRPr lang="en-US"/>
          </a:p>
        </p:txBody>
      </p:sp>
      <p:sp>
        <p:nvSpPr>
          <p:cNvPr id="32771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Example</a:t>
            </a:r>
          </a:p>
        </p:txBody>
      </p:sp>
      <p:sp>
        <p:nvSpPr>
          <p:cNvPr id="32772" name="Line 3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3" name="Line 4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4" name="Line 5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5" name="Line 6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6" name="Line 7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7" name="Line 8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8" name="Line 9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9" name="Line 10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0" name="Line 11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1" name="Line 12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2" name="Oval 13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2783" name="Oval 14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2784" name="Oval 15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2785" name="Oval 16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2786" name="Oval 17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2787" name="Oval 18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2788" name="Text Box 19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2789" name="Text Box 20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2790" name="Text Box 21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2791" name="Text Box 22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2792" name="Text Box 23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2793" name="Text Box 24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2794" name="Text Box 25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2795" name="Text Box 26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2796" name="Text Box 27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2797" name="Text Box 28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2798" name="Rectangle 29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2799" name="Rectangle 30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</a:t>
            </a:r>
          </a:p>
        </p:txBody>
      </p:sp>
      <p:sp>
        <p:nvSpPr>
          <p:cNvPr id="32800" name="Rectangle 31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2</a:t>
            </a:r>
          </a:p>
        </p:txBody>
      </p:sp>
      <p:sp>
        <p:nvSpPr>
          <p:cNvPr id="32801" name="Rectangle 32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32802" name="Rectangle 33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 </a:t>
            </a:r>
          </a:p>
        </p:txBody>
      </p:sp>
      <p:sp>
        <p:nvSpPr>
          <p:cNvPr id="32803" name="Rectangle 34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2804" name="Text Box 35"/>
          <p:cNvSpPr txBox="1">
            <a:spLocks noChangeArrowheads="1"/>
          </p:cNvSpPr>
          <p:nvPr/>
        </p:nvSpPr>
        <p:spPr bwMode="auto">
          <a:xfrm>
            <a:off x="609600" y="5181600"/>
            <a:ext cx="7696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/>
              <a:t>Examine node 3, which becomes permanently labeled. </a:t>
            </a:r>
          </a:p>
          <a:p>
            <a:pPr algn="ctr" eaLnBrk="1" hangingPunct="1"/>
            <a:r>
              <a:rPr lang="en-US" sz="2000"/>
              <a:t>Tighten all edges leaving node 3.</a:t>
            </a:r>
          </a:p>
        </p:txBody>
      </p:sp>
    </p:spTree>
    <p:extLst>
      <p:ext uri="{BB962C8B-B14F-4D97-AF65-F5344CB8AC3E}">
        <p14:creationId xmlns:p14="http://schemas.microsoft.com/office/powerpoint/2010/main" val="1428193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379071E-4D4C-4B1A-A965-A8759683F561}" type="slidenum">
              <a:rPr lang="en-US" smtClean="0"/>
              <a:pPr eaLnBrk="1" hangingPunct="1"/>
              <a:t>16</a:t>
            </a:fld>
            <a:endParaRPr lang="en-US"/>
          </a:p>
        </p:txBody>
      </p:sp>
      <p:sp>
        <p:nvSpPr>
          <p:cNvPr id="33795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Example</a:t>
            </a:r>
          </a:p>
        </p:txBody>
      </p:sp>
      <p:sp>
        <p:nvSpPr>
          <p:cNvPr id="33796" name="Line 3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7" name="Line 4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8" name="Line 5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9" name="Line 6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0" name="Line 7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1" name="Line 8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2" name="Line 9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3" name="Line 10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4" name="Line 11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5" name="Line 12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6" name="Oval 13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3807" name="Oval 14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3808" name="Oval 15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3809" name="Oval 16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3810" name="Oval 17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3811" name="Oval 18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3812" name="Text Box 19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3813" name="Text Box 20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3814" name="Text Box 21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3815" name="Text Box 22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3816" name="Text Box 23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3817" name="Text Box 24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3818" name="Text Box 25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3819" name="Text Box 26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3820" name="Text Box 27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3821" name="Text Box 28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3822" name="Rectangle 29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3823" name="Rectangle 30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</a:t>
            </a:r>
          </a:p>
        </p:txBody>
      </p:sp>
      <p:sp>
        <p:nvSpPr>
          <p:cNvPr id="33824" name="Rectangle 31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2</a:t>
            </a:r>
          </a:p>
        </p:txBody>
      </p:sp>
      <p:sp>
        <p:nvSpPr>
          <p:cNvPr id="33825" name="Rectangle 32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9</a:t>
            </a:r>
          </a:p>
        </p:txBody>
      </p:sp>
      <p:sp>
        <p:nvSpPr>
          <p:cNvPr id="33826" name="Rectangle 33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17 </a:t>
            </a:r>
          </a:p>
        </p:txBody>
      </p:sp>
      <p:sp>
        <p:nvSpPr>
          <p:cNvPr id="33827" name="Rectangle 34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3828" name="Text Box 35"/>
          <p:cNvSpPr txBox="1">
            <a:spLocks noChangeArrowheads="1"/>
          </p:cNvSpPr>
          <p:nvPr/>
        </p:nvSpPr>
        <p:spPr bwMode="auto">
          <a:xfrm>
            <a:off x="609600" y="5181600"/>
            <a:ext cx="7696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/>
              <a:t>Examine node 1, which becomes permanently labeled. </a:t>
            </a:r>
          </a:p>
          <a:p>
            <a:pPr algn="ctr" eaLnBrk="1" hangingPunct="1"/>
            <a:r>
              <a:rPr lang="en-US" sz="2000"/>
              <a:t>Tighten all edges leaving node 1.</a:t>
            </a:r>
          </a:p>
        </p:txBody>
      </p:sp>
    </p:spTree>
    <p:extLst>
      <p:ext uri="{BB962C8B-B14F-4D97-AF65-F5344CB8AC3E}">
        <p14:creationId xmlns:p14="http://schemas.microsoft.com/office/powerpoint/2010/main" val="3931227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46B5C49-FFD0-4910-91CE-6F446FB21140}" type="slidenum">
              <a:rPr lang="en-US" smtClean="0"/>
              <a:pPr eaLnBrk="1" hangingPunct="1"/>
              <a:t>17</a:t>
            </a:fld>
            <a:endParaRPr lang="en-US"/>
          </a:p>
        </p:txBody>
      </p:sp>
      <p:sp>
        <p:nvSpPr>
          <p:cNvPr id="34819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Example</a:t>
            </a:r>
          </a:p>
        </p:txBody>
      </p:sp>
      <p:sp>
        <p:nvSpPr>
          <p:cNvPr id="34820" name="Line 3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1" name="Line 4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2" name="Line 5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3" name="Line 6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4" name="Line 7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5" name="Line 8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6" name="Line 9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7" name="Line 10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8" name="Line 11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9" name="Line 12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0" name="Oval 13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4831" name="Oval 14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4832" name="Oval 15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4833" name="Oval 16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4834" name="Oval 17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4835" name="Oval 18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4836" name="Text Box 19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4837" name="Text Box 20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4838" name="Text Box 21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4839" name="Text Box 22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4840" name="Text Box 23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4841" name="Text Box 24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4842" name="Text Box 25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4843" name="Text Box 26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4844" name="Text Box 27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4845" name="Text Box 28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4846" name="Rectangle 29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4847" name="Rectangle 30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</a:t>
            </a:r>
          </a:p>
        </p:txBody>
      </p:sp>
      <p:sp>
        <p:nvSpPr>
          <p:cNvPr id="34848" name="Rectangle 31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2</a:t>
            </a:r>
          </a:p>
        </p:txBody>
      </p:sp>
      <p:sp>
        <p:nvSpPr>
          <p:cNvPr id="34849" name="Rectangle 32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9</a:t>
            </a:r>
          </a:p>
        </p:txBody>
      </p:sp>
      <p:sp>
        <p:nvSpPr>
          <p:cNvPr id="34850" name="Rectangle 33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17 </a:t>
            </a:r>
          </a:p>
        </p:txBody>
      </p:sp>
      <p:sp>
        <p:nvSpPr>
          <p:cNvPr id="34851" name="Rectangle 34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15</a:t>
            </a:r>
          </a:p>
        </p:txBody>
      </p:sp>
      <p:sp>
        <p:nvSpPr>
          <p:cNvPr id="34852" name="Text Box 35"/>
          <p:cNvSpPr txBox="1">
            <a:spLocks noChangeArrowheads="1"/>
          </p:cNvSpPr>
          <p:nvPr/>
        </p:nvSpPr>
        <p:spPr bwMode="auto">
          <a:xfrm>
            <a:off x="609600" y="5181600"/>
            <a:ext cx="7696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/>
              <a:t>Examine node 4, which becomes permanently labeled. </a:t>
            </a:r>
          </a:p>
          <a:p>
            <a:pPr algn="ctr" eaLnBrk="1" hangingPunct="1"/>
            <a:r>
              <a:rPr lang="en-US" sz="2000"/>
              <a:t>Tighten all edges leaving node 4.</a:t>
            </a:r>
          </a:p>
        </p:txBody>
      </p:sp>
    </p:spTree>
    <p:extLst>
      <p:ext uri="{BB962C8B-B14F-4D97-AF65-F5344CB8AC3E}">
        <p14:creationId xmlns:p14="http://schemas.microsoft.com/office/powerpoint/2010/main" val="1439641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EE62297-A370-453F-8E10-FDC56A240AB6}" type="slidenum">
              <a:rPr lang="en-US" smtClean="0"/>
              <a:pPr eaLnBrk="1" hangingPunct="1"/>
              <a:t>18</a:t>
            </a:fld>
            <a:endParaRPr lang="en-US"/>
          </a:p>
        </p:txBody>
      </p:sp>
      <p:sp>
        <p:nvSpPr>
          <p:cNvPr id="3584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Example</a:t>
            </a:r>
          </a:p>
        </p:txBody>
      </p:sp>
      <p:sp>
        <p:nvSpPr>
          <p:cNvPr id="35844" name="Line 3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5" name="Line 4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6" name="Line 5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7" name="Line 6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8" name="Line 7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9" name="Line 8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0" name="Line 9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1" name="Line 10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2" name="Line 11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3" name="Line 12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4" name="Oval 13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5855" name="Oval 14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5856" name="Oval 15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5857" name="Oval 16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5858" name="Oval 17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5859" name="Oval 18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5860" name="Text Box 19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5861" name="Text Box 20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5862" name="Text Box 21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5863" name="Text Box 22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5864" name="Text Box 23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5865" name="Text Box 24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5866" name="Text Box 25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5867" name="Text Box 26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5868" name="Text Box 27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5869" name="Text Box 28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5870" name="Rectangle 29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5871" name="Rectangle 30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</a:t>
            </a:r>
          </a:p>
        </p:txBody>
      </p:sp>
      <p:sp>
        <p:nvSpPr>
          <p:cNvPr id="35872" name="Rectangle 31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2</a:t>
            </a:r>
          </a:p>
        </p:txBody>
      </p:sp>
      <p:sp>
        <p:nvSpPr>
          <p:cNvPr id="35873" name="Rectangle 32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9</a:t>
            </a:r>
          </a:p>
        </p:txBody>
      </p:sp>
      <p:sp>
        <p:nvSpPr>
          <p:cNvPr id="35874" name="Rectangle 33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17 </a:t>
            </a:r>
          </a:p>
        </p:txBody>
      </p:sp>
      <p:sp>
        <p:nvSpPr>
          <p:cNvPr id="35875" name="Rectangle 34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15</a:t>
            </a:r>
          </a:p>
        </p:txBody>
      </p:sp>
      <p:sp>
        <p:nvSpPr>
          <p:cNvPr id="35876" name="Text Box 35"/>
          <p:cNvSpPr txBox="1">
            <a:spLocks noChangeArrowheads="1"/>
          </p:cNvSpPr>
          <p:nvPr/>
        </p:nvSpPr>
        <p:spPr bwMode="auto">
          <a:xfrm>
            <a:off x="609600" y="5181600"/>
            <a:ext cx="7696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/>
              <a:t>Examine node 5, which becomes permanently labeled. </a:t>
            </a:r>
          </a:p>
          <a:p>
            <a:pPr algn="ctr" eaLnBrk="1" hangingPunct="1"/>
            <a:r>
              <a:rPr lang="en-US" sz="2000"/>
              <a:t>Tighten all edges leaving node 5 (there aren’t any).</a:t>
            </a:r>
          </a:p>
        </p:txBody>
      </p:sp>
    </p:spTree>
    <p:extLst>
      <p:ext uri="{BB962C8B-B14F-4D97-AF65-F5344CB8AC3E}">
        <p14:creationId xmlns:p14="http://schemas.microsoft.com/office/powerpoint/2010/main" val="1037310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AC45DEB-10FB-4B44-A169-F00AC32CF7D9}" type="slidenum">
              <a:rPr lang="en-US" smtClean="0"/>
              <a:pPr eaLnBrk="1" hangingPunct="1"/>
              <a:t>19</a:t>
            </a:fld>
            <a:endParaRPr lang="en-US"/>
          </a:p>
        </p:txBody>
      </p:sp>
      <p:sp>
        <p:nvSpPr>
          <p:cNvPr id="36867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Example</a:t>
            </a:r>
          </a:p>
        </p:txBody>
      </p:sp>
      <p:sp>
        <p:nvSpPr>
          <p:cNvPr id="36868" name="Line 3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69" name="Line 4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0" name="Line 5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1" name="Line 6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2" name="Line 7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3" name="Line 8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4" name="Line 9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5" name="Line 10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6" name="Line 11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7" name="Line 12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8" name="Oval 13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6879" name="Oval 14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6880" name="Oval 15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6881" name="Oval 16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6882" name="Oval 17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6883" name="Oval 18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6884" name="Text Box 19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6885" name="Text Box 20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6886" name="Text Box 21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6888" name="Text Box 23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6889" name="Text Box 24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6890" name="Text Box 25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6891" name="Text Box 26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6892" name="Text Box 27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6893" name="Text Box 28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6894" name="Rectangle 29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6895" name="Rectangle 30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</a:t>
            </a:r>
          </a:p>
        </p:txBody>
      </p:sp>
      <p:sp>
        <p:nvSpPr>
          <p:cNvPr id="36896" name="Rectangle 31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2</a:t>
            </a:r>
          </a:p>
        </p:txBody>
      </p:sp>
      <p:sp>
        <p:nvSpPr>
          <p:cNvPr id="36897" name="Rectangle 32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9</a:t>
            </a:r>
          </a:p>
        </p:txBody>
      </p:sp>
      <p:sp>
        <p:nvSpPr>
          <p:cNvPr id="36898" name="Rectangle 33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17 </a:t>
            </a:r>
          </a:p>
        </p:txBody>
      </p:sp>
      <p:sp>
        <p:nvSpPr>
          <p:cNvPr id="36899" name="Rectangle 34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15</a:t>
            </a:r>
          </a:p>
        </p:txBody>
      </p:sp>
      <p:sp>
        <p:nvSpPr>
          <p:cNvPr id="36900" name="Text Box 35"/>
          <p:cNvSpPr txBox="1">
            <a:spLocks noChangeArrowheads="1"/>
          </p:cNvSpPr>
          <p:nvPr/>
        </p:nvSpPr>
        <p:spPr bwMode="auto">
          <a:xfrm>
            <a:off x="609600" y="5181600"/>
            <a:ext cx="7696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/>
              <a:t>Examine node 2, which becomes permanently labeled. </a:t>
            </a:r>
          </a:p>
          <a:p>
            <a:pPr algn="ctr" eaLnBrk="1" hangingPunct="1"/>
            <a:r>
              <a:rPr lang="en-US" sz="2000"/>
              <a:t>Algorithm terminates!</a:t>
            </a:r>
          </a:p>
        </p:txBody>
      </p:sp>
    </p:spTree>
    <p:extLst>
      <p:ext uri="{BB962C8B-B14F-4D97-AF65-F5344CB8AC3E}">
        <p14:creationId xmlns:p14="http://schemas.microsoft.com/office/powerpoint/2010/main" val="36570999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0900D37-32A0-4E5E-822B-DFE85547FB44}" type="slidenum">
              <a:rPr lang="en-US" smtClean="0"/>
              <a:pPr eaLnBrk="1" hangingPunct="1"/>
              <a:t>20</a:t>
            </a:fld>
            <a:endParaRPr lang="en-US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Correctness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Just like BFS, </a:t>
            </a:r>
            <a:r>
              <a:rPr lang="en-US" dirty="0" err="1">
                <a:cs typeface="Arial" charset="0"/>
              </a:rPr>
              <a:t>Dijkstra</a:t>
            </a:r>
            <a:r>
              <a:rPr lang="en-US" dirty="0">
                <a:cs typeface="Arial" charset="0"/>
              </a:rPr>
              <a:t> visits all nodes in increasing order of distance from the source, and visits each node exactly once.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Think of </a:t>
            </a:r>
            <a:r>
              <a:rPr lang="en-US" dirty="0" err="1">
                <a:cs typeface="Arial" charset="0"/>
              </a:rPr>
              <a:t>Dijkstra</a:t>
            </a:r>
            <a:r>
              <a:rPr lang="en-US" dirty="0">
                <a:cs typeface="Arial" charset="0"/>
              </a:rPr>
              <a:t> as maintaining two sets: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dirty="0">
                <a:cs typeface="Arial" charset="0"/>
              </a:rPr>
              <a:t>S: visited nodes that are “permanently” labeled.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dirty="0">
                <a:cs typeface="Arial" charset="0"/>
              </a:rPr>
              <a:t>T: remaining nodes that are temporarily labeled (whose cost labels are still upper bounds)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Every iteration takes the node from T with minimum label and adds it to S.</a:t>
            </a:r>
          </a:p>
          <a:p>
            <a:pPr eaLnBrk="1" hangingPunct="1">
              <a:lnSpc>
                <a:spcPct val="90000"/>
              </a:lnSpc>
            </a:pPr>
            <a:r>
              <a:rPr lang="en-US" b="1" dirty="0">
                <a:cs typeface="Arial" charset="0"/>
              </a:rPr>
              <a:t>Claim</a:t>
            </a:r>
            <a:r>
              <a:rPr lang="en-US" dirty="0">
                <a:cs typeface="Arial" charset="0"/>
              </a:rPr>
              <a:t>: when we visit node </a:t>
            </a:r>
            <a:r>
              <a:rPr lang="en-US" dirty="0" err="1">
                <a:cs typeface="Arial" charset="0"/>
              </a:rPr>
              <a:t>i</a:t>
            </a:r>
            <a:r>
              <a:rPr lang="en-US" dirty="0">
                <a:cs typeface="Arial" charset="0"/>
              </a:rPr>
              <a:t>, c[</a:t>
            </a:r>
            <a:r>
              <a:rPr lang="en-US" dirty="0" err="1">
                <a:cs typeface="Arial" charset="0"/>
              </a:rPr>
              <a:t>i</a:t>
            </a:r>
            <a:r>
              <a:rPr lang="en-US" dirty="0">
                <a:cs typeface="Arial" charset="0"/>
              </a:rPr>
              <a:t>] will be the correct shortest path cost from s to </a:t>
            </a:r>
            <a:r>
              <a:rPr lang="en-US" dirty="0" err="1">
                <a:cs typeface="Arial" charset="0"/>
              </a:rPr>
              <a:t>i</a:t>
            </a:r>
            <a:r>
              <a:rPr lang="en-US" dirty="0">
                <a:cs typeface="Arial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endParaRPr lang="en-US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632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C98C2D7-8C98-40D5-8B1D-D8086F767E6B}" type="slidenum">
              <a:rPr lang="en-US" smtClean="0"/>
              <a:pPr eaLnBrk="1" hangingPunct="1"/>
              <a:t>21</a:t>
            </a:fld>
            <a:endParaRPr lang="en-US"/>
          </a:p>
        </p:txBody>
      </p:sp>
      <p:sp>
        <p:nvSpPr>
          <p:cNvPr id="28675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Running Time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/>
            <a:r>
              <a:rPr lang="en-US" sz="2800" dirty="0">
                <a:cs typeface="Arial" charset="0"/>
              </a:rPr>
              <a:t>The unsorted array is better for a dense graph, and the binary heap is better for a sparse graph.  </a:t>
            </a:r>
          </a:p>
          <a:p>
            <a:pPr eaLnBrk="1" hangingPunct="1"/>
            <a:r>
              <a:rPr lang="en-US" sz="2800" dirty="0">
                <a:cs typeface="Arial" charset="0"/>
              </a:rPr>
              <a:t>The Fibonacci heap bound is always at least as good as both other bounds in any graph!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In practice, however, Fibonacci heaps are so complicated that it’s hard to find instances for which they run faster…</a:t>
            </a:r>
          </a:p>
        </p:txBody>
      </p:sp>
      <p:graphicFrame>
        <p:nvGraphicFramePr>
          <p:cNvPr id="110626" name="Group 34"/>
          <p:cNvGraphicFramePr>
            <a:graphicFrameLocks noGrp="1"/>
          </p:cNvGraphicFramePr>
          <p:nvPr/>
        </p:nvGraphicFramePr>
        <p:xfrm>
          <a:off x="381000" y="1219200"/>
          <a:ext cx="8305800" cy="2220913"/>
        </p:xfrm>
        <a:graphic>
          <a:graphicData uri="http://schemas.openxmlformats.org/drawingml/2006/table">
            <a:tbl>
              <a:tblPr/>
              <a:tblGrid>
                <a:gridCol w="207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6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Remove-Min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O(n) times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Decrease Key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O(m) times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Total Runtime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Unsorted Array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O(n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Binary Heap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O(log 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O(log 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O(m log 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Fibonacci Heap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O(log 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O(1) amortized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O(m + n log 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32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D046023-BC46-4D7E-B68F-33275ADAC4A7}" type="slidenum">
              <a:rPr lang="en-US" smtClean="0"/>
              <a:pPr eaLnBrk="1" hangingPunct="1"/>
              <a:t>22</a:t>
            </a:fld>
            <a:endParaRPr lang="en-US"/>
          </a:p>
        </p:txBody>
      </p:sp>
      <p:sp>
        <p:nvSpPr>
          <p:cNvPr id="43011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Recall: Centrality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/>
            <a:r>
              <a:rPr lang="en-US" sz="2800" dirty="0">
                <a:cs typeface="Arial" charset="0"/>
              </a:rPr>
              <a:t>What nodes are most “central” in a graph?</a:t>
            </a:r>
          </a:p>
        </p:txBody>
      </p:sp>
      <p:pic>
        <p:nvPicPr>
          <p:cNvPr id="5" name="Picture 2" descr="C:\Users\bcdean\Desktop\usa_graph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905000"/>
            <a:ext cx="697542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87782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bcdean\Desktop\usa_graph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313" y="5024052"/>
            <a:ext cx="2945287" cy="1833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D046023-BC46-4D7E-B68F-33275ADAC4A7}" type="slidenum">
              <a:rPr lang="en-US" smtClean="0"/>
              <a:pPr eaLnBrk="1" hangingPunct="1"/>
              <a:t>23</a:t>
            </a:fld>
            <a:endParaRPr lang="en-US"/>
          </a:p>
        </p:txBody>
      </p:sp>
      <p:sp>
        <p:nvSpPr>
          <p:cNvPr id="43011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Centrality &amp; Shortest Paths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/>
            <a:r>
              <a:rPr lang="en-US" sz="2800" dirty="0">
                <a:cs typeface="Arial" charset="0"/>
              </a:rPr>
              <a:t>Many notions of centrality are based on shortest paths: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Eccentricity(x) = max </a:t>
            </a:r>
            <a:r>
              <a:rPr lang="en-US" sz="2400" dirty="0" err="1">
                <a:cs typeface="Arial" charset="0"/>
              </a:rPr>
              <a:t>dist</a:t>
            </a:r>
            <a:r>
              <a:rPr lang="en-US" sz="2400" dirty="0">
                <a:cs typeface="Arial" charset="0"/>
              </a:rPr>
              <a:t>(</a:t>
            </a:r>
            <a:r>
              <a:rPr lang="en-US" sz="2400" dirty="0" err="1">
                <a:cs typeface="Arial" charset="0"/>
              </a:rPr>
              <a:t>x,y</a:t>
            </a:r>
            <a:r>
              <a:rPr lang="en-US" sz="2400" dirty="0">
                <a:cs typeface="Arial" charset="0"/>
              </a:rPr>
              <a:t>) over other nodes y; a graph “center” is a node with minimum eccentricity.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“</a:t>
            </a:r>
            <a:r>
              <a:rPr lang="en-US" sz="2400" dirty="0" err="1">
                <a:cs typeface="Arial" charset="0"/>
              </a:rPr>
              <a:t>Betweenness</a:t>
            </a:r>
            <a:r>
              <a:rPr lang="en-US" sz="2400" dirty="0">
                <a:cs typeface="Arial" charset="0"/>
              </a:rPr>
              <a:t>” centrality of an edge or node: fraction of all point-to-point shortest paths passing through that edge/node.</a:t>
            </a:r>
          </a:p>
          <a:p>
            <a:pPr eaLnBrk="1" hangingPunct="1"/>
            <a:r>
              <a:rPr lang="en-US" sz="2800" dirty="0">
                <a:cs typeface="Arial" charset="0"/>
              </a:rPr>
              <a:t>Other prominent notions of centrality include: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Degree centrality: high degree treated as “more central”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Eigenvector centrality (centrality                           proportional to probability a node                                     is visited by a random walk in steady                                   state); used by Google </a:t>
            </a:r>
            <a:r>
              <a:rPr lang="en-US" sz="2400" dirty="0" err="1">
                <a:cs typeface="Arial" charset="0"/>
              </a:rPr>
              <a:t>PageRank</a:t>
            </a:r>
            <a:r>
              <a:rPr lang="en-US" sz="2400" dirty="0">
                <a:cs typeface="Arial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84265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0900D37-32A0-4E5E-822B-DFE85547FB44}" type="slidenum">
              <a:rPr lang="en-US" smtClean="0"/>
              <a:pPr eaLnBrk="1" hangingPunct="1"/>
              <a:t>24</a:t>
            </a:fld>
            <a:endParaRPr lang="en-US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1295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Formulating Shortest Path Problems:</a:t>
            </a:r>
          </a:p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Change the Problem, not the Algorithm…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868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In an automobile transportation network, suppose right turns can be made instantly, while left turns take 1 extra unit of time…</a:t>
            </a:r>
          </a:p>
          <a:p>
            <a:pPr eaLnBrk="1" hangingPunct="1">
              <a:lnSpc>
                <a:spcPct val="90000"/>
              </a:lnSpc>
            </a:pPr>
            <a:endParaRPr lang="en-US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6462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0900D37-32A0-4E5E-822B-DFE85547FB44}" type="slidenum">
              <a:rPr lang="en-US" smtClean="0"/>
              <a:pPr eaLnBrk="1" hangingPunct="1"/>
              <a:t>25</a:t>
            </a:fld>
            <a:endParaRPr lang="en-US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1295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Formulating Shortest Path Problems:</a:t>
            </a:r>
          </a:p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Change the Problem, not the Algorithm…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868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In an automobile transportation network, suppose right turns can be made instantly, while left turns take 1 extra unit of time…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Suppose we have N jobs to complete.  Each job has a duration and possibly a set of prerequisite jobs.  Working in parallel, how quickly can we finish all the jobs?</a:t>
            </a:r>
          </a:p>
          <a:p>
            <a:pPr eaLnBrk="1" hangingPunct="1">
              <a:lnSpc>
                <a:spcPct val="90000"/>
              </a:lnSpc>
            </a:pPr>
            <a:endParaRPr lang="en-US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3873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0900D37-32A0-4E5E-822B-DFE85547FB44}" type="slidenum">
              <a:rPr lang="en-US" smtClean="0"/>
              <a:pPr eaLnBrk="1" hangingPunct="1"/>
              <a:t>26</a:t>
            </a:fld>
            <a:endParaRPr lang="en-US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1295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Formulating Shortest Path Problems:</a:t>
            </a:r>
          </a:p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Change the Problem, not the Algorithm…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868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In an automobile transportation network, suppose right turns can be made instantly, while left turns take 1 extra unit of time…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Suppose we have N jobs to complete.  Each job has a duration and possibly a set of prerequisite jobs.  Working in parallel, how quickly can we finish all the jobs?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Suppose some roads charge a $1 toll.  How do we find a shortest path if we can pay at most $3 worth of tolls?</a:t>
            </a:r>
          </a:p>
          <a:p>
            <a:pPr eaLnBrk="1" hangingPunct="1">
              <a:lnSpc>
                <a:spcPct val="90000"/>
              </a:lnSpc>
            </a:pPr>
            <a:endParaRPr lang="en-US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491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0900D37-32A0-4E5E-822B-DFE85547FB44}" type="slidenum">
              <a:rPr lang="en-US" smtClean="0"/>
              <a:pPr eaLnBrk="1" hangingPunct="1"/>
              <a:t>27</a:t>
            </a:fld>
            <a:endParaRPr lang="en-US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1295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Formulating Shortest Path Problems:</a:t>
            </a:r>
          </a:p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Change the Problem, not the Algorithm…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868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In an automobile transportation network, suppose right turns can be made instantly, while left turns take 1 extra unit of time…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Suppose we have N jobs to complete.  Each job has a duration and possibly a set of prerequisite jobs.  Working in parallel, how quickly can we finish all the jobs?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Suppose some roads charge a $1 toll.  How do we find a shortest path if we can pay at most $3 worth of tolls?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What is the second-shortest s-t path?</a:t>
            </a:r>
          </a:p>
          <a:p>
            <a:pPr eaLnBrk="1" hangingPunct="1">
              <a:lnSpc>
                <a:spcPct val="90000"/>
              </a:lnSpc>
            </a:pPr>
            <a:endParaRPr lang="en-US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9079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0900D37-32A0-4E5E-822B-DFE85547FB44}" type="slidenum">
              <a:rPr lang="en-US" smtClean="0"/>
              <a:pPr eaLnBrk="1" hangingPunct="1"/>
              <a:t>28</a:t>
            </a:fld>
            <a:endParaRPr lang="en-US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Postage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6868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We have N different denominations of stamps (e.g., 1 cent, 23 cent, 47 cent).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We can use as many stamps of each denomination as we wish.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What is the minimum number of stamps we need in order to construct exactly C cents worth of postage?</a:t>
            </a:r>
          </a:p>
        </p:txBody>
      </p:sp>
    </p:spTree>
    <p:extLst>
      <p:ext uri="{BB962C8B-B14F-4D97-AF65-F5344CB8AC3E}">
        <p14:creationId xmlns:p14="http://schemas.microsoft.com/office/powerpoint/2010/main" val="18740816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0900D37-32A0-4E5E-822B-DFE85547FB44}" type="slidenum">
              <a:rPr lang="en-US" smtClean="0"/>
              <a:pPr eaLnBrk="1" hangingPunct="1"/>
              <a:t>29</a:t>
            </a:fld>
            <a:endParaRPr lang="en-US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“Knapsack” Problems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6868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We have N items, with values v</a:t>
            </a:r>
            <a:r>
              <a:rPr lang="en-US" baseline="-25000" dirty="0">
                <a:cs typeface="Arial" charset="0"/>
              </a:rPr>
              <a:t>1</a:t>
            </a:r>
            <a:r>
              <a:rPr lang="en-US" dirty="0">
                <a:cs typeface="Arial" charset="0"/>
              </a:rPr>
              <a:t>…</a:t>
            </a:r>
            <a:r>
              <a:rPr lang="en-US" dirty="0" err="1">
                <a:cs typeface="Arial" charset="0"/>
              </a:rPr>
              <a:t>v</a:t>
            </a:r>
            <a:r>
              <a:rPr lang="en-US" baseline="-25000" dirty="0" err="1">
                <a:cs typeface="Arial" charset="0"/>
              </a:rPr>
              <a:t>n</a:t>
            </a:r>
            <a:r>
              <a:rPr lang="en-US" dirty="0">
                <a:cs typeface="Arial" charset="0"/>
              </a:rPr>
              <a:t> and integer sizes s</a:t>
            </a:r>
            <a:r>
              <a:rPr lang="en-US" baseline="-25000" dirty="0">
                <a:cs typeface="Arial" charset="0"/>
              </a:rPr>
              <a:t>1</a:t>
            </a:r>
            <a:r>
              <a:rPr lang="en-US" dirty="0">
                <a:cs typeface="Arial" charset="0"/>
              </a:rPr>
              <a:t>…</a:t>
            </a:r>
            <a:r>
              <a:rPr lang="en-US" dirty="0" err="1">
                <a:cs typeface="Arial" charset="0"/>
              </a:rPr>
              <a:t>s</a:t>
            </a:r>
            <a:r>
              <a:rPr lang="en-US" baseline="-25000" dirty="0" err="1">
                <a:cs typeface="Arial" charset="0"/>
              </a:rPr>
              <a:t>n</a:t>
            </a:r>
            <a:r>
              <a:rPr lang="en-US" dirty="0">
                <a:cs typeface="Arial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What is the maximum value we can pack into a knapsack of capacity C?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dirty="0">
                <a:cs typeface="Arial" charset="0"/>
              </a:rPr>
              <a:t>… if we can include multiple copies of the same item?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dirty="0">
                <a:cs typeface="Arial" charset="0"/>
              </a:rPr>
              <a:t>… if we can only include at most 1 copy of each item? </a:t>
            </a:r>
          </a:p>
        </p:txBody>
      </p:sp>
    </p:spTree>
    <p:extLst>
      <p:ext uri="{BB962C8B-B14F-4D97-AF65-F5344CB8AC3E}">
        <p14:creationId xmlns:p14="http://schemas.microsoft.com/office/powerpoint/2010/main" val="16277100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8"/>
  <p:tag name="MMPROD_UIDATA" val="&lt;database version=&quot;6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Lecture 1.  Introduction and Motivation&amp;quot;&quot;/&gt;&lt;property id=&quot;20307&quot; value=&quot;256&quot;/&gt;&lt;/object&gt;&lt;object type=&quot;3&quot; unique_id=&quot;10005&quot;&gt;&lt;property id=&quot;20148&quot; value=&quot;5&quot;/&gt;&lt;property id=&quot;20300&quot; value=&quot;Slide 2 - &amp;quot;Introductions&amp;quot;&quot;/&gt;&lt;property id=&quot;20307&quot; value=&quot;258&quot;/&gt;&lt;/object&gt;&lt;object type=&quot;3&quot; unique_id=&quot;10006&quot;&gt;&lt;property id=&quot;20148&quot; value=&quot;5&quot;/&gt;&lt;property id=&quot;20300&quot; value=&quot;Slide 3 - &amp;quot;Course Overview&amp;quot;&quot;/&gt;&lt;property id=&quot;20307&quot; value=&quot;259&quot;/&gt;&lt;/object&gt;&lt;object type=&quot;3&quot; unique_id=&quot;10007&quot;&gt;&lt;property id=&quot;20148&quot; value=&quot;5&quot;/&gt;&lt;property id=&quot;20300&quot; value=&quot;Slide 4 - &amp;quot;Course Overview&amp;quot;&quot;/&gt;&lt;property id=&quot;20307&quot; value=&quot;261&quot;/&gt;&lt;/object&gt;&lt;object type=&quot;3&quot; unique_id=&quot;10008&quot;&gt;&lt;property id=&quot;20148&quot; value=&quot;5&quot;/&gt;&lt;property id=&quot;20300&quot; value=&quot;Slide 5 - &amp;quot;Assignments and Grades&amp;quot;&quot;/&gt;&lt;property id=&quot;20307&quot; value=&quot;260&quot;/&gt;&lt;/object&gt;&lt;object type=&quot;3&quot; unique_id=&quot;10009&quot;&gt;&lt;property id=&quot;20148&quot; value=&quot;5&quot;/&gt;&lt;property id=&quot;20300&quot; value=&quot;Slide 6 - &amp;quot;Course Information&amp;quot;&quot;/&gt;&lt;property id=&quot;20307&quot; value=&quot;262&quot;/&gt;&lt;/object&gt;&lt;object type=&quot;3&quot; unique_id=&quot;10010&quot;&gt;&lt;property id=&quot;20148&quot; value=&quot;5&quot;/&gt;&lt;property id=&quot;20300&quot; value=&quot;Slide 7 - &amp;quot;Feedback – Examples&amp;quot;&quot;/&gt;&lt;property id=&quot;20307&quot; value=&quot;272&quot;/&gt;&lt;/object&gt;&lt;object type=&quot;3&quot; unique_id=&quot;10011&quot;&gt;&lt;property id=&quot;20148&quot; value=&quot;5&quot;/&gt;&lt;property id=&quot;20300&quot; value=&quot;Slide 9 - &amp;quot;Motivation&amp;quot;&quot;/&gt;&lt;property id=&quot;20307&quot; value=&quot;263&quot;/&gt;&lt;/object&gt;&lt;object type=&quot;3&quot; unique_id=&quot;10012&quot;&gt;&lt;property id=&quot;20148&quot; value=&quot;5&quot;/&gt;&lt;property id=&quot;20300&quot; value=&quot;Slide 10 - &amp;quot;Motivation: Sorting&amp;quot;&quot;/&gt;&lt;property id=&quot;20307&quot; value=&quot;264&quot;/&gt;&lt;/object&gt;&lt;object type=&quot;3&quot; unique_id=&quot;10013&quot;&gt;&lt;property id=&quot;20148&quot; value=&quot;5&quot;/&gt;&lt;property id=&quot;20300&quot; value=&quot;Slide 11 - &amp;quot;Motivation: Graph Algorithms, Flows, and Matchings&amp;quot;&quot;/&gt;&lt;property id=&quot;20307&quot; value=&quot;265&quot;/&gt;&lt;/object&gt;&lt;object type=&quot;3&quot; unique_id=&quot;10014&quot;&gt;&lt;property id=&quot;20148&quot; value=&quot;5&quot;/&gt;&lt;property id=&quot;20300&quot; value=&quot;Slide 12 - &amp;quot;Motivation: Randomized Algorithms&amp;quot;&quot;/&gt;&lt;property id=&quot;20307&quot; value=&quot;266&quot;/&gt;&lt;/object&gt;&lt;object type=&quot;3&quot; unique_id=&quot;10015&quot;&gt;&lt;property id=&quot;20148&quot; value=&quot;5&quot;/&gt;&lt;property id=&quot;20300&quot; value=&quot;Slide 13 - &amp;quot;Motivation: Hard Problems and Approximation Algorithms&amp;quot;&quot;/&gt;&lt;property id=&quot;20307&quot; value=&quot;267&quot;/&gt;&lt;/object&gt;&lt;object type=&quot;3&quot; unique_id=&quot;10016&quot;&gt;&lt;property id=&quot;20148&quot; value=&quot;5&quot;/&gt;&lt;property id=&quot;20300&quot; value=&quot;Slide 14 - &amp;quot;Motivation: The Fast Fourier Transform&amp;quot;&quot;/&gt;&lt;property id=&quot;20307&quot; value=&quot;268&quot;/&gt;&lt;/object&gt;&lt;object type=&quot;3&quot; unique_id=&quot;10017&quot;&gt;&lt;property id=&quot;20148&quot; value=&quot;5&quot;/&gt;&lt;property id=&quot;20300&quot; value=&quot;Slide 15 - &amp;quot;Motivation: Computational Geometry&amp;quot;&quot;/&gt;&lt;property id=&quot;20307&quot; value=&quot;269&quot;/&gt;&lt;/object&gt;&lt;object type=&quot;3&quot; unique_id=&quot;10018&quot;&gt;&lt;property id=&quot;20148&quot; value=&quot;5&quot;/&gt;&lt;property id=&quot;20300&quot; value=&quot;Slide 16 - &amp;quot;Motivation: Bioinformatics&amp;quot;&quot;/&gt;&lt;property id=&quot;20307&quot; value=&quot;270&quot;/&gt;&lt;/object&gt;&lt;object type=&quot;3&quot; unique_id=&quot;10019&quot;&gt;&lt;property id=&quot;20148&quot; value=&quot;5&quot;/&gt;&lt;property id=&quot;20300&quot; value=&quot;Slide 17 - &amp;quot;Motivation: Impressing One’s &amp;#x0D;&amp;#x0A;In-Laws&amp;quot;&quot;/&gt;&lt;property id=&quot;20307&quot; value=&quot;271&quot;/&gt;&lt;/object&gt;&lt;object type=&quot;3&quot; unique_id=&quot;10092&quot;&gt;&lt;property id=&quot;20148&quot; value=&quot;5&quot;/&gt;&lt;property id=&quot;20300&quot; value=&quot;Slide 8 - &amp;quot;Other Seminars&amp;quot;&quot;/&gt;&lt;property id=&quot;20307&quot; value=&quot;273&quot;/&gt;&lt;/object&gt;&lt;/object&gt;&lt;/object&gt;&lt;/database&gt;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  <a:tailEnd type="arrow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B0CFF9-D72F-46B4-8D19-FEB52871412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774434B-508F-4AED-B012-1AE2A107DD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A78443-A2F8-49C9-B943-375472CAC2B7}"/>
</file>

<file path=docProps/app.xml><?xml version="1.0" encoding="utf-8"?>
<Properties xmlns="http://schemas.openxmlformats.org/officeDocument/2006/extended-properties" xmlns:vt="http://schemas.openxmlformats.org/officeDocument/2006/docPropsVTypes">
  <TotalTime>4375</TotalTime>
  <Words>2208</Words>
  <Application>Microsoft Office PowerPoint</Application>
  <PresentationFormat>On-screen Show (4:3)</PresentationFormat>
  <Paragraphs>457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Courier New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Computer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CpSc 840: Design and Analysis of Algorithms</dc:title>
  <dc:creator>Office User</dc:creator>
  <cp:lastModifiedBy>Sam O'Neill</cp:lastModifiedBy>
  <cp:revision>548</cp:revision>
  <dcterms:created xsi:type="dcterms:W3CDTF">2006-01-10T16:14:55Z</dcterms:created>
  <dcterms:modified xsi:type="dcterms:W3CDTF">2020-02-13T12:23:06Z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2020-02-13T12:23:05.9799152Z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2020-02-13T12:23:05.9799152Z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